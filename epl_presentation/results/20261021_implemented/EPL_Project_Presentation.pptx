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opening describes the implemented work, not the original proposal. The 19 series are the 11 earlier rolling comparisons plus eight new player-study variants, all sharing the same four-year evaluation population. The first-study SVM/MLP are preserved in the 2025 account comparison but lack the same earlier rolling history. Strategies are combinations of model, selection, prices and stakes; 116 does not mean 116 different algorithms. There are no claimed executed real-money trades.</a:t>
            </a:r>
          </a:p>
          <a:p/>
          <a:p>
            <a:r>
              <a:t>Exact source paths:</a:t>
            </a:r>
          </a:p>
          <a:p>
            <a:r>
              <a:t>epl_player_models\results\20261020_player_models_review\study_status.json</a:t>
            </a:r>
          </a:p>
          <a:p>
            <a:r>
              <a:t>epl_prospective\results\20261020_first_outcomes\prospective_status.json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loader reconciles whole-league historical player records to exact fixture sides; the historical membership is not a present-day roster assignment. Each season contains 20 clubs and 380 native fixtures. Current 2026/27 records are used only for lagged future features, never model fitting. Historical opposition is retained so relegated teams are not mislabeled as current clubs. The current snapshot contains 668 player summaries and 70 completed fixtures. Some historical role metadata are season-fixed proxies with unverified publication times.</a:t>
            </a:r>
          </a:p>
          <a:p/>
          <a:p>
            <a:r>
              <a:t>Exact source paths:</a:t>
            </a:r>
          </a:p>
          <a:p>
            <a:r>
              <a:t>epl_player_models\results\20261020_player_models_review\study_status.json</a:t>
            </a:r>
          </a:p>
          <a:p>
            <a:r>
              <a:t>epl_player_models\results\20261020_player_models_review\model_catalog.json</a:t>
            </a:r>
          </a:p>
          <a:p>
            <a:r>
              <a:t>epl_prospective\results\20261020_first_outcomes\prospective_status.json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H/D/A denotes home win, draw and away win. Most value rules choose the maximum p×decimal-odds−1 above a fixed threshold, with deterministic H/D/A ties. Same-date requests use opening cash and are allocated before outcomes settle. Flat, cash-fraction and capped Kelly requests are distinct strategy configurations. This explains why the strongest probability model need not generate the largest account.</a:t>
            </a:r>
          </a:p>
          <a:p/>
          <a:p>
            <a:r>
              <a:t>Exact source paths:</a:t>
            </a:r>
          </a:p>
          <a:p>
            <a:r>
              <a:t>epl_player_models\results\20261020_player_models_review\all_strategy_catalog.json</a:t>
            </a:r>
          </a:p>
          <a:p>
            <a:r>
              <a:t>epl_strategy/metrics.py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Tune one of three fixed regularization or tree-leaf settings on the earlier tuning season, refit on training plus tuning, and fit one scalar temperature on the separate calibration season. No evaluation outcomes enter that fold's fit. The cohort comprises matches involving at least one saved current 2026/27 club, rather than every historical EPL fixture. A chronological boundary protects a fit, but cannot erase the fact these historical results have already been examined.</a:t>
            </a:r>
          </a:p>
          <a:p/>
          <a:p>
            <a:r>
              <a:t>Exact source paths:</a:t>
            </a:r>
          </a:p>
          <a:p>
            <a:r>
              <a:t>epl_modeling/ABLATION_PROTOCOL.md</a:t>
            </a:r>
          </a:p>
          <a:p>
            <a:r>
              <a:t>epl_player_models/PROTOCOL.md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means minimum observed pooled log loss among the 16 learned predictors with comparable four-year records. There are 19 series when the three baselines are included. Raw normalized inverse Bet365 odds are the strongest benchmark: log loss .96616994. The best learned model is the earlier team+player market-residual variant: .96929380. Its paired descriptive interval versus the raw market includes zero; there is no fresh or multiplicity-adjusted superiority result. ECE is classwise calibration error at ten bins and does not measure forecast resolution.</a:t>
            </a:r>
          </a:p>
          <a:p/>
          <a:p>
            <a:r>
              <a:t>Exact source paths:</a:t>
            </a:r>
          </a:p>
          <a:p>
            <a:r>
              <a:t>epl_modeling\ablation_results\predictions.parquet</a:t>
            </a:r>
          </a:p>
          <a:p>
            <a:r>
              <a:t>epl_player_models\results\20261020_player_models_review\model_metrics_pooled.parquet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 with normalized inverse Bet365 odds and learns regularized H/D log-odds adjustments relative to away. Uses 28 historical inputs: 9 team performance, 4 context flags, 8 source-coverage controls and 7 rolling FPL aggregates. Separately temperature-calibrated. Uses odds as an input; is not an odds-free model.</a:t>
            </a:r>
          </a:p>
          <a:p/>
          <a:p>
            <a:r>
              <a:t>The raw market has lower pooled log loss (0.9662). S029's positive archived return is not proof of a validated predictive edge.</a:t>
            </a:r>
          </a:p>
          <a:p>
            <a:r>
              <a:t>The trading result is separate from probability quality. S029 takes the maximum model-implied edge above 5%, with flat requested stakes of 1,000, best archived quotes and date-start cash allocation. Hit ratio is a fraction of bets won. Classification accuracy is a fraction of all match outcomes correctly classified. All comparisons are retrospective. Full per-trade expected components and actual payoffs appear in the common-scope scorecard and workbook.</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Predicts the same H/D/A fitting-block frequencies for every match in an evaluation season. Recomputed only when moving to a new chronological outer fold. No match features, team identity or odds input. Constant forecasts can have low ECE despite weak resolution.</a:t>
            </a:r>
          </a:p>
          <a:p/>
          <a:p>
            <a:r>
              <a:t>Low ECE alone does not imply useful match discrimination. S033 applies an edge rule to these probabilities; it is not an always-home policy.</a:t>
            </a:r>
          </a:p>
          <a:p>
            <a:r>
              <a:t>The trading result is separate from probability quality. S033 takes the maximum model-implied edge above 5%, with flat requested stakes of 1,000, best archived quotes and date-start cash allocation. Hit ratio is a fraction of bets won. Classification accuracy is a fraction of all match outcomes correctly classified. All comparisons are retrospective. Full per-trade expected components and actual payoffs appear in the common-scope scorecard and workbook.</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Multinomial L2 logistic model with 21 declared inputs: 9 lagged team-performance measures,4 promotion/prior-season-context flags and8 shared source-coverage controls. Performance inputs include season-to-date/last10 goals and shots-on-target differences, corners, recent points, prior-season win rates and rest. Median imputation, missingness indicators and scaling fit only within training. No player-performance or odds inputs.</a:t>
            </a:r>
          </a:p>
          <a:p/>
          <a:p>
            <a:r>
              <a:t>S017 has a positive historical capital return, with a 40.35% drawdown. The probability model still trails the raw market benchmark.</a:t>
            </a:r>
          </a:p>
          <a:p>
            <a:r>
              <a:t>The trading result is separate from probability quality. S017 takes the maximum model-implied edge above 5%, with flat requested stakes of 1,000, best archived quotes and date-start cash allocation. Hit ratio is a fraction of bets won. Classification accuracy is a fraction of all match outcomes correctly classified. All comparisons are retrospective. Full per-trade expected components and actual payoffs appear in the common-scope scorecard and workbook.</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96 declared inputs:90 player-performance aggregates plus6 shared coverage fields. Last5/10 same-season fixture slots summarize12 FPL measures plus active-player,60minute-player and minute counts, represented for home,away and home-minus-away. No team-strength inputs, position labels or odds inputs. Best pooled log loss among4 pure-player variants; still worse than matched team control.</a:t>
            </a:r>
          </a:p>
          <a:p/>
          <a:p>
            <a:r>
              <a:t>The matched team-control log loss is 0.9925 versus 1.0218 here. P009 exhausts its four-season cash; that path includes no borrowing.</a:t>
            </a:r>
          </a:p>
          <a:p>
            <a:r>
              <a:t>The trading result is separate from probability quality. P009 takes the maximum model-implied edge above 5%, with flat requested stakes of 1,000, best archived quotes and date-start cash allocation. Hit ratio is a fraction of bets won. Classification accuracy is a fraction of all match outcomes correctly classified. All comparisons are retrospective. Full per-trade expected components and actual payoffs appear in the common-scope scorecard and workbook.</a:t>
            </a:r>
          </a:p>
          <a:p/>
          <a:p>
            <a:r>
              <a:t>Exact source paths:</a:t>
            </a:r>
          </a:p>
          <a:p>
            <a:r>
              <a:t>epl_player_models/results/20261020_player_models_review/model_metrics_pooled.csv</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richer player squad block has 222 inputs, including fixed 1-GK/4-DEF/4-MID/2-FWD selections based on prior minutes. The combined block has 235. All six player-based variants have worse pooled log loss than their newly fitted same-algorithm team control. The primary population is unchanged; a better-supported-history sensitivity does not reverse the pooled ranking. This result concerns these particular representations and models, not a general claim that player information has no value. The 32 new rules include the matched team controls as well as player models.</a:t>
            </a:r>
          </a:p>
          <a:p/>
          <a:p>
            <a:r>
              <a:t>Exact source paths:</a:t>
            </a:r>
          </a:p>
          <a:p>
            <a:r>
              <a:t>epl_player_models\results\20261020_player_models_review\model_metrics_pooled.parquet</a:t>
            </a:r>
          </a:p>
          <a:p>
            <a:r>
              <a:t>epl_player_models\results\20261020_player_models_review\metrics_continuous.parquet</a:t>
            </a:r>
          </a:p>
          <a:p>
            <a:r>
              <a:t>epl_player_models/PROTOCOL.md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 116 account IDs is plotted using its saved curve, including all initial-capital anchors. The chart counts distinct strategies, not independent algorithms. Each account begins at 100000 generic monetary units; the accounts are alternatives, not added together. Time is horizontal and account balance is vertical. All graph endpoints match the source metrics. Use the adjacent offline HTML to hover individual strategies or control their visibility. All 84 original rules and all 32 new rules are included. Coincident cash paths overlap. The full strategy appendix maps every ID. These are archived-price hypothetical replays, with unverified quote availability and no real-money execution claim.</a:t>
            </a:r>
          </a:p>
          <a:p/>
          <a:p>
            <a:r>
              <a:t>Exact source paths:</a:t>
            </a:r>
          </a:p>
          <a:p>
            <a:r>
              <a:t>epl_player_models\results\20261020_player_models_review\graph_equity_2025_all.csv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 88 account IDs is plotted using its saved curve, including all initial-capital anchors. The chart counts distinct strategies, not independent algorithms. Each account begins at 100000 generic monetary units; the accounts are alternatives, not added together. Time is horizontal and account balance is vertical. All graph endpoints match the source metrics. Use the adjacent offline HTML to hover individual strategies or control their visibility. The 28 first-study rules without comparable earlier predictions are excluded from the four-year chart. The full strategy appendix maps every ID. These are archived-price hypothetical replays, with unverified quote availability and no real-money execution claim.</a:t>
            </a:r>
          </a:p>
          <a:p/>
          <a:p>
            <a:r>
              <a:t>Exact source paths:</a:t>
            </a:r>
          </a:p>
          <a:p>
            <a:r>
              <a:t>epl_player_models\results\20261020_player_models_review\graph_equity_continuous_all.csv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S060 uses the combined market-residual probability series, which is not the best pooled probability-score variant. It adds xG to team and legacy FPL aggregates and uses Bet365 market probabilities as an offset. The strategy changes both staking and total date exposure relative to flat stake variants. Its positive capital result is an observed path, conditional on archived best quotes, and is not a multiplicity-adjusted discovery. A conditional date-bootstrap ROI interval crosses zero and does not include full model-refitting or strategy-selection uncertainty.</a:t>
            </a:r>
          </a:p>
          <a:p/>
          <a:p>
            <a:r>
              <a:t>Exact source paths:</a:t>
            </a:r>
          </a:p>
          <a:p>
            <a:r>
              <a:t>epl_strategy_lab\results\20261015T040052Z_100k84\metrics.parquet</a:t>
            </a:r>
          </a:p>
          <a:p>
            <a:r>
              <a:t>epl_strategy_validation\results\20261015_temporal_selection\metrics_continuous.parquet</a:t>
            </a:r>
          </a:p>
          <a:p>
            <a:r>
              <a:t>epl_player_models\results\20261020_player_models_review\metrics_single.parquet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P028 is the highest ending 2025/26 account among all 116, including the old strategies. Its continuous account contains the same 2025 season after three prior seasons and begins only once at 100000; it does not reset at the start of 2025. Its annual diagnostic starts a separate account at 100000 and must not be spliced into the continuous path. The underlying logistic model uses 235 inputs. All new player-study continuous paths lose, even though eight new-study paths are positive in 2025 alone. This is a concrete reason to show both time horizons.</a:t>
            </a:r>
          </a:p>
          <a:p/>
          <a:p>
            <a:r>
              <a:t>Exact source paths:</a:t>
            </a:r>
          </a:p>
          <a:p>
            <a:r>
              <a:t>epl_player_models\results\20261020_player_models_review\metrics_single.parquet</a:t>
            </a:r>
          </a:p>
          <a:p>
            <a:r>
              <a:t>epl_player_models\results\20261020_player_models_review\metrics_continuous.parquet</a:t>
            </a:r>
          </a:p>
          <a:p>
            <a:r>
              <a:t>epl_player_models\results\20261020_player_models_review\model_metrics_pooled.parquet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 intentionally aligns all six featured policies to the same four-season scope. Expected gain per trade averages p times stake times odds minus one; expected loss averages one minus p times stake. These may look favorable even when actual trading loses because they rely on the model's probabilities, especially on selected high-edge bets. ROI divides net profit by turnover and is not return on starting capital. Frequency divides actual placed bets by all 1470 common priced opportunities; bankruptcy can reduce realized frequency. The companion workbook also preserves average observed winning/losing payoffs and the confidence intervals.</a:t>
            </a:r>
          </a:p>
          <a:p/>
          <a:p>
            <a:r>
              <a:t>Exact source paths:</a:t>
            </a:r>
          </a:p>
          <a:p>
            <a:r>
              <a:t>epl_strategy_lab\results\20261015T040052Z_100k84\metrics.parquet</a:t>
            </a:r>
          </a:p>
          <a:p>
            <a:r>
              <a:t>epl_strategy_validation\results\20261015_temporal_selection\metrics_continuous.parquet</a:t>
            </a:r>
          </a:p>
          <a:p>
            <a:r>
              <a:t>epl_player_models\results\20261020_player_models_review\metrics_single.parquet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interpret the three displayed profits as a pure causal price effect. The full Bet365 replay computes model edge and requests again, so choices, bet count and cash sizes can differ. Fixed-exposure repricing keeps original selections and stakes and is a shadow comparison; some such paths in the wider study are unfunded, with normal capital and risk metrics withheld. This slide reports its profit only. Quote-time uncertainty also prevents a verified closing-line-value claim. No new fee scenario or outcome-based filter is chosen here.</a:t>
            </a:r>
          </a:p>
          <a:p/>
          <a:p>
            <a:r>
              <a:t>Exact source paths:</a:t>
            </a:r>
          </a:p>
          <a:p>
            <a:r>
              <a:t>epl_execution\results\20261015_quote_sensitivity\metrics_continuous.parquet</a:t>
            </a:r>
          </a:p>
          <a:p>
            <a:r>
              <a:t>epl_execution\results\20261015_quote_sensitivity\quote_summary.json</a:t>
            </a:r>
          </a:p>
          <a:p>
            <a:r>
              <a:t>epl_execution/PROTOCOL.md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prospective result set has ten independent fixtures, not forty independent observations. The four models produce correlated predictions on the same matches, all with six correct classifications. The 95% Wilson interval on six out of ten is approximately .3127 to .8318. The pending pool contains 40 earlier-model records and 80 new-model records for the same October 23–25 fixtures: 120 unique forecasts, but ten targets. The original and reviewed player-study ledgers are byte-identical copies and must never be counted as two releases. There are 160 total unique saved forecasts across resolved and pending cohorts. Later archived prices cannot manufacture pre-match trades.</a:t>
            </a:r>
          </a:p>
          <a:p/>
          <a:p>
            <a:r>
              <a:t>Exact source paths:</a:t>
            </a:r>
          </a:p>
          <a:p>
            <a:r>
              <a:t>epl_prospective\results\20261020_first_outcomes\prospective_status.json</a:t>
            </a:r>
          </a:p>
          <a:p>
            <a:r>
              <a:t>epl_prospective\results\20261020_first_outcomes\model_scores.csv</a:t>
            </a:r>
          </a:p>
          <a:p>
            <a:r>
              <a:t>epl_player_models\results\20261020_player_models_review\forecast_release.json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contribution is the implemented pipeline and auditable comparisons, not a claim to have found a dependable betting edge. Richer player inputs are not useful in these tested representations; that does not imply all player information is unhelpful. All historical winners remain descriptive and conditional on replay assumptions. The next cohort already has immutable predictions and is more informative than repeatedly revising models on the same historical outcomes. Backup slides retain the strategy definitions and metric interpretations for questions.</a:t>
            </a:r>
          </a:p>
          <a:p/>
          <a:p>
            <a:r>
              <a:t>Exact source paths:</a:t>
            </a:r>
          </a:p>
          <a:p>
            <a:r>
              <a:t>epl_player_models\results\20261020_player_models_review\independent_audit.json</a:t>
            </a:r>
          </a:p>
          <a:p>
            <a:r>
              <a:t>epl_modeling/ablation_results/ABLATION_RESULTS.md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components use the selected model probability at the recorded allocated stake. They are unconditional components per trade, not the conditional mean payoff of wins or losses. No-trade conditional quantities remain undefined in the source workbook. Log loss is negative mean log probability assigned to the observed H/D/A outcome; Brier is the unscaled three-class squared error. ECE is classwise calibration error, bin-dependent and descriptive. Cash stays flat when no interest is modeled. Conditional date-bootstrap intervals are not a full model-and-search uncertainty analysis.</a:t>
            </a:r>
          </a:p>
          <a:p/>
          <a:p>
            <a:r>
              <a:t>Exact source paths:</a:t>
            </a:r>
          </a:p>
          <a:p>
            <a:r>
              <a:t>epl_strategy/METHODOLOGY.md</a:t>
            </a:r>
          </a:p>
          <a:p>
            <a:r>
              <a:t>epl_strategy/metrics.py</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presentation source manifest hashes all consumed numerical artifacts, research evidence and presentation code. The project reports use reports/latest; the presentation uses presentations/latest. The underlying latest project report is not replaced by the slides. A separate immutable presentation run records source/output hashes. All complete configurations are in the workbook and notes. The user-edited epl_data/EPL_data_overview.xlsx is deliberately excluded from staging and remains byte-identical to the start of this task.</a:t>
            </a:r>
          </a:p>
          <a:p/>
          <a:p>
            <a:r>
              <a:t>Exact source paths:</a:t>
            </a:r>
          </a:p>
          <a:p>
            <a:r>
              <a:t>reports/latest/manifest.json</a:t>
            </a:r>
          </a:p>
          <a:p>
            <a:r>
              <a:t>epl_player_models\results\20261020_player_models_review\manifest.json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S001: First-study accuracy-selected SVM: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flat 1,000", "odds_mode": "best", "origin": "legacy", "policy_family": "locked primary cash", "selection_rule": "max_edge", "staking": "fixed", "strategy_id": "S001", "study_status": "exploratory_replay_of_already_examined_2025_26_no_new_holdout"}</a:t>
            </a:r>
          </a:p>
          <a:p/>
          <a:p>
            <a:r>
              <a:t>S002: First-study accuracy-selected SVM: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0.25 Kelly, per-bet cap 2%", "odds_mode": "best", "origin": "legacy", "policy_family": "locked primary cash", "selection_rule": "max_edge", "staking": "kelly", "strategy_id": "S002", "study_status": "exploratory_replay_of_already_examined_2025_26_no_new_holdout"}</a:t>
            </a:r>
          </a:p>
          <a:p/>
          <a:p>
            <a:r>
              <a:t>S003: First-study accuracy-selected SVM: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flat 1,000", "odds_mode": "reference", "origin": "legacy", "policy_family": "locked primary cash", "selection_rule": "max_edge", "staking": "fixed", "strategy_id": "S003", "study_status": "exploratory_replay_of_already_examined_2025_26_no_new_holdout"}</a:t>
            </a:r>
          </a:p>
          <a:p/>
          <a:p>
            <a:r>
              <a:t>S004: First-study accuracy-selected SVM: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0.25 Kelly, per-bet cap 2%", "odds_mode": "reference", "origin": "legacy", "policy_family": "locked primary cash", "selection_rule": "max_edge", "staking": "kelly", "strategy_id": "S004", "study_status": "exploratory_replay_of_already_examined_2025_26_no_new_holdout"}</a:t>
            </a:r>
          </a:p>
          <a:p/>
          <a:p>
            <a:r>
              <a:t>S005: First-study accuracy-selected SVM;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best individual-book quotes | flat 1,000", "odds_mode": "best", "origin": "legacy", "policy_family": "predeclared 5% edge", "selection_rule": "max_edge", "staking": "fixed", "strategy_id": "S005", "study_status": "exploratory_replay_of_already_examined_2025_26_no_new_holdout"}</a:t>
            </a:r>
          </a:p>
          <a:p/>
          <a:p>
            <a:r>
              <a:t>S006: First-study accuracy-selected SVM;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best individual-book quotes | 0.25 Kelly, per-bet cap 2%", "odds_mode": "best", "origin": "legacy", "policy_family": "predeclared 5% edge", "selection_rule": "max_edge", "staking": "kelly", "strategy_id": "S006", "study_status": "exploratory_replay_of_already_examined_2025_26_no_new_holdout"}</a:t>
            </a:r>
          </a:p>
          <a:p/>
          <a:p>
            <a:r>
              <a:t>S007: First-study accuracy-selected SVM; max_edge selection among the allowed outcomes at Bet365 reference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Bet365 reference quotes | flat 1,000", "odds_mode": "reference", "origin": "legacy", "policy_family": "predeclared 5% edge", "selection_rule": "max_edge", "staking": "fixed", "strategy_id": "S007", "study_status": "exploratory_replay_of_already_examined_2025_26_no_new_holdout"}</a:t>
            </a:r>
          </a:p>
          <a:p/>
          <a:p>
            <a:r>
              <a:t>S008: First-study accuracy-selected SVM; max_edge selection among the allowed outcomes at Bet365 reference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Bet365 reference quotes | 0.25 Kelly, per-bet cap 2%", "odds_mode": "reference", "origin": "legacy", "policy_family": "predeclared 5% edge", "selection_rule": "max_edge", "staking": "kelly", "strategy_id": "S008",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S009: First-study calibration-selected MLP: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flat 1,000", "odds_mode": "best", "origin": "legacy", "policy_family": "locked primary cash", "selection_rule": "max_edge", "staking": "fixed", "strategy_id": "S009", "study_status": "exploratory_replay_of_already_examined_2025_26_no_new_holdout"}</a:t>
            </a:r>
          </a:p>
          <a:p/>
          <a:p>
            <a:r>
              <a:t>S010: First-study calibration-selected MLP: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0.25 Kelly, per-bet cap 2%", "odds_mode": "best", "origin": "legacy", "policy_family": "locked primary cash", "selection_rule": "max_edge", "staking": "kelly", "strategy_id": "S010", "study_status": "exploratory_replay_of_already_examined_2025_26_no_new_holdout"}</a:t>
            </a:r>
          </a:p>
          <a:p/>
          <a:p>
            <a:r>
              <a:t>S011: First-study calibration-selected MLP: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flat 1,000", "odds_mode": "reference", "origin": "legacy", "policy_family": "locked primary cash", "selection_rule": "max_edge", "staking": "fixed", "strategy_id": "S011", "study_status": "exploratory_replay_of_already_examined_2025_26_no_new_holdout"}</a:t>
            </a:r>
          </a:p>
          <a:p/>
          <a:p>
            <a:r>
              <a:t>S012: First-study calibration-selected MLP: validation selected no admissible positive-return rule; the frozen threshold is 1,000,000 and this configuration remains entirely in cash.</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0.25 Kelly, per-bet cap 2%", "odds_mode": "reference", "origin": "legacy", "policy_family": "locked primary cash", "selection_rule": "max_edge", "staking": "kelly", "strategy_id": "S012", "study_status": "exploratory_replay_of_already_examined_2025_26_no_new_holdout"}</a:t>
            </a:r>
          </a:p>
          <a:p/>
          <a:p>
            <a:r>
              <a:t>S013: First-study calibration-selected MLP;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flat 1,000", "odds_mode": "best", "origin": "legacy", "policy_family": "predeclared 5% edge", "selection_rule": "max_edge", "staking": "fixed", "strategy_id": "S013", "study_status": "exploratory_replay_of_already_examined_2025_26_no_new_holdout"}</a:t>
            </a:r>
          </a:p>
          <a:p/>
          <a:p>
            <a:r>
              <a:t>S014: First-study calibration-selected MLP;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0.25 Kelly, per-bet cap 2%", "odds_mode": "best", "origin": "legacy", "policy_family": "predeclared 5% edge", "selection_rule": "max_edge", "staking": "kelly", "strategy_id": "S014", "study_status": "exploratory_replay_of_already_examined_2025_26_no_new_holdout"}</a:t>
            </a:r>
          </a:p>
          <a:p/>
          <a:p>
            <a:r>
              <a:t>S015: First-study calibration-selected MLP; max_edge selection among the allowed outcomes at Bet365 reference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Bet365 reference quotes | flat 1,000", "odds_mode": "reference", "origin": "legacy", "policy_family": "predeclared 5% edge", "selection_rule": "max_edge", "staking": "fixed", "strategy_id": "S015", "study_status": "exploratory_replay_of_already_examined_2025_26_no_new_holdout"}</a:t>
            </a:r>
          </a:p>
          <a:p/>
          <a:p>
            <a:r>
              <a:t>S016: First-study calibration-selected MLP; max_edge selection among the allowed outcomes at Bet365 reference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Bet365 reference quotes | 0.25 Kelly, per-bet cap 2%", "odds_mode": "reference", "origin": "legacy", "policy_family": "predeclared 5% edge", "selection_rule": "max_edge", "staking": "kelly", "strategy_id": "S016",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S017: Rolling logistic: team;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S018: Rolling logistic: team;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"logit_team_only", "model_label": "Rolling logistic: team", "name": "Rolling logistic: team | predeclared 5% edge | best individual-book quotes | 0.25 Kelly, per-bet cap 2%", "odds_mode": "best", "origin": "legacy", "policy_family": "predeclared 5% edge", "selection_rule": "max_edge", "staking": "kelly", "strategy_id": "S018", "study_status": "exploratory_replay_of_already_examined_2025_26_no_new_holdout"}</a:t>
            </a:r>
          </a:p>
          <a:p/>
          <a:p>
            <a:r>
              <a:t>S019: Rolling logistic: team + xG;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"logit_team_xg", "model_label": "Rolling logistic: team + xG", "name": "Rolling logistic: team + xG | predeclared 5% edge | best individual-book quotes | flat 1,000", "odds_mode": "best", "origin": "legacy", "policy_family": "predeclared 5% edge", "selection_rule": "max_edge", "staking": "fixed", "strategy_id": "S019", "study_status": "exploratory_replay_of_already_examined_2025_26_no_new_holdout"}</a:t>
            </a:r>
          </a:p>
          <a:p/>
          <a:p>
            <a:r>
              <a:t>S020: Rolling logistic: team + xG;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"logit_team_xg", "model_label": "Rolling logistic: team + xG", "name": "Rolling logistic: team + xG | predeclared 5% edge | best individual-book quotes | 0.25 Kelly, per-bet cap 2%", "odds_mode": "best", "origin": "legacy", "policy_family": "predeclared 5% edge", "selection_rule": "max_edge", "staking": "kelly", "strategy_id": "S020", "study_status": "exploratory_replay_of_already_examined_2025_26_no_new_holdout"}</a:t>
            </a:r>
          </a:p>
          <a:p/>
          <a:p>
            <a:r>
              <a:t>S021: Rolling logistic: team + player;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"logit_team_players", "model_label": "Rolling logistic: team + player", "name": "Rolling logistic: team + player | predeclared 5% edge | best individual-book quotes | flat 1,000", "odds_mode": "best", "origin": "legacy", "policy_family": "predeclared 5% edge", "selection_rule": "max_edge", "staking": "fixed", "strategy_id": "S021", "study_status": "exploratory_replay_of_already_examined_2025_26_no_new_holdout"}</a:t>
            </a:r>
          </a:p>
          <a:p/>
          <a:p>
            <a:r>
              <a:t>S022: Rolling logistic: team + player;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"logit_team_players", "model_label": "Rolling logistic: team + player", "name": "Rolling logistic: team + player | predeclared 5% edge | best individual-book quotes | 0.25 Kelly, per-bet cap 2%", "odds_mode": "best", "origin": "legacy", "policy_family": "predeclared 5% edge", "selection_rule": "max_edge", "staking": "kelly", "strategy_id": "S022", "study_status": "exploratory_replay_of_already_examined_2025_26_no_new_holdout"}</a:t>
            </a:r>
          </a:p>
          <a:p/>
          <a:p>
            <a:r>
              <a:t>S023: Rolling logistic: combined;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"logit_combined", "model_label": "Rolling logistic: combined", "name": "Rolling logistic: combined | predeclared 5% edge | best individual-book quotes | flat 1,000", "odds_mode": "best", "origin": "legacy", "policy_family": "predeclared 5% edge", "selection_rule": "max_edge", "staking": "fixed", "strategy_id": "S023", "study_status": "exploratory_replay_of_already_examined_2025_26_no_new_holdout"}</a:t>
            </a:r>
          </a:p>
          <a:p/>
          <a:p>
            <a:r>
              <a:t>S024: Rolling logistic: combined;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"logit_combined", "model_label": "Rolling logistic: combined", "name": "Rolling logistic: combined | predeclared 5% edge | best individual-book quotes | 0.25 Kelly, per-bet cap 2%", "odds_mode": "best", "origin": "legacy", "policy_family": "predeclared 5% edge", "selection_rule": "max_edge", "staking": "kelly", "strategy_id": "S024",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S025: Rolling market residual: team;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"residual_team_only", "model_label": "Rolling market residual: team", "name": "Rolling market residual: team | predeclared 5% edge | best individual-book quotes | flat 1,000", "odds_mode": "best", "origin": "legacy", "policy_family": "predeclared 5% edge", "selection_rule": "max_edge", "staking": "fixed", "strategy_id": "S025", "study_status": "exploratory_replay_of_already_examined_2025_26_no_new_holdout"}</a:t>
            </a:r>
          </a:p>
          <a:p/>
          <a:p>
            <a:r>
              <a:t>S026: Rolling market residual: team;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"residual_team_only", "model_label": "Rolling market residual: team", "name": "Rolling market residual: team | predeclared 5% edge | best individual-book quotes | 0.25 Kelly, per-bet cap 2%", "odds_mode": "best", "origin": "legacy", "policy_family": "predeclared 5% edge", "selection_rule": "max_edge", "staking": "kelly", "strategy_id": "S026", "study_status": "exploratory_replay_of_already_examined_2025_26_no_new_holdout"}</a:t>
            </a:r>
          </a:p>
          <a:p/>
          <a:p>
            <a:r>
              <a:t>S027: Rolling market residual: team + xG;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"residual_team_xg", "model_label": "Rolling market residual: team + xG", "name": "Rolling market residual: team + xG | predeclared 5% edge | best individual-book quotes | flat 1,000", "odds_mode": "best", "origin": "legacy", "policy_family": "predeclared 5% edge", "selection_rule": "max_edge", "staking": "fixed", "strategy_id": "S027", "study_status": "exploratory_replay_of_already_examined_2025_26_no_new_holdout"}</a:t>
            </a:r>
          </a:p>
          <a:p/>
          <a:p>
            <a:r>
              <a:t>S028: Rolling market residual: team + xG;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"residual_team_xg", "model_label": "Rolling market residual: team + xG", "name": "Rolling market residual: team + xG | predeclared 5% edge | best individual-book quotes | 0.25 Kelly, per-bet cap 2%", "odds_mode": "best", "origin": "legacy", "policy_family": "predeclared 5% edge", "selection_rule": "max_edge", "staking": "kelly", "strategy_id": "S028", "study_status": "exploratory_replay_of_already_examined_2025_26_no_new_holdout"}</a:t>
            </a:r>
          </a:p>
          <a:p/>
          <a:p>
            <a:r>
              <a:t>S029: Rolling market residual: team + player;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S030: Rolling market residual: team + player;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0.25 Kelly, per-bet cap 2%", "odds_mode": "best", "origin": "legacy", "policy_family": "predeclared 5% edge", "selection_rule": "max_edge", "staking": "kelly", "strategy_id": "S030", "study_status": "exploratory_replay_of_already_examined_2025_26_no_new_holdout"}</a:t>
            </a:r>
          </a:p>
          <a:p/>
          <a:p>
            <a:r>
              <a:t>S031: Rolling market residual: combined;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"residual_combined", "model_label": "Rolling market residual: combined", "name": "Rolling market residual: combined | predeclared 5% edge | best individual-book quotes | flat 1,000", "odds_mode": "best", "origin": "legacy", "policy_family": "predeclared 5% edge", "selection_rule": "max_edge", "staking": "fixed", "strategy_id": "S031", "study_status": "exploratory_replay_of_already_examined_2025_26_no_new_holdout"}</a:t>
            </a:r>
          </a:p>
          <a:p/>
          <a:p>
            <a:r>
              <a:t>S032: Rolling market residual: combined;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"residual_combined", "model_label": "Rolling market residual: combined", "name": "Rolling market residual: combined | predeclared 5% edge | best individual-book quotes | 0.25 Kelly, per-bet cap 2%", "odds_mode": "best", "origin": "legacy", "policy_family": "predeclared 5% edge", "selection_rule": "max_edge", "staking": "kelly", "strategy_id": "S032",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S033: Rolling training-class frequency;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S034: Rolling training-class frequency;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0.25 Kelly, per-bet cap 2%", "odds_mode": "best", "origin": "legacy", "policy_family": "predeclared 5% edge", "selection_rule": "max_edge", "staking": "kelly", "strategy_id": "S034", "study_status": "exploratory_replay_of_already_examined_2025_26_no_new_holdout"}</a:t>
            </a:r>
          </a:p>
          <a:p/>
          <a:p>
            <a:r>
              <a:t>S035: Raw de-vigged Bet365 market;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"baseline_market_only", "model_label": "Raw de-vigged Bet365 market", "name": "Raw de-vigged Bet365 market | predeclared 5% edge | best individual-book quotes | flat 1,000", "odds_mode": "best", "origin": "legacy", "policy_family": "predeclared 5% edge", "selection_rule": "max_edge", "staking": "fixed", "strategy_id": "S035", "study_status": "exploratory_replay_of_already_examined_2025_26_no_new_holdout"}</a:t>
            </a:r>
          </a:p>
          <a:p/>
          <a:p>
            <a:r>
              <a:t>S036: Raw de-vigged Bet365 market;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"baseline_market_only", "model_label": "Raw de-vigged Bet365 market", "name": "Raw de-vigged Bet365 market | predeclared 5% edge | best individual-book quotes | 0.25 Kelly, per-bet cap 2%", "odds_mode": "best", "origin": "legacy", "policy_family": "predeclared 5% edge", "selection_rule": "max_edge", "staking": "kelly", "strategy_id": "S036", "study_status": "exploratory_replay_of_already_examined_2025_26_no_new_holdout"}</a:t>
            </a:r>
          </a:p>
          <a:p/>
          <a:p>
            <a:r>
              <a:t>S037: Temperature-calibrated Bet365 market;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flat 1,000", "odds_mode": "best", "origin": "legacy", "policy_family": "predeclared 5% edge", "selection_rule": "max_edge", "staking": "fixed", "strategy_id": "S037", "study_status": "exploratory_replay_of_already_examined_2025_26_no_new_holdout"}</a:t>
            </a:r>
          </a:p>
          <a:p/>
          <a:p>
            <a:r>
              <a:t>S038: Temperature-calibrated Bet365 market;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0.25 Kelly, per-bet cap 2%", "odds_mode": "best", "origin": "legacy", "policy_family": "predeclared 5% edge", "selection_rule": "max_edge", "staking": "kelly", "strategy_id": "S038", "study_status": "exploratory_replay_of_already_examined_2025_26_no_new_holdout"}</a:t>
            </a:r>
          </a:p>
          <a:p/>
          <a:p>
            <a:r>
              <a:t>S039: Back H on every priced fixture at its best archived individual-book quote, with flat stake 1,000 and no edge filter; market probability is descriptive only.</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"Back H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H | best quotes | flat 1,000", "odds_mode": "best", "origin": "new", "policy_family": "unconditional class benchmark", "selection_rule": "fixed_outcome", "staking": "fixed", "strategy_id": "S039", "study_status": "exploratory_replay_of_already_examined_2025_26_no_new_holdout"}</a:t>
            </a:r>
          </a:p>
          <a:p/>
          <a:p>
            <a:r>
              <a:t>S040: Back D on every priced fixture at its best archived individual-book quote, with flat stake 1,000 and no edge filter; market probability is descriptive only.</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"Back D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D | best quotes | flat 1,000", "odds_mode": "best", "origin": "new", "policy_family": "unconditional class benchmark", "selection_rule": "fixed_outcome", "staking": "fixed", "strategy_id": "S040",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S041: Back A on every priced fixture at its best archived individual-book quote, with flat stake 1,000 and no edge filter; market probability is descriptive only.</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"Back A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A | best quotes | flat 1,000", "odds_mode": "best", "origin": "new", "policy_family": "unconditional class benchmark", "selection_rule": "fixed_outcome", "staking": "fixed", "strategy_id": "S041", "study_status": "exploratory_replay_of_already_examined_2025_26_no_new_holdout"}</a:t>
            </a:r>
          </a:p>
          <a:p/>
          <a:p>
            <a:r>
              <a:t>S042: Choose the highest raw de-vigged Bet365 probability, then use that outcome's best archived quote and flat stake 1,000; no edge filter.</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highest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favorite | best quotes | flat 1,000", "odds_mode": "best", "origin": "new", "policy_family": "unconditional market benchmark", "selection_rule": "market_favorite", "staking": "fixed", "strategy_id": "S042", "study_status": "exploratory_replay_of_already_examined_2025_26_no_new_holdout"}</a:t>
            </a:r>
          </a:p>
          <a:p/>
          <a:p>
            <a:r>
              <a:t>S043: Choose the lowest raw de-vigged Bet365 probability, then use that outcome's best archived quote and flat stake 1,000; no edge filter.</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lowest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underdog | best quotes | flat 1,000", "odds_mode": "best", "origin": "new", "policy_family": "unconditional market benchmark", "selection_rule": "market_underdog", "staking": "fixed", "strategy_id": "S043", "study_status": "exploratory_replay_of_already_examined_2025_26_no_new_holdout"}</a:t>
            </a:r>
          </a:p>
          <a:p/>
          <a:p>
            <a:r>
              <a:t>S044: Choose Rolling logistic: combined's highest-probability outcome at its best archived quote; flat stake 1,000 with no edge filter.</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logistic: combined's highest-probability outcome at its best archived quote; flat stake 1,000 with no edge filter.", "diagnostic": false, "fixed_stake": 1000.0, "kelly_fraction": 0.25, "max_bet_fraction": 0.02, "max_odds": null, "min_edge": null, "min_odds": null, "model_key": "logit_combined", "model_label": "Rolling logistic: combined", "name": "Rolling logistic: combined | unconditional model favorite | best individual-book quotes | flat 1,000", "odds_mode": "best", "origin": "new", "policy_family": "unconditional model favorite", "selection_rule": "model_favorite", "staking": "fixed", "strategy_id": "S044", "study_status": "exploratory_replay_of_already_examined_2025_26_no_new_holdout"}</a:t>
            </a:r>
          </a:p>
          <a:p/>
          <a:p>
            <a:r>
              <a:t>S045: Choose Rolling market residual: combined's highest-probability outcome at its best archived quote; flat stake 1,000 with no edge filter.</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market residual: combined's highest-probability outcome at its best archived quote; flat stake 1,000 with no edge filter.", "diagnostic": false, "fixed_stake": 1000.0, "kelly_fraction": 0.25, "max_bet_fraction": 0.02, "max_odds": null, "min_edge": null, "min_odds": null, "model_key": "residual_combined", "model_label": "Rolling market residual: combined", "name": "Rolling market residual: combined | unconditional model favorite | best individual-book quotes | flat 1,000", "odds_mode": "best", "origin": "new", "policy_family": "unconditional model favorite", "selection_rule": "model_favorite", "staking": "fixed", "strategy_id": "S045", "study_status": "exploratory_replay_of_already_examined_2025_26_no_new_holdout"}</a:t>
            </a:r>
          </a:p>
          <a:p/>
          <a:p>
            <a:r>
              <a:t>S046: Equal-weight mean of four rolling logistic probabilities;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flat 1,000", "odds_mode": "best", "origin": "new", "policy_family": "ensemble 5% edge", "selection_rule": "max_edge", "staking": "fixed", "strategy_id": "S046", "study_status": "exploratory_replay_of_already_examined_2025_26_no_new_holdout"}</a:t>
            </a:r>
          </a:p>
          <a:p/>
          <a:p>
            <a:r>
              <a:t>S047: Equal-weight mean of four rolling logistic probabilities;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0.25 Kelly, per-bet cap 2%", "odds_mode": "best", "origin": "new", "policy_family": "ensemble 5% edge", "selection_rule": "max_edge", "staking": "kelly", "strategy_id": "S047", "study_status": "exploratory_replay_of_already_examined_2025_26_no_new_holdout"}</a:t>
            </a:r>
          </a:p>
          <a:p/>
          <a:p>
            <a:r>
              <a:t>S048: Equal-weight mean of all eight rolling learned probabilities;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flat 1,000", "odds_mode": "best", "origin": "new", "policy_family": "ensemble 5% edge", "selection_rule": "max_edge", "staking": "fixed", "strategy_id": "S048",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S049: Equal-weight mean of all eight rolling learned probabilities;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0.25 Kelly, per-bet cap 2%", "odds_mode": "best", "origin": "new", "policy_family": "ensemble 5% edge", "selection_rule": "max_edge", "staking": "kelly", "strategy_id": "S049", "study_status": "exploratory_replay_of_already_examined_2025_26_no_new_holdout"}</a:t>
            </a:r>
          </a:p>
          <a:p/>
          <a:p>
            <a:r>
              <a:t>S050: 50/50 combined logistic and raw de-vigged market probabilities; max_edge selection among the allowed outcomes at best individual-book quotes. Require selected model expected return strictly above 5%;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flat 1,000", "odds_mode": "best", "origin": "new", "policy_family": "ensemble 5% edge", "selection_rule": "max_edge", "staking": "fixed", "strategy_id": "S050", "study_status": "exploratory_replay_of_already_examined_2025_26_no_new_holdout"}</a:t>
            </a:r>
          </a:p>
          <a:p/>
          <a:p>
            <a:r>
              <a:t>S051: 50/50 combined logistic and raw de-vigged market probabilities; max_edge selection among the allowed outcomes at best individual-book quotes. Require selected model expected return strictly above 5%; stake 0.25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0.25 Kelly, per-bet cap 2%", "odds_mode": "best", "origin": "new", "policy_family": "ensemble 5% edge", "selection_rule": "max_edge", "staking": "kelly", "strategy_id": "S051", "study_status": "exploratory_replay_of_already_examined_2025_26_no_new_holdout"}</a:t>
            </a:r>
          </a:p>
          <a:p/>
          <a:p>
            <a:r>
              <a:t>S052: Rolling logistic: combined; max_edge selection among the allowed outcomes at best individual-book quotes. Require selected model expected return strictly above 5%; stake dynamic 1% of date-start capital.</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"logit_combined", "model_label": "Rolling logistic: combined", "name": "Rolling logistic: combined | dynamic 1% stake | best individual-book quotes | dynamic 1% of date-start capital", "odds_mode": "best", "origin": "new", "policy_family": "dynamic 1% stake", "selection_rule": "max_edge", "staking": "dynamic_fraction", "strategy_id": "S052", "study_status": "exploratory_replay_of_already_examined_2025_26_no_new_holdout"}</a:t>
            </a:r>
          </a:p>
          <a:p/>
          <a:p>
            <a:r>
              <a:t>S053: Rolling market residual: combined; max_edge selection among the allowed outcomes at best individual-book quotes. Require selected model expected return strictly above 5%; stake dynamic 1% of date-start capital.</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"residual_combined", "model_label": "Rolling market residual: combined", "name": "Rolling market residual: combined | dynamic 1% stake | best individual-book quotes | dynamic 1% of date-start capital", "odds_mode": "best", "origin": "new", "policy_family": "dynamic 1% stake", "selection_rule": "max_edge", "staking": "dynamic_fraction", "strategy_id": "S053", "study_status": "exploratory_replay_of_already_examined_2025_26_no_new_holdout"}</a:t>
            </a:r>
          </a:p>
          <a:p/>
          <a:p>
            <a:r>
              <a:t>S054: Equal-weight mean of all eight rolling learned probabilities; max_edge selection among the allowed outcomes at best individual-book quotes. Require selected model expected return strictly above 5%; stake dynamic 1% of date-start capital.</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dynamic 1% stake | best individual-book quotes | dynamic 1% of date-start capital", "odds_mode": "best", "origin": "new", "policy_family": "dynamic 1% stake", "selection_rule": "max_edge", "staking": "dynamic_fraction", "strategy_id": "S054", "study_status": "exploratory_replay_of_already_examined_2025_26_no_new_holdout"}</a:t>
            </a:r>
          </a:p>
          <a:p/>
          <a:p>
            <a:r>
              <a:t>S055: Rolling logistic: combined; max_edge selection among the allowed outcomes at best individual-book quotes. Require selected model expected return strictly above 5%; stake 0.125 Kelly, per-bet cap 1%.</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"logit_combined", "model_label": "Rolling logistic: combined", "name": "Rolling logistic: combined | eighth Kelly, cap 1% | best individual-book quotes | 0.125 Kelly, per-bet cap 1%", "odds_mode": "best", "origin": "new", "policy_family": "eighth Kelly, cap 1%", "selection_rule": "max_edge", "staking": "kelly", "strategy_id": "S055", "study_status": "exploratory_replay_of_already_examined_2025_26_no_new_holdout"}</a:t>
            </a:r>
          </a:p>
          <a:p/>
          <a:p>
            <a:r>
              <a:t>S056: Rolling logistic: combined; max_edge selection among the allowed outcomes at best individual-book quotes. Require selected model expected return strictly above 5%; stake 0.5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"logit_combined", "model_label": "Rolling logistic: combined", "name": "Rolling logistic: combined | half Kelly, cap 2% | best individual-book quotes | 0.5 Kelly, per-bet cap 2%", "odds_mode": "best", "origin": "new", "policy_family": "half Kelly, cap 2%", "selection_rule": "max_edge", "staking": "kelly", "strategy_id": "S056",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S057: Rolling market residual: combined; max_edge selection among the allowed outcomes at best individual-book quotes. Require selected model expected return strictly above 5%; stake 0.125 Kelly, per-bet cap 1%.</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"residual_combined", "model_label": "Rolling market residual: combined", "name": "Rolling market residual: combined | eighth Kelly, cap 1% | best individual-book quotes | 0.125 Kelly, per-bet cap 1%", "odds_mode": "best", "origin": "new", "policy_family": "eighth Kelly, cap 1%", "selection_rule": "max_edge", "staking": "kelly", "strategy_id": "S057", "study_status": "exploratory_replay_of_already_examined_2025_26_no_new_holdout"}</a:t>
            </a:r>
          </a:p>
          <a:p/>
          <a:p>
            <a:r>
              <a:t>S058: Rolling market residual: combined; max_edge selection among the allowed outcomes at best individual-book quotes. Require selected model expected return strictly above 5%; stake 0.5 Kelly, per-bet cap 2%.</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"residual_combined", "model_label": "Rolling market residual: combined", "name": "Rolling market residual: combined | half Kelly, cap 2% | best individual-book quotes | 0.5 Kelly, per-bet cap 2%", "odds_mode": "best", "origin": "new", "policy_family": "half Kelly, cap 2%", "selection_rule": "max_edge", "staking": "kelly", "strategy_id": "S058", "study_status": "exploratory_replay_of_already_examined_2025_26_no_new_holdout"}</a:t>
            </a:r>
          </a:p>
          <a:p/>
          <a:p>
            <a:r>
              <a:t>S059: Select Rolling logistic: combined's maximum edge strictly above 5%. Use quarter Kelly capped at 2% per bet, then uniformly scale all same-date requests to at most 10% of date-start capital.</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logistic: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"logit_combined", "model_label": "Rolling logistic: combined", "name": "Rolling logistic: combined | quarter Kelly, 10% date budget | best individual-book quotes | 0.25 Kelly, per-bet cap 2%", "odds_mode": "best", "origin": "new", "policy_family": "quarter Kelly, 10% date budget", "selection_rule": "max_edge", "staking": "kelly", "strategy_id": "S059", "study_status": "exploratory_replay_of_already_examined_2025_26_no_new_holdout"}</a:t>
            </a:r>
          </a:p>
          <a:p/>
          <a:p>
            <a:r>
              <a:t>S060: Select Rolling market residual: combined's maximum edge strictly above 5%. Use quarter Kelly capped at 2% per bet, then uniformly scale all same-date requests to at most 10% of date-start capital.</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market residual: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"residual_combined", "model_label": "Rolling market residual: combined", "name": "Rolling market residual: combined | quarter Kelly, 10% date budget | best individual-book quotes | 0.25 Kelly, per-bet cap 2%", "odds_mode": "best", "origin": "new", "policy_family": "quarter Kelly, 10% date budget", "selection_rule": "max_edge", "staking": "kelly", "strategy_id": "S060", "study_status": "exploratory_replay_of_already_examined_2025_26_no_new_holdout"}</a:t>
            </a:r>
          </a:p>
          <a:p/>
          <a:p>
            <a:r>
              <a:t>S061: Select Equal-weight mean of all eight rolling learned probabilities's maximum edge strictly above 5%. Use quarter Kelly capped at 2% per bet, then uniformly scale all same-date requests to at most 10% of date-start capital.</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Equal-weight mean of all eight rolling learned probabilities's maximum edge strictly above 5%. Use quarter Kelly capped at 2% per bet, then uniformly scale all same-date requests to at most 10%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quarter Kelly, 10% date budget | best individual-book quotes | 0.25 Kelly, per-bet cap 2%", "odds_mode": "best", "origin": "new", "policy_family": "quarter Kelly, 10% date budget", "selection_rule": "max_edge", "staking": "kelly", "strategy_id": "S061", "study_status": "exploratory_replay_of_already_examined_2025_26_no_new_holdout"}</a:t>
            </a:r>
          </a:p>
          <a:p/>
          <a:p>
            <a:r>
              <a:t>S062: Choose the mean-eight maximum-edge outcome strictly above 5%; retain it only if at least six of the eight individual rolling learned models have strictly positive edge at that same selected best quote. A failed vote means no bet, without searching another class.</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flat 1,000", "odds_mode": "best", "origin": "new", "policy_family": "six-of-eight consensus", "selection_rule": "max_edge", "staking": "fixed", "strategy_id": "S062", "study_status": "exploratory_replay_of_already_examined_2025_26_no_new_holdout"}</a:t>
            </a:r>
          </a:p>
          <a:p/>
          <a:p>
            <a:r>
              <a:t>S063: Choose the mean-eight maximum-edge outcome strictly above 5%; retain it only if at least six of the eight individual rolling learned models have strictly positive edge at that same selected best quote. A failed vote means no bet, without searching another class.</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0.25 Kelly, per-bet cap 2%", "odds_mode": "best", "origin": "new", "policy_family": "six-of-eight consensus", "selection_rule": "max_edge", "staking": "kelly", "strategy_id": "S063", "study_status": "exploratory_replay_of_already_examined_2025_26_no_new_holdout"}</a:t>
            </a:r>
          </a:p>
          <a:p/>
          <a:p>
            <a:r>
              <a:t>S064: Restrict candidates to outcome H before maximizing mean-eight edge; require strict edge above 5% and use flat stake 1,000 at its best archived quote.</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"Restrict candidates to outcome H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H only | best individual-book quotes | flat 1,000", "odds_mode": "best", "origin": "new", "policy_family": "5% edge, H only", "selection_rule": "max_edge", "staking": "fixed", "strategy_id": "S064",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S065: Restrict candidates to outcome D before maximizing mean-eight edge; require strict edge above 5% and use flat stake 1,000 at its best archived quote.</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"Restrict candidates to outcome D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D only | best individual-book quotes | flat 1,000", "odds_mode": "best", "origin": "new", "policy_family": "5% edge, D only", "selection_rule": "max_edge", "staking": "fixed", "strategy_id": "S065", "study_status": "exploratory_replay_of_already_examined_2025_26_no_new_holdout"}</a:t>
            </a:r>
          </a:p>
          <a:p/>
          <a:p>
            <a:r>
              <a:t>S066: Restrict candidates to outcome A before maximizing mean-eight edge; require strict edge above 5% and use flat stake 1,000 at its best archived quote.</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"Restrict candidates to outcome A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A only | best individual-book quotes | flat 1,000", "odds_mode": "best", "origin": "new", "policy_family": "5% edge, A only", "selection_rule": "max_edge", "staking": "fixed", "strategy_id": "S066", "study_status": "exploratory_replay_of_already_examined_2025_26_no_new_holdout"}</a:t>
            </a:r>
          </a:p>
          <a:p/>
          <a:p>
            <a:r>
              <a:t>S067: Rolling logistic: combined; max_edge selection among the allowed outcomes at best individual-book quotes. Require selected model expected return strictly above 10%;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"logit_combined", "model_label": "Rolling logistic: combined", "name": "Rolling logistic: combined | 10% edge | best individual-book quotes | flat 1,000", "odds_mode": "best", "origin": "new", "policy_family": "10% edge", "selection_rule": "max_edge", "staking": "fixed", "strategy_id": "S067", "study_status": "exploratory_replay_of_already_examined_2025_26_no_new_holdout"}</a:t>
            </a:r>
          </a:p>
          <a:p/>
          <a:p>
            <a:r>
              <a:t>S068: Rolling market residual: combined; max_edge selection among the allowed outcomes at best individual-book quotes. Require selected model expected return strictly above 10%;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"residual_combined", "model_label": "Rolling market residual: combined", "name": "Rolling market residual: combined | 10% edge | best individual-book quotes | flat 1,000", "odds_mode": "best", "origin": "new", "policy_family": "10% edge", "selection_rule": "max_edge", "staking": "fixed", "strategy_id": "S068", "study_status": "exploratory_replay_of_already_examined_2025_26_no_new_holdout"}</a:t>
            </a:r>
          </a:p>
          <a:p/>
          <a:p>
            <a:r>
              <a:t>S069: Equal-weight mean of all eight rolling learned probabilities; max_edge selection among the allowed outcomes at best individual-book quotes. Require selected model expected return strictly above 10%; stake flat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10%; stake flat 1,000.", "diagnostic": false, "fixed_stake": 1000.0, "kelly_fraction": 0.25, "max_bet_fraction": 0.02, "max_odds": null, "min_edge": 0.1, "min_odds": null, "model_key": "ensemble_learned8", "model_label": "Equal-weight mean of all eight rolling learned probabilities", "name": "Equal-weight mean of all eight rolling learned probabilities | 10% edge | best individual-book quotes | flat 1,000", "odds_mode": "best", "origin": "new", "policy_family": "10% edge", "selection_rule": "max_edge", "staking": "fixed", "strategy_id": "S069", "study_status": "exploratory_replay_of_already_examined_2025_26_no_new_holdout"}</a:t>
            </a:r>
          </a:p>
          <a:p/>
          <a:p>
            <a:r>
              <a:t>S070: Retain only outcomes with inclusive best-quote decimal odds from 1.5 to 5 before maximizing Rolling logistic: combined's edge. Require selected edge strictly above 5%; flat stake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logistic: combined's edge. Require selected edge strictly above 5%; flat stake 1,000.", "diagnostic": false, "fixed_stake": 1000.0, "kelly_fraction": 0.25, "max_bet_fraction": 0.02, "max_odds": 5.0, "min_edge": 0.05, "min_odds": 1.5, "model_key": "logit_combined", "model_label": "Rolling logistic: combined", "name": "Rolling logistic: combined | 5% edge, odds 1.5–5 | best individual-book quotes | flat 1,000", "odds_mode": "best", "origin": "new", "policy_family": "5% edge, odds 1.5–5", "selection_rule": "max_edge", "staking": "fixed", "strategy_id": "S070", "study_status": "exploratory_replay_of_already_examined_2025_26_no_new_holdout"}</a:t>
            </a:r>
          </a:p>
          <a:p/>
          <a:p>
            <a:r>
              <a:t>S071: Retain only outcomes with inclusive best-quote decimal odds from 1.5 to 5 before maximizing Rolling market residual: combined's edge. Require selected edge strictly above 5%; flat stake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market residual: combined's edge. Require selected edge strictly above 5%; flat stake 1,000.", "diagnostic": false, "fixed_stake": 1000.0, "kelly_fraction": 0.25, "max_bet_fraction": 0.02, "max_odds": 5.0, "min_edge": 0.05, "min_odds": 1.5, "model_key": "residual_combined", "model_label": "Rolling market residual: combined", "name": "Rolling market residual: combined | 5% edge, odds 1.5–5 | best individual-book quotes | flat 1,000", "odds_mode": "best", "origin": "new", "policy_family": "5% edge, odds 1.5–5", "selection_rule": "max_edge", "staking": "fixed", "strategy_id": "S071", "study_status": "exploratory_replay_of_already_examined_2025_26_no_new_holdout"}</a:t>
            </a:r>
          </a:p>
          <a:p/>
          <a:p>
            <a:r>
              <a:t>S072: Retain only outcomes with inclusive best-quote decimal odds from 1.5 to 5 before maximizing Equal-weight mean of all eight rolling learned probabilities's edge. Require selected edge strictly above 5%; flat stake 1,000.</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Equal-weight mean of all eight rolling learned probabilities's edge. Require selected edge strictly above 5%; flat stake 1,000.", "diagnostic": false, "fixed_stake": 1000.0, "kelly_fraction": 0.25, "max_bet_fraction": 0.02, "max_odds": 5.0, "min_edge": 0.05, "min_odds": 1.5, "model_key": "ensemble_learned8", "model_label": "Equal-weight mean of all eight rolling learned probabilities", "name": "Equal-weight mean of all eight rolling learned probabilities | 5% edge, odds 1.5–5 | best individual-book quotes | flat 1,000", "odds_mode": "best", "origin": "new", "policy_family": "5% edge, odds 1.5–5", "selection_rule": "max_edge", "staking": "fixed", "strategy_id": "S072",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S073: Replay the saved First-study accuracy-selected SVM validation-candidate rule with edge strictly above 0% (p × odds − 1 &gt; 0),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"first_accuracy", "model_label": "First-study accuracy-selected SVM", "name": "First-study accuracy-selected SVM | historical threshold diagnostic 0% | best individual-book quotes | flat 1,000", "odds_mode": "best", "origin": "legacy_diagnostic", "policy_family": "historical threshold diagnostic 0%", "selection_rule": "max_edge", "staking": "fixed", "strategy_id": "S073", "study_status": "exploratory_replay_of_already_examined_2025_26_no_new_holdout"}</a:t>
            </a:r>
          </a:p>
          <a:p/>
          <a:p>
            <a:r>
              <a:t>S074: Replay the saved First-study accuracy-selected SVM validation-candidate rule with edge strictly above 2.5% (p × odds − 1 &gt; 0.025),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"first_accuracy", "model_label": "First-study accuracy-selected SVM", "name": "First-study accuracy-selected SVM | historical threshold diagnostic 2.5% | best individual-book quotes | flat 1,000", "odds_mode": "best", "origin": "legacy_diagnostic", "policy_family": "historical threshold diagnostic 2.5%", "selection_rule": "max_edge", "staking": "fixed", "strategy_id": "S074", "study_status": "exploratory_replay_of_already_examined_2025_26_no_new_holdout"}</a:t>
            </a:r>
          </a:p>
          <a:p/>
          <a:p>
            <a:r>
              <a:t>S075: Replay the saved First-study accuracy-selected SVM validation-candidate rule with edge strictly above 7.5% (p × odds − 1 &gt; 0.075),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"first_accuracy", "model_label": "First-study accuracy-selected SVM", "name": "First-study accuracy-selected SVM | historical threshold diagnostic 7.5% | best individual-book quotes | flat 1,000", "odds_mode": "best", "origin": "legacy_diagnostic", "policy_family": "historical threshold diagnostic 7.5%", "selection_rule": "max_edge", "staking": "fixed", "strategy_id": "S075", "study_status": "exploratory_replay_of_already_examined_2025_26_no_new_holdout"}</a:t>
            </a:r>
          </a:p>
          <a:p/>
          <a:p>
            <a:r>
              <a:t>S076: Replay the saved First-study accuracy-selected SVM validation-candidate rule with edge strictly above 10% (p × odds − 1 &gt; 0.1),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"first_accuracy", "model_label": "First-study accuracy-selected SVM", "name": "First-study accuracy-selected SVM | historical threshold diagnostic 10% | best individual-book quotes | flat 1,000", "odds_mode": "best", "origin": "legacy_diagnostic", "policy_family": "historical threshold diagnostic 10%", "selection_rule": "max_edge", "staking": "fixed", "strategy_id": "S076", "study_status": "exploratory_replay_of_already_examined_2025_26_no_new_holdout"}</a:t>
            </a:r>
          </a:p>
          <a:p/>
          <a:p>
            <a:r>
              <a:t>S077: Replay the saved First-study accuracy-selected SVM validation-candidate rule with edge strictly above 15% (p × odds − 1 &gt; 0.15),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"first_accuracy", "model_label": "First-study accuracy-selected SVM", "name": "First-study accuracy-selected SVM | historical threshold diagnostic 15% | best individual-book quotes | flat 1,000", "odds_mode": "best", "origin": "legacy_diagnostic", "policy_family": "historical threshold diagnostic 15%", "selection_rule": "max_edge", "staking": "fixed", "strategy_id": "S077", "study_status": "exploratory_replay_of_already_examined_2025_26_no_new_holdout"}</a:t>
            </a:r>
          </a:p>
          <a:p/>
          <a:p>
            <a:r>
              <a:t>S078: Replay the saved First-study accuracy-selected SVM validation-candidate rule with edge strictly above 20% (p × odds − 1 &gt; 0.2),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"first_accuracy", "model_label": "First-study accuracy-selected SVM", "name": "First-study accuracy-selected SVM | historical threshold diagnostic 20% | best individual-book quotes | flat 1,000", "odds_mode": "best", "origin": "legacy_diagnostic", "policy_family": "historical threshold diagnostic 20%", "selection_rule": "max_edge", "staking": "fixed", "strategy_id": "S078", "study_status": "exploratory_replay_of_already_examined_2025_26_no_new_holdout"}</a:t>
            </a:r>
          </a:p>
          <a:p/>
          <a:p>
            <a:r>
              <a:t>S079: Replay the saved First-study calibration-selected MLP validation-candidate rule with edge strictly above 0% (p × odds − 1 &gt; 0),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"first_calibration", "model_label": "First-study calibration-selected MLP", "name": "First-study calibration-selected MLP | historical threshold diagnostic 0% | best individual-book quotes | flat 1,000", "odds_mode": "best", "origin": "legacy_diagnostic", "policy_family": "historical threshold diagnostic 0%", "selection_rule": "max_edge", "staking": "fixed", "strategy_id": "S079", "study_status": "exploratory_replay_of_already_examined_2025_26_no_new_holdout"}</a:t>
            </a:r>
          </a:p>
          <a:p/>
          <a:p>
            <a:r>
              <a:t>S080: Replay the saved First-study calibration-selected MLP validation-candidate rule with edge strictly above 2.5% (p × odds − 1 &gt; 0.025),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"first_calibration", "model_label": "First-study calibration-selected MLP", "name": "First-study calibration-selected MLP | historical threshold diagnostic 2.5% | best individual-book quotes | flat 1,000", "odds_mode": "best", "origin": "legacy_diagnostic", "policy_family": "historical threshold diagnostic 2.5%", "selection_rule": "max_edge", "staking": "fixed", "strategy_id": "S080",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S081: Replay the saved First-study calibration-selected MLP validation-candidate rule with edge strictly above 7.5% (p × odds − 1 &gt; 0.075),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"first_calibration", "model_label": "First-study calibration-selected MLP", "name": "First-study calibration-selected MLP | historical threshold diagnostic 7.5% | best individual-book quotes | flat 1,000", "odds_mode": "best", "origin": "legacy_diagnostic", "policy_family": "historical threshold diagnostic 7.5%", "selection_rule": "max_edge", "staking": "fixed", "strategy_id": "S081", "study_status": "exploratory_replay_of_already_examined_2025_26_no_new_holdout"}</a:t>
            </a:r>
          </a:p>
          <a:p/>
          <a:p>
            <a:r>
              <a:t>S082: Replay the saved First-study calibration-selected MLP validation-candidate rule with edge strictly above 10% (p × odds − 1 &gt; 0.1),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"first_calibration", "model_label": "First-study calibration-selected MLP", "name": "First-study calibration-selected MLP | historical threshold diagnostic 10% | best individual-book quotes | flat 1,000", "odds_mode": "best", "origin": "legacy_diagnostic", "policy_family": "historical threshold diagnostic 10%", "selection_rule": "max_edge", "staking": "fixed", "strategy_id": "S082", "study_status": "exploratory_replay_of_already_examined_2025_26_no_new_holdout"}</a:t>
            </a:r>
          </a:p>
          <a:p/>
          <a:p>
            <a:r>
              <a:t>S083: Replay the saved First-study calibration-selected MLP validation-candidate rule with edge strictly above 15% (p × odds − 1 &gt; 0.15),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"first_calibration", "model_label": "First-study calibration-selected MLP", "name": "First-study calibration-selected MLP | historical threshold diagnostic 15% | best individual-book quotes | flat 1,000", "odds_mode": "best", "origin": "legacy_diagnostic", "policy_family": "historical threshold diagnostic 15%", "selection_rule": "max_edge", "staking": "fixed", "strategy_id": "S083", "study_status": "exploratory_replay_of_already_examined_2025_26_no_new_holdout"}</a:t>
            </a:r>
          </a:p>
          <a:p/>
          <a:p>
            <a:r>
              <a:t>S084: Replay the saved First-study calibration-selected MLP validation-candidate rule with edge strictly above 20% (p × odds − 1 &gt; 0.2), best individual-book quotes and flat stake 1,000. This is an exploratory diagnostic replay on an already examined season, not the selected primary strategy.</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"first_calibration", "model_label": "First-study calibration-selected MLP", "name": "First-study calibration-selected MLP | historical threshold diagnostic 20% | best individual-book quotes | flat 1,000", "odds_mode": "best", "origin": "legacy_diagnostic", "policy_family": "historical threshold diagnostic 20%", "selection_rule": "max_edge", "staking": "fixed", "strategy_id": "S084", "study_status": "exploratory_replay_of_already_examined_2025_26_no_new_holdout"}</a:t>
            </a:r>
          </a:p>
          <a:p/>
          <a:p>
            <a:r>
              <a:t>P001: Matched team control | Logistic regression;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flat 1,000", "odds_mode": "best", "origin": "new_player_model_study", "policy_family": "frozen 5% player-study diagnostic", "selection_rule": "max_edge", "staking": "fixed", "strategy_id": "P001", "study_status": "exploratory_previously_inspected_history_not_new_holdout_or_selected_live_betting_policy"}</a:t>
            </a:r>
          </a:p>
          <a:p/>
          <a:p>
            <a:r>
              <a:t>P002: Matched team control | Logistic regression;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quarter Kelly capped at 2% of date-start cash per bet", "odds_mode": "best", "origin": "new_player_model_study", "policy_family": "frozen 5% player-study diagnostic", "selection_rule": "max_edge", "staking": "kelly", "strategy_id": "P002", "study_status": "exploratory_previously_inspected_history_not_new_holdout_or_selected_live_betting_policy"}</a:t>
            </a:r>
          </a:p>
          <a:p/>
          <a:p>
            <a:r>
              <a:t>P003: Matched team control | Logistic regression;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flat 1,000", "odds_mode": "reference", "origin": "new_player_model_study", "policy_family": "frozen 5% player-study diagnostic", "selection_rule": "max_edge", "staking": "fixed", "strategy_id": "P003", "study_status": "exploratory_previously_inspected_history_not_new_holdout_or_selected_live_betting_policy"}</a:t>
            </a:r>
          </a:p>
          <a:p/>
          <a:p>
            <a:r>
              <a:t>P004: Matched team control | Logistic regression;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quarter Kelly capped at 2% of date-start cash per bet", "odds_mode": "reference", "origin": "new_player_model_study", "policy_family": "frozen 5% player-study diagnostic", "selection_rule": "max_edge", "staking": "kelly", "strategy_id": "P004",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P005: Matched team control | Histogram gradient boosting;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flat 1,000", "odds_mode": "best", "origin": "new_player_model_study", "policy_family": "frozen 5% player-study diagnostic", "selection_rule": "max_edge", "staking": "fixed", "strategy_id": "P005", "study_status": "exploratory_previously_inspected_history_not_new_holdout_or_selected_live_betting_policy"}</a:t>
            </a:r>
          </a:p>
          <a:p/>
          <a:p>
            <a:r>
              <a:t>P006: Matched team control | Histogram gradient boosting;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quarter Kelly capped at 2% of date-start cash per bet", "odds_mode": "best", "origin": "new_player_model_study", "policy_family": "frozen 5% player-study diagnostic", "selection_rule": "max_edge", "staking": "kelly", "strategy_id": "P006", "study_status": "exploratory_previously_inspected_history_not_new_holdout_or_selected_live_betting_policy"}</a:t>
            </a:r>
          </a:p>
          <a:p/>
          <a:p>
            <a:r>
              <a:t>P007: Matched team control | Histogram gradient boosting;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flat 1,000", "odds_mode": "reference", "origin": "new_player_model_study", "policy_family": "frozen 5% player-study diagnostic", "selection_rule": "max_edge", "staking": "fixed", "strategy_id": "P007", "study_status": "exploratory_previously_inspected_history_not_new_holdout_or_selected_live_betting_policy"}</a:t>
            </a:r>
          </a:p>
          <a:p/>
          <a:p>
            <a:r>
              <a:t>P008: Matched team control | Histogram gradient boosting;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quarter Kelly capped at 2% of date-start cash per bet", "odds_mode": "reference", "origin": "new_player_model_study", "policy_family": "frozen 5% player-study diagnostic", "selection_rule": "max_edge", "staking": "kelly", "strategy_id": "P008", "study_status": "exploratory_previously_inspected_history_not_new_holdout_or_selected_live_betting_policy"}</a:t>
            </a:r>
          </a:p>
          <a:p/>
          <a:p>
            <a:r>
              <a:t>P009: Player form only | Logistic regression;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P010: Player form only | Logistic regression;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quarter Kelly capped at 2% of date-start cash per bet", "odds_mode": "best", "origin": "new_player_model_study", "policy_family": "frozen 5% player-study diagnostic", "selection_rule": "max_edge", "staking": "kelly", "strategy_id": "P010", "study_status": "exploratory_previously_inspected_history_not_new_holdout_or_selected_live_betting_policy"}</a:t>
            </a:r>
          </a:p>
          <a:p/>
          <a:p>
            <a:r>
              <a:t>P011: Player form only | Logistic regression;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flat 1,000", "odds_mode": "reference", "origin": "new_player_model_study", "policy_family": "frozen 5% player-study diagnostic", "selection_rule": "max_edge", "staking": "fixed", "strategy_id": "P011", "study_status": "exploratory_previously_inspected_history_not_new_holdout_or_selected_live_betting_policy"}</a:t>
            </a:r>
          </a:p>
          <a:p/>
          <a:p>
            <a:r>
              <a:t>P012: Player form only | Logistic regression;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quarter Kelly capped at 2% of date-start cash per bet", "odds_mode": "reference", "origin": "new_player_model_study", "policy_family": "frozen 5% player-study diagnostic", "selection_rule": "max_edge", "staking": "kelly", "strategy_id": "P012",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P013: Player form only | Histogram gradient boosting;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flat 1,000", "odds_mode": "best", "origin": "new_player_model_study", "policy_family": "frozen 5% player-study diagnostic", "selection_rule": "max_edge", "staking": "fixed", "strategy_id": "P013", "study_status": "exploratory_previously_inspected_history_not_new_holdout_or_selected_live_betting_policy"}</a:t>
            </a:r>
          </a:p>
          <a:p/>
          <a:p>
            <a:r>
              <a:t>P014: Player form only | Histogram gradient boosting;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quarter Kelly capped at 2% of date-start cash per bet", "odds_mode": "best", "origin": "new_player_model_study", "policy_family": "frozen 5% player-study diagnostic", "selection_rule": "max_edge", "staking": "kelly", "strategy_id": "P014", "study_status": "exploratory_previously_inspected_history_not_new_holdout_or_selected_live_betting_policy"}</a:t>
            </a:r>
          </a:p>
          <a:p/>
          <a:p>
            <a:r>
              <a:t>P015: Player form only | Histogram gradient boosting;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flat 1,000", "odds_mode": "reference", "origin": "new_player_model_study", "policy_family": "frozen 5% player-study diagnostic", "selection_rule": "max_edge", "staking": "fixed", "strategy_id": "P015", "study_status": "exploratory_previously_inspected_history_not_new_holdout_or_selected_live_betting_policy"}</a:t>
            </a:r>
          </a:p>
          <a:p/>
          <a:p>
            <a:r>
              <a:t>P016: Player form only | Histogram gradient boosting;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quarter Kelly capped at 2% of date-start cash per bet", "odds_mode": "reference", "origin": "new_player_model_study", "policy_family": "frozen 5% player-study diagnostic", "selection_rule": "max_edge", "staking": "kelly", "strategy_id": "P016", "study_status": "exploratory_previously_inspected_history_not_new_holdout_or_selected_live_betting_policy"}</a:t>
            </a:r>
          </a:p>
          <a:p/>
          <a:p>
            <a:r>
              <a:t>P017: Player form + projected XI + depth | Logistic regression;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flat 1,000", "odds_mode": "best", "origin": "new_player_model_study", "policy_family": "frozen 5% player-study diagnostic", "selection_rule": "max_edge", "staking": "fixed", "strategy_id": "P017", "study_status": "exploratory_previously_inspected_history_not_new_holdout_or_selected_live_betting_policy"}</a:t>
            </a:r>
          </a:p>
          <a:p/>
          <a:p>
            <a:r>
              <a:t>P018: Player form + projected XI + depth | Logistic regression;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quarter Kelly capped at 2% of date-start cash per bet", "odds_mode": "best", "origin": "new_player_model_study", "policy_family": "frozen 5% player-study diagnostic", "selection_rule": "max_edge", "staking": "kelly", "strategy_id": "P018", "study_status": "exploratory_previously_inspected_history_not_new_holdout_or_selected_live_betting_policy"}</a:t>
            </a:r>
          </a:p>
          <a:p/>
          <a:p>
            <a:r>
              <a:t>P019: Player form + projected XI + depth | Logistic regression;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flat 1,000", "odds_mode": "reference", "origin": "new_player_model_study", "policy_family": "frozen 5% player-study diagnostic", "selection_rule": "max_edge", "staking": "fixed", "strategy_id": "P019", "study_status": "exploratory_previously_inspected_history_not_new_holdout_or_selected_live_betting_policy"}</a:t>
            </a:r>
          </a:p>
          <a:p/>
          <a:p>
            <a:r>
              <a:t>P020: Player form + projected XI + depth | Logistic regression;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quarter Kelly capped at 2% of date-start cash per bet", "odds_mode": "reference", "origin": "new_player_model_study", "policy_family": "frozen 5% player-study diagnostic", "selection_rule": "max_edge", "staking": "kelly", "strategy_id": "P020",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P021: Player form + projected XI + depth | Histogram gradient boosting;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flat 1,000", "odds_mode": "best", "origin": "new_player_model_study", "policy_family": "frozen 5% player-study diagnostic", "selection_rule": "max_edge", "staking": "fixed", "strategy_id": "P021", "study_status": "exploratory_previously_inspected_history_not_new_holdout_or_selected_live_betting_policy"}</a:t>
            </a:r>
          </a:p>
          <a:p/>
          <a:p>
            <a:r>
              <a:t>P022: Player form + projected XI + depth | Histogram gradient boosting;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quarter Kelly capped at 2% of date-start cash per bet", "odds_mode": "best", "origin": "new_player_model_study", "policy_family": "frozen 5% player-study diagnostic", "selection_rule": "max_edge", "staking": "kelly", "strategy_id": "P022", "study_status": "exploratory_previously_inspected_history_not_new_holdout_or_selected_live_betting_policy"}</a:t>
            </a:r>
          </a:p>
          <a:p/>
          <a:p>
            <a:r>
              <a:t>P023: Player form + projected XI + depth | Histogram gradient boosting;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flat 1,000", "odds_mode": "reference", "origin": "new_player_model_study", "policy_family": "frozen 5% player-study diagnostic", "selection_rule": "max_edge", "staking": "fixed", "strategy_id": "P023", "study_status": "exploratory_previously_inspected_history_not_new_holdout_or_selected_live_betting_policy"}</a:t>
            </a:r>
          </a:p>
          <a:p/>
          <a:p>
            <a:r>
              <a:t>P024: Player form + projected XI + depth | Histogram gradient boosting;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quarter Kelly capped at 2% of date-start cash per bet", "odds_mode": "reference", "origin": "new_player_model_study", "policy_family": "frozen 5% player-study diagnostic", "selection_rule": "max_edge", "staking": "kelly", "strategy_id": "P024", "study_status": "exploratory_previously_inspected_history_not_new_holdout_or_selected_live_betting_policy"}</a:t>
            </a:r>
          </a:p>
          <a:p/>
          <a:p>
            <a:r>
              <a:t>P025: Team + full player block | Logistic regression;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flat 1,000", "odds_mode": "best", "origin": "new_player_model_study", "policy_family": "frozen 5% player-study diagnostic", "selection_rule": "max_edge", "staking": "fixed", "strategy_id": "P025", "study_status": "exploratory_previously_inspected_history_not_new_holdout_or_selected_live_betting_policy"}</a:t>
            </a:r>
          </a:p>
          <a:p/>
          <a:p>
            <a:r>
              <a:t>P026: Team + full player block | Logistic regression;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quarter Kelly capped at 2% of date-start cash per bet", "odds_mode": "best", "origin": "new_player_model_study", "policy_family": "frozen 5% player-study diagnostic", "selection_rule": "max_edge", "staking": "kelly", "strategy_id": "P026", "study_status": "exploratory_previously_inspected_history_not_new_holdout_or_selected_live_betting_policy"}</a:t>
            </a:r>
          </a:p>
          <a:p/>
          <a:p>
            <a:r>
              <a:t>P027: Team + full player block | Logistic regression;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flat 1,000", "odds_mode": "reference", "origin": "new_player_model_study", "policy_family": "frozen 5% player-study diagnostic", "selection_rule": "max_edge", "staking": "fixed", "strategy_id": "P027", "study_status": "exploratory_previously_inspected_history_not_new_holdout_or_selected_live_betting_policy"}</a:t>
            </a:r>
          </a:p>
          <a:p/>
          <a:p>
            <a:r>
              <a:t>P028: Team + full player block | Logistic regression;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quarter Kelly capped at 2% of date-start cash per bet", "odds_mode": "reference", "origin": "new_player_model_study", "policy_family": "frozen 5% player-study diagnostic", "selection_rule": "max_edge", "staking": "kelly", "strategy_id": "P028",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listed configuration is the saved original definition. Cash and nontrading variants remain included. All strategies select at most one outcome per fixture. Ties use deterministic H/D/A ordering. Dynamic stake requests use date-start cash. All requests on a date are uniformly scaled to available cash and any declared date cap before settlement.</a:t>
            </a:r>
          </a:p>
          <a:p/>
          <a:p>
            <a:r>
              <a:t>P029: Team + full player block | Histogram gradient boosting; choose the allowed H/D/A outcome with maximum p × odds − 1 at the best archived individual-book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flat 1,000", "odds_mode": "best", "origin": "new_player_model_study", "policy_family": "frozen 5% player-study diagnostic", "selection_rule": "max_edge", "staking": "fixed", "strategy_id": "P029", "study_status": "exploratory_previously_inspected_history_not_new_holdout_or_selected_live_betting_policy"}</a:t>
            </a:r>
          </a:p>
          <a:p/>
          <a:p>
            <a:r>
              <a:t>P030: Team + full player block | Histogram gradient boosting; choose the allowed H/D/A outcome with maximum p × odds − 1 at the best archived individual-book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quarter Kelly capped at 2% of date-start cash per bet", "odds_mode": "best", "origin": "new_player_model_study", "policy_family": "frozen 5% player-study diagnostic", "selection_rule": "max_edge", "staking": "kelly", "strategy_id": "P030", "study_status": "exploratory_previously_inspected_history_not_new_holdout_or_selected_live_betting_policy"}</a:t>
            </a:r>
          </a:p>
          <a:p/>
          <a:p>
            <a:r>
              <a:t>P031: Team + full player block | Histogram gradient boosting; choose the allowed H/D/A outcome with maximum p × odds − 1 at the archived Bet365 reference quote. Trade only for edge strictly greater than 5%; request flat 1,000.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flat 1,000", "odds_mode": "reference", "origin": "new_player_model_study", "policy_family": "frozen 5% player-study diagnostic", "selection_rule": "max_edge", "staking": "fixed", "strategy_id": "P031", "study_status": "exploratory_previously_inspected_history_not_new_holdout_or_selected_live_betting_policy"}</a:t>
            </a:r>
          </a:p>
          <a:p/>
          <a:p>
            <a:r>
              <a:t>P032: Team + full player block | Histogram gradient boosting; choose the allowed H/D/A outcome with maximum p × odds − 1 at the archived Bet365 reference quote. Trade only for edge strictly greater than 5%; request quarter Kelly capped at 2% of date-start cash per bet. H/D/A order resolves ties.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quarter Kelly capped at 2% of date-start cash per bet", "odds_mode": "reference", "origin": "new_player_model_study", "policy_family": "frozen 5% player-study diagnostic", "selection_rule": "max_edge", "staking": "kelly", "strategy_id": "P032",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all_strategies_2025_100k.html"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all_strategies_continuous_100k.html"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what we have implemented</a:t>
            </a:r>
          </a:p>
        </p:txBody>
      </p:sp>
      <p:sp>
        <p:nvSpPr>
          <p:cNvPr id="4" name="slide00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An end-to-end research system for match probabilities, archived-price trading and prospective evaluation.</a:t>
            </a:r>
          </a:p>
        </p:txBody>
      </p:sp>
      <p:sp>
        <p:nvSpPr>
          <p:cNvPr id="5" name="slide001-element000-card-background"/>
          <p:cNvSpPr/>
          <p:nvPr/>
        </p:nvSpPr>
        <p:spPr>
          <a:xfrm>
            <a:off x="594360" y="1874519"/>
            <a:ext cx="4251960" cy="155448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1-element000-card-accent"/>
          <p:cNvSpPr/>
          <p:nvPr/>
        </p:nvSpPr>
        <p:spPr>
          <a:xfrm>
            <a:off x="594360" y="1874519"/>
            <a:ext cx="50292" cy="155448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1-element000-card-label"/>
          <p:cNvSpPr txBox="1"/>
          <p:nvPr/>
        </p:nvSpPr>
        <p:spPr>
          <a:xfrm>
            <a:off x="749808"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DATA</a:t>
            </a:r>
          </a:p>
        </p:txBody>
      </p:sp>
      <p:sp>
        <p:nvSpPr>
          <p:cNvPr id="8" name="slide001-element000-card-value"/>
          <p:cNvSpPr txBox="1"/>
          <p:nvPr/>
        </p:nvSpPr>
        <p:spPr>
          <a:xfrm>
            <a:off x="749808"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20 current clubs</a:t>
            </a:r>
          </a:p>
        </p:txBody>
      </p:sp>
      <p:sp>
        <p:nvSpPr>
          <p:cNvPr id="9" name="slide001-element000-card-detail"/>
          <p:cNvSpPr txBox="1"/>
          <p:nvPr/>
        </p:nvSpPr>
        <p:spPr>
          <a:xfrm>
            <a:off x="749808" y="2770632"/>
            <a:ext cx="3941064" cy="62179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Team, xG and player histories</a:t>
            </a:r>
          </a:p>
        </p:txBody>
      </p:sp>
      <p:sp>
        <p:nvSpPr>
          <p:cNvPr id="10" name="slide001-element001-card-background"/>
          <p:cNvSpPr/>
          <p:nvPr/>
        </p:nvSpPr>
        <p:spPr>
          <a:xfrm>
            <a:off x="5175504" y="1874519"/>
            <a:ext cx="4251960" cy="155448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1-element001-card-accent"/>
          <p:cNvSpPr/>
          <p:nvPr/>
        </p:nvSpPr>
        <p:spPr>
          <a:xfrm>
            <a:off x="5175504" y="1874519"/>
            <a:ext cx="50292" cy="155448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1-element001-card-label"/>
          <p:cNvSpPr txBox="1"/>
          <p:nvPr/>
        </p:nvSpPr>
        <p:spPr>
          <a:xfrm>
            <a:off x="5330952"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PREDICTION</a:t>
            </a:r>
          </a:p>
        </p:txBody>
      </p:sp>
      <p:sp>
        <p:nvSpPr>
          <p:cNvPr id="13" name="slide001-element001-card-value"/>
          <p:cNvSpPr txBox="1"/>
          <p:nvPr/>
        </p:nvSpPr>
        <p:spPr>
          <a:xfrm>
            <a:off x="5330952"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19 model series</a:t>
            </a:r>
          </a:p>
        </p:txBody>
      </p:sp>
      <p:sp>
        <p:nvSpPr>
          <p:cNvPr id="14" name="slide001-element001-card-detail"/>
          <p:cNvSpPr txBox="1"/>
          <p:nvPr/>
        </p:nvSpPr>
        <p:spPr>
          <a:xfrm>
            <a:off x="5330952" y="2770632"/>
            <a:ext cx="3941064" cy="62179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16 learned predictors + 3 benchmarks</a:t>
            </a:r>
          </a:p>
        </p:txBody>
      </p:sp>
      <p:sp>
        <p:nvSpPr>
          <p:cNvPr id="15" name="slide001-element002-card-background"/>
          <p:cNvSpPr/>
          <p:nvPr/>
        </p:nvSpPr>
        <p:spPr>
          <a:xfrm>
            <a:off x="9756648" y="1874519"/>
            <a:ext cx="4251960" cy="155448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1-element002-card-accent"/>
          <p:cNvSpPr/>
          <p:nvPr/>
        </p:nvSpPr>
        <p:spPr>
          <a:xfrm>
            <a:off x="9756648" y="1874519"/>
            <a:ext cx="50292" cy="155448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1-element002-card-label"/>
          <p:cNvSpPr txBox="1"/>
          <p:nvPr/>
        </p:nvSpPr>
        <p:spPr>
          <a:xfrm>
            <a:off x="9912096"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TRADING</a:t>
            </a:r>
          </a:p>
        </p:txBody>
      </p:sp>
      <p:sp>
        <p:nvSpPr>
          <p:cNvPr id="18" name="slide001-element002-card-value"/>
          <p:cNvSpPr txBox="1"/>
          <p:nvPr/>
        </p:nvSpPr>
        <p:spPr>
          <a:xfrm>
            <a:off x="9912096"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116 accounts</a:t>
            </a:r>
          </a:p>
        </p:txBody>
      </p:sp>
      <p:sp>
        <p:nvSpPr>
          <p:cNvPr id="19" name="slide001-element002-card-detail"/>
          <p:cNvSpPr txBox="1"/>
          <p:nvPr/>
        </p:nvSpPr>
        <p:spPr>
          <a:xfrm>
            <a:off x="9912096" y="2770632"/>
            <a:ext cx="3941064" cy="62179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Each starts at 100,000 in 2025/26</a:t>
            </a:r>
          </a:p>
        </p:txBody>
      </p:sp>
      <p:sp>
        <p:nvSpPr>
          <p:cNvPr id="20" name="slide001-element003-text"/>
          <p:cNvSpPr txBox="1"/>
          <p:nvPr/>
        </p:nvSpPr>
        <p:spPr>
          <a:xfrm>
            <a:off x="594360" y="3931920"/>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2300" b="1">
                <a:solidFill>
                  <a:srgbClr val="11243A"/>
                </a:solidFill>
                <a:latin typeface="Arial"/>
              </a:rPr>
              <a:t>What is already built</a:t>
            </a:r>
          </a:p>
        </p:txBody>
      </p:sp>
      <p:sp>
        <p:nvSpPr>
          <p:cNvPr id="21" name="slide001-element004-text"/>
          <p:cNvSpPr txBox="1"/>
          <p:nvPr/>
        </p:nvSpPr>
        <p:spPr>
          <a:xfrm>
            <a:off x="594360" y="4572000"/>
            <a:ext cx="6400800" cy="2148840"/>
          </a:xfrm>
          <a:prstGeom prst="rect">
            <a:avLst/>
          </a:prstGeom>
          <a:noFill/>
        </p:spPr>
        <p:txBody>
          <a:bodyPr wrap="square" lIns="0" rIns="0" tIns="0" bIns="0" anchor="t">
            <a:noAutofit/>
          </a:bodyPr>
          <a:lstStyle/>
          <a:p>
            <a:pPr algn="l">
              <a:lnSpc>
                <a:spcPct val="100000"/>
              </a:lnSpc>
              <a:spcBef>
                <a:spcPts val="0"/>
              </a:spcBef>
              <a:spcAft>
                <a:spcPts val="0"/>
              </a:spcAft>
            </a:pPr>
            <a:r>
              <a:rPr sz="2300" b="0">
                <a:solidFill>
                  <a:srgbClr val="11243A"/>
                </a:solidFill>
                <a:latin typeface="Arial"/>
              </a:rPr>
              <a:t>Source captures and identity checks</a:t>
            </a:r>
          </a:p>
          <a:p>
            <a:pPr algn="l">
              <a:lnSpc>
                <a:spcPct val="100000"/>
              </a:lnSpc>
              <a:spcBef>
                <a:spcPts val="0"/>
              </a:spcBef>
              <a:spcAft>
                <a:spcPts val="0"/>
              </a:spcAft>
            </a:pPr>
            <a:r>
              <a:rPr sz="2300" b="0">
                <a:solidFill>
                  <a:srgbClr val="11243A"/>
                </a:solidFill>
                <a:latin typeface="Arial"/>
              </a:rPr>
              <a:t>Strictly lagged team and player features</a:t>
            </a:r>
          </a:p>
          <a:p>
            <a:pPr algn="l">
              <a:lnSpc>
                <a:spcPct val="100000"/>
              </a:lnSpc>
              <a:spcBef>
                <a:spcPts val="0"/>
              </a:spcBef>
              <a:spcAft>
                <a:spcPts val="0"/>
              </a:spcAft>
            </a:pPr>
            <a:r>
              <a:rPr sz="2300" b="0">
                <a:solidFill>
                  <a:srgbClr val="11243A"/>
                </a:solidFill>
                <a:latin typeface="Arial"/>
              </a:rPr>
              <a:t>Chronological fitting and calibration</a:t>
            </a:r>
          </a:p>
        </p:txBody>
      </p:sp>
      <p:sp>
        <p:nvSpPr>
          <p:cNvPr id="22" name="slide001-element005-text"/>
          <p:cNvSpPr txBox="1"/>
          <p:nvPr/>
        </p:nvSpPr>
        <p:spPr>
          <a:xfrm>
            <a:off x="7360920" y="4572000"/>
            <a:ext cx="6537960" cy="2148840"/>
          </a:xfrm>
          <a:prstGeom prst="rect">
            <a:avLst/>
          </a:prstGeom>
          <a:noFill/>
        </p:spPr>
        <p:txBody>
          <a:bodyPr wrap="square" lIns="0" rIns="0" tIns="0" bIns="0" anchor="t">
            <a:noAutofit/>
          </a:bodyPr>
          <a:lstStyle/>
          <a:p>
            <a:pPr algn="l">
              <a:lnSpc>
                <a:spcPct val="100000"/>
              </a:lnSpc>
              <a:spcBef>
                <a:spcPts val="0"/>
              </a:spcBef>
              <a:spcAft>
                <a:spcPts val="0"/>
              </a:spcAft>
            </a:pPr>
            <a:r>
              <a:rPr sz="2300" b="0">
                <a:solidFill>
                  <a:srgbClr val="11243A"/>
                </a:solidFill>
                <a:latin typeface="Arial"/>
              </a:rPr>
              <a:t>Trading, cash and risk accounting</a:t>
            </a:r>
          </a:p>
          <a:p>
            <a:pPr algn="l">
              <a:lnSpc>
                <a:spcPct val="100000"/>
              </a:lnSpc>
              <a:spcBef>
                <a:spcPts val="0"/>
              </a:spcBef>
              <a:spcAft>
                <a:spcPts val="0"/>
              </a:spcAft>
            </a:pPr>
            <a:r>
              <a:rPr sz="2300" b="0">
                <a:solidFill>
                  <a:srgbClr val="11243A"/>
                </a:solidFill>
                <a:latin typeface="Arial"/>
              </a:rPr>
              <a:t>Complete money curves and strategy catalog</a:t>
            </a:r>
          </a:p>
          <a:p>
            <a:pPr algn="l">
              <a:lnSpc>
                <a:spcPct val="100000"/>
              </a:lnSpc>
              <a:spcBef>
                <a:spcPts val="0"/>
              </a:spcBef>
              <a:spcAft>
                <a:spcPts val="0"/>
              </a:spcAft>
            </a:pPr>
            <a:r>
              <a:rPr sz="2300" b="0">
                <a:solidFill>
                  <a:srgbClr val="11243A"/>
                </a:solidFill>
                <a:latin typeface="Arial"/>
              </a:rPr>
              <a:t>Timestamped forecasts, audits and reports</a:t>
            </a:r>
          </a:p>
        </p:txBody>
      </p:sp>
      <p:sp>
        <p:nvSpPr>
          <p:cNvPr id="23" name="slide001-element006-text"/>
          <p:cNvSpPr txBox="1"/>
          <p:nvPr/>
        </p:nvSpPr>
        <p:spPr>
          <a:xfrm>
            <a:off x="594360" y="7086600"/>
            <a:ext cx="1335024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Presentation: 21 October 2026  |  Completed evidence through the 20 October snapshot  |  EPL component</a:t>
            </a:r>
          </a:p>
        </p:txBody>
      </p:sp>
      <p:cxnSp>
        <p:nvCxnSpPr>
          <p:cNvPr id="24" name="slide00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5" name="slide00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study_status.json; prospective_status.json | Full paths in notes</a:t>
            </a:r>
          </a:p>
        </p:txBody>
      </p:sp>
      <p:sp>
        <p:nvSpPr>
          <p:cNvPr id="26" name="slide00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The data behind the implemented system</a:t>
            </a:r>
          </a:p>
        </p:txBody>
      </p:sp>
      <p:sp>
        <p:nvSpPr>
          <p:cNvPr id="4" name="slide00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Current-club scope; full historical opponents remain context. Snapshot completed matches run through 19 October 2026.</a:t>
            </a:r>
          </a:p>
        </p:txBody>
      </p:sp>
      <p:sp>
        <p:nvSpPr>
          <p:cNvPr id="5" name="slide002-element000-card-background"/>
          <p:cNvSpPr/>
          <p:nvPr/>
        </p:nvSpPr>
        <p:spPr>
          <a:xfrm>
            <a:off x="594360" y="1874519"/>
            <a:ext cx="4251960" cy="150876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2-element000-card-accent"/>
          <p:cNvSpPr/>
          <p:nvPr/>
        </p:nvSpPr>
        <p:spPr>
          <a:xfrm>
            <a:off x="594360" y="1874519"/>
            <a:ext cx="50292" cy="150876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2-element000-card-label"/>
          <p:cNvSpPr txBox="1"/>
          <p:nvPr/>
        </p:nvSpPr>
        <p:spPr>
          <a:xfrm>
            <a:off x="749808"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HISTORICAL PLAYER RECORDS</a:t>
            </a:r>
          </a:p>
        </p:txBody>
      </p:sp>
      <p:sp>
        <p:nvSpPr>
          <p:cNvPr id="8" name="slide002-element000-card-value"/>
          <p:cNvSpPr txBox="1"/>
          <p:nvPr/>
        </p:nvSpPr>
        <p:spPr>
          <a:xfrm>
            <a:off x="749808"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253,509</a:t>
            </a:r>
          </a:p>
        </p:txBody>
      </p:sp>
      <p:sp>
        <p:nvSpPr>
          <p:cNvPr id="9" name="slide002-element000-card-detail"/>
          <p:cNvSpPr txBox="1"/>
          <p:nvPr/>
        </p:nvSpPr>
        <p:spPr>
          <a:xfrm>
            <a:off x="749808" y="2770632"/>
            <a:ext cx="3941064" cy="576071"/>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Player-match rows, 2016/17–2025/26</a:t>
            </a:r>
          </a:p>
        </p:txBody>
      </p:sp>
      <p:sp>
        <p:nvSpPr>
          <p:cNvPr id="10" name="slide002-element001-card-background"/>
          <p:cNvSpPr/>
          <p:nvPr/>
        </p:nvSpPr>
        <p:spPr>
          <a:xfrm>
            <a:off x="5175504" y="1874519"/>
            <a:ext cx="4251960" cy="150876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2-element001-card-accent"/>
          <p:cNvSpPr/>
          <p:nvPr/>
        </p:nvSpPr>
        <p:spPr>
          <a:xfrm>
            <a:off x="5175504" y="1874519"/>
            <a:ext cx="50292" cy="150876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2-element001-card-label"/>
          <p:cNvSpPr txBox="1"/>
          <p:nvPr/>
        </p:nvSpPr>
        <p:spPr>
          <a:xfrm>
            <a:off x="5330952"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CURRENT PLAYER HISTORY</a:t>
            </a:r>
          </a:p>
        </p:txBody>
      </p:sp>
      <p:sp>
        <p:nvSpPr>
          <p:cNvPr id="13" name="slide002-element001-card-value"/>
          <p:cNvSpPr txBox="1"/>
          <p:nvPr/>
        </p:nvSpPr>
        <p:spPr>
          <a:xfrm>
            <a:off x="5330952"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4,551</a:t>
            </a:r>
          </a:p>
        </p:txBody>
      </p:sp>
      <p:sp>
        <p:nvSpPr>
          <p:cNvPr id="14" name="slide002-element001-card-detail"/>
          <p:cNvSpPr txBox="1"/>
          <p:nvPr/>
        </p:nvSpPr>
        <p:spPr>
          <a:xfrm>
            <a:off x="5330952" y="2770632"/>
            <a:ext cx="3941064" cy="576071"/>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Rows from 70 completed fixtures</a:t>
            </a:r>
          </a:p>
        </p:txBody>
      </p:sp>
      <p:sp>
        <p:nvSpPr>
          <p:cNvPr id="15" name="slide002-element002-card-background"/>
          <p:cNvSpPr/>
          <p:nvPr/>
        </p:nvSpPr>
        <p:spPr>
          <a:xfrm>
            <a:off x="9756648" y="1874519"/>
            <a:ext cx="4251960" cy="150876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2-element002-card-accent"/>
          <p:cNvSpPr/>
          <p:nvPr/>
        </p:nvSpPr>
        <p:spPr>
          <a:xfrm>
            <a:off x="9756648" y="1874519"/>
            <a:ext cx="50292" cy="150876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2-element002-card-label"/>
          <p:cNvSpPr txBox="1"/>
          <p:nvPr/>
        </p:nvSpPr>
        <p:spPr>
          <a:xfrm>
            <a:off x="9912096"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CURRENT PLAYER SUMMARIES</a:t>
            </a:r>
          </a:p>
        </p:txBody>
      </p:sp>
      <p:sp>
        <p:nvSpPr>
          <p:cNvPr id="18" name="slide002-element002-card-value"/>
          <p:cNvSpPr txBox="1"/>
          <p:nvPr/>
        </p:nvSpPr>
        <p:spPr>
          <a:xfrm>
            <a:off x="9912096"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668</a:t>
            </a:r>
          </a:p>
        </p:txBody>
      </p:sp>
      <p:sp>
        <p:nvSpPr>
          <p:cNvPr id="19" name="slide002-element002-card-detail"/>
          <p:cNvSpPr txBox="1"/>
          <p:nvPr/>
        </p:nvSpPr>
        <p:spPr>
          <a:xfrm>
            <a:off x="9912096" y="2770632"/>
            <a:ext cx="3941064" cy="576071"/>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Full FPL snapshot, 20 October</a:t>
            </a:r>
          </a:p>
        </p:txBody>
      </p:sp>
      <p:sp>
        <p:nvSpPr>
          <p:cNvPr id="20" name="slide002-element003-table-r00-c00-cell"/>
          <p:cNvSpPr/>
          <p:nvPr/>
        </p:nvSpPr>
        <p:spPr>
          <a:xfrm>
            <a:off x="594360" y="3794760"/>
            <a:ext cx="3219419" cy="72009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2-element003-table-r00-c00-text"/>
          <p:cNvSpPr txBox="1"/>
          <p:nvPr/>
        </p:nvSpPr>
        <p:spPr>
          <a:xfrm>
            <a:off x="685800" y="3867912"/>
            <a:ext cx="3036539" cy="57378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Source block</a:t>
            </a:r>
          </a:p>
        </p:txBody>
      </p:sp>
      <p:sp>
        <p:nvSpPr>
          <p:cNvPr id="22" name="slide002-element003-table-r00-c01-cell"/>
          <p:cNvSpPr/>
          <p:nvPr/>
        </p:nvSpPr>
        <p:spPr>
          <a:xfrm>
            <a:off x="3813779" y="3794760"/>
            <a:ext cx="4829129" cy="72009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2-element003-table-r00-c01-text"/>
          <p:cNvSpPr txBox="1"/>
          <p:nvPr/>
        </p:nvSpPr>
        <p:spPr>
          <a:xfrm>
            <a:off x="3905219" y="3867912"/>
            <a:ext cx="4646249" cy="57378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Implemented use</a:t>
            </a:r>
          </a:p>
        </p:txBody>
      </p:sp>
      <p:sp>
        <p:nvSpPr>
          <p:cNvPr id="24" name="slide002-element003-table-r00-c02-cell"/>
          <p:cNvSpPr/>
          <p:nvPr/>
        </p:nvSpPr>
        <p:spPr>
          <a:xfrm>
            <a:off x="8642908" y="3794760"/>
            <a:ext cx="5365699" cy="72009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2-element003-table-r00-c02-text"/>
          <p:cNvSpPr txBox="1"/>
          <p:nvPr/>
        </p:nvSpPr>
        <p:spPr>
          <a:xfrm>
            <a:off x="8734348" y="3867912"/>
            <a:ext cx="5182819" cy="57378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Timing boundary</a:t>
            </a:r>
          </a:p>
        </p:txBody>
      </p:sp>
      <p:sp>
        <p:nvSpPr>
          <p:cNvPr id="26" name="slide002-element003-table-r01-c00-cell"/>
          <p:cNvSpPr/>
          <p:nvPr/>
        </p:nvSpPr>
        <p:spPr>
          <a:xfrm>
            <a:off x="594360" y="4514850"/>
            <a:ext cx="3219419" cy="72009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2-element003-table-r01-c00-text"/>
          <p:cNvSpPr txBox="1"/>
          <p:nvPr/>
        </p:nvSpPr>
        <p:spPr>
          <a:xfrm>
            <a:off x="685800" y="4588002"/>
            <a:ext cx="303653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Football-Data + bookmaker panel</a:t>
            </a:r>
          </a:p>
        </p:txBody>
      </p:sp>
      <p:sp>
        <p:nvSpPr>
          <p:cNvPr id="28" name="slide002-element003-table-r01-c01-cell"/>
          <p:cNvSpPr/>
          <p:nvPr/>
        </p:nvSpPr>
        <p:spPr>
          <a:xfrm>
            <a:off x="3813779" y="4514850"/>
            <a:ext cx="4829129" cy="72009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2-element003-table-r01-c01-text"/>
          <p:cNvSpPr txBox="1"/>
          <p:nvPr/>
        </p:nvSpPr>
        <p:spPr>
          <a:xfrm>
            <a:off x="3905219" y="4588002"/>
            <a:ext cx="464624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Results, team form, individual-book prices</a:t>
            </a:r>
          </a:p>
        </p:txBody>
      </p:sp>
      <p:sp>
        <p:nvSpPr>
          <p:cNvPr id="30" name="slide002-element003-table-r01-c02-cell"/>
          <p:cNvSpPr/>
          <p:nvPr/>
        </p:nvSpPr>
        <p:spPr>
          <a:xfrm>
            <a:off x="8642908" y="4514850"/>
            <a:ext cx="5365699" cy="72009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2-element003-table-r01-c02-text"/>
          <p:cNvSpPr txBox="1"/>
          <p:nvPr/>
        </p:nvSpPr>
        <p:spPr>
          <a:xfrm>
            <a:off x="8734348" y="4588002"/>
            <a:ext cx="518281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Strictly earlier features; quote clocks unverified</a:t>
            </a:r>
          </a:p>
        </p:txBody>
      </p:sp>
      <p:sp>
        <p:nvSpPr>
          <p:cNvPr id="32" name="slide002-element003-table-r02-c00-cell"/>
          <p:cNvSpPr/>
          <p:nvPr/>
        </p:nvSpPr>
        <p:spPr>
          <a:xfrm>
            <a:off x="594360" y="5234940"/>
            <a:ext cx="3219419" cy="72009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2-element003-table-r02-c00-text"/>
          <p:cNvSpPr txBox="1"/>
          <p:nvPr/>
        </p:nvSpPr>
        <p:spPr>
          <a:xfrm>
            <a:off x="685800" y="5308092"/>
            <a:ext cx="303653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Understat</a:t>
            </a:r>
          </a:p>
        </p:txBody>
      </p:sp>
      <p:sp>
        <p:nvSpPr>
          <p:cNvPr id="34" name="slide002-element003-table-r02-c01-cell"/>
          <p:cNvSpPr/>
          <p:nvPr/>
        </p:nvSpPr>
        <p:spPr>
          <a:xfrm>
            <a:off x="3813779" y="5234940"/>
            <a:ext cx="4829129" cy="72009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2-element003-table-r02-c01-text"/>
          <p:cNvSpPr txBox="1"/>
          <p:nvPr/>
        </p:nvSpPr>
        <p:spPr>
          <a:xfrm>
            <a:off x="3905219" y="5308092"/>
            <a:ext cx="464624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Team expected-goals history</a:t>
            </a:r>
          </a:p>
        </p:txBody>
      </p:sp>
      <p:sp>
        <p:nvSpPr>
          <p:cNvPr id="36" name="slide002-element003-table-r02-c02-cell"/>
          <p:cNvSpPr/>
          <p:nvPr/>
        </p:nvSpPr>
        <p:spPr>
          <a:xfrm>
            <a:off x="8642908" y="5234940"/>
            <a:ext cx="5365699" cy="72009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2-element003-table-r02-c02-text"/>
          <p:cNvSpPr txBox="1"/>
          <p:nvPr/>
        </p:nvSpPr>
        <p:spPr>
          <a:xfrm>
            <a:off x="8734348" y="5308092"/>
            <a:ext cx="518281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Earlier completed games</a:t>
            </a:r>
          </a:p>
        </p:txBody>
      </p:sp>
      <p:sp>
        <p:nvSpPr>
          <p:cNvPr id="38" name="slide002-element003-table-r03-c00-cell"/>
          <p:cNvSpPr/>
          <p:nvPr/>
        </p:nvSpPr>
        <p:spPr>
          <a:xfrm>
            <a:off x="594360" y="5955030"/>
            <a:ext cx="3219419" cy="72009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2-element003-table-r03-c00-text"/>
          <p:cNvSpPr txBox="1"/>
          <p:nvPr/>
        </p:nvSpPr>
        <p:spPr>
          <a:xfrm>
            <a:off x="685800" y="6028182"/>
            <a:ext cx="303653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FPL archives + current FPL</a:t>
            </a:r>
          </a:p>
        </p:txBody>
      </p:sp>
      <p:sp>
        <p:nvSpPr>
          <p:cNvPr id="40" name="slide002-element003-table-r03-c01-cell"/>
          <p:cNvSpPr/>
          <p:nvPr/>
        </p:nvSpPr>
        <p:spPr>
          <a:xfrm>
            <a:off x="3813779" y="5955030"/>
            <a:ext cx="4829129" cy="72009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2-element003-table-r03-c01-text"/>
          <p:cNvSpPr txBox="1"/>
          <p:nvPr/>
        </p:nvSpPr>
        <p:spPr>
          <a:xfrm>
            <a:off x="3905219" y="6028182"/>
            <a:ext cx="464624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Player form, squad profiles and projected XI</a:t>
            </a:r>
          </a:p>
        </p:txBody>
      </p:sp>
      <p:sp>
        <p:nvSpPr>
          <p:cNvPr id="42" name="slide002-element003-table-r03-c02-cell"/>
          <p:cNvSpPr/>
          <p:nvPr/>
        </p:nvSpPr>
        <p:spPr>
          <a:xfrm>
            <a:off x="8642908" y="5955030"/>
            <a:ext cx="5365699" cy="72009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2-element003-table-r03-c02-text"/>
          <p:cNvSpPr txBox="1"/>
          <p:nvPr/>
        </p:nvSpPr>
        <p:spPr>
          <a:xfrm>
            <a:off x="8734348" y="6028182"/>
            <a:ext cx="5182819" cy="57378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Earlier same-season fixture slots only</a:t>
            </a:r>
          </a:p>
        </p:txBody>
      </p:sp>
      <p:sp>
        <p:nvSpPr>
          <p:cNvPr id="44" name="slide002-element004-text"/>
          <p:cNvSpPr txBox="1"/>
          <p:nvPr/>
        </p:nvSpPr>
        <p:spPr>
          <a:xfrm>
            <a:off x="594360" y="6903720"/>
            <a:ext cx="13350240" cy="50292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Other acquired sources are preserved in the data inventory; this deck describes the inputs actually used in the models.</a:t>
            </a:r>
          </a:p>
        </p:txBody>
      </p:sp>
      <p:cxnSp>
        <p:nvCxnSpPr>
          <p:cNvPr id="45" name="slide00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6" name="slide00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study_status.json; model_catalog.json; prospective_status.json | Full paths in notes</a:t>
            </a:r>
          </a:p>
        </p:txBody>
      </p:sp>
      <p:sp>
        <p:nvSpPr>
          <p:cNvPr id="47" name="slide00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 prediction model is one part of a strategy</a:t>
            </a:r>
          </a:p>
        </p:txBody>
      </p:sp>
      <p:sp>
        <p:nvSpPr>
          <p:cNvPr id="4" name="slide00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The account graph combines model + outcome rule + prices + sizing; it does not compare algorithms in isolation.</a:t>
            </a:r>
          </a:p>
        </p:txBody>
      </p:sp>
      <p:sp>
        <p:nvSpPr>
          <p:cNvPr id="5" name="slide003-element000-rect"/>
          <p:cNvSpPr/>
          <p:nvPr/>
        </p:nvSpPr>
        <p:spPr>
          <a:xfrm>
            <a:off x="594360" y="2011680"/>
            <a:ext cx="3154680" cy="30175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3-element001-text"/>
          <p:cNvSpPr txBox="1"/>
          <p:nvPr/>
        </p:nvSpPr>
        <p:spPr>
          <a:xfrm>
            <a:off x="822960" y="2331720"/>
            <a:ext cx="2697480" cy="45720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1  Lagged inputs</a:t>
            </a:r>
          </a:p>
        </p:txBody>
      </p:sp>
      <p:sp>
        <p:nvSpPr>
          <p:cNvPr id="7" name="slide003-element002-text"/>
          <p:cNvSpPr txBox="1"/>
          <p:nvPr/>
        </p:nvSpPr>
        <p:spPr>
          <a:xfrm>
            <a:off x="822960" y="3063240"/>
            <a:ext cx="2697480" cy="15087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Team form</a:t>
            </a:r>
          </a:p>
          <a:p>
            <a:pPr algn="l">
              <a:lnSpc>
                <a:spcPct val="100000"/>
              </a:lnSpc>
              <a:spcBef>
                <a:spcPts val="0"/>
              </a:spcBef>
              <a:spcAft>
                <a:spcPts val="0"/>
              </a:spcAft>
            </a:pPr>
            <a:r>
              <a:rPr sz="2100" b="0">
                <a:solidFill>
                  <a:srgbClr val="11243A"/>
                </a:solidFill>
                <a:latin typeface="Arial"/>
              </a:rPr>
              <a:t>xG</a:t>
            </a:r>
          </a:p>
          <a:p>
            <a:pPr algn="l">
              <a:lnSpc>
                <a:spcPct val="100000"/>
              </a:lnSpc>
              <a:spcBef>
                <a:spcPts val="0"/>
              </a:spcBef>
              <a:spcAft>
                <a:spcPts val="0"/>
              </a:spcAft>
            </a:pPr>
            <a:r>
              <a:rPr sz="2100" b="0">
                <a:solidFill>
                  <a:srgbClr val="11243A"/>
                </a:solidFill>
                <a:latin typeface="Arial"/>
              </a:rPr>
              <a:t>Player histories</a:t>
            </a:r>
          </a:p>
        </p:txBody>
      </p:sp>
      <p:sp>
        <p:nvSpPr>
          <p:cNvPr id="8" name="slide003-element003-rect"/>
          <p:cNvSpPr/>
          <p:nvPr/>
        </p:nvSpPr>
        <p:spPr>
          <a:xfrm>
            <a:off x="4050791" y="2011680"/>
            <a:ext cx="3154680" cy="30175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lide003-element004-text"/>
          <p:cNvSpPr txBox="1"/>
          <p:nvPr/>
        </p:nvSpPr>
        <p:spPr>
          <a:xfrm>
            <a:off x="4279392" y="2331720"/>
            <a:ext cx="2697480" cy="45720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2  H / D / A</a:t>
            </a:r>
          </a:p>
        </p:txBody>
      </p:sp>
      <p:sp>
        <p:nvSpPr>
          <p:cNvPr id="10" name="slide003-element005-text"/>
          <p:cNvSpPr txBox="1"/>
          <p:nvPr/>
        </p:nvSpPr>
        <p:spPr>
          <a:xfrm>
            <a:off x="4279392" y="3063240"/>
            <a:ext cx="2697480" cy="15087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Regularized models</a:t>
            </a:r>
          </a:p>
          <a:p>
            <a:pPr algn="l">
              <a:lnSpc>
                <a:spcPct val="100000"/>
              </a:lnSpc>
              <a:spcBef>
                <a:spcPts val="0"/>
              </a:spcBef>
              <a:spcAft>
                <a:spcPts val="0"/>
              </a:spcAft>
            </a:pPr>
            <a:r>
              <a:rPr sz="2100" b="0">
                <a:solidFill>
                  <a:srgbClr val="11243A"/>
                </a:solidFill>
                <a:latin typeface="Arial"/>
              </a:rPr>
              <a:t>Separate calibration</a:t>
            </a:r>
          </a:p>
          <a:p>
            <a:pPr algn="l">
              <a:lnSpc>
                <a:spcPct val="100000"/>
              </a:lnSpc>
              <a:spcBef>
                <a:spcPts val="0"/>
              </a:spcBef>
              <a:spcAft>
                <a:spcPts val="0"/>
              </a:spcAft>
            </a:pPr>
            <a:r>
              <a:rPr sz="2100" b="0">
                <a:solidFill>
                  <a:srgbClr val="11243A"/>
                </a:solidFill>
                <a:latin typeface="Arial"/>
              </a:rPr>
              <a:t>Saved probabilities</a:t>
            </a:r>
          </a:p>
        </p:txBody>
      </p:sp>
      <p:sp>
        <p:nvSpPr>
          <p:cNvPr id="11" name="slide003-element006-rect"/>
          <p:cNvSpPr/>
          <p:nvPr/>
        </p:nvSpPr>
        <p:spPr>
          <a:xfrm>
            <a:off x="7507223" y="2011680"/>
            <a:ext cx="3154680" cy="30175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3-element007-text"/>
          <p:cNvSpPr txBox="1"/>
          <p:nvPr/>
        </p:nvSpPr>
        <p:spPr>
          <a:xfrm>
            <a:off x="7735823" y="2331720"/>
            <a:ext cx="2697480" cy="45720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3  Trading rule</a:t>
            </a:r>
          </a:p>
        </p:txBody>
      </p:sp>
      <p:sp>
        <p:nvSpPr>
          <p:cNvPr id="13" name="slide003-element008-text"/>
          <p:cNvSpPr txBox="1"/>
          <p:nvPr/>
        </p:nvSpPr>
        <p:spPr>
          <a:xfrm>
            <a:off x="7735823" y="3063240"/>
            <a:ext cx="2697480" cy="15087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Outcome and edge</a:t>
            </a:r>
          </a:p>
          <a:p>
            <a:pPr algn="l">
              <a:lnSpc>
                <a:spcPct val="100000"/>
              </a:lnSpc>
              <a:spcBef>
                <a:spcPts val="0"/>
              </a:spcBef>
              <a:spcAft>
                <a:spcPts val="0"/>
              </a:spcAft>
            </a:pPr>
            <a:r>
              <a:rPr sz="2100" b="0">
                <a:solidFill>
                  <a:srgbClr val="11243A"/>
                </a:solidFill>
                <a:latin typeface="Arial"/>
              </a:rPr>
              <a:t>Price panel</a:t>
            </a:r>
          </a:p>
          <a:p>
            <a:pPr algn="l">
              <a:lnSpc>
                <a:spcPct val="100000"/>
              </a:lnSpc>
              <a:spcBef>
                <a:spcPts val="0"/>
              </a:spcBef>
              <a:spcAft>
                <a:spcPts val="0"/>
              </a:spcAft>
            </a:pPr>
            <a:r>
              <a:rPr sz="2100" b="0">
                <a:solidFill>
                  <a:srgbClr val="11243A"/>
                </a:solidFill>
                <a:latin typeface="Arial"/>
              </a:rPr>
              <a:t>Stake request</a:t>
            </a:r>
          </a:p>
        </p:txBody>
      </p:sp>
      <p:sp>
        <p:nvSpPr>
          <p:cNvPr id="14" name="slide003-element009-rect"/>
          <p:cNvSpPr/>
          <p:nvPr/>
        </p:nvSpPr>
        <p:spPr>
          <a:xfrm>
            <a:off x="10963656" y="2011680"/>
            <a:ext cx="3154680" cy="30175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ide003-element010-text"/>
          <p:cNvSpPr txBox="1"/>
          <p:nvPr/>
        </p:nvSpPr>
        <p:spPr>
          <a:xfrm>
            <a:off x="11192256" y="2331720"/>
            <a:ext cx="2697480" cy="45720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4  Account replay</a:t>
            </a:r>
          </a:p>
        </p:txBody>
      </p:sp>
      <p:sp>
        <p:nvSpPr>
          <p:cNvPr id="16" name="slide003-element011-text"/>
          <p:cNvSpPr txBox="1"/>
          <p:nvPr/>
        </p:nvSpPr>
        <p:spPr>
          <a:xfrm>
            <a:off x="11192256" y="3063240"/>
            <a:ext cx="2697480" cy="15087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Date-start cash</a:t>
            </a:r>
          </a:p>
          <a:p>
            <a:pPr algn="l">
              <a:lnSpc>
                <a:spcPct val="100000"/>
              </a:lnSpc>
              <a:spcBef>
                <a:spcPts val="0"/>
              </a:spcBef>
              <a:spcAft>
                <a:spcPts val="0"/>
              </a:spcAft>
            </a:pPr>
            <a:r>
              <a:rPr sz="2100" b="0">
                <a:solidFill>
                  <a:srgbClr val="11243A"/>
                </a:solidFill>
                <a:latin typeface="Arial"/>
              </a:rPr>
              <a:t>Joint allocation</a:t>
            </a:r>
          </a:p>
          <a:p>
            <a:pPr algn="l">
              <a:lnSpc>
                <a:spcPct val="100000"/>
              </a:lnSpc>
              <a:spcBef>
                <a:spcPts val="0"/>
              </a:spcBef>
              <a:spcAft>
                <a:spcPts val="0"/>
              </a:spcAft>
            </a:pPr>
            <a:r>
              <a:rPr sz="2100" b="0">
                <a:solidFill>
                  <a:srgbClr val="11243A"/>
                </a:solidFill>
                <a:latin typeface="Arial"/>
              </a:rPr>
              <a:t>Settlement and risk</a:t>
            </a:r>
          </a:p>
        </p:txBody>
      </p:sp>
      <p:sp>
        <p:nvSpPr>
          <p:cNvPr id="17" name="slide003-element012-text"/>
          <p:cNvSpPr txBox="1"/>
          <p:nvPr/>
        </p:nvSpPr>
        <p:spPr>
          <a:xfrm>
            <a:off x="594360" y="5532120"/>
            <a:ext cx="13350240" cy="59436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Model quality ≠ strategy profitability</a:t>
            </a:r>
          </a:p>
        </p:txBody>
      </p:sp>
      <p:sp>
        <p:nvSpPr>
          <p:cNvPr id="18" name="slide003-element013-text"/>
          <p:cNvSpPr txBox="1"/>
          <p:nvPr/>
        </p:nvSpPr>
        <p:spPr>
          <a:xfrm>
            <a:off x="594360" y="6419088"/>
            <a:ext cx="13350240" cy="73152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Accuracy and probability loss score forecasts. Hit ratio and money depend on the bets, prices and stake sizes actually replayed.</a:t>
            </a:r>
          </a:p>
        </p:txBody>
      </p:sp>
      <p:cxnSp>
        <p:nvCxnSpPr>
          <p:cNvPr id="19" name="slide00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0" name="slide00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metrics.py | Full paths in notes</a:t>
            </a:r>
          </a:p>
        </p:txBody>
      </p:sp>
      <p:sp>
        <p:nvSpPr>
          <p:cNvPr id="21" name="slide00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 chronological comparison on the same fixtures</a:t>
            </a:r>
          </a:p>
        </p:txBody>
      </p:sp>
      <p:sp>
        <p:nvSpPr>
          <p:cNvPr id="4" name="slide00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1,470 quoted matches in four evaluation seasons. Historical redesigns remain exploratory.</a:t>
            </a:r>
          </a:p>
        </p:txBody>
      </p:sp>
      <p:sp>
        <p:nvSpPr>
          <p:cNvPr id="5" name="slide004-element000-table-r00-c00-cell"/>
          <p:cNvSpPr/>
          <p:nvPr/>
        </p:nvSpPr>
        <p:spPr>
          <a:xfrm>
            <a:off x="594360" y="1920240"/>
            <a:ext cx="1877994" cy="6766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4-element000-table-r00-c00-text"/>
          <p:cNvSpPr txBox="1"/>
          <p:nvPr/>
        </p:nvSpPr>
        <p:spPr>
          <a:xfrm>
            <a:off x="685800" y="1993392"/>
            <a:ext cx="1695114" cy="5303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Evaluate</a:t>
            </a:r>
          </a:p>
        </p:txBody>
      </p:sp>
      <p:sp>
        <p:nvSpPr>
          <p:cNvPr id="7" name="slide004-element000-table-r00-c01-cell"/>
          <p:cNvSpPr/>
          <p:nvPr/>
        </p:nvSpPr>
        <p:spPr>
          <a:xfrm>
            <a:off x="2472354" y="1920240"/>
            <a:ext cx="3755989" cy="6766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4-element000-table-r00-c01-text"/>
          <p:cNvSpPr txBox="1"/>
          <p:nvPr/>
        </p:nvSpPr>
        <p:spPr>
          <a:xfrm>
            <a:off x="2563794" y="1993392"/>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Initial training</a:t>
            </a:r>
          </a:p>
        </p:txBody>
      </p:sp>
      <p:sp>
        <p:nvSpPr>
          <p:cNvPr id="9" name="slide004-element000-table-r00-c02-cell"/>
          <p:cNvSpPr/>
          <p:nvPr/>
        </p:nvSpPr>
        <p:spPr>
          <a:xfrm>
            <a:off x="6228344" y="1920240"/>
            <a:ext cx="3755989" cy="6766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4-element000-table-r00-c02-text"/>
          <p:cNvSpPr txBox="1"/>
          <p:nvPr/>
        </p:nvSpPr>
        <p:spPr>
          <a:xfrm>
            <a:off x="6319784" y="1993392"/>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Tune, then include in refit</a:t>
            </a:r>
          </a:p>
        </p:txBody>
      </p:sp>
      <p:sp>
        <p:nvSpPr>
          <p:cNvPr id="11" name="slide004-element000-table-r00-c03-cell"/>
          <p:cNvSpPr/>
          <p:nvPr/>
        </p:nvSpPr>
        <p:spPr>
          <a:xfrm>
            <a:off x="9984333" y="1920240"/>
            <a:ext cx="2280422" cy="6766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4-element000-table-r00-c03-text"/>
          <p:cNvSpPr txBox="1"/>
          <p:nvPr/>
        </p:nvSpPr>
        <p:spPr>
          <a:xfrm>
            <a:off x="10075773" y="1993392"/>
            <a:ext cx="2097542" cy="5303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Calibrate</a:t>
            </a:r>
          </a:p>
        </p:txBody>
      </p:sp>
      <p:sp>
        <p:nvSpPr>
          <p:cNvPr id="13" name="slide004-element000-table-r00-c04-cell"/>
          <p:cNvSpPr/>
          <p:nvPr/>
        </p:nvSpPr>
        <p:spPr>
          <a:xfrm>
            <a:off x="12264755" y="1920240"/>
            <a:ext cx="1743852" cy="6766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4-element000-table-r00-c04-text"/>
          <p:cNvSpPr txBox="1"/>
          <p:nvPr/>
        </p:nvSpPr>
        <p:spPr>
          <a:xfrm>
            <a:off x="12356195" y="1993392"/>
            <a:ext cx="1560972" cy="5303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Matches</a:t>
            </a:r>
          </a:p>
        </p:txBody>
      </p:sp>
      <p:sp>
        <p:nvSpPr>
          <p:cNvPr id="15" name="slide004-element000-table-r01-c00-cell"/>
          <p:cNvSpPr/>
          <p:nvPr/>
        </p:nvSpPr>
        <p:spPr>
          <a:xfrm>
            <a:off x="594360" y="2596896"/>
            <a:ext cx="1877994"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4-element000-table-r01-c00-text"/>
          <p:cNvSpPr txBox="1"/>
          <p:nvPr/>
        </p:nvSpPr>
        <p:spPr>
          <a:xfrm>
            <a:off x="685800" y="2670048"/>
            <a:ext cx="1695114"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2022/23</a:t>
            </a:r>
          </a:p>
        </p:txBody>
      </p:sp>
      <p:sp>
        <p:nvSpPr>
          <p:cNvPr id="17" name="slide004-element000-table-r01-c01-cell"/>
          <p:cNvSpPr/>
          <p:nvPr/>
        </p:nvSpPr>
        <p:spPr>
          <a:xfrm>
            <a:off x="2472354" y="2596896"/>
            <a:ext cx="3755989"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4-element000-table-r01-c01-text"/>
          <p:cNvSpPr txBox="1"/>
          <p:nvPr/>
        </p:nvSpPr>
        <p:spPr>
          <a:xfrm>
            <a:off x="2563794" y="2670048"/>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2016/17–2019/20</a:t>
            </a:r>
          </a:p>
        </p:txBody>
      </p:sp>
      <p:sp>
        <p:nvSpPr>
          <p:cNvPr id="19" name="slide004-element000-table-r01-c02-cell"/>
          <p:cNvSpPr/>
          <p:nvPr/>
        </p:nvSpPr>
        <p:spPr>
          <a:xfrm>
            <a:off x="6228344" y="2596896"/>
            <a:ext cx="3755989"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4-element000-table-r01-c02-text"/>
          <p:cNvSpPr txBox="1"/>
          <p:nvPr/>
        </p:nvSpPr>
        <p:spPr>
          <a:xfrm>
            <a:off x="6319784" y="2670048"/>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2020/21</a:t>
            </a:r>
          </a:p>
        </p:txBody>
      </p:sp>
      <p:sp>
        <p:nvSpPr>
          <p:cNvPr id="21" name="slide004-element000-table-r01-c03-cell"/>
          <p:cNvSpPr/>
          <p:nvPr/>
        </p:nvSpPr>
        <p:spPr>
          <a:xfrm>
            <a:off x="9984333" y="2596896"/>
            <a:ext cx="2280422"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4-element000-table-r01-c03-text"/>
          <p:cNvSpPr txBox="1"/>
          <p:nvPr/>
        </p:nvSpPr>
        <p:spPr>
          <a:xfrm>
            <a:off x="10075773" y="2670048"/>
            <a:ext cx="209754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2021/22</a:t>
            </a:r>
          </a:p>
        </p:txBody>
      </p:sp>
      <p:sp>
        <p:nvSpPr>
          <p:cNvPr id="23" name="slide004-element000-table-r01-c04-cell"/>
          <p:cNvSpPr/>
          <p:nvPr/>
        </p:nvSpPr>
        <p:spPr>
          <a:xfrm>
            <a:off x="12264755" y="2596896"/>
            <a:ext cx="1743852"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4-element000-table-r01-c04-text"/>
          <p:cNvSpPr txBox="1"/>
          <p:nvPr/>
        </p:nvSpPr>
        <p:spPr>
          <a:xfrm>
            <a:off x="12356195" y="2670048"/>
            <a:ext cx="156097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368</a:t>
            </a:r>
          </a:p>
        </p:txBody>
      </p:sp>
      <p:sp>
        <p:nvSpPr>
          <p:cNvPr id="25" name="slide004-element000-table-r02-c00-cell"/>
          <p:cNvSpPr/>
          <p:nvPr/>
        </p:nvSpPr>
        <p:spPr>
          <a:xfrm>
            <a:off x="594360" y="3273552"/>
            <a:ext cx="1877994"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4-element000-table-r02-c00-text"/>
          <p:cNvSpPr txBox="1"/>
          <p:nvPr/>
        </p:nvSpPr>
        <p:spPr>
          <a:xfrm>
            <a:off x="685800" y="3346704"/>
            <a:ext cx="1695114"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2023/24</a:t>
            </a:r>
          </a:p>
        </p:txBody>
      </p:sp>
      <p:sp>
        <p:nvSpPr>
          <p:cNvPr id="27" name="slide004-element000-table-r02-c01-cell"/>
          <p:cNvSpPr/>
          <p:nvPr/>
        </p:nvSpPr>
        <p:spPr>
          <a:xfrm>
            <a:off x="2472354" y="3273552"/>
            <a:ext cx="3755989"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4-element000-table-r02-c01-text"/>
          <p:cNvSpPr txBox="1"/>
          <p:nvPr/>
        </p:nvSpPr>
        <p:spPr>
          <a:xfrm>
            <a:off x="2563794" y="3346704"/>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2016/17–2020/21</a:t>
            </a:r>
          </a:p>
        </p:txBody>
      </p:sp>
      <p:sp>
        <p:nvSpPr>
          <p:cNvPr id="29" name="slide004-element000-table-r02-c02-cell"/>
          <p:cNvSpPr/>
          <p:nvPr/>
        </p:nvSpPr>
        <p:spPr>
          <a:xfrm>
            <a:off x="6228344" y="3273552"/>
            <a:ext cx="3755989"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4-element000-table-r02-c02-text"/>
          <p:cNvSpPr txBox="1"/>
          <p:nvPr/>
        </p:nvSpPr>
        <p:spPr>
          <a:xfrm>
            <a:off x="6319784" y="3346704"/>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2021/22</a:t>
            </a:r>
          </a:p>
        </p:txBody>
      </p:sp>
      <p:sp>
        <p:nvSpPr>
          <p:cNvPr id="31" name="slide004-element000-table-r02-c03-cell"/>
          <p:cNvSpPr/>
          <p:nvPr/>
        </p:nvSpPr>
        <p:spPr>
          <a:xfrm>
            <a:off x="9984333" y="3273552"/>
            <a:ext cx="2280422"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4-element000-table-r02-c03-text"/>
          <p:cNvSpPr txBox="1"/>
          <p:nvPr/>
        </p:nvSpPr>
        <p:spPr>
          <a:xfrm>
            <a:off x="10075773" y="3346704"/>
            <a:ext cx="209754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2022/23</a:t>
            </a:r>
          </a:p>
        </p:txBody>
      </p:sp>
      <p:sp>
        <p:nvSpPr>
          <p:cNvPr id="33" name="slide004-element000-table-r02-c04-cell"/>
          <p:cNvSpPr/>
          <p:nvPr/>
        </p:nvSpPr>
        <p:spPr>
          <a:xfrm>
            <a:off x="12264755" y="3273552"/>
            <a:ext cx="1743852"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4-element000-table-r02-c04-text"/>
          <p:cNvSpPr txBox="1"/>
          <p:nvPr/>
        </p:nvSpPr>
        <p:spPr>
          <a:xfrm>
            <a:off x="12356195" y="3346704"/>
            <a:ext cx="156097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360</a:t>
            </a:r>
          </a:p>
        </p:txBody>
      </p:sp>
      <p:sp>
        <p:nvSpPr>
          <p:cNvPr id="35" name="slide004-element000-table-r03-c00-cell"/>
          <p:cNvSpPr/>
          <p:nvPr/>
        </p:nvSpPr>
        <p:spPr>
          <a:xfrm>
            <a:off x="594360" y="3950208"/>
            <a:ext cx="1877994"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4-element000-table-r03-c00-text"/>
          <p:cNvSpPr txBox="1"/>
          <p:nvPr/>
        </p:nvSpPr>
        <p:spPr>
          <a:xfrm>
            <a:off x="685800" y="4023360"/>
            <a:ext cx="1695114"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2024/25</a:t>
            </a:r>
          </a:p>
        </p:txBody>
      </p:sp>
      <p:sp>
        <p:nvSpPr>
          <p:cNvPr id="37" name="slide004-element000-table-r03-c01-cell"/>
          <p:cNvSpPr/>
          <p:nvPr/>
        </p:nvSpPr>
        <p:spPr>
          <a:xfrm>
            <a:off x="2472354" y="3950208"/>
            <a:ext cx="3755989"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4-element000-table-r03-c01-text"/>
          <p:cNvSpPr txBox="1"/>
          <p:nvPr/>
        </p:nvSpPr>
        <p:spPr>
          <a:xfrm>
            <a:off x="2563794" y="4023360"/>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2016/17–2021/22</a:t>
            </a:r>
          </a:p>
        </p:txBody>
      </p:sp>
      <p:sp>
        <p:nvSpPr>
          <p:cNvPr id="39" name="slide004-element000-table-r03-c02-cell"/>
          <p:cNvSpPr/>
          <p:nvPr/>
        </p:nvSpPr>
        <p:spPr>
          <a:xfrm>
            <a:off x="6228344" y="3950208"/>
            <a:ext cx="3755989"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4-element000-table-r03-c02-text"/>
          <p:cNvSpPr txBox="1"/>
          <p:nvPr/>
        </p:nvSpPr>
        <p:spPr>
          <a:xfrm>
            <a:off x="6319784" y="4023360"/>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2022/23</a:t>
            </a:r>
          </a:p>
        </p:txBody>
      </p:sp>
      <p:sp>
        <p:nvSpPr>
          <p:cNvPr id="41" name="slide004-element000-table-r03-c03-cell"/>
          <p:cNvSpPr/>
          <p:nvPr/>
        </p:nvSpPr>
        <p:spPr>
          <a:xfrm>
            <a:off x="9984333" y="3950208"/>
            <a:ext cx="2280422"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4-element000-table-r03-c03-text"/>
          <p:cNvSpPr txBox="1"/>
          <p:nvPr/>
        </p:nvSpPr>
        <p:spPr>
          <a:xfrm>
            <a:off x="10075773" y="4023360"/>
            <a:ext cx="209754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2023/24</a:t>
            </a:r>
          </a:p>
        </p:txBody>
      </p:sp>
      <p:sp>
        <p:nvSpPr>
          <p:cNvPr id="43" name="slide004-element000-table-r03-c04-cell"/>
          <p:cNvSpPr/>
          <p:nvPr/>
        </p:nvSpPr>
        <p:spPr>
          <a:xfrm>
            <a:off x="12264755" y="3950208"/>
            <a:ext cx="1743852" cy="6766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4-element000-table-r03-c04-text"/>
          <p:cNvSpPr txBox="1"/>
          <p:nvPr/>
        </p:nvSpPr>
        <p:spPr>
          <a:xfrm>
            <a:off x="12356195" y="4023360"/>
            <a:ext cx="156097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368</a:t>
            </a:r>
          </a:p>
        </p:txBody>
      </p:sp>
      <p:sp>
        <p:nvSpPr>
          <p:cNvPr id="45" name="slide004-element000-table-r04-c00-cell"/>
          <p:cNvSpPr/>
          <p:nvPr/>
        </p:nvSpPr>
        <p:spPr>
          <a:xfrm>
            <a:off x="594360" y="4626864"/>
            <a:ext cx="1877994"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4-element000-table-r04-c00-text"/>
          <p:cNvSpPr txBox="1"/>
          <p:nvPr/>
        </p:nvSpPr>
        <p:spPr>
          <a:xfrm>
            <a:off x="685800" y="4700016"/>
            <a:ext cx="1695114"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2025/26</a:t>
            </a:r>
          </a:p>
        </p:txBody>
      </p:sp>
      <p:sp>
        <p:nvSpPr>
          <p:cNvPr id="47" name="slide004-element000-table-r04-c01-cell"/>
          <p:cNvSpPr/>
          <p:nvPr/>
        </p:nvSpPr>
        <p:spPr>
          <a:xfrm>
            <a:off x="2472354" y="4626864"/>
            <a:ext cx="3755989"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4-element000-table-r04-c01-text"/>
          <p:cNvSpPr txBox="1"/>
          <p:nvPr/>
        </p:nvSpPr>
        <p:spPr>
          <a:xfrm>
            <a:off x="2563794" y="4700016"/>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2016/17–2022/23</a:t>
            </a:r>
          </a:p>
        </p:txBody>
      </p:sp>
      <p:sp>
        <p:nvSpPr>
          <p:cNvPr id="49" name="slide004-element000-table-r04-c02-cell"/>
          <p:cNvSpPr/>
          <p:nvPr/>
        </p:nvSpPr>
        <p:spPr>
          <a:xfrm>
            <a:off x="6228344" y="4626864"/>
            <a:ext cx="3755989"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4-element000-table-r04-c02-text"/>
          <p:cNvSpPr txBox="1"/>
          <p:nvPr/>
        </p:nvSpPr>
        <p:spPr>
          <a:xfrm>
            <a:off x="6319784" y="4700016"/>
            <a:ext cx="3573109"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2023/24</a:t>
            </a:r>
          </a:p>
        </p:txBody>
      </p:sp>
      <p:sp>
        <p:nvSpPr>
          <p:cNvPr id="51" name="slide004-element000-table-r04-c03-cell"/>
          <p:cNvSpPr/>
          <p:nvPr/>
        </p:nvSpPr>
        <p:spPr>
          <a:xfrm>
            <a:off x="9984333" y="4626864"/>
            <a:ext cx="2280422"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4-element000-table-r04-c03-text"/>
          <p:cNvSpPr txBox="1"/>
          <p:nvPr/>
        </p:nvSpPr>
        <p:spPr>
          <a:xfrm>
            <a:off x="10075773" y="4700016"/>
            <a:ext cx="209754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2024/25</a:t>
            </a:r>
          </a:p>
        </p:txBody>
      </p:sp>
      <p:sp>
        <p:nvSpPr>
          <p:cNvPr id="53" name="slide004-element000-table-r04-c04-cell"/>
          <p:cNvSpPr/>
          <p:nvPr/>
        </p:nvSpPr>
        <p:spPr>
          <a:xfrm>
            <a:off x="12264755" y="4626864"/>
            <a:ext cx="1743852" cy="6766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4-element000-table-r04-c04-text"/>
          <p:cNvSpPr txBox="1"/>
          <p:nvPr/>
        </p:nvSpPr>
        <p:spPr>
          <a:xfrm>
            <a:off x="12356195" y="4700016"/>
            <a:ext cx="1560972"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374</a:t>
            </a:r>
          </a:p>
        </p:txBody>
      </p:sp>
      <p:sp>
        <p:nvSpPr>
          <p:cNvPr id="55" name="slide004-element001-text"/>
          <p:cNvSpPr txBox="1"/>
          <p:nvPr/>
        </p:nvSpPr>
        <p:spPr>
          <a:xfrm>
            <a:off x="594360" y="5696712"/>
            <a:ext cx="6492240" cy="128016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Fit preprocessing only on permitted fitting data. Freeze coefficients and calibration within each evaluation season.</a:t>
            </a:r>
          </a:p>
        </p:txBody>
      </p:sp>
      <p:sp>
        <p:nvSpPr>
          <p:cNvPr id="56" name="slide004-element002-text"/>
          <p:cNvSpPr txBox="1"/>
          <p:nvPr/>
        </p:nvSpPr>
        <p:spPr>
          <a:xfrm>
            <a:off x="7406640" y="5696712"/>
            <a:ext cx="6492240" cy="128016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Every comparable model sees the same evaluation fixtures. Earlier games may update later lagged inputs.</a:t>
            </a:r>
          </a:p>
        </p:txBody>
      </p:sp>
      <p:sp>
        <p:nvSpPr>
          <p:cNvPr id="57" name="slide004-element003-text"/>
          <p:cNvSpPr txBox="1"/>
          <p:nvPr/>
        </p:nvSpPr>
        <p:spPr>
          <a:xfrm>
            <a:off x="594360" y="7159752"/>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B44949"/>
                </a:solidFill>
                <a:latin typeface="Arial"/>
              </a:rPr>
              <a:t>Repeatedly inspected history is not a new untouched test. The current-club cohort also creates selection limitations.</a:t>
            </a:r>
          </a:p>
        </p:txBody>
      </p:sp>
      <p:cxnSp>
        <p:nvCxnSpPr>
          <p:cNvPr id="58" name="slide00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9" name="slide00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ABLATION_PROTOCOL.md; PROTOCOL.md | Full paths in notes</a:t>
            </a:r>
          </a:p>
        </p:txBody>
      </p:sp>
      <p:sp>
        <p:nvSpPr>
          <p:cNvPr id="60" name="slide00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The strongest learned predictor still trails the market</a:t>
            </a:r>
          </a:p>
        </p:txBody>
      </p:sp>
      <p:sp>
        <p:nvSpPr>
          <p:cNvPr id="4" name="slide00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Observed pooled probability scores on the same 1,470 fixtures; lower log loss and Brier are better.</a:t>
            </a:r>
          </a:p>
        </p:txBody>
      </p:sp>
      <p:sp>
        <p:nvSpPr>
          <p:cNvPr id="5" name="slide005-element000-table-r00-c00-cell"/>
          <p:cNvSpPr/>
          <p:nvPr/>
        </p:nvSpPr>
        <p:spPr>
          <a:xfrm>
            <a:off x="594360" y="1965960"/>
            <a:ext cx="5902269" cy="5943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5-element000-table-r00-c00-text"/>
          <p:cNvSpPr txBox="1"/>
          <p:nvPr/>
        </p:nvSpPr>
        <p:spPr>
          <a:xfrm>
            <a:off x="685800" y="2039112"/>
            <a:ext cx="5719389" cy="4480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Predictor</a:t>
            </a:r>
          </a:p>
        </p:txBody>
      </p:sp>
      <p:sp>
        <p:nvSpPr>
          <p:cNvPr id="7" name="slide005-element000-table-r00-c01-cell"/>
          <p:cNvSpPr/>
          <p:nvPr/>
        </p:nvSpPr>
        <p:spPr>
          <a:xfrm>
            <a:off x="6496629" y="1965960"/>
            <a:ext cx="1877994" cy="5943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5-element000-table-r00-c01-text"/>
          <p:cNvSpPr txBox="1"/>
          <p:nvPr/>
        </p:nvSpPr>
        <p:spPr>
          <a:xfrm>
            <a:off x="6588069" y="20391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Accuracy</a:t>
            </a:r>
          </a:p>
        </p:txBody>
      </p:sp>
      <p:sp>
        <p:nvSpPr>
          <p:cNvPr id="9" name="slide005-element000-table-r00-c02-cell"/>
          <p:cNvSpPr/>
          <p:nvPr/>
        </p:nvSpPr>
        <p:spPr>
          <a:xfrm>
            <a:off x="8374623" y="1965960"/>
            <a:ext cx="1877994" cy="5943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5-element000-table-r00-c02-text"/>
          <p:cNvSpPr txBox="1"/>
          <p:nvPr/>
        </p:nvSpPr>
        <p:spPr>
          <a:xfrm>
            <a:off x="8466063" y="20391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Log loss</a:t>
            </a:r>
          </a:p>
        </p:txBody>
      </p:sp>
      <p:sp>
        <p:nvSpPr>
          <p:cNvPr id="11" name="slide005-element000-table-r00-c03-cell"/>
          <p:cNvSpPr/>
          <p:nvPr/>
        </p:nvSpPr>
        <p:spPr>
          <a:xfrm>
            <a:off x="10252618" y="1965960"/>
            <a:ext cx="1877994" cy="5943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5-element000-table-r00-c03-text"/>
          <p:cNvSpPr txBox="1"/>
          <p:nvPr/>
        </p:nvSpPr>
        <p:spPr>
          <a:xfrm>
            <a:off x="10344058" y="20391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Brier</a:t>
            </a:r>
          </a:p>
        </p:txBody>
      </p:sp>
      <p:sp>
        <p:nvSpPr>
          <p:cNvPr id="13" name="slide005-element000-table-r00-c04-cell"/>
          <p:cNvSpPr/>
          <p:nvPr/>
        </p:nvSpPr>
        <p:spPr>
          <a:xfrm>
            <a:off x="12130613" y="1965960"/>
            <a:ext cx="1877994" cy="5943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5-element000-table-r00-c04-text"/>
          <p:cNvSpPr txBox="1"/>
          <p:nvPr/>
        </p:nvSpPr>
        <p:spPr>
          <a:xfrm>
            <a:off x="12222053" y="20391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ECE 10</a:t>
            </a:r>
          </a:p>
        </p:txBody>
      </p:sp>
      <p:sp>
        <p:nvSpPr>
          <p:cNvPr id="15" name="slide005-element000-table-r01-c00-cell"/>
          <p:cNvSpPr/>
          <p:nvPr/>
        </p:nvSpPr>
        <p:spPr>
          <a:xfrm>
            <a:off x="594360" y="2560320"/>
            <a:ext cx="5902269"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5-element000-table-r01-c00-text"/>
          <p:cNvSpPr txBox="1"/>
          <p:nvPr/>
        </p:nvSpPr>
        <p:spPr>
          <a:xfrm>
            <a:off x="685800" y="2633472"/>
            <a:ext cx="5719389"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Raw Bet365 market benchmark</a:t>
            </a:r>
          </a:p>
        </p:txBody>
      </p:sp>
      <p:sp>
        <p:nvSpPr>
          <p:cNvPr id="17" name="slide005-element000-table-r01-c01-cell"/>
          <p:cNvSpPr/>
          <p:nvPr/>
        </p:nvSpPr>
        <p:spPr>
          <a:xfrm>
            <a:off x="6496629" y="256032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5-element000-table-r01-c01-text"/>
          <p:cNvSpPr txBox="1"/>
          <p:nvPr/>
        </p:nvSpPr>
        <p:spPr>
          <a:xfrm>
            <a:off x="6588069" y="263347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54.42%</a:t>
            </a:r>
          </a:p>
        </p:txBody>
      </p:sp>
      <p:sp>
        <p:nvSpPr>
          <p:cNvPr id="19" name="slide005-element000-table-r01-c02-cell"/>
          <p:cNvSpPr/>
          <p:nvPr/>
        </p:nvSpPr>
        <p:spPr>
          <a:xfrm>
            <a:off x="8374623" y="256032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5-element000-table-r01-c02-text"/>
          <p:cNvSpPr txBox="1"/>
          <p:nvPr/>
        </p:nvSpPr>
        <p:spPr>
          <a:xfrm>
            <a:off x="8466063" y="263347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0.9662</a:t>
            </a:r>
          </a:p>
        </p:txBody>
      </p:sp>
      <p:sp>
        <p:nvSpPr>
          <p:cNvPr id="21" name="slide005-element000-table-r01-c03-cell"/>
          <p:cNvSpPr/>
          <p:nvPr/>
        </p:nvSpPr>
        <p:spPr>
          <a:xfrm>
            <a:off x="10252618" y="256032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5-element000-table-r01-c03-text"/>
          <p:cNvSpPr txBox="1"/>
          <p:nvPr/>
        </p:nvSpPr>
        <p:spPr>
          <a:xfrm>
            <a:off x="10344058" y="263347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0.5743</a:t>
            </a:r>
          </a:p>
        </p:txBody>
      </p:sp>
      <p:sp>
        <p:nvSpPr>
          <p:cNvPr id="23" name="slide005-element000-table-r01-c04-cell"/>
          <p:cNvSpPr/>
          <p:nvPr/>
        </p:nvSpPr>
        <p:spPr>
          <a:xfrm>
            <a:off x="12130613" y="256032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5-element000-table-r01-c04-text"/>
          <p:cNvSpPr txBox="1"/>
          <p:nvPr/>
        </p:nvSpPr>
        <p:spPr>
          <a:xfrm>
            <a:off x="12222053" y="263347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1.77%</a:t>
            </a:r>
          </a:p>
        </p:txBody>
      </p:sp>
      <p:sp>
        <p:nvSpPr>
          <p:cNvPr id="25" name="slide005-element000-table-r02-c00-cell"/>
          <p:cNvSpPr/>
          <p:nvPr/>
        </p:nvSpPr>
        <p:spPr>
          <a:xfrm>
            <a:off x="594360" y="3154680"/>
            <a:ext cx="5902269"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5-element000-table-r02-c00-text"/>
          <p:cNvSpPr txBox="1"/>
          <p:nvPr/>
        </p:nvSpPr>
        <p:spPr>
          <a:xfrm>
            <a:off x="685800" y="3227832"/>
            <a:ext cx="5719389"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Best learned: market residual + team/FPL</a:t>
            </a:r>
          </a:p>
        </p:txBody>
      </p:sp>
      <p:sp>
        <p:nvSpPr>
          <p:cNvPr id="27" name="slide005-element000-table-r02-c01-cell"/>
          <p:cNvSpPr/>
          <p:nvPr/>
        </p:nvSpPr>
        <p:spPr>
          <a:xfrm>
            <a:off x="6496629" y="315468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5-element000-table-r02-c01-text"/>
          <p:cNvSpPr txBox="1"/>
          <p:nvPr/>
        </p:nvSpPr>
        <p:spPr>
          <a:xfrm>
            <a:off x="6588069" y="322783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54.15%</a:t>
            </a:r>
          </a:p>
        </p:txBody>
      </p:sp>
      <p:sp>
        <p:nvSpPr>
          <p:cNvPr id="29" name="slide005-element000-table-r02-c02-cell"/>
          <p:cNvSpPr/>
          <p:nvPr/>
        </p:nvSpPr>
        <p:spPr>
          <a:xfrm>
            <a:off x="8374623" y="315468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5-element000-table-r02-c02-text"/>
          <p:cNvSpPr txBox="1"/>
          <p:nvPr/>
        </p:nvSpPr>
        <p:spPr>
          <a:xfrm>
            <a:off x="8466063" y="322783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0.9693</a:t>
            </a:r>
          </a:p>
        </p:txBody>
      </p:sp>
      <p:sp>
        <p:nvSpPr>
          <p:cNvPr id="31" name="slide005-element000-table-r02-c03-cell"/>
          <p:cNvSpPr/>
          <p:nvPr/>
        </p:nvSpPr>
        <p:spPr>
          <a:xfrm>
            <a:off x="10252618" y="315468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5-element000-table-r02-c03-text"/>
          <p:cNvSpPr txBox="1"/>
          <p:nvPr/>
        </p:nvSpPr>
        <p:spPr>
          <a:xfrm>
            <a:off x="10344058" y="322783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0.5751</a:t>
            </a:r>
          </a:p>
        </p:txBody>
      </p:sp>
      <p:sp>
        <p:nvSpPr>
          <p:cNvPr id="33" name="slide005-element000-table-r02-c04-cell"/>
          <p:cNvSpPr/>
          <p:nvPr/>
        </p:nvSpPr>
        <p:spPr>
          <a:xfrm>
            <a:off x="12130613" y="315468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5-element000-table-r02-c04-text"/>
          <p:cNvSpPr txBox="1"/>
          <p:nvPr/>
        </p:nvSpPr>
        <p:spPr>
          <a:xfrm>
            <a:off x="12222053" y="322783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2.16%</a:t>
            </a:r>
          </a:p>
        </p:txBody>
      </p:sp>
      <p:sp>
        <p:nvSpPr>
          <p:cNvPr id="35" name="slide005-element000-table-r03-c00-cell"/>
          <p:cNvSpPr/>
          <p:nvPr/>
        </p:nvSpPr>
        <p:spPr>
          <a:xfrm>
            <a:off x="594360" y="3749039"/>
            <a:ext cx="5902269"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5-element000-table-r03-c00-text"/>
          <p:cNvSpPr txBox="1"/>
          <p:nvPr/>
        </p:nvSpPr>
        <p:spPr>
          <a:xfrm>
            <a:off x="685800" y="3822191"/>
            <a:ext cx="5719389"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Team logistic regression</a:t>
            </a:r>
          </a:p>
        </p:txBody>
      </p:sp>
      <p:sp>
        <p:nvSpPr>
          <p:cNvPr id="37" name="slide005-element000-table-r03-c01-cell"/>
          <p:cNvSpPr/>
          <p:nvPr/>
        </p:nvSpPr>
        <p:spPr>
          <a:xfrm>
            <a:off x="6496629" y="3749039"/>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5-element000-table-r03-c01-text"/>
          <p:cNvSpPr txBox="1"/>
          <p:nvPr/>
        </p:nvSpPr>
        <p:spPr>
          <a:xfrm>
            <a:off x="6588069" y="3822191"/>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52.93%</a:t>
            </a:r>
          </a:p>
        </p:txBody>
      </p:sp>
      <p:sp>
        <p:nvSpPr>
          <p:cNvPr id="39" name="slide005-element000-table-r03-c02-cell"/>
          <p:cNvSpPr/>
          <p:nvPr/>
        </p:nvSpPr>
        <p:spPr>
          <a:xfrm>
            <a:off x="8374623" y="3749039"/>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5-element000-table-r03-c02-text"/>
          <p:cNvSpPr txBox="1"/>
          <p:nvPr/>
        </p:nvSpPr>
        <p:spPr>
          <a:xfrm>
            <a:off x="8466063" y="3822191"/>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0.9876</a:t>
            </a:r>
          </a:p>
        </p:txBody>
      </p:sp>
      <p:sp>
        <p:nvSpPr>
          <p:cNvPr id="41" name="slide005-element000-table-r03-c03-cell"/>
          <p:cNvSpPr/>
          <p:nvPr/>
        </p:nvSpPr>
        <p:spPr>
          <a:xfrm>
            <a:off x="10252618" y="3749039"/>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5-element000-table-r03-c03-text"/>
          <p:cNvSpPr txBox="1"/>
          <p:nvPr/>
        </p:nvSpPr>
        <p:spPr>
          <a:xfrm>
            <a:off x="10344058" y="3822191"/>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0.5889</a:t>
            </a:r>
          </a:p>
        </p:txBody>
      </p:sp>
      <p:sp>
        <p:nvSpPr>
          <p:cNvPr id="43" name="slide005-element000-table-r03-c04-cell"/>
          <p:cNvSpPr/>
          <p:nvPr/>
        </p:nvSpPr>
        <p:spPr>
          <a:xfrm>
            <a:off x="12130613" y="3749039"/>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5-element000-table-r03-c04-text"/>
          <p:cNvSpPr txBox="1"/>
          <p:nvPr/>
        </p:nvSpPr>
        <p:spPr>
          <a:xfrm>
            <a:off x="12222053" y="3822191"/>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2.17%</a:t>
            </a:r>
          </a:p>
        </p:txBody>
      </p:sp>
      <p:sp>
        <p:nvSpPr>
          <p:cNvPr id="45" name="slide005-element000-table-r04-c00-cell"/>
          <p:cNvSpPr/>
          <p:nvPr/>
        </p:nvSpPr>
        <p:spPr>
          <a:xfrm>
            <a:off x="594360" y="4343400"/>
            <a:ext cx="5902269"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5-element000-table-r04-c00-text"/>
          <p:cNvSpPr txBox="1"/>
          <p:nvPr/>
        </p:nvSpPr>
        <p:spPr>
          <a:xfrm>
            <a:off x="685800" y="4416552"/>
            <a:ext cx="5719389"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Player-form logistic regression</a:t>
            </a:r>
          </a:p>
        </p:txBody>
      </p:sp>
      <p:sp>
        <p:nvSpPr>
          <p:cNvPr id="47" name="slide005-element000-table-r04-c01-cell"/>
          <p:cNvSpPr/>
          <p:nvPr/>
        </p:nvSpPr>
        <p:spPr>
          <a:xfrm>
            <a:off x="6496629" y="434340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5-element000-table-r04-c01-text"/>
          <p:cNvSpPr txBox="1"/>
          <p:nvPr/>
        </p:nvSpPr>
        <p:spPr>
          <a:xfrm>
            <a:off x="6588069" y="441655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50.07%</a:t>
            </a:r>
          </a:p>
        </p:txBody>
      </p:sp>
      <p:sp>
        <p:nvSpPr>
          <p:cNvPr id="49" name="slide005-element000-table-r04-c02-cell"/>
          <p:cNvSpPr/>
          <p:nvPr/>
        </p:nvSpPr>
        <p:spPr>
          <a:xfrm>
            <a:off x="8374623" y="434340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5-element000-table-r04-c02-text"/>
          <p:cNvSpPr txBox="1"/>
          <p:nvPr/>
        </p:nvSpPr>
        <p:spPr>
          <a:xfrm>
            <a:off x="8466063" y="441655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1.0218</a:t>
            </a:r>
          </a:p>
        </p:txBody>
      </p:sp>
      <p:sp>
        <p:nvSpPr>
          <p:cNvPr id="51" name="slide005-element000-table-r04-c03-cell"/>
          <p:cNvSpPr/>
          <p:nvPr/>
        </p:nvSpPr>
        <p:spPr>
          <a:xfrm>
            <a:off x="10252618" y="434340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5-element000-table-r04-c03-text"/>
          <p:cNvSpPr txBox="1"/>
          <p:nvPr/>
        </p:nvSpPr>
        <p:spPr>
          <a:xfrm>
            <a:off x="10344058" y="441655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0.6114</a:t>
            </a:r>
          </a:p>
        </p:txBody>
      </p:sp>
      <p:sp>
        <p:nvSpPr>
          <p:cNvPr id="53" name="slide005-element000-table-r04-c04-cell"/>
          <p:cNvSpPr/>
          <p:nvPr/>
        </p:nvSpPr>
        <p:spPr>
          <a:xfrm>
            <a:off x="12130613" y="4343400"/>
            <a:ext cx="1877994" cy="5943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5-element000-table-r04-c04-text"/>
          <p:cNvSpPr txBox="1"/>
          <p:nvPr/>
        </p:nvSpPr>
        <p:spPr>
          <a:xfrm>
            <a:off x="12222053" y="441655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3.45%</a:t>
            </a:r>
          </a:p>
        </p:txBody>
      </p:sp>
      <p:sp>
        <p:nvSpPr>
          <p:cNvPr id="55" name="slide005-element000-table-r05-c00-cell"/>
          <p:cNvSpPr/>
          <p:nvPr/>
        </p:nvSpPr>
        <p:spPr>
          <a:xfrm>
            <a:off x="594360" y="4937760"/>
            <a:ext cx="5902269"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5-element000-table-r05-c00-text"/>
          <p:cNvSpPr txBox="1"/>
          <p:nvPr/>
        </p:nvSpPr>
        <p:spPr>
          <a:xfrm>
            <a:off x="685800" y="5010912"/>
            <a:ext cx="5719389"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Class-frequency baseline</a:t>
            </a:r>
          </a:p>
        </p:txBody>
      </p:sp>
      <p:sp>
        <p:nvSpPr>
          <p:cNvPr id="57" name="slide005-element000-table-r05-c01-cell"/>
          <p:cNvSpPr/>
          <p:nvPr/>
        </p:nvSpPr>
        <p:spPr>
          <a:xfrm>
            <a:off x="6496629" y="493776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5-element000-table-r05-c01-text"/>
          <p:cNvSpPr txBox="1"/>
          <p:nvPr/>
        </p:nvSpPr>
        <p:spPr>
          <a:xfrm>
            <a:off x="6588069" y="50109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44.29%</a:t>
            </a:r>
          </a:p>
        </p:txBody>
      </p:sp>
      <p:sp>
        <p:nvSpPr>
          <p:cNvPr id="59" name="slide005-element000-table-r05-c02-cell"/>
          <p:cNvSpPr/>
          <p:nvPr/>
        </p:nvSpPr>
        <p:spPr>
          <a:xfrm>
            <a:off x="8374623" y="493776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5-element000-table-r05-c02-text"/>
          <p:cNvSpPr txBox="1"/>
          <p:nvPr/>
        </p:nvSpPr>
        <p:spPr>
          <a:xfrm>
            <a:off x="8466063" y="50109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1.0700</a:t>
            </a:r>
          </a:p>
        </p:txBody>
      </p:sp>
      <p:sp>
        <p:nvSpPr>
          <p:cNvPr id="61" name="slide005-element000-table-r05-c03-cell"/>
          <p:cNvSpPr/>
          <p:nvPr/>
        </p:nvSpPr>
        <p:spPr>
          <a:xfrm>
            <a:off x="10252618" y="493776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5-element000-table-r05-c03-text"/>
          <p:cNvSpPr txBox="1"/>
          <p:nvPr/>
        </p:nvSpPr>
        <p:spPr>
          <a:xfrm>
            <a:off x="10344058" y="50109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0.6471</a:t>
            </a:r>
          </a:p>
        </p:txBody>
      </p:sp>
      <p:sp>
        <p:nvSpPr>
          <p:cNvPr id="63" name="slide005-element000-table-r05-c04-cell"/>
          <p:cNvSpPr/>
          <p:nvPr/>
        </p:nvSpPr>
        <p:spPr>
          <a:xfrm>
            <a:off x="12130613" y="4937760"/>
            <a:ext cx="1877994" cy="5943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5-element000-table-r05-c04-text"/>
          <p:cNvSpPr txBox="1"/>
          <p:nvPr/>
        </p:nvSpPr>
        <p:spPr>
          <a:xfrm>
            <a:off x="12222053" y="5010912"/>
            <a:ext cx="1695114" cy="448056"/>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1.53%</a:t>
            </a:r>
          </a:p>
        </p:txBody>
      </p:sp>
      <p:sp>
        <p:nvSpPr>
          <p:cNvPr id="65" name="slide005-element001-text"/>
          <p:cNvSpPr txBox="1"/>
          <p:nvPr/>
        </p:nvSpPr>
        <p:spPr>
          <a:xfrm>
            <a:off x="594360" y="5925312"/>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2500" b="1">
                <a:solidFill>
                  <a:srgbClr val="0D897D"/>
                </a:solidFill>
                <a:latin typeface="Arial"/>
              </a:rPr>
              <a:t>Best learned = market residual with team data and seven FPL aggregates.</a:t>
            </a:r>
          </a:p>
        </p:txBody>
      </p:sp>
      <p:sp>
        <p:nvSpPr>
          <p:cNvPr id="66" name="slide005-element002-text"/>
          <p:cNvSpPr txBox="1"/>
          <p:nvPr/>
        </p:nvSpPr>
        <p:spPr>
          <a:xfrm>
            <a:off x="594360" y="6675120"/>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536578"/>
                </a:solidFill>
                <a:latin typeface="Arial"/>
              </a:rPr>
              <a:t>It uses bookmaker probabilities as an input. Its small historical changes do not establish incremental value over the market.</a:t>
            </a:r>
          </a:p>
        </p:txBody>
      </p:sp>
      <p:cxnSp>
        <p:nvCxnSpPr>
          <p:cNvPr id="67" name="slide00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68" name="slide00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model_metrics_pooled.parquet | Full paths in notes</a:t>
            </a:r>
          </a:p>
        </p:txBody>
      </p:sp>
      <p:sp>
        <p:nvSpPr>
          <p:cNvPr id="69" name="slide00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PROFILE | SAME 1,470 FIXTURES</a:t>
            </a:r>
          </a:p>
        </p:txBody>
      </p:sp>
      <p:sp>
        <p:nvSpPr>
          <p:cNvPr id="3" name="slide00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Best learned predictor: market residual + team/FPL</a:t>
            </a:r>
          </a:p>
        </p:txBody>
      </p:sp>
      <p:sp>
        <p:nvSpPr>
          <p:cNvPr id="4" name="slide00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28 historical inputs + bookmaker-probability offset; regularized home/draw adjustments, then temperature calibration.</a:t>
            </a:r>
          </a:p>
        </p:txBody>
      </p:sp>
      <p:sp>
        <p:nvSpPr>
          <p:cNvPr id="5" name="slide006-element000-card-background"/>
          <p:cNvSpPr/>
          <p:nvPr/>
        </p:nvSpPr>
        <p:spPr>
          <a:xfrm>
            <a:off x="594360"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6-element000-card-accent"/>
          <p:cNvSpPr/>
          <p:nvPr/>
        </p:nvSpPr>
        <p:spPr>
          <a:xfrm>
            <a:off x="594360"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6-element000-card-label"/>
          <p:cNvSpPr txBox="1"/>
          <p:nvPr/>
        </p:nvSpPr>
        <p:spPr>
          <a:xfrm>
            <a:off x="74980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Classification accuracy</a:t>
            </a:r>
          </a:p>
        </p:txBody>
      </p:sp>
      <p:sp>
        <p:nvSpPr>
          <p:cNvPr id="8" name="slide006-element000-card-value"/>
          <p:cNvSpPr txBox="1"/>
          <p:nvPr/>
        </p:nvSpPr>
        <p:spPr>
          <a:xfrm>
            <a:off x="74980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54.15%</a:t>
            </a:r>
          </a:p>
        </p:txBody>
      </p:sp>
      <p:sp>
        <p:nvSpPr>
          <p:cNvPr id="9" name="slide006-element000-card-detail"/>
          <p:cNvSpPr txBox="1"/>
          <p:nvPr/>
        </p:nvSpPr>
        <p:spPr>
          <a:xfrm>
            <a:off x="749808"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0" name="slide006-element001-card-background"/>
          <p:cNvSpPr/>
          <p:nvPr/>
        </p:nvSpPr>
        <p:spPr>
          <a:xfrm>
            <a:off x="4050791"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6-element001-card-accent"/>
          <p:cNvSpPr/>
          <p:nvPr/>
        </p:nvSpPr>
        <p:spPr>
          <a:xfrm>
            <a:off x="4050791"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6-element001-card-label"/>
          <p:cNvSpPr txBox="1"/>
          <p:nvPr/>
        </p:nvSpPr>
        <p:spPr>
          <a:xfrm>
            <a:off x="4206240"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Log loss | lower is better</a:t>
            </a:r>
          </a:p>
        </p:txBody>
      </p:sp>
      <p:sp>
        <p:nvSpPr>
          <p:cNvPr id="13" name="slide006-element001-card-value"/>
          <p:cNvSpPr txBox="1"/>
          <p:nvPr/>
        </p:nvSpPr>
        <p:spPr>
          <a:xfrm>
            <a:off x="4206240"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0.9693</a:t>
            </a:r>
          </a:p>
        </p:txBody>
      </p:sp>
      <p:sp>
        <p:nvSpPr>
          <p:cNvPr id="14" name="slide006-element001-card-detail"/>
          <p:cNvSpPr txBox="1"/>
          <p:nvPr/>
        </p:nvSpPr>
        <p:spPr>
          <a:xfrm>
            <a:off x="4206240"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5" name="slide006-element002-card-background"/>
          <p:cNvSpPr/>
          <p:nvPr/>
        </p:nvSpPr>
        <p:spPr>
          <a:xfrm>
            <a:off x="7507223"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6-element002-card-accent"/>
          <p:cNvSpPr/>
          <p:nvPr/>
        </p:nvSpPr>
        <p:spPr>
          <a:xfrm>
            <a:off x="7507223"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6-element002-card-label"/>
          <p:cNvSpPr txBox="1"/>
          <p:nvPr/>
        </p:nvSpPr>
        <p:spPr>
          <a:xfrm>
            <a:off x="7662671"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Brier score | lower is better</a:t>
            </a:r>
          </a:p>
        </p:txBody>
      </p:sp>
      <p:sp>
        <p:nvSpPr>
          <p:cNvPr id="18" name="slide006-element002-card-value"/>
          <p:cNvSpPr txBox="1"/>
          <p:nvPr/>
        </p:nvSpPr>
        <p:spPr>
          <a:xfrm>
            <a:off x="7662671"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0.5751</a:t>
            </a:r>
          </a:p>
        </p:txBody>
      </p:sp>
      <p:sp>
        <p:nvSpPr>
          <p:cNvPr id="19" name="slide006-element002-card-detail"/>
          <p:cNvSpPr txBox="1"/>
          <p:nvPr/>
        </p:nvSpPr>
        <p:spPr>
          <a:xfrm>
            <a:off x="7662671"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0" name="slide006-element003-card-background"/>
          <p:cNvSpPr/>
          <p:nvPr/>
        </p:nvSpPr>
        <p:spPr>
          <a:xfrm>
            <a:off x="10963656"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6-element003-card-accent"/>
          <p:cNvSpPr/>
          <p:nvPr/>
        </p:nvSpPr>
        <p:spPr>
          <a:xfrm>
            <a:off x="10963656"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6-element003-card-label"/>
          <p:cNvSpPr txBox="1"/>
          <p:nvPr/>
        </p:nvSpPr>
        <p:spPr>
          <a:xfrm>
            <a:off x="11119104"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Classwise ECE | 10 bins</a:t>
            </a:r>
          </a:p>
        </p:txBody>
      </p:sp>
      <p:sp>
        <p:nvSpPr>
          <p:cNvPr id="23" name="slide006-element003-card-value"/>
          <p:cNvSpPr txBox="1"/>
          <p:nvPr/>
        </p:nvSpPr>
        <p:spPr>
          <a:xfrm>
            <a:off x="11119104"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2.16%</a:t>
            </a:r>
          </a:p>
        </p:txBody>
      </p:sp>
      <p:sp>
        <p:nvSpPr>
          <p:cNvPr id="24" name="slide006-element003-card-detail"/>
          <p:cNvSpPr txBox="1"/>
          <p:nvPr/>
        </p:nvSpPr>
        <p:spPr>
          <a:xfrm>
            <a:off x="11119104"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5" name="slide006-element004-text"/>
          <p:cNvSpPr txBox="1"/>
          <p:nvPr/>
        </p:nvSpPr>
        <p:spPr>
          <a:xfrm>
            <a:off x="594360" y="3584448"/>
            <a:ext cx="640080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THE MODEL DOES</a:t>
            </a:r>
          </a:p>
        </p:txBody>
      </p:sp>
      <p:sp>
        <p:nvSpPr>
          <p:cNvPr id="26" name="slide006-element005-text"/>
          <p:cNvSpPr txBox="1"/>
          <p:nvPr/>
        </p:nvSpPr>
        <p:spPr>
          <a:xfrm>
            <a:off x="594360" y="4050791"/>
            <a:ext cx="6400800" cy="20574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Start from normalized inverse Bet365 odds.</a:t>
            </a:r>
          </a:p>
          <a:p>
            <a:pPr algn="l">
              <a:lnSpc>
                <a:spcPct val="100000"/>
              </a:lnSpc>
              <a:spcBef>
                <a:spcPts val="0"/>
              </a:spcBef>
              <a:spcAft>
                <a:spcPts val="0"/>
              </a:spcAft>
            </a:pPr>
            <a:r>
              <a:rPr sz="2000" b="0">
                <a:solidFill>
                  <a:srgbClr val="11243A"/>
                </a:solidFill>
                <a:latin typeface="Arial"/>
              </a:rPr>
              <a:t>Learn regularized adjustments from team form and seven rolling FPL aggregates.</a:t>
            </a:r>
          </a:p>
          <a:p>
            <a:pPr algn="l">
              <a:lnSpc>
                <a:spcPct val="100000"/>
              </a:lnSpc>
              <a:spcBef>
                <a:spcPts val="0"/>
              </a:spcBef>
              <a:spcAft>
                <a:spcPts val="0"/>
              </a:spcAft>
            </a:pPr>
            <a:r>
              <a:rPr sz="2000" b="0">
                <a:solidFill>
                  <a:srgbClr val="11243A"/>
                </a:solidFill>
                <a:latin typeface="Arial"/>
              </a:rPr>
              <a:t>Keep training, tuning and calibration chronological.</a:t>
            </a:r>
          </a:p>
        </p:txBody>
      </p:sp>
      <p:sp>
        <p:nvSpPr>
          <p:cNvPr id="27" name="slide006-element006-text"/>
          <p:cNvSpPr txBox="1"/>
          <p:nvPr/>
        </p:nvSpPr>
        <p:spPr>
          <a:xfrm>
            <a:off x="7360920" y="3584448"/>
            <a:ext cx="6629400" cy="365760"/>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rPr>
              <a:t>TRADING WRAPPER S029 | CONTINUOUS FOUR SEASONS</a:t>
            </a:r>
          </a:p>
        </p:txBody>
      </p:sp>
      <p:sp>
        <p:nvSpPr>
          <p:cNvPr id="28" name="slide006-element007-table-r00-c00-cell"/>
          <p:cNvSpPr/>
          <p:nvPr/>
        </p:nvSpPr>
        <p:spPr>
          <a:xfrm>
            <a:off x="7360920" y="4096512"/>
            <a:ext cx="4043934"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6-element007-table-r00-c00-text"/>
          <p:cNvSpPr txBox="1"/>
          <p:nvPr/>
        </p:nvSpPr>
        <p:spPr>
          <a:xfrm>
            <a:off x="7452360" y="416966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30" name="slide006-element007-table-r00-c01-cell"/>
          <p:cNvSpPr/>
          <p:nvPr/>
        </p:nvSpPr>
        <p:spPr>
          <a:xfrm>
            <a:off x="11404854" y="4096512"/>
            <a:ext cx="2585466"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6-element007-table-r00-c01-text"/>
          <p:cNvSpPr txBox="1"/>
          <p:nvPr/>
        </p:nvSpPr>
        <p:spPr>
          <a:xfrm>
            <a:off x="11496294" y="416966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Recorded result</a:t>
            </a:r>
          </a:p>
        </p:txBody>
      </p:sp>
      <p:sp>
        <p:nvSpPr>
          <p:cNvPr id="32" name="slide006-element007-table-r01-c00-cell"/>
          <p:cNvSpPr/>
          <p:nvPr/>
        </p:nvSpPr>
        <p:spPr>
          <a:xfrm>
            <a:off x="7360920" y="4511040"/>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6-element007-table-r01-c00-text"/>
          <p:cNvSpPr txBox="1"/>
          <p:nvPr/>
        </p:nvSpPr>
        <p:spPr>
          <a:xfrm>
            <a:off x="7452360" y="4584192"/>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Ending account</a:t>
            </a:r>
          </a:p>
        </p:txBody>
      </p:sp>
      <p:sp>
        <p:nvSpPr>
          <p:cNvPr id="34" name="slide006-element007-table-r01-c01-cell"/>
          <p:cNvSpPr/>
          <p:nvPr/>
        </p:nvSpPr>
        <p:spPr>
          <a:xfrm>
            <a:off x="11404854" y="4511040"/>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6-element007-table-r01-c01-text"/>
          <p:cNvSpPr txBox="1"/>
          <p:nvPr/>
        </p:nvSpPr>
        <p:spPr>
          <a:xfrm>
            <a:off x="11496294" y="4584192"/>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123,340</a:t>
            </a:r>
          </a:p>
        </p:txBody>
      </p:sp>
      <p:sp>
        <p:nvSpPr>
          <p:cNvPr id="36" name="slide006-element007-table-r02-c00-cell"/>
          <p:cNvSpPr/>
          <p:nvPr/>
        </p:nvSpPr>
        <p:spPr>
          <a:xfrm>
            <a:off x="7360920" y="4925568"/>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6-element007-table-r02-c00-text"/>
          <p:cNvSpPr txBox="1"/>
          <p:nvPr/>
        </p:nvSpPr>
        <p:spPr>
          <a:xfrm>
            <a:off x="7452360" y="4998720"/>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Return on starting 100K</a:t>
            </a:r>
          </a:p>
        </p:txBody>
      </p:sp>
      <p:sp>
        <p:nvSpPr>
          <p:cNvPr id="38" name="slide006-element007-table-r02-c01-cell"/>
          <p:cNvSpPr/>
          <p:nvPr/>
        </p:nvSpPr>
        <p:spPr>
          <a:xfrm>
            <a:off x="11404854" y="4925568"/>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6-element007-table-r02-c01-text"/>
          <p:cNvSpPr txBox="1"/>
          <p:nvPr/>
        </p:nvSpPr>
        <p:spPr>
          <a:xfrm>
            <a:off x="11496294" y="4998720"/>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23.34%</a:t>
            </a:r>
          </a:p>
        </p:txBody>
      </p:sp>
      <p:sp>
        <p:nvSpPr>
          <p:cNvPr id="40" name="slide006-element007-table-r03-c00-cell"/>
          <p:cNvSpPr/>
          <p:nvPr/>
        </p:nvSpPr>
        <p:spPr>
          <a:xfrm>
            <a:off x="7360920" y="5340096"/>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6-element007-table-r03-c00-text"/>
          <p:cNvSpPr txBox="1"/>
          <p:nvPr/>
        </p:nvSpPr>
        <p:spPr>
          <a:xfrm>
            <a:off x="7452360" y="5413248"/>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 trade frequency</a:t>
            </a:r>
          </a:p>
        </p:txBody>
      </p:sp>
      <p:sp>
        <p:nvSpPr>
          <p:cNvPr id="42" name="slide006-element007-table-r03-c01-cell"/>
          <p:cNvSpPr/>
          <p:nvPr/>
        </p:nvSpPr>
        <p:spPr>
          <a:xfrm>
            <a:off x="11404854" y="5340096"/>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6-element007-table-r03-c01-text"/>
          <p:cNvSpPr txBox="1"/>
          <p:nvPr/>
        </p:nvSpPr>
        <p:spPr>
          <a:xfrm>
            <a:off x="11496294" y="5413248"/>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31.04% / 78.03%</a:t>
            </a:r>
          </a:p>
        </p:txBody>
      </p:sp>
      <p:sp>
        <p:nvSpPr>
          <p:cNvPr id="44" name="slide006-element007-table-r04-c00-cell"/>
          <p:cNvSpPr/>
          <p:nvPr/>
        </p:nvSpPr>
        <p:spPr>
          <a:xfrm>
            <a:off x="7360920" y="5754624"/>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6-element007-table-r04-c00-text"/>
          <p:cNvSpPr txBox="1"/>
          <p:nvPr/>
        </p:nvSpPr>
        <p:spPr>
          <a:xfrm>
            <a:off x="7452360" y="5827776"/>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ROI on total stakes</a:t>
            </a:r>
          </a:p>
        </p:txBody>
      </p:sp>
      <p:sp>
        <p:nvSpPr>
          <p:cNvPr id="46" name="slide006-element007-table-r04-c01-cell"/>
          <p:cNvSpPr/>
          <p:nvPr/>
        </p:nvSpPr>
        <p:spPr>
          <a:xfrm>
            <a:off x="11404854" y="5754624"/>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6-element007-table-r04-c01-text"/>
          <p:cNvSpPr txBox="1"/>
          <p:nvPr/>
        </p:nvSpPr>
        <p:spPr>
          <a:xfrm>
            <a:off x="11496294" y="5827776"/>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2.03%</a:t>
            </a:r>
          </a:p>
        </p:txBody>
      </p:sp>
      <p:sp>
        <p:nvSpPr>
          <p:cNvPr id="48" name="slide006-element007-table-r05-c00-cell"/>
          <p:cNvSpPr/>
          <p:nvPr/>
        </p:nvSpPr>
        <p:spPr>
          <a:xfrm>
            <a:off x="7360920" y="6169152"/>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lide006-element007-table-r05-c00-text"/>
          <p:cNvSpPr txBox="1"/>
          <p:nvPr/>
        </p:nvSpPr>
        <p:spPr>
          <a:xfrm>
            <a:off x="7452360" y="624230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Maximum drawdown</a:t>
            </a:r>
          </a:p>
        </p:txBody>
      </p:sp>
      <p:sp>
        <p:nvSpPr>
          <p:cNvPr id="50" name="slide006-element007-table-r05-c01-cell"/>
          <p:cNvSpPr/>
          <p:nvPr/>
        </p:nvSpPr>
        <p:spPr>
          <a:xfrm>
            <a:off x="11404854" y="6169152"/>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lide006-element007-table-r05-c01-text"/>
          <p:cNvSpPr txBox="1"/>
          <p:nvPr/>
        </p:nvSpPr>
        <p:spPr>
          <a:xfrm>
            <a:off x="11496294" y="624230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31.88%</a:t>
            </a:r>
          </a:p>
        </p:txBody>
      </p:sp>
      <p:sp>
        <p:nvSpPr>
          <p:cNvPr id="52" name="slide006-element008-text"/>
          <p:cNvSpPr txBox="1"/>
          <p:nvPr/>
        </p:nvSpPr>
        <p:spPr>
          <a:xfrm>
            <a:off x="594360" y="6720840"/>
            <a:ext cx="13350240" cy="667512"/>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The raw market has lower pooled log loss (0.9662). S029's positive archived return is not proof of a validated predictive edge.</a:t>
            </a:r>
          </a:p>
        </p:txBody>
      </p:sp>
      <p:cxnSp>
        <p:nvCxnSpPr>
          <p:cNvPr id="53" name="slide00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4" name="slide00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5" name="slide00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PROFILE | SAME 1,470 FIXTURES</a:t>
            </a:r>
          </a:p>
        </p:txBody>
      </p:sp>
      <p:sp>
        <p:nvSpPr>
          <p:cNvPr id="3" name="slide00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Simplest model: historical class frequencies</a:t>
            </a:r>
          </a:p>
        </p:txBody>
      </p:sp>
      <p:sp>
        <p:nvSpPr>
          <p:cNvPr id="4" name="slide00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No match features, team identity or odds input. The same three probabilities are used for every match within an outer season.</a:t>
            </a:r>
          </a:p>
        </p:txBody>
      </p:sp>
      <p:sp>
        <p:nvSpPr>
          <p:cNvPr id="5" name="slide007-element000-card-background"/>
          <p:cNvSpPr/>
          <p:nvPr/>
        </p:nvSpPr>
        <p:spPr>
          <a:xfrm>
            <a:off x="594360"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7-element000-card-accent"/>
          <p:cNvSpPr/>
          <p:nvPr/>
        </p:nvSpPr>
        <p:spPr>
          <a:xfrm>
            <a:off x="594360"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7-element000-card-label"/>
          <p:cNvSpPr txBox="1"/>
          <p:nvPr/>
        </p:nvSpPr>
        <p:spPr>
          <a:xfrm>
            <a:off x="74980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Classification accuracy</a:t>
            </a:r>
          </a:p>
        </p:txBody>
      </p:sp>
      <p:sp>
        <p:nvSpPr>
          <p:cNvPr id="8" name="slide007-element000-card-value"/>
          <p:cNvSpPr txBox="1"/>
          <p:nvPr/>
        </p:nvSpPr>
        <p:spPr>
          <a:xfrm>
            <a:off x="74980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44.29%</a:t>
            </a:r>
          </a:p>
        </p:txBody>
      </p:sp>
      <p:sp>
        <p:nvSpPr>
          <p:cNvPr id="9" name="slide007-element000-card-detail"/>
          <p:cNvSpPr txBox="1"/>
          <p:nvPr/>
        </p:nvSpPr>
        <p:spPr>
          <a:xfrm>
            <a:off x="749808"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0" name="slide007-element001-card-background"/>
          <p:cNvSpPr/>
          <p:nvPr/>
        </p:nvSpPr>
        <p:spPr>
          <a:xfrm>
            <a:off x="4050791"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7-element001-card-accent"/>
          <p:cNvSpPr/>
          <p:nvPr/>
        </p:nvSpPr>
        <p:spPr>
          <a:xfrm>
            <a:off x="4050791"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7-element001-card-label"/>
          <p:cNvSpPr txBox="1"/>
          <p:nvPr/>
        </p:nvSpPr>
        <p:spPr>
          <a:xfrm>
            <a:off x="4206240"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Log loss | lower is better</a:t>
            </a:r>
          </a:p>
        </p:txBody>
      </p:sp>
      <p:sp>
        <p:nvSpPr>
          <p:cNvPr id="13" name="slide007-element001-card-value"/>
          <p:cNvSpPr txBox="1"/>
          <p:nvPr/>
        </p:nvSpPr>
        <p:spPr>
          <a:xfrm>
            <a:off x="4206240"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1.0700</a:t>
            </a:r>
          </a:p>
        </p:txBody>
      </p:sp>
      <p:sp>
        <p:nvSpPr>
          <p:cNvPr id="14" name="slide007-element001-card-detail"/>
          <p:cNvSpPr txBox="1"/>
          <p:nvPr/>
        </p:nvSpPr>
        <p:spPr>
          <a:xfrm>
            <a:off x="4206240"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5" name="slide007-element002-card-background"/>
          <p:cNvSpPr/>
          <p:nvPr/>
        </p:nvSpPr>
        <p:spPr>
          <a:xfrm>
            <a:off x="7507223"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7-element002-card-accent"/>
          <p:cNvSpPr/>
          <p:nvPr/>
        </p:nvSpPr>
        <p:spPr>
          <a:xfrm>
            <a:off x="7507223"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7-element002-card-label"/>
          <p:cNvSpPr txBox="1"/>
          <p:nvPr/>
        </p:nvSpPr>
        <p:spPr>
          <a:xfrm>
            <a:off x="7662671"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Brier score | lower is better</a:t>
            </a:r>
          </a:p>
        </p:txBody>
      </p:sp>
      <p:sp>
        <p:nvSpPr>
          <p:cNvPr id="18" name="slide007-element002-card-value"/>
          <p:cNvSpPr txBox="1"/>
          <p:nvPr/>
        </p:nvSpPr>
        <p:spPr>
          <a:xfrm>
            <a:off x="7662671"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0.6471</a:t>
            </a:r>
          </a:p>
        </p:txBody>
      </p:sp>
      <p:sp>
        <p:nvSpPr>
          <p:cNvPr id="19" name="slide007-element002-card-detail"/>
          <p:cNvSpPr txBox="1"/>
          <p:nvPr/>
        </p:nvSpPr>
        <p:spPr>
          <a:xfrm>
            <a:off x="7662671"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0" name="slide007-element003-card-background"/>
          <p:cNvSpPr/>
          <p:nvPr/>
        </p:nvSpPr>
        <p:spPr>
          <a:xfrm>
            <a:off x="10963656"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7-element003-card-accent"/>
          <p:cNvSpPr/>
          <p:nvPr/>
        </p:nvSpPr>
        <p:spPr>
          <a:xfrm>
            <a:off x="10963656"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7-element003-card-label"/>
          <p:cNvSpPr txBox="1"/>
          <p:nvPr/>
        </p:nvSpPr>
        <p:spPr>
          <a:xfrm>
            <a:off x="11119104"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Classwise ECE | 10 bins</a:t>
            </a:r>
          </a:p>
        </p:txBody>
      </p:sp>
      <p:sp>
        <p:nvSpPr>
          <p:cNvPr id="23" name="slide007-element003-card-value"/>
          <p:cNvSpPr txBox="1"/>
          <p:nvPr/>
        </p:nvSpPr>
        <p:spPr>
          <a:xfrm>
            <a:off x="11119104"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1.53%</a:t>
            </a:r>
          </a:p>
        </p:txBody>
      </p:sp>
      <p:sp>
        <p:nvSpPr>
          <p:cNvPr id="24" name="slide007-element003-card-detail"/>
          <p:cNvSpPr txBox="1"/>
          <p:nvPr/>
        </p:nvSpPr>
        <p:spPr>
          <a:xfrm>
            <a:off x="11119104"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5" name="slide007-element004-text"/>
          <p:cNvSpPr txBox="1"/>
          <p:nvPr/>
        </p:nvSpPr>
        <p:spPr>
          <a:xfrm>
            <a:off x="594360" y="3584448"/>
            <a:ext cx="640080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THE MODEL DOES</a:t>
            </a:r>
          </a:p>
        </p:txBody>
      </p:sp>
      <p:sp>
        <p:nvSpPr>
          <p:cNvPr id="26" name="slide007-element005-text"/>
          <p:cNvSpPr txBox="1"/>
          <p:nvPr/>
        </p:nvSpPr>
        <p:spPr>
          <a:xfrm>
            <a:off x="594360" y="4050791"/>
            <a:ext cx="6400800" cy="20574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Count home wins, draws and away wins in the fitting block. Use those fractions as the forecast.</a:t>
            </a:r>
          </a:p>
          <a:p>
            <a:pPr algn="l">
              <a:lnSpc>
                <a:spcPct val="100000"/>
              </a:lnSpc>
              <a:spcBef>
                <a:spcPts val="0"/>
              </a:spcBef>
              <a:spcAft>
                <a:spcPts val="0"/>
              </a:spcAft>
            </a:pPr>
            <a:r>
              <a:rPr sz="2000" b="0">
                <a:solidFill>
                  <a:srgbClr val="11243A"/>
                </a:solidFill>
                <a:latin typeface="Arial"/>
              </a:rPr>
              <a:t>2025/26 probabilities:</a:t>
            </a:r>
          </a:p>
          <a:p>
            <a:pPr algn="l">
              <a:lnSpc>
                <a:spcPct val="100000"/>
              </a:lnSpc>
              <a:spcBef>
                <a:spcPts val="0"/>
              </a:spcBef>
              <a:spcAft>
                <a:spcPts val="0"/>
              </a:spcAft>
            </a:pPr>
            <a:r>
              <a:rPr sz="2000" b="0">
                <a:solidFill>
                  <a:srgbClr val="11243A"/>
                </a:solidFill>
                <a:latin typeface="Arial"/>
              </a:rPr>
              <a:t>H 45.58%   D 22.11%   A 32.31%</a:t>
            </a:r>
          </a:p>
        </p:txBody>
      </p:sp>
      <p:sp>
        <p:nvSpPr>
          <p:cNvPr id="27" name="slide007-element006-text"/>
          <p:cNvSpPr txBox="1"/>
          <p:nvPr/>
        </p:nvSpPr>
        <p:spPr>
          <a:xfrm>
            <a:off x="7360920" y="3584448"/>
            <a:ext cx="6629400" cy="365760"/>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rPr>
              <a:t>TRADING WRAPPER S033 | CONTINUOUS FOUR SEASONS</a:t>
            </a:r>
          </a:p>
        </p:txBody>
      </p:sp>
      <p:sp>
        <p:nvSpPr>
          <p:cNvPr id="28" name="slide007-element007-table-r00-c00-cell"/>
          <p:cNvSpPr/>
          <p:nvPr/>
        </p:nvSpPr>
        <p:spPr>
          <a:xfrm>
            <a:off x="7360920" y="4096512"/>
            <a:ext cx="4043934"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7-element007-table-r00-c00-text"/>
          <p:cNvSpPr txBox="1"/>
          <p:nvPr/>
        </p:nvSpPr>
        <p:spPr>
          <a:xfrm>
            <a:off x="7452360" y="416966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30" name="slide007-element007-table-r00-c01-cell"/>
          <p:cNvSpPr/>
          <p:nvPr/>
        </p:nvSpPr>
        <p:spPr>
          <a:xfrm>
            <a:off x="11404854" y="4096512"/>
            <a:ext cx="2585466"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7-element007-table-r00-c01-text"/>
          <p:cNvSpPr txBox="1"/>
          <p:nvPr/>
        </p:nvSpPr>
        <p:spPr>
          <a:xfrm>
            <a:off x="11496294" y="416966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Recorded result</a:t>
            </a:r>
          </a:p>
        </p:txBody>
      </p:sp>
      <p:sp>
        <p:nvSpPr>
          <p:cNvPr id="32" name="slide007-element007-table-r01-c00-cell"/>
          <p:cNvSpPr/>
          <p:nvPr/>
        </p:nvSpPr>
        <p:spPr>
          <a:xfrm>
            <a:off x="7360920" y="4511040"/>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7-element007-table-r01-c00-text"/>
          <p:cNvSpPr txBox="1"/>
          <p:nvPr/>
        </p:nvSpPr>
        <p:spPr>
          <a:xfrm>
            <a:off x="7452360" y="4584192"/>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Ending account</a:t>
            </a:r>
          </a:p>
        </p:txBody>
      </p:sp>
      <p:sp>
        <p:nvSpPr>
          <p:cNvPr id="34" name="slide007-element007-table-r01-c01-cell"/>
          <p:cNvSpPr/>
          <p:nvPr/>
        </p:nvSpPr>
        <p:spPr>
          <a:xfrm>
            <a:off x="11404854" y="4511040"/>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7-element007-table-r01-c01-text"/>
          <p:cNvSpPr txBox="1"/>
          <p:nvPr/>
        </p:nvSpPr>
        <p:spPr>
          <a:xfrm>
            <a:off x="11496294" y="4584192"/>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29,760</a:t>
            </a:r>
          </a:p>
        </p:txBody>
      </p:sp>
      <p:sp>
        <p:nvSpPr>
          <p:cNvPr id="36" name="slide007-element007-table-r02-c00-cell"/>
          <p:cNvSpPr/>
          <p:nvPr/>
        </p:nvSpPr>
        <p:spPr>
          <a:xfrm>
            <a:off x="7360920" y="4925568"/>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7-element007-table-r02-c00-text"/>
          <p:cNvSpPr txBox="1"/>
          <p:nvPr/>
        </p:nvSpPr>
        <p:spPr>
          <a:xfrm>
            <a:off x="7452360" y="4998720"/>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Return on starting 100K</a:t>
            </a:r>
          </a:p>
        </p:txBody>
      </p:sp>
      <p:sp>
        <p:nvSpPr>
          <p:cNvPr id="38" name="slide007-element007-table-r02-c01-cell"/>
          <p:cNvSpPr/>
          <p:nvPr/>
        </p:nvSpPr>
        <p:spPr>
          <a:xfrm>
            <a:off x="11404854" y="4925568"/>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7-element007-table-r02-c01-text"/>
          <p:cNvSpPr txBox="1"/>
          <p:nvPr/>
        </p:nvSpPr>
        <p:spPr>
          <a:xfrm>
            <a:off x="11496294" y="4998720"/>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-70.24%</a:t>
            </a:r>
          </a:p>
        </p:txBody>
      </p:sp>
      <p:sp>
        <p:nvSpPr>
          <p:cNvPr id="40" name="slide007-element007-table-r03-c00-cell"/>
          <p:cNvSpPr/>
          <p:nvPr/>
        </p:nvSpPr>
        <p:spPr>
          <a:xfrm>
            <a:off x="7360920" y="5340096"/>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7-element007-table-r03-c00-text"/>
          <p:cNvSpPr txBox="1"/>
          <p:nvPr/>
        </p:nvSpPr>
        <p:spPr>
          <a:xfrm>
            <a:off x="7452360" y="5413248"/>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 trade frequency</a:t>
            </a:r>
          </a:p>
        </p:txBody>
      </p:sp>
      <p:sp>
        <p:nvSpPr>
          <p:cNvPr id="42" name="slide007-element007-table-r03-c01-cell"/>
          <p:cNvSpPr/>
          <p:nvPr/>
        </p:nvSpPr>
        <p:spPr>
          <a:xfrm>
            <a:off x="11404854" y="5340096"/>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7-element007-table-r03-c01-text"/>
          <p:cNvSpPr txBox="1"/>
          <p:nvPr/>
        </p:nvSpPr>
        <p:spPr>
          <a:xfrm>
            <a:off x="11496294" y="5413248"/>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23.01% / 98.44%</a:t>
            </a:r>
          </a:p>
        </p:txBody>
      </p:sp>
      <p:sp>
        <p:nvSpPr>
          <p:cNvPr id="44" name="slide007-element007-table-r04-c00-cell"/>
          <p:cNvSpPr/>
          <p:nvPr/>
        </p:nvSpPr>
        <p:spPr>
          <a:xfrm>
            <a:off x="7360920" y="5754624"/>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7-element007-table-r04-c00-text"/>
          <p:cNvSpPr txBox="1"/>
          <p:nvPr/>
        </p:nvSpPr>
        <p:spPr>
          <a:xfrm>
            <a:off x="7452360" y="5827776"/>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ROI on total stakes</a:t>
            </a:r>
          </a:p>
        </p:txBody>
      </p:sp>
      <p:sp>
        <p:nvSpPr>
          <p:cNvPr id="46" name="slide007-element007-table-r04-c01-cell"/>
          <p:cNvSpPr/>
          <p:nvPr/>
        </p:nvSpPr>
        <p:spPr>
          <a:xfrm>
            <a:off x="11404854" y="5754624"/>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7-element007-table-r04-c01-text"/>
          <p:cNvSpPr txBox="1"/>
          <p:nvPr/>
        </p:nvSpPr>
        <p:spPr>
          <a:xfrm>
            <a:off x="11496294" y="5827776"/>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-4.85%</a:t>
            </a:r>
          </a:p>
        </p:txBody>
      </p:sp>
      <p:sp>
        <p:nvSpPr>
          <p:cNvPr id="48" name="slide007-element007-table-r05-c00-cell"/>
          <p:cNvSpPr/>
          <p:nvPr/>
        </p:nvSpPr>
        <p:spPr>
          <a:xfrm>
            <a:off x="7360920" y="6169152"/>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lide007-element007-table-r05-c00-text"/>
          <p:cNvSpPr txBox="1"/>
          <p:nvPr/>
        </p:nvSpPr>
        <p:spPr>
          <a:xfrm>
            <a:off x="7452360" y="624230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Maximum drawdown</a:t>
            </a:r>
          </a:p>
        </p:txBody>
      </p:sp>
      <p:sp>
        <p:nvSpPr>
          <p:cNvPr id="50" name="slide007-element007-table-r05-c01-cell"/>
          <p:cNvSpPr/>
          <p:nvPr/>
        </p:nvSpPr>
        <p:spPr>
          <a:xfrm>
            <a:off x="11404854" y="6169152"/>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lide007-element007-table-r05-c01-text"/>
          <p:cNvSpPr txBox="1"/>
          <p:nvPr/>
        </p:nvSpPr>
        <p:spPr>
          <a:xfrm>
            <a:off x="11496294" y="624230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89.49%</a:t>
            </a:r>
          </a:p>
        </p:txBody>
      </p:sp>
      <p:sp>
        <p:nvSpPr>
          <p:cNvPr id="52" name="slide007-element008-text"/>
          <p:cNvSpPr txBox="1"/>
          <p:nvPr/>
        </p:nvSpPr>
        <p:spPr>
          <a:xfrm>
            <a:off x="594360" y="6720840"/>
            <a:ext cx="13350240" cy="667512"/>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Low ECE alone does not imply useful match discrimination. S033 applies an edge rule to these probabilities; it is not an always-home policy.</a:t>
            </a:r>
          </a:p>
        </p:txBody>
      </p:sp>
      <p:cxnSp>
        <p:nvCxnSpPr>
          <p:cNvPr id="53" name="slide00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4" name="slide00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5" name="slide00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PROFILE | SAME 1,470 FIXTURES</a:t>
            </a:r>
          </a:p>
        </p:txBody>
      </p:sp>
      <p:sp>
        <p:nvSpPr>
          <p:cNvPr id="3" name="slide00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Team-data model: regularized logistic regression</a:t>
            </a:r>
          </a:p>
        </p:txBody>
      </p:sp>
      <p:sp>
        <p:nvSpPr>
          <p:cNvPr id="4" name="slide00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21 inputs: nine team-performance measures, four context flags and eight shared source-coverage controls.</a:t>
            </a:r>
          </a:p>
        </p:txBody>
      </p:sp>
      <p:sp>
        <p:nvSpPr>
          <p:cNvPr id="5" name="slide008-element000-card-background"/>
          <p:cNvSpPr/>
          <p:nvPr/>
        </p:nvSpPr>
        <p:spPr>
          <a:xfrm>
            <a:off x="594360"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8-element000-card-accent"/>
          <p:cNvSpPr/>
          <p:nvPr/>
        </p:nvSpPr>
        <p:spPr>
          <a:xfrm>
            <a:off x="594360"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8-element000-card-label"/>
          <p:cNvSpPr txBox="1"/>
          <p:nvPr/>
        </p:nvSpPr>
        <p:spPr>
          <a:xfrm>
            <a:off x="74980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Classification accuracy</a:t>
            </a:r>
          </a:p>
        </p:txBody>
      </p:sp>
      <p:sp>
        <p:nvSpPr>
          <p:cNvPr id="8" name="slide008-element000-card-value"/>
          <p:cNvSpPr txBox="1"/>
          <p:nvPr/>
        </p:nvSpPr>
        <p:spPr>
          <a:xfrm>
            <a:off x="74980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52.93%</a:t>
            </a:r>
          </a:p>
        </p:txBody>
      </p:sp>
      <p:sp>
        <p:nvSpPr>
          <p:cNvPr id="9" name="slide008-element000-card-detail"/>
          <p:cNvSpPr txBox="1"/>
          <p:nvPr/>
        </p:nvSpPr>
        <p:spPr>
          <a:xfrm>
            <a:off x="749808"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0" name="slide008-element001-card-background"/>
          <p:cNvSpPr/>
          <p:nvPr/>
        </p:nvSpPr>
        <p:spPr>
          <a:xfrm>
            <a:off x="4050791"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8-element001-card-accent"/>
          <p:cNvSpPr/>
          <p:nvPr/>
        </p:nvSpPr>
        <p:spPr>
          <a:xfrm>
            <a:off x="4050791"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8-element001-card-label"/>
          <p:cNvSpPr txBox="1"/>
          <p:nvPr/>
        </p:nvSpPr>
        <p:spPr>
          <a:xfrm>
            <a:off x="4206240"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Log loss | lower is better</a:t>
            </a:r>
          </a:p>
        </p:txBody>
      </p:sp>
      <p:sp>
        <p:nvSpPr>
          <p:cNvPr id="13" name="slide008-element001-card-value"/>
          <p:cNvSpPr txBox="1"/>
          <p:nvPr/>
        </p:nvSpPr>
        <p:spPr>
          <a:xfrm>
            <a:off x="4206240"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0.9876</a:t>
            </a:r>
          </a:p>
        </p:txBody>
      </p:sp>
      <p:sp>
        <p:nvSpPr>
          <p:cNvPr id="14" name="slide008-element001-card-detail"/>
          <p:cNvSpPr txBox="1"/>
          <p:nvPr/>
        </p:nvSpPr>
        <p:spPr>
          <a:xfrm>
            <a:off x="4206240"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5" name="slide008-element002-card-background"/>
          <p:cNvSpPr/>
          <p:nvPr/>
        </p:nvSpPr>
        <p:spPr>
          <a:xfrm>
            <a:off x="7507223"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8-element002-card-accent"/>
          <p:cNvSpPr/>
          <p:nvPr/>
        </p:nvSpPr>
        <p:spPr>
          <a:xfrm>
            <a:off x="7507223"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8-element002-card-label"/>
          <p:cNvSpPr txBox="1"/>
          <p:nvPr/>
        </p:nvSpPr>
        <p:spPr>
          <a:xfrm>
            <a:off x="7662671"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Brier score | lower is better</a:t>
            </a:r>
          </a:p>
        </p:txBody>
      </p:sp>
      <p:sp>
        <p:nvSpPr>
          <p:cNvPr id="18" name="slide008-element002-card-value"/>
          <p:cNvSpPr txBox="1"/>
          <p:nvPr/>
        </p:nvSpPr>
        <p:spPr>
          <a:xfrm>
            <a:off x="7662671"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0.5889</a:t>
            </a:r>
          </a:p>
        </p:txBody>
      </p:sp>
      <p:sp>
        <p:nvSpPr>
          <p:cNvPr id="19" name="slide008-element002-card-detail"/>
          <p:cNvSpPr txBox="1"/>
          <p:nvPr/>
        </p:nvSpPr>
        <p:spPr>
          <a:xfrm>
            <a:off x="7662671"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0" name="slide008-element003-card-background"/>
          <p:cNvSpPr/>
          <p:nvPr/>
        </p:nvSpPr>
        <p:spPr>
          <a:xfrm>
            <a:off x="10963656"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8-element003-card-accent"/>
          <p:cNvSpPr/>
          <p:nvPr/>
        </p:nvSpPr>
        <p:spPr>
          <a:xfrm>
            <a:off x="10963656"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8-element003-card-label"/>
          <p:cNvSpPr txBox="1"/>
          <p:nvPr/>
        </p:nvSpPr>
        <p:spPr>
          <a:xfrm>
            <a:off x="11119104"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Classwise ECE | 10 bins</a:t>
            </a:r>
          </a:p>
        </p:txBody>
      </p:sp>
      <p:sp>
        <p:nvSpPr>
          <p:cNvPr id="23" name="slide008-element003-card-value"/>
          <p:cNvSpPr txBox="1"/>
          <p:nvPr/>
        </p:nvSpPr>
        <p:spPr>
          <a:xfrm>
            <a:off x="11119104"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2.17%</a:t>
            </a:r>
          </a:p>
        </p:txBody>
      </p:sp>
      <p:sp>
        <p:nvSpPr>
          <p:cNvPr id="24" name="slide008-element003-card-detail"/>
          <p:cNvSpPr txBox="1"/>
          <p:nvPr/>
        </p:nvSpPr>
        <p:spPr>
          <a:xfrm>
            <a:off x="11119104"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5" name="slide008-element004-text"/>
          <p:cNvSpPr txBox="1"/>
          <p:nvPr/>
        </p:nvSpPr>
        <p:spPr>
          <a:xfrm>
            <a:off x="594360" y="3584448"/>
            <a:ext cx="640080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THE MODEL DOES</a:t>
            </a:r>
          </a:p>
        </p:txBody>
      </p:sp>
      <p:sp>
        <p:nvSpPr>
          <p:cNvPr id="26" name="slide008-element005-text"/>
          <p:cNvSpPr txBox="1"/>
          <p:nvPr/>
        </p:nvSpPr>
        <p:spPr>
          <a:xfrm>
            <a:off x="594360" y="4050791"/>
            <a:ext cx="6400800" cy="20574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Use earlier goals, shots on target, corners, points, rest and prior-season win rates.</a:t>
            </a:r>
          </a:p>
          <a:p>
            <a:pPr algn="l">
              <a:lnSpc>
                <a:spcPct val="100000"/>
              </a:lnSpc>
              <a:spcBef>
                <a:spcPts val="0"/>
              </a:spcBef>
              <a:spcAft>
                <a:spcPts val="0"/>
              </a:spcAft>
            </a:pPr>
            <a:r>
              <a:rPr sz="2000" b="0">
                <a:solidFill>
                  <a:srgbClr val="11243A"/>
                </a:solidFill>
                <a:latin typeface="Arial"/>
              </a:rPr>
              <a:t>Median imputation, indicators and scaling are fitted in the permitted block.</a:t>
            </a:r>
          </a:p>
          <a:p>
            <a:pPr algn="l">
              <a:lnSpc>
                <a:spcPct val="100000"/>
              </a:lnSpc>
              <a:spcBef>
                <a:spcPts val="0"/>
              </a:spcBef>
              <a:spcAft>
                <a:spcPts val="0"/>
              </a:spcAft>
            </a:pPr>
            <a:r>
              <a:rPr sz="2000" b="0">
                <a:solidFill>
                  <a:srgbClr val="11243A"/>
                </a:solidFill>
                <a:latin typeface="Arial"/>
              </a:rPr>
              <a:t>No player-performance or odds predictors.</a:t>
            </a:r>
          </a:p>
        </p:txBody>
      </p:sp>
      <p:sp>
        <p:nvSpPr>
          <p:cNvPr id="27" name="slide008-element006-text"/>
          <p:cNvSpPr txBox="1"/>
          <p:nvPr/>
        </p:nvSpPr>
        <p:spPr>
          <a:xfrm>
            <a:off x="7360920" y="3584448"/>
            <a:ext cx="6629400" cy="365760"/>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rPr>
              <a:t>TRADING WRAPPER S017 | CONTINUOUS FOUR SEASONS</a:t>
            </a:r>
          </a:p>
        </p:txBody>
      </p:sp>
      <p:sp>
        <p:nvSpPr>
          <p:cNvPr id="28" name="slide008-element007-table-r00-c00-cell"/>
          <p:cNvSpPr/>
          <p:nvPr/>
        </p:nvSpPr>
        <p:spPr>
          <a:xfrm>
            <a:off x="7360920" y="4096512"/>
            <a:ext cx="4043934"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8-element007-table-r00-c00-text"/>
          <p:cNvSpPr txBox="1"/>
          <p:nvPr/>
        </p:nvSpPr>
        <p:spPr>
          <a:xfrm>
            <a:off x="7452360" y="416966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30" name="slide008-element007-table-r00-c01-cell"/>
          <p:cNvSpPr/>
          <p:nvPr/>
        </p:nvSpPr>
        <p:spPr>
          <a:xfrm>
            <a:off x="11404854" y="4096512"/>
            <a:ext cx="2585466"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8-element007-table-r00-c01-text"/>
          <p:cNvSpPr txBox="1"/>
          <p:nvPr/>
        </p:nvSpPr>
        <p:spPr>
          <a:xfrm>
            <a:off x="11496294" y="416966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Recorded result</a:t>
            </a:r>
          </a:p>
        </p:txBody>
      </p:sp>
      <p:sp>
        <p:nvSpPr>
          <p:cNvPr id="32" name="slide008-element007-table-r01-c00-cell"/>
          <p:cNvSpPr/>
          <p:nvPr/>
        </p:nvSpPr>
        <p:spPr>
          <a:xfrm>
            <a:off x="7360920" y="4511040"/>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8-element007-table-r01-c00-text"/>
          <p:cNvSpPr txBox="1"/>
          <p:nvPr/>
        </p:nvSpPr>
        <p:spPr>
          <a:xfrm>
            <a:off x="7452360" y="4584192"/>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Ending account</a:t>
            </a:r>
          </a:p>
        </p:txBody>
      </p:sp>
      <p:sp>
        <p:nvSpPr>
          <p:cNvPr id="34" name="slide008-element007-table-r01-c01-cell"/>
          <p:cNvSpPr/>
          <p:nvPr/>
        </p:nvSpPr>
        <p:spPr>
          <a:xfrm>
            <a:off x="11404854" y="4511040"/>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8-element007-table-r01-c01-text"/>
          <p:cNvSpPr txBox="1"/>
          <p:nvPr/>
        </p:nvSpPr>
        <p:spPr>
          <a:xfrm>
            <a:off x="11496294" y="4584192"/>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119,790</a:t>
            </a:r>
          </a:p>
        </p:txBody>
      </p:sp>
      <p:sp>
        <p:nvSpPr>
          <p:cNvPr id="36" name="slide008-element007-table-r02-c00-cell"/>
          <p:cNvSpPr/>
          <p:nvPr/>
        </p:nvSpPr>
        <p:spPr>
          <a:xfrm>
            <a:off x="7360920" y="4925568"/>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8-element007-table-r02-c00-text"/>
          <p:cNvSpPr txBox="1"/>
          <p:nvPr/>
        </p:nvSpPr>
        <p:spPr>
          <a:xfrm>
            <a:off x="7452360" y="4998720"/>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Return on starting 100K</a:t>
            </a:r>
          </a:p>
        </p:txBody>
      </p:sp>
      <p:sp>
        <p:nvSpPr>
          <p:cNvPr id="38" name="slide008-element007-table-r02-c01-cell"/>
          <p:cNvSpPr/>
          <p:nvPr/>
        </p:nvSpPr>
        <p:spPr>
          <a:xfrm>
            <a:off x="11404854" y="4925568"/>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8-element007-table-r02-c01-text"/>
          <p:cNvSpPr txBox="1"/>
          <p:nvPr/>
        </p:nvSpPr>
        <p:spPr>
          <a:xfrm>
            <a:off x="11496294" y="4998720"/>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19.79%</a:t>
            </a:r>
          </a:p>
        </p:txBody>
      </p:sp>
      <p:sp>
        <p:nvSpPr>
          <p:cNvPr id="40" name="slide008-element007-table-r03-c00-cell"/>
          <p:cNvSpPr/>
          <p:nvPr/>
        </p:nvSpPr>
        <p:spPr>
          <a:xfrm>
            <a:off x="7360920" y="5340096"/>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8-element007-table-r03-c00-text"/>
          <p:cNvSpPr txBox="1"/>
          <p:nvPr/>
        </p:nvSpPr>
        <p:spPr>
          <a:xfrm>
            <a:off x="7452360" y="5413248"/>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 trade frequency</a:t>
            </a:r>
          </a:p>
        </p:txBody>
      </p:sp>
      <p:sp>
        <p:nvSpPr>
          <p:cNvPr id="42" name="slide008-element007-table-r03-c01-cell"/>
          <p:cNvSpPr/>
          <p:nvPr/>
        </p:nvSpPr>
        <p:spPr>
          <a:xfrm>
            <a:off x="11404854" y="5340096"/>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8-element007-table-r03-c01-text"/>
          <p:cNvSpPr txBox="1"/>
          <p:nvPr/>
        </p:nvSpPr>
        <p:spPr>
          <a:xfrm>
            <a:off x="11496294" y="5413248"/>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29.57% / 84.42%</a:t>
            </a:r>
          </a:p>
        </p:txBody>
      </p:sp>
      <p:sp>
        <p:nvSpPr>
          <p:cNvPr id="44" name="slide008-element007-table-r04-c00-cell"/>
          <p:cNvSpPr/>
          <p:nvPr/>
        </p:nvSpPr>
        <p:spPr>
          <a:xfrm>
            <a:off x="7360920" y="5754624"/>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8-element007-table-r04-c00-text"/>
          <p:cNvSpPr txBox="1"/>
          <p:nvPr/>
        </p:nvSpPr>
        <p:spPr>
          <a:xfrm>
            <a:off x="7452360" y="5827776"/>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ROI on total stakes</a:t>
            </a:r>
          </a:p>
        </p:txBody>
      </p:sp>
      <p:sp>
        <p:nvSpPr>
          <p:cNvPr id="46" name="slide008-element007-table-r04-c01-cell"/>
          <p:cNvSpPr/>
          <p:nvPr/>
        </p:nvSpPr>
        <p:spPr>
          <a:xfrm>
            <a:off x="11404854" y="5754624"/>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8-element007-table-r04-c01-text"/>
          <p:cNvSpPr txBox="1"/>
          <p:nvPr/>
        </p:nvSpPr>
        <p:spPr>
          <a:xfrm>
            <a:off x="11496294" y="5827776"/>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1.59%</a:t>
            </a:r>
          </a:p>
        </p:txBody>
      </p:sp>
      <p:sp>
        <p:nvSpPr>
          <p:cNvPr id="48" name="slide008-element007-table-r05-c00-cell"/>
          <p:cNvSpPr/>
          <p:nvPr/>
        </p:nvSpPr>
        <p:spPr>
          <a:xfrm>
            <a:off x="7360920" y="6169152"/>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lide008-element007-table-r05-c00-text"/>
          <p:cNvSpPr txBox="1"/>
          <p:nvPr/>
        </p:nvSpPr>
        <p:spPr>
          <a:xfrm>
            <a:off x="7452360" y="624230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Maximum drawdown</a:t>
            </a:r>
          </a:p>
        </p:txBody>
      </p:sp>
      <p:sp>
        <p:nvSpPr>
          <p:cNvPr id="50" name="slide008-element007-table-r05-c01-cell"/>
          <p:cNvSpPr/>
          <p:nvPr/>
        </p:nvSpPr>
        <p:spPr>
          <a:xfrm>
            <a:off x="11404854" y="6169152"/>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lide008-element007-table-r05-c01-text"/>
          <p:cNvSpPr txBox="1"/>
          <p:nvPr/>
        </p:nvSpPr>
        <p:spPr>
          <a:xfrm>
            <a:off x="11496294" y="624230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40.35%</a:t>
            </a:r>
          </a:p>
        </p:txBody>
      </p:sp>
      <p:sp>
        <p:nvSpPr>
          <p:cNvPr id="52" name="slide008-element008-text"/>
          <p:cNvSpPr txBox="1"/>
          <p:nvPr/>
        </p:nvSpPr>
        <p:spPr>
          <a:xfrm>
            <a:off x="594360" y="6720840"/>
            <a:ext cx="13350240" cy="667512"/>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S017 has a positive historical capital return, with a 40.35% drawdown. The probability model still trails the raw market benchmark.</a:t>
            </a:r>
          </a:p>
        </p:txBody>
      </p:sp>
      <p:cxnSp>
        <p:nvCxnSpPr>
          <p:cNvPr id="53" name="slide00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4" name="slide00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5" name="slide00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PROFILE | SAME 1,470 FIXTURES</a:t>
            </a:r>
          </a:p>
        </p:txBody>
      </p:sp>
      <p:sp>
        <p:nvSpPr>
          <p:cNvPr id="3" name="slide00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Player-only model: recent FPL form</a:t>
            </a:r>
          </a:p>
        </p:txBody>
      </p:sp>
      <p:sp>
        <p:nvSpPr>
          <p:cNvPr id="4" name="slide00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96 inputs: 90 player-performance aggregates and six coverage controls. No team-strength, position or odds predictors.</a:t>
            </a:r>
          </a:p>
        </p:txBody>
      </p:sp>
      <p:sp>
        <p:nvSpPr>
          <p:cNvPr id="5" name="slide009-element000-card-background"/>
          <p:cNvSpPr/>
          <p:nvPr/>
        </p:nvSpPr>
        <p:spPr>
          <a:xfrm>
            <a:off x="594360"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9-element000-card-accent"/>
          <p:cNvSpPr/>
          <p:nvPr/>
        </p:nvSpPr>
        <p:spPr>
          <a:xfrm>
            <a:off x="594360"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9-element000-card-label"/>
          <p:cNvSpPr txBox="1"/>
          <p:nvPr/>
        </p:nvSpPr>
        <p:spPr>
          <a:xfrm>
            <a:off x="74980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Classification accuracy</a:t>
            </a:r>
          </a:p>
        </p:txBody>
      </p:sp>
      <p:sp>
        <p:nvSpPr>
          <p:cNvPr id="8" name="slide009-element000-card-value"/>
          <p:cNvSpPr txBox="1"/>
          <p:nvPr/>
        </p:nvSpPr>
        <p:spPr>
          <a:xfrm>
            <a:off x="74980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50.07%</a:t>
            </a:r>
          </a:p>
        </p:txBody>
      </p:sp>
      <p:sp>
        <p:nvSpPr>
          <p:cNvPr id="9" name="slide009-element000-card-detail"/>
          <p:cNvSpPr txBox="1"/>
          <p:nvPr/>
        </p:nvSpPr>
        <p:spPr>
          <a:xfrm>
            <a:off x="749808"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0" name="slide009-element001-card-background"/>
          <p:cNvSpPr/>
          <p:nvPr/>
        </p:nvSpPr>
        <p:spPr>
          <a:xfrm>
            <a:off x="4050791"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9-element001-card-accent"/>
          <p:cNvSpPr/>
          <p:nvPr/>
        </p:nvSpPr>
        <p:spPr>
          <a:xfrm>
            <a:off x="4050791"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9-element001-card-label"/>
          <p:cNvSpPr txBox="1"/>
          <p:nvPr/>
        </p:nvSpPr>
        <p:spPr>
          <a:xfrm>
            <a:off x="4206240"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Log loss | lower is better</a:t>
            </a:r>
          </a:p>
        </p:txBody>
      </p:sp>
      <p:sp>
        <p:nvSpPr>
          <p:cNvPr id="13" name="slide009-element001-card-value"/>
          <p:cNvSpPr txBox="1"/>
          <p:nvPr/>
        </p:nvSpPr>
        <p:spPr>
          <a:xfrm>
            <a:off x="4206240"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1.0218</a:t>
            </a:r>
          </a:p>
        </p:txBody>
      </p:sp>
      <p:sp>
        <p:nvSpPr>
          <p:cNvPr id="14" name="slide009-element001-card-detail"/>
          <p:cNvSpPr txBox="1"/>
          <p:nvPr/>
        </p:nvSpPr>
        <p:spPr>
          <a:xfrm>
            <a:off x="4206240"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15" name="slide009-element002-card-background"/>
          <p:cNvSpPr/>
          <p:nvPr/>
        </p:nvSpPr>
        <p:spPr>
          <a:xfrm>
            <a:off x="7507223"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9-element002-card-accent"/>
          <p:cNvSpPr/>
          <p:nvPr/>
        </p:nvSpPr>
        <p:spPr>
          <a:xfrm>
            <a:off x="7507223"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9-element002-card-label"/>
          <p:cNvSpPr txBox="1"/>
          <p:nvPr/>
        </p:nvSpPr>
        <p:spPr>
          <a:xfrm>
            <a:off x="7662671"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Brier score | lower is better</a:t>
            </a:r>
          </a:p>
        </p:txBody>
      </p:sp>
      <p:sp>
        <p:nvSpPr>
          <p:cNvPr id="18" name="slide009-element002-card-value"/>
          <p:cNvSpPr txBox="1"/>
          <p:nvPr/>
        </p:nvSpPr>
        <p:spPr>
          <a:xfrm>
            <a:off x="7662671"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0.6114</a:t>
            </a:r>
          </a:p>
        </p:txBody>
      </p:sp>
      <p:sp>
        <p:nvSpPr>
          <p:cNvPr id="19" name="slide009-element002-card-detail"/>
          <p:cNvSpPr txBox="1"/>
          <p:nvPr/>
        </p:nvSpPr>
        <p:spPr>
          <a:xfrm>
            <a:off x="7662671"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0" name="slide009-element003-card-background"/>
          <p:cNvSpPr/>
          <p:nvPr/>
        </p:nvSpPr>
        <p:spPr>
          <a:xfrm>
            <a:off x="10963656" y="1874519"/>
            <a:ext cx="315468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9-element003-card-accent"/>
          <p:cNvSpPr/>
          <p:nvPr/>
        </p:nvSpPr>
        <p:spPr>
          <a:xfrm>
            <a:off x="10963656" y="1874519"/>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9-element003-card-label"/>
          <p:cNvSpPr txBox="1"/>
          <p:nvPr/>
        </p:nvSpPr>
        <p:spPr>
          <a:xfrm>
            <a:off x="11119104"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Classwise ECE | 10 bins</a:t>
            </a:r>
          </a:p>
        </p:txBody>
      </p:sp>
      <p:sp>
        <p:nvSpPr>
          <p:cNvPr id="23" name="slide009-element003-card-value"/>
          <p:cNvSpPr txBox="1"/>
          <p:nvPr/>
        </p:nvSpPr>
        <p:spPr>
          <a:xfrm>
            <a:off x="11119104"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3.45%</a:t>
            </a:r>
          </a:p>
        </p:txBody>
      </p:sp>
      <p:sp>
        <p:nvSpPr>
          <p:cNvPr id="24" name="slide009-element003-card-detail"/>
          <p:cNvSpPr txBox="1"/>
          <p:nvPr/>
        </p:nvSpPr>
        <p:spPr>
          <a:xfrm>
            <a:off x="11119104" y="2770632"/>
            <a:ext cx="284378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1,470 common fixtures</a:t>
            </a:r>
          </a:p>
        </p:txBody>
      </p:sp>
      <p:sp>
        <p:nvSpPr>
          <p:cNvPr id="25" name="slide009-element004-text"/>
          <p:cNvSpPr txBox="1"/>
          <p:nvPr/>
        </p:nvSpPr>
        <p:spPr>
          <a:xfrm>
            <a:off x="594360" y="3584448"/>
            <a:ext cx="640080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THE MODEL DOES</a:t>
            </a:r>
          </a:p>
        </p:txBody>
      </p:sp>
      <p:sp>
        <p:nvSpPr>
          <p:cNvPr id="26" name="slide009-element005-text"/>
          <p:cNvSpPr txBox="1"/>
          <p:nvPr/>
        </p:nvSpPr>
        <p:spPr>
          <a:xfrm>
            <a:off x="594360" y="4050791"/>
            <a:ext cx="6400800" cy="20574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Aggregate 12 FPL measures plus player/minute counts over the previous 5 and 10 fixture slots.</a:t>
            </a:r>
          </a:p>
          <a:p>
            <a:pPr algn="l">
              <a:lnSpc>
                <a:spcPct val="100000"/>
              </a:lnSpc>
              <a:spcBef>
                <a:spcPts val="0"/>
              </a:spcBef>
              <a:spcAft>
                <a:spcPts val="0"/>
              </a:spcAft>
            </a:pPr>
            <a:r>
              <a:rPr sz="2000" b="0">
                <a:solidFill>
                  <a:srgbClr val="11243A"/>
                </a:solidFill>
                <a:latin typeface="Arial"/>
              </a:rPr>
              <a:t>Represent home, away and their differences.</a:t>
            </a:r>
          </a:p>
          <a:p>
            <a:pPr algn="l">
              <a:lnSpc>
                <a:spcPct val="100000"/>
              </a:lnSpc>
              <a:spcBef>
                <a:spcPts val="0"/>
              </a:spcBef>
              <a:spcAft>
                <a:spcPts val="0"/>
              </a:spcAft>
            </a:pPr>
            <a:r>
              <a:rPr sz="2000" b="0">
                <a:solidFill>
                  <a:srgbClr val="11243A"/>
                </a:solidFill>
                <a:latin typeface="Arial"/>
              </a:rPr>
              <a:t>Missing history remains visible; target appearances are excluded.</a:t>
            </a:r>
          </a:p>
        </p:txBody>
      </p:sp>
      <p:sp>
        <p:nvSpPr>
          <p:cNvPr id="27" name="slide009-element006-text"/>
          <p:cNvSpPr txBox="1"/>
          <p:nvPr/>
        </p:nvSpPr>
        <p:spPr>
          <a:xfrm>
            <a:off x="7360920" y="3584448"/>
            <a:ext cx="6629400" cy="365760"/>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rPr>
              <a:t>TRADING WRAPPER P009 | CONTINUOUS FOUR SEASONS</a:t>
            </a:r>
          </a:p>
        </p:txBody>
      </p:sp>
      <p:sp>
        <p:nvSpPr>
          <p:cNvPr id="28" name="slide009-element007-table-r00-c00-cell"/>
          <p:cNvSpPr/>
          <p:nvPr/>
        </p:nvSpPr>
        <p:spPr>
          <a:xfrm>
            <a:off x="7360920" y="4096512"/>
            <a:ext cx="4043934"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9-element007-table-r00-c00-text"/>
          <p:cNvSpPr txBox="1"/>
          <p:nvPr/>
        </p:nvSpPr>
        <p:spPr>
          <a:xfrm>
            <a:off x="7452360" y="416966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30" name="slide009-element007-table-r00-c01-cell"/>
          <p:cNvSpPr/>
          <p:nvPr/>
        </p:nvSpPr>
        <p:spPr>
          <a:xfrm>
            <a:off x="11404854" y="4096512"/>
            <a:ext cx="2585466" cy="41452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9-element007-table-r00-c01-text"/>
          <p:cNvSpPr txBox="1"/>
          <p:nvPr/>
        </p:nvSpPr>
        <p:spPr>
          <a:xfrm>
            <a:off x="11496294" y="416966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Recorded result</a:t>
            </a:r>
          </a:p>
        </p:txBody>
      </p:sp>
      <p:sp>
        <p:nvSpPr>
          <p:cNvPr id="32" name="slide009-element007-table-r01-c00-cell"/>
          <p:cNvSpPr/>
          <p:nvPr/>
        </p:nvSpPr>
        <p:spPr>
          <a:xfrm>
            <a:off x="7360920" y="4511040"/>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9-element007-table-r01-c00-text"/>
          <p:cNvSpPr txBox="1"/>
          <p:nvPr/>
        </p:nvSpPr>
        <p:spPr>
          <a:xfrm>
            <a:off x="7452360" y="4584192"/>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Ending account</a:t>
            </a:r>
          </a:p>
        </p:txBody>
      </p:sp>
      <p:sp>
        <p:nvSpPr>
          <p:cNvPr id="34" name="slide009-element007-table-r01-c01-cell"/>
          <p:cNvSpPr/>
          <p:nvPr/>
        </p:nvSpPr>
        <p:spPr>
          <a:xfrm>
            <a:off x="11404854" y="4511040"/>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9-element007-table-r01-c01-text"/>
          <p:cNvSpPr txBox="1"/>
          <p:nvPr/>
        </p:nvSpPr>
        <p:spPr>
          <a:xfrm>
            <a:off x="11496294" y="4584192"/>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0</a:t>
            </a:r>
          </a:p>
        </p:txBody>
      </p:sp>
      <p:sp>
        <p:nvSpPr>
          <p:cNvPr id="36" name="slide009-element007-table-r02-c00-cell"/>
          <p:cNvSpPr/>
          <p:nvPr/>
        </p:nvSpPr>
        <p:spPr>
          <a:xfrm>
            <a:off x="7360920" y="4925568"/>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9-element007-table-r02-c00-text"/>
          <p:cNvSpPr txBox="1"/>
          <p:nvPr/>
        </p:nvSpPr>
        <p:spPr>
          <a:xfrm>
            <a:off x="7452360" y="4998720"/>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Return on starting 100K</a:t>
            </a:r>
          </a:p>
        </p:txBody>
      </p:sp>
      <p:sp>
        <p:nvSpPr>
          <p:cNvPr id="38" name="slide009-element007-table-r02-c01-cell"/>
          <p:cNvSpPr/>
          <p:nvPr/>
        </p:nvSpPr>
        <p:spPr>
          <a:xfrm>
            <a:off x="11404854" y="4925568"/>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9-element007-table-r02-c01-text"/>
          <p:cNvSpPr txBox="1"/>
          <p:nvPr/>
        </p:nvSpPr>
        <p:spPr>
          <a:xfrm>
            <a:off x="11496294" y="4998720"/>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40" name="slide009-element007-table-r03-c00-cell"/>
          <p:cNvSpPr/>
          <p:nvPr/>
        </p:nvSpPr>
        <p:spPr>
          <a:xfrm>
            <a:off x="7360920" y="5340096"/>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9-element007-table-r03-c00-text"/>
          <p:cNvSpPr txBox="1"/>
          <p:nvPr/>
        </p:nvSpPr>
        <p:spPr>
          <a:xfrm>
            <a:off x="7452360" y="5413248"/>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 trade frequency</a:t>
            </a:r>
          </a:p>
        </p:txBody>
      </p:sp>
      <p:sp>
        <p:nvSpPr>
          <p:cNvPr id="42" name="slide009-element007-table-r03-c01-cell"/>
          <p:cNvSpPr/>
          <p:nvPr/>
        </p:nvSpPr>
        <p:spPr>
          <a:xfrm>
            <a:off x="11404854" y="5340096"/>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9-element007-table-r03-c01-text"/>
          <p:cNvSpPr txBox="1"/>
          <p:nvPr/>
        </p:nvSpPr>
        <p:spPr>
          <a:xfrm>
            <a:off x="11496294" y="5413248"/>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25.00% / 64.22%</a:t>
            </a:r>
          </a:p>
        </p:txBody>
      </p:sp>
      <p:sp>
        <p:nvSpPr>
          <p:cNvPr id="44" name="slide009-element007-table-r04-c00-cell"/>
          <p:cNvSpPr/>
          <p:nvPr/>
        </p:nvSpPr>
        <p:spPr>
          <a:xfrm>
            <a:off x="7360920" y="5754624"/>
            <a:ext cx="4043934"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9-element007-table-r04-c00-text"/>
          <p:cNvSpPr txBox="1"/>
          <p:nvPr/>
        </p:nvSpPr>
        <p:spPr>
          <a:xfrm>
            <a:off x="7452360" y="5827776"/>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ROI on total stakes</a:t>
            </a:r>
          </a:p>
        </p:txBody>
      </p:sp>
      <p:sp>
        <p:nvSpPr>
          <p:cNvPr id="46" name="slide009-element007-table-r04-c01-cell"/>
          <p:cNvSpPr/>
          <p:nvPr/>
        </p:nvSpPr>
        <p:spPr>
          <a:xfrm>
            <a:off x="11404854" y="5754624"/>
            <a:ext cx="2585466" cy="41452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9-element007-table-r04-c01-text"/>
          <p:cNvSpPr txBox="1"/>
          <p:nvPr/>
        </p:nvSpPr>
        <p:spPr>
          <a:xfrm>
            <a:off x="11496294" y="5827776"/>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-10.87%</a:t>
            </a:r>
          </a:p>
        </p:txBody>
      </p:sp>
      <p:sp>
        <p:nvSpPr>
          <p:cNvPr id="48" name="slide009-element007-table-r05-c00-cell"/>
          <p:cNvSpPr/>
          <p:nvPr/>
        </p:nvSpPr>
        <p:spPr>
          <a:xfrm>
            <a:off x="7360920" y="6169152"/>
            <a:ext cx="4043934"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lide009-element007-table-r05-c00-text"/>
          <p:cNvSpPr txBox="1"/>
          <p:nvPr/>
        </p:nvSpPr>
        <p:spPr>
          <a:xfrm>
            <a:off x="7452360" y="6242304"/>
            <a:ext cx="3861054"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Maximum drawdown</a:t>
            </a:r>
          </a:p>
        </p:txBody>
      </p:sp>
      <p:sp>
        <p:nvSpPr>
          <p:cNvPr id="50" name="slide009-element007-table-r05-c01-cell"/>
          <p:cNvSpPr/>
          <p:nvPr/>
        </p:nvSpPr>
        <p:spPr>
          <a:xfrm>
            <a:off x="11404854" y="6169152"/>
            <a:ext cx="2585466" cy="41452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lide009-element007-table-r05-c01-text"/>
          <p:cNvSpPr txBox="1"/>
          <p:nvPr/>
        </p:nvSpPr>
        <p:spPr>
          <a:xfrm>
            <a:off x="11496294" y="6242304"/>
            <a:ext cx="2402586" cy="268224"/>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52" name="slide009-element008-text"/>
          <p:cNvSpPr txBox="1"/>
          <p:nvPr/>
        </p:nvSpPr>
        <p:spPr>
          <a:xfrm>
            <a:off x="594360" y="6720840"/>
            <a:ext cx="13350240" cy="667512"/>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The matched team-control log loss is 0.9925 versus 1.0218 here. P009 exhausts its four-season cash; that path includes no borrowing.</a:t>
            </a:r>
          </a:p>
        </p:txBody>
      </p:sp>
      <p:cxnSp>
        <p:nvCxnSpPr>
          <p:cNvPr id="53" name="slide00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4" name="slide00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model_metrics_pooled.csv; metrics_continuous.parquet | Full paths in notes</a:t>
            </a:r>
          </a:p>
        </p:txBody>
      </p:sp>
      <p:sp>
        <p:nvSpPr>
          <p:cNvPr id="55" name="slide00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Richer player features did not improve these models</a:t>
            </a:r>
          </a:p>
        </p:txBody>
      </p:sp>
      <p:sp>
        <p:nvSpPr>
          <p:cNvPr id="4" name="slide01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Four fixed feature groups, each crossed with logistic regression and histogram gradient boosting.</a:t>
            </a:r>
          </a:p>
        </p:txBody>
      </p:sp>
      <p:sp>
        <p:nvSpPr>
          <p:cNvPr id="5" name="slide010-element000-table-r00-c00-cell"/>
          <p:cNvSpPr/>
          <p:nvPr/>
        </p:nvSpPr>
        <p:spPr>
          <a:xfrm>
            <a:off x="594360" y="1965960"/>
            <a:ext cx="5768126" cy="621792"/>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0-element000-table-r00-c00-text"/>
          <p:cNvSpPr txBox="1"/>
          <p:nvPr/>
        </p:nvSpPr>
        <p:spPr>
          <a:xfrm>
            <a:off x="685800" y="2039112"/>
            <a:ext cx="5585246" cy="4754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Feature group</a:t>
            </a:r>
          </a:p>
        </p:txBody>
      </p:sp>
      <p:sp>
        <p:nvSpPr>
          <p:cNvPr id="7" name="slide010-element000-table-r00-c01-cell"/>
          <p:cNvSpPr/>
          <p:nvPr/>
        </p:nvSpPr>
        <p:spPr>
          <a:xfrm>
            <a:off x="6362486" y="1965960"/>
            <a:ext cx="1743852" cy="621792"/>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0-element000-table-r00-c01-text"/>
          <p:cNvSpPr txBox="1"/>
          <p:nvPr/>
        </p:nvSpPr>
        <p:spPr>
          <a:xfrm>
            <a:off x="6453926" y="2039112"/>
            <a:ext cx="1560972" cy="4754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Inputs</a:t>
            </a:r>
          </a:p>
        </p:txBody>
      </p:sp>
      <p:sp>
        <p:nvSpPr>
          <p:cNvPr id="9" name="slide010-element000-table-r00-c02-cell"/>
          <p:cNvSpPr/>
          <p:nvPr/>
        </p:nvSpPr>
        <p:spPr>
          <a:xfrm>
            <a:off x="8106338" y="1965960"/>
            <a:ext cx="2951134" cy="621792"/>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0-element000-table-r00-c02-text"/>
          <p:cNvSpPr txBox="1"/>
          <p:nvPr/>
        </p:nvSpPr>
        <p:spPr>
          <a:xfrm>
            <a:off x="8197778" y="2039112"/>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Logistic log loss</a:t>
            </a:r>
          </a:p>
        </p:txBody>
      </p:sp>
      <p:sp>
        <p:nvSpPr>
          <p:cNvPr id="11" name="slide010-element000-table-r00-c03-cell"/>
          <p:cNvSpPr/>
          <p:nvPr/>
        </p:nvSpPr>
        <p:spPr>
          <a:xfrm>
            <a:off x="11057473" y="1965960"/>
            <a:ext cx="2951134" cy="621792"/>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0-element000-table-r00-c03-text"/>
          <p:cNvSpPr txBox="1"/>
          <p:nvPr/>
        </p:nvSpPr>
        <p:spPr>
          <a:xfrm>
            <a:off x="11148913" y="2039112"/>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Boosting log loss</a:t>
            </a:r>
          </a:p>
        </p:txBody>
      </p:sp>
      <p:sp>
        <p:nvSpPr>
          <p:cNvPr id="13" name="slide010-element000-table-r01-c00-cell"/>
          <p:cNvSpPr/>
          <p:nvPr/>
        </p:nvSpPr>
        <p:spPr>
          <a:xfrm>
            <a:off x="594360" y="2587752"/>
            <a:ext cx="5768126"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0-element000-table-r01-c00-text"/>
          <p:cNvSpPr txBox="1"/>
          <p:nvPr/>
        </p:nvSpPr>
        <p:spPr>
          <a:xfrm>
            <a:off x="685800" y="2660904"/>
            <a:ext cx="5585246"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Matched team control</a:t>
            </a:r>
          </a:p>
        </p:txBody>
      </p:sp>
      <p:sp>
        <p:nvSpPr>
          <p:cNvPr id="15" name="slide010-element000-table-r01-c01-cell"/>
          <p:cNvSpPr/>
          <p:nvPr/>
        </p:nvSpPr>
        <p:spPr>
          <a:xfrm>
            <a:off x="6362486" y="2587752"/>
            <a:ext cx="1743852"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0-element000-table-r01-c01-text"/>
          <p:cNvSpPr txBox="1"/>
          <p:nvPr/>
        </p:nvSpPr>
        <p:spPr>
          <a:xfrm>
            <a:off x="6453926" y="2660904"/>
            <a:ext cx="1560972"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19</a:t>
            </a:r>
          </a:p>
        </p:txBody>
      </p:sp>
      <p:sp>
        <p:nvSpPr>
          <p:cNvPr id="17" name="slide010-element000-table-r01-c02-cell"/>
          <p:cNvSpPr/>
          <p:nvPr/>
        </p:nvSpPr>
        <p:spPr>
          <a:xfrm>
            <a:off x="8106338" y="2587752"/>
            <a:ext cx="2951134"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0-element000-table-r01-c02-text"/>
          <p:cNvSpPr txBox="1"/>
          <p:nvPr/>
        </p:nvSpPr>
        <p:spPr>
          <a:xfrm>
            <a:off x="8197778" y="2660904"/>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0.9925</a:t>
            </a:r>
          </a:p>
        </p:txBody>
      </p:sp>
      <p:sp>
        <p:nvSpPr>
          <p:cNvPr id="19" name="slide010-element000-table-r01-c03-cell"/>
          <p:cNvSpPr/>
          <p:nvPr/>
        </p:nvSpPr>
        <p:spPr>
          <a:xfrm>
            <a:off x="11057473" y="2587752"/>
            <a:ext cx="2951134"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0-element000-table-r01-c03-text"/>
          <p:cNvSpPr txBox="1"/>
          <p:nvPr/>
        </p:nvSpPr>
        <p:spPr>
          <a:xfrm>
            <a:off x="11148913" y="2660904"/>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0.9987</a:t>
            </a:r>
          </a:p>
        </p:txBody>
      </p:sp>
      <p:sp>
        <p:nvSpPr>
          <p:cNvPr id="21" name="slide010-element000-table-r02-c00-cell"/>
          <p:cNvSpPr/>
          <p:nvPr/>
        </p:nvSpPr>
        <p:spPr>
          <a:xfrm>
            <a:off x="594360" y="3209544"/>
            <a:ext cx="5768126"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0-element000-table-r02-c00-text"/>
          <p:cNvSpPr txBox="1"/>
          <p:nvPr/>
        </p:nvSpPr>
        <p:spPr>
          <a:xfrm>
            <a:off x="685800" y="3282696"/>
            <a:ext cx="5585246"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Player form</a:t>
            </a:r>
          </a:p>
        </p:txBody>
      </p:sp>
      <p:sp>
        <p:nvSpPr>
          <p:cNvPr id="23" name="slide010-element000-table-r02-c01-cell"/>
          <p:cNvSpPr/>
          <p:nvPr/>
        </p:nvSpPr>
        <p:spPr>
          <a:xfrm>
            <a:off x="6362486" y="3209544"/>
            <a:ext cx="1743852"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0-element000-table-r02-c01-text"/>
          <p:cNvSpPr txBox="1"/>
          <p:nvPr/>
        </p:nvSpPr>
        <p:spPr>
          <a:xfrm>
            <a:off x="6453926" y="3282696"/>
            <a:ext cx="1560972"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96</a:t>
            </a:r>
          </a:p>
        </p:txBody>
      </p:sp>
      <p:sp>
        <p:nvSpPr>
          <p:cNvPr id="25" name="slide010-element000-table-r02-c02-cell"/>
          <p:cNvSpPr/>
          <p:nvPr/>
        </p:nvSpPr>
        <p:spPr>
          <a:xfrm>
            <a:off x="8106338" y="3209544"/>
            <a:ext cx="2951134"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0-element000-table-r02-c02-text"/>
          <p:cNvSpPr txBox="1"/>
          <p:nvPr/>
        </p:nvSpPr>
        <p:spPr>
          <a:xfrm>
            <a:off x="8197778" y="3282696"/>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1.0218</a:t>
            </a:r>
          </a:p>
        </p:txBody>
      </p:sp>
      <p:sp>
        <p:nvSpPr>
          <p:cNvPr id="27" name="slide010-element000-table-r02-c03-cell"/>
          <p:cNvSpPr/>
          <p:nvPr/>
        </p:nvSpPr>
        <p:spPr>
          <a:xfrm>
            <a:off x="11057473" y="3209544"/>
            <a:ext cx="2951134"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0-element000-table-r02-c03-text"/>
          <p:cNvSpPr txBox="1"/>
          <p:nvPr/>
        </p:nvSpPr>
        <p:spPr>
          <a:xfrm>
            <a:off x="11148913" y="3282696"/>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1.0287</a:t>
            </a:r>
          </a:p>
        </p:txBody>
      </p:sp>
      <p:sp>
        <p:nvSpPr>
          <p:cNvPr id="29" name="slide010-element000-table-r03-c00-cell"/>
          <p:cNvSpPr/>
          <p:nvPr/>
        </p:nvSpPr>
        <p:spPr>
          <a:xfrm>
            <a:off x="594360" y="3831335"/>
            <a:ext cx="5768126"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0-element000-table-r03-c00-text"/>
          <p:cNvSpPr txBox="1"/>
          <p:nvPr/>
        </p:nvSpPr>
        <p:spPr>
          <a:xfrm>
            <a:off x="685800" y="3904487"/>
            <a:ext cx="5585246"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Player form + XI + depth</a:t>
            </a:r>
          </a:p>
        </p:txBody>
      </p:sp>
      <p:sp>
        <p:nvSpPr>
          <p:cNvPr id="31" name="slide010-element000-table-r03-c01-cell"/>
          <p:cNvSpPr/>
          <p:nvPr/>
        </p:nvSpPr>
        <p:spPr>
          <a:xfrm>
            <a:off x="6362486" y="3831335"/>
            <a:ext cx="1743852"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0-element000-table-r03-c01-text"/>
          <p:cNvSpPr txBox="1"/>
          <p:nvPr/>
        </p:nvSpPr>
        <p:spPr>
          <a:xfrm>
            <a:off x="6453926" y="3904487"/>
            <a:ext cx="1560972"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222</a:t>
            </a:r>
          </a:p>
        </p:txBody>
      </p:sp>
      <p:sp>
        <p:nvSpPr>
          <p:cNvPr id="33" name="slide010-element000-table-r03-c02-cell"/>
          <p:cNvSpPr/>
          <p:nvPr/>
        </p:nvSpPr>
        <p:spPr>
          <a:xfrm>
            <a:off x="8106338" y="3831335"/>
            <a:ext cx="2951134"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0-element000-table-r03-c02-text"/>
          <p:cNvSpPr txBox="1"/>
          <p:nvPr/>
        </p:nvSpPr>
        <p:spPr>
          <a:xfrm>
            <a:off x="8197778" y="3904487"/>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1.0254</a:t>
            </a:r>
          </a:p>
        </p:txBody>
      </p:sp>
      <p:sp>
        <p:nvSpPr>
          <p:cNvPr id="35" name="slide010-element000-table-r03-c03-cell"/>
          <p:cNvSpPr/>
          <p:nvPr/>
        </p:nvSpPr>
        <p:spPr>
          <a:xfrm>
            <a:off x="11057473" y="3831335"/>
            <a:ext cx="2951134" cy="621792"/>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0-element000-table-r03-c03-text"/>
          <p:cNvSpPr txBox="1"/>
          <p:nvPr/>
        </p:nvSpPr>
        <p:spPr>
          <a:xfrm>
            <a:off x="11148913" y="3904487"/>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1.0234</a:t>
            </a:r>
          </a:p>
        </p:txBody>
      </p:sp>
      <p:sp>
        <p:nvSpPr>
          <p:cNvPr id="37" name="slide010-element000-table-r04-c00-cell"/>
          <p:cNvSpPr/>
          <p:nvPr/>
        </p:nvSpPr>
        <p:spPr>
          <a:xfrm>
            <a:off x="594360" y="4453127"/>
            <a:ext cx="5768126"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0-element000-table-r04-c00-text"/>
          <p:cNvSpPr txBox="1"/>
          <p:nvPr/>
        </p:nvSpPr>
        <p:spPr>
          <a:xfrm>
            <a:off x="685800" y="4526279"/>
            <a:ext cx="5585246"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Team + full player block</a:t>
            </a:r>
          </a:p>
        </p:txBody>
      </p:sp>
      <p:sp>
        <p:nvSpPr>
          <p:cNvPr id="39" name="slide010-element000-table-r04-c01-cell"/>
          <p:cNvSpPr/>
          <p:nvPr/>
        </p:nvSpPr>
        <p:spPr>
          <a:xfrm>
            <a:off x="6362486" y="4453127"/>
            <a:ext cx="1743852"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0-element000-table-r04-c01-text"/>
          <p:cNvSpPr txBox="1"/>
          <p:nvPr/>
        </p:nvSpPr>
        <p:spPr>
          <a:xfrm>
            <a:off x="6453926" y="4526279"/>
            <a:ext cx="1560972"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235</a:t>
            </a:r>
          </a:p>
        </p:txBody>
      </p:sp>
      <p:sp>
        <p:nvSpPr>
          <p:cNvPr id="41" name="slide010-element000-table-r04-c02-cell"/>
          <p:cNvSpPr/>
          <p:nvPr/>
        </p:nvSpPr>
        <p:spPr>
          <a:xfrm>
            <a:off x="8106338" y="4453127"/>
            <a:ext cx="2951134"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0-element000-table-r04-c02-text"/>
          <p:cNvSpPr txBox="1"/>
          <p:nvPr/>
        </p:nvSpPr>
        <p:spPr>
          <a:xfrm>
            <a:off x="8197778" y="4526279"/>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1.0161</a:t>
            </a:r>
          </a:p>
        </p:txBody>
      </p:sp>
      <p:sp>
        <p:nvSpPr>
          <p:cNvPr id="43" name="slide010-element000-table-r04-c03-cell"/>
          <p:cNvSpPr/>
          <p:nvPr/>
        </p:nvSpPr>
        <p:spPr>
          <a:xfrm>
            <a:off x="11057473" y="4453127"/>
            <a:ext cx="2951134" cy="621792"/>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0-element000-table-r04-c03-text"/>
          <p:cNvSpPr txBox="1"/>
          <p:nvPr/>
        </p:nvSpPr>
        <p:spPr>
          <a:xfrm>
            <a:off x="11148913" y="4526279"/>
            <a:ext cx="2768254" cy="475487"/>
          </a:xfrm>
          <a:prstGeom prst="rect">
            <a:avLst/>
          </a:prstGeom>
          <a:noFill/>
        </p:spPr>
        <p:txBody>
          <a:bodyPr wrap="square" lIns="0" rIns="0" tIns="0" bIns="0" anchor="ctr">
            <a:noAutofit/>
          </a:bodyPr>
          <a:lstStyle/>
          <a:p>
            <a:pPr algn="l">
              <a:lnSpc>
                <a:spcPct val="100000"/>
              </a:lnSpc>
              <a:spcBef>
                <a:spcPts val="0"/>
              </a:spcBef>
              <a:spcAft>
                <a:spcPts val="0"/>
              </a:spcAft>
            </a:pPr>
            <a:r>
              <a:rPr sz="2100" b="0">
                <a:solidFill>
                  <a:srgbClr val="11243A"/>
                </a:solidFill>
                <a:latin typeface="Arial"/>
              </a:rPr>
              <a:t>1.0158</a:t>
            </a:r>
          </a:p>
        </p:txBody>
      </p:sp>
      <p:sp>
        <p:nvSpPr>
          <p:cNvPr id="45" name="slide010-element001-card-background"/>
          <p:cNvSpPr/>
          <p:nvPr/>
        </p:nvSpPr>
        <p:spPr>
          <a:xfrm>
            <a:off x="594360" y="5468112"/>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0-element001-card-accent"/>
          <p:cNvSpPr/>
          <p:nvPr/>
        </p:nvSpPr>
        <p:spPr>
          <a:xfrm>
            <a:off x="594360" y="5468112"/>
            <a:ext cx="50292" cy="1417320"/>
          </a:xfrm>
          <a:prstGeom prst="rect">
            <a:avLst/>
          </a:prstGeom>
          <a:solidFill>
            <a:srgbClr val="B4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0-element001-card-label"/>
          <p:cNvSpPr txBox="1"/>
          <p:nvPr/>
        </p:nvSpPr>
        <p:spPr>
          <a:xfrm>
            <a:off x="749808" y="5577840"/>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POOLED COMPARISON</a:t>
            </a:r>
          </a:p>
        </p:txBody>
      </p:sp>
      <p:sp>
        <p:nvSpPr>
          <p:cNvPr id="48" name="slide010-element001-card-value"/>
          <p:cNvSpPr txBox="1"/>
          <p:nvPr/>
        </p:nvSpPr>
        <p:spPr>
          <a:xfrm>
            <a:off x="749808" y="5833872"/>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B44949"/>
                </a:solidFill>
                <a:latin typeface="Arial"/>
              </a:rPr>
              <a:t>0 / 6 improve</a:t>
            </a:r>
          </a:p>
        </p:txBody>
      </p:sp>
      <p:sp>
        <p:nvSpPr>
          <p:cNvPr id="49" name="slide010-element001-card-detail"/>
          <p:cNvSpPr txBox="1"/>
          <p:nvPr/>
        </p:nvSpPr>
        <p:spPr>
          <a:xfrm>
            <a:off x="749808" y="6364224"/>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Player-based variants vs matched controls</a:t>
            </a:r>
          </a:p>
        </p:txBody>
      </p:sp>
      <p:sp>
        <p:nvSpPr>
          <p:cNvPr id="50" name="slide010-element002-card-background"/>
          <p:cNvSpPr/>
          <p:nvPr/>
        </p:nvSpPr>
        <p:spPr>
          <a:xfrm>
            <a:off x="5175504" y="5468112"/>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lide010-element002-card-accent"/>
          <p:cNvSpPr/>
          <p:nvPr/>
        </p:nvSpPr>
        <p:spPr>
          <a:xfrm>
            <a:off x="5175504" y="5468112"/>
            <a:ext cx="50292" cy="1417320"/>
          </a:xfrm>
          <a:prstGeom prst="rect">
            <a:avLst/>
          </a:prstGeom>
          <a:solidFill>
            <a:srgbClr val="B4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0-element002-card-label"/>
          <p:cNvSpPr txBox="1"/>
          <p:nvPr/>
        </p:nvSpPr>
        <p:spPr>
          <a:xfrm>
            <a:off x="5330952" y="5577840"/>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NEW STRATEGY STUDY</a:t>
            </a:r>
          </a:p>
        </p:txBody>
      </p:sp>
      <p:sp>
        <p:nvSpPr>
          <p:cNvPr id="53" name="slide010-element002-card-value"/>
          <p:cNvSpPr txBox="1"/>
          <p:nvPr/>
        </p:nvSpPr>
        <p:spPr>
          <a:xfrm>
            <a:off x="5330952" y="5833872"/>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B44949"/>
                </a:solidFill>
                <a:latin typeface="Arial"/>
              </a:rPr>
              <a:t>0 / 32 profitable</a:t>
            </a:r>
          </a:p>
        </p:txBody>
      </p:sp>
      <p:sp>
        <p:nvSpPr>
          <p:cNvPr id="54" name="slide010-element002-card-detail"/>
          <p:cNvSpPr txBox="1"/>
          <p:nvPr/>
        </p:nvSpPr>
        <p:spPr>
          <a:xfrm>
            <a:off x="5330952" y="6364224"/>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Continuous four-season accounts</a:t>
            </a:r>
          </a:p>
        </p:txBody>
      </p:sp>
      <p:sp>
        <p:nvSpPr>
          <p:cNvPr id="55" name="slide010-element003-card-background"/>
          <p:cNvSpPr/>
          <p:nvPr/>
        </p:nvSpPr>
        <p:spPr>
          <a:xfrm>
            <a:off x="9756648" y="5468112"/>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0-element003-card-accent"/>
          <p:cNvSpPr/>
          <p:nvPr/>
        </p:nvSpPr>
        <p:spPr>
          <a:xfrm>
            <a:off x="9756648" y="5468112"/>
            <a:ext cx="50292" cy="1417320"/>
          </a:xfrm>
          <a:prstGeom prst="rect">
            <a:avLst/>
          </a:prstGeom>
          <a:solidFill>
            <a:srgbClr val="B4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lide010-element003-card-label"/>
          <p:cNvSpPr txBox="1"/>
          <p:nvPr/>
        </p:nvSpPr>
        <p:spPr>
          <a:xfrm>
            <a:off x="9912096" y="5577840"/>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CASH EXHAUSTION</a:t>
            </a:r>
          </a:p>
        </p:txBody>
      </p:sp>
      <p:sp>
        <p:nvSpPr>
          <p:cNvPr id="58" name="slide010-element003-card-value"/>
          <p:cNvSpPr txBox="1"/>
          <p:nvPr/>
        </p:nvSpPr>
        <p:spPr>
          <a:xfrm>
            <a:off x="9912096" y="5833872"/>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B44949"/>
                </a:solidFill>
                <a:latin typeface="Arial"/>
              </a:rPr>
              <a:t>11 / 32</a:t>
            </a:r>
          </a:p>
        </p:txBody>
      </p:sp>
      <p:sp>
        <p:nvSpPr>
          <p:cNvPr id="59" name="slide010-element003-card-detail"/>
          <p:cNvSpPr txBox="1"/>
          <p:nvPr/>
        </p:nvSpPr>
        <p:spPr>
          <a:xfrm>
            <a:off x="9912096" y="6364224"/>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New accounts reach zero</a:t>
            </a:r>
          </a:p>
        </p:txBody>
      </p:sp>
      <p:sp>
        <p:nvSpPr>
          <p:cNvPr id="60" name="slide010-element004-text"/>
          <p:cNvSpPr txBox="1"/>
          <p:nvPr/>
        </p:nvSpPr>
        <p:spPr>
          <a:xfrm>
            <a:off x="594360" y="7004304"/>
            <a:ext cx="13350240" cy="512064"/>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Projected XI is a past-minute proxy, not a confirmed lineup or availability feed.</a:t>
            </a:r>
          </a:p>
          <a:p>
            <a:pPr algn="l">
              <a:lnSpc>
                <a:spcPct val="100000"/>
              </a:lnSpc>
              <a:spcBef>
                <a:spcPts val="0"/>
              </a:spcBef>
              <a:spcAft>
                <a:spcPts val="0"/>
              </a:spcAft>
            </a:pPr>
            <a:r>
              <a:rPr sz="1500" b="0">
                <a:solidFill>
                  <a:srgbClr val="536578"/>
                </a:solidFill>
                <a:latin typeface="Arial"/>
              </a:rPr>
              <a:t>Some archived position proxies have unverified publication times.</a:t>
            </a:r>
          </a:p>
        </p:txBody>
      </p:sp>
      <p:cxnSp>
        <p:nvCxnSpPr>
          <p:cNvPr id="61" name="slide01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62" name="slide01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model_metrics_pooled.parquet; metrics_continuous.parquet; PROTOCOL.md | Full paths in notes</a:t>
            </a:r>
          </a:p>
        </p:txBody>
      </p:sp>
      <p:sp>
        <p:nvSpPr>
          <p:cNvPr id="63" name="slide01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Money progression: all 116 strategy accounts</a:t>
            </a:r>
          </a:p>
        </p:txBody>
      </p:sp>
      <p:sp>
        <p:nvSpPr>
          <p:cNvPr id="4" name="slide01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2025/26 | Same 374 quoted fixtures | Every account begins at 100,000</a:t>
            </a:r>
          </a:p>
        </p:txBody>
      </p:sp>
      <p:sp>
        <p:nvSpPr>
          <p:cNvPr id="5" name="slide011-element000-text"/>
          <p:cNvSpPr txBox="1"/>
          <p:nvPr/>
        </p:nvSpPr>
        <p:spPr>
          <a:xfrm>
            <a:off x="594360" y="1828800"/>
            <a:ext cx="13350240" cy="41148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11243A"/>
                </a:solidFill>
                <a:latin typeface="Arial"/>
              </a:rPr>
              <a:t>33 profitable   /   75 losing   /   8 flat/cash   /   0 reach zero</a:t>
            </a:r>
          </a:p>
        </p:txBody>
      </p:sp>
      <p:pic>
        <p:nvPicPr>
          <p:cNvPr id="6" name="slide011-element001-image-image" descr="all_accounts_2025.png"/>
          <p:cNvPicPr>
            <a:picLocks noChangeAspect="1"/>
          </p:cNvPicPr>
          <p:nvPr/>
        </p:nvPicPr>
        <p:blipFill>
          <a:blip r:embed="rId2"/>
          <a:stretch>
            <a:fillRect/>
          </a:stretch>
        </p:blipFill>
        <p:spPr>
          <a:xfrm>
            <a:off x="594360" y="2359152"/>
            <a:ext cx="13441680" cy="4526279"/>
          </a:xfrm>
          <a:prstGeom prst="rect">
            <a:avLst/>
          </a:prstGeom>
        </p:spPr>
      </p:pic>
      <p:sp>
        <p:nvSpPr>
          <p:cNvPr id="7" name="slide011-element002-text"/>
          <p:cNvSpPr txBox="1"/>
          <p:nvPr/>
        </p:nvSpPr>
        <p:spPr>
          <a:xfrm>
            <a:off x="594360" y="7086600"/>
            <a:ext cx="10881360" cy="420624"/>
          </a:xfrm>
          <a:prstGeom prst="rect">
            <a:avLst/>
          </a:prstGeom>
          <a:noFill/>
        </p:spPr>
        <p:txBody>
          <a:bodyPr wrap="square" lIns="0" rIns="0" tIns="0" bIns="0" anchor="t">
            <a:noAutofit/>
          </a:bodyPr>
          <a:lstStyle/>
          <a:p>
            <a:pPr algn="l">
              <a:lnSpc>
                <a:spcPct val="100000"/>
              </a:lnSpc>
              <a:spcBef>
                <a:spcPts val="0"/>
              </a:spcBef>
              <a:spcAft>
                <a:spcPts val="0"/>
              </a:spcAft>
            </a:pPr>
            <a:r>
              <a:rPr sz="1550" b="0">
                <a:solidFill>
                  <a:srgbClr val="536578"/>
                </a:solidFill>
                <a:latin typeface="Arial"/>
              </a:rPr>
              <a:t>All 84 original rules and all 32 new rules are included. Coincident cash paths overlap.</a:t>
            </a:r>
          </a:p>
        </p:txBody>
      </p:sp>
      <p:sp>
        <p:nvSpPr>
          <p:cNvPr id="8" name="slide011-element003-text"/>
          <p:cNvSpPr txBox="1"/>
          <p:nvPr/>
        </p:nvSpPr>
        <p:spPr>
          <a:xfrm>
            <a:off x="11658600" y="7059168"/>
            <a:ext cx="2331720" cy="438912"/>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hlinkClick r:id="rId3"/>
              </a:rPr>
              <a:t>Open interactive HTML</a:t>
            </a:r>
          </a:p>
        </p:txBody>
      </p:sp>
      <p:cxnSp>
        <p:nvCxnSpPr>
          <p:cNvPr id="9" name="slide01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0" name="slide01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graph_equity_2025_all.csv | Full paths in notes</a:t>
            </a:r>
          </a:p>
        </p:txBody>
      </p:sp>
      <p:sp>
        <p:nvSpPr>
          <p:cNvPr id="11" name="slide01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Money progression: all 88 comparable accounts</a:t>
            </a:r>
          </a:p>
        </p:txBody>
      </p:sp>
      <p:sp>
        <p:nvSpPr>
          <p:cNvPr id="4" name="slide01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2022/23–2025/26 | Same 1,470 fixtures | Continuous cash with no annual resets</a:t>
            </a:r>
          </a:p>
        </p:txBody>
      </p:sp>
      <p:sp>
        <p:nvSpPr>
          <p:cNvPr id="5" name="slide012-element000-text"/>
          <p:cNvSpPr txBox="1"/>
          <p:nvPr/>
        </p:nvSpPr>
        <p:spPr>
          <a:xfrm>
            <a:off x="594360" y="1828800"/>
            <a:ext cx="13350240" cy="41148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11243A"/>
                </a:solidFill>
                <a:latin typeface="Arial"/>
              </a:rPr>
              <a:t>24 profitable   /   64 losing   /   13 reach zero</a:t>
            </a:r>
          </a:p>
        </p:txBody>
      </p:sp>
      <p:pic>
        <p:nvPicPr>
          <p:cNvPr id="6" name="slide012-element001-image-image" descr="all_accounts_continuous.png"/>
          <p:cNvPicPr>
            <a:picLocks noChangeAspect="1"/>
          </p:cNvPicPr>
          <p:nvPr/>
        </p:nvPicPr>
        <p:blipFill>
          <a:blip r:embed="rId2"/>
          <a:stretch>
            <a:fillRect/>
          </a:stretch>
        </p:blipFill>
        <p:spPr>
          <a:xfrm>
            <a:off x="594360" y="2359152"/>
            <a:ext cx="13441680" cy="4526279"/>
          </a:xfrm>
          <a:prstGeom prst="rect">
            <a:avLst/>
          </a:prstGeom>
        </p:spPr>
      </p:pic>
      <p:sp>
        <p:nvSpPr>
          <p:cNvPr id="7" name="slide012-element002-text"/>
          <p:cNvSpPr txBox="1"/>
          <p:nvPr/>
        </p:nvSpPr>
        <p:spPr>
          <a:xfrm>
            <a:off x="594360" y="7086600"/>
            <a:ext cx="10881360" cy="420624"/>
          </a:xfrm>
          <a:prstGeom prst="rect">
            <a:avLst/>
          </a:prstGeom>
          <a:noFill/>
        </p:spPr>
        <p:txBody>
          <a:bodyPr wrap="square" lIns="0" rIns="0" tIns="0" bIns="0" anchor="t">
            <a:noAutofit/>
          </a:bodyPr>
          <a:lstStyle/>
          <a:p>
            <a:pPr algn="l">
              <a:lnSpc>
                <a:spcPct val="100000"/>
              </a:lnSpc>
              <a:spcBef>
                <a:spcPts val="0"/>
              </a:spcBef>
              <a:spcAft>
                <a:spcPts val="0"/>
              </a:spcAft>
            </a:pPr>
            <a:r>
              <a:rPr sz="1550" b="0">
                <a:solidFill>
                  <a:srgbClr val="536578"/>
                </a:solidFill>
                <a:latin typeface="Arial"/>
              </a:rPr>
              <a:t>The 28 first-study rules without comparable earlier predictions are excluded from the four-year chart.</a:t>
            </a:r>
          </a:p>
        </p:txBody>
      </p:sp>
      <p:sp>
        <p:nvSpPr>
          <p:cNvPr id="8" name="slide012-element003-text"/>
          <p:cNvSpPr txBox="1"/>
          <p:nvPr/>
        </p:nvSpPr>
        <p:spPr>
          <a:xfrm>
            <a:off x="11658600" y="7059168"/>
            <a:ext cx="2331720" cy="438912"/>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hlinkClick r:id="rId3"/>
              </a:rPr>
              <a:t>Open interactive HTML</a:t>
            </a:r>
          </a:p>
        </p:txBody>
      </p:sp>
      <p:cxnSp>
        <p:nvCxnSpPr>
          <p:cNvPr id="9" name="slide01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0" name="slide01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graph_equity_continuous_all.csv | Full paths in notes</a:t>
            </a:r>
          </a:p>
        </p:txBody>
      </p:sp>
      <p:sp>
        <p:nvSpPr>
          <p:cNvPr id="11" name="slide01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Highest four-season ending capital: S060</a:t>
            </a:r>
          </a:p>
        </p:txBody>
      </p:sp>
      <p:sp>
        <p:nvSpPr>
          <p:cNvPr id="4" name="slide01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A historical capital leader, selected descriptively after comparing the 88 compatible accounts.</a:t>
            </a:r>
          </a:p>
        </p:txBody>
      </p:sp>
      <p:sp>
        <p:nvSpPr>
          <p:cNvPr id="5" name="slide013-element000-card-background"/>
          <p:cNvSpPr/>
          <p:nvPr/>
        </p:nvSpPr>
        <p:spPr>
          <a:xfrm>
            <a:off x="594360" y="1874519"/>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3-element000-card-accent"/>
          <p:cNvSpPr/>
          <p:nvPr/>
        </p:nvSpPr>
        <p:spPr>
          <a:xfrm>
            <a:off x="594360" y="1874519"/>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13-element000-card-label"/>
          <p:cNvSpPr txBox="1"/>
          <p:nvPr/>
        </p:nvSpPr>
        <p:spPr>
          <a:xfrm>
            <a:off x="749808"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ACCOUNT</a:t>
            </a:r>
          </a:p>
        </p:txBody>
      </p:sp>
      <p:sp>
        <p:nvSpPr>
          <p:cNvPr id="8" name="slide013-element000-card-value"/>
          <p:cNvSpPr txBox="1"/>
          <p:nvPr/>
        </p:nvSpPr>
        <p:spPr>
          <a:xfrm>
            <a:off x="749808"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195,190</a:t>
            </a:r>
          </a:p>
        </p:txBody>
      </p:sp>
      <p:sp>
        <p:nvSpPr>
          <p:cNvPr id="9" name="slide013-element000-card-detail"/>
          <p:cNvSpPr txBox="1"/>
          <p:nvPr/>
        </p:nvSpPr>
        <p:spPr>
          <a:xfrm>
            <a:off x="749808" y="277063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Initial 100,000</a:t>
            </a:r>
          </a:p>
        </p:txBody>
      </p:sp>
      <p:sp>
        <p:nvSpPr>
          <p:cNvPr id="10" name="slide013-element001-card-background"/>
          <p:cNvSpPr/>
          <p:nvPr/>
        </p:nvSpPr>
        <p:spPr>
          <a:xfrm>
            <a:off x="5175504" y="1874519"/>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3-element001-card-accent"/>
          <p:cNvSpPr/>
          <p:nvPr/>
        </p:nvSpPr>
        <p:spPr>
          <a:xfrm>
            <a:off x="5175504" y="1874519"/>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3-element001-card-label"/>
          <p:cNvSpPr txBox="1"/>
          <p:nvPr/>
        </p:nvSpPr>
        <p:spPr>
          <a:xfrm>
            <a:off x="5330952"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PROFIT</a:t>
            </a:r>
          </a:p>
        </p:txBody>
      </p:sp>
      <p:sp>
        <p:nvSpPr>
          <p:cNvPr id="13" name="slide013-element001-card-value"/>
          <p:cNvSpPr txBox="1"/>
          <p:nvPr/>
        </p:nvSpPr>
        <p:spPr>
          <a:xfrm>
            <a:off x="5330952"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95,190</a:t>
            </a:r>
          </a:p>
        </p:txBody>
      </p:sp>
      <p:sp>
        <p:nvSpPr>
          <p:cNvPr id="14" name="slide013-element001-card-detail"/>
          <p:cNvSpPr txBox="1"/>
          <p:nvPr/>
        </p:nvSpPr>
        <p:spPr>
          <a:xfrm>
            <a:off x="5330952" y="277063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 seasons without deposits</a:t>
            </a:r>
          </a:p>
        </p:txBody>
      </p:sp>
      <p:sp>
        <p:nvSpPr>
          <p:cNvPr id="15" name="slide013-element002-card-background"/>
          <p:cNvSpPr/>
          <p:nvPr/>
        </p:nvSpPr>
        <p:spPr>
          <a:xfrm>
            <a:off x="9756648" y="1874519"/>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3-element002-card-accent"/>
          <p:cNvSpPr/>
          <p:nvPr/>
        </p:nvSpPr>
        <p:spPr>
          <a:xfrm>
            <a:off x="9756648" y="1874519"/>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3-element002-card-label"/>
          <p:cNvSpPr txBox="1"/>
          <p:nvPr/>
        </p:nvSpPr>
        <p:spPr>
          <a:xfrm>
            <a:off x="9912096"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STARTING CASH</a:t>
            </a:r>
          </a:p>
        </p:txBody>
      </p:sp>
      <p:sp>
        <p:nvSpPr>
          <p:cNvPr id="18" name="slide013-element002-card-value"/>
          <p:cNvSpPr txBox="1"/>
          <p:nvPr/>
        </p:nvSpPr>
        <p:spPr>
          <a:xfrm>
            <a:off x="9912096"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95.19%</a:t>
            </a:r>
          </a:p>
        </p:txBody>
      </p:sp>
      <p:sp>
        <p:nvSpPr>
          <p:cNvPr id="19" name="slide013-element002-card-detail"/>
          <p:cNvSpPr txBox="1"/>
          <p:nvPr/>
        </p:nvSpPr>
        <p:spPr>
          <a:xfrm>
            <a:off x="9912096" y="277063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Not the ROI on turnover</a:t>
            </a:r>
          </a:p>
        </p:txBody>
      </p:sp>
      <p:sp>
        <p:nvSpPr>
          <p:cNvPr id="20" name="slide013-element003-text"/>
          <p:cNvSpPr txBox="1"/>
          <p:nvPr/>
        </p:nvSpPr>
        <p:spPr>
          <a:xfrm>
            <a:off x="594360" y="3657600"/>
            <a:ext cx="6400800" cy="233172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Market-residual model with team, xG and FPL inputs.</a:t>
            </a:r>
          </a:p>
          <a:p>
            <a:pPr algn="l">
              <a:lnSpc>
                <a:spcPct val="100000"/>
              </a:lnSpc>
              <a:spcBef>
                <a:spcPts val="0"/>
              </a:spcBef>
              <a:spcAft>
                <a:spcPts val="0"/>
              </a:spcAft>
            </a:pPr>
            <a:r>
              <a:rPr sz="2100" b="0">
                <a:solidFill>
                  <a:srgbClr val="11243A"/>
                </a:solidFill>
                <a:latin typeface="Arial"/>
              </a:rPr>
              <a:t>Choose maximum edge above 5%.</a:t>
            </a:r>
          </a:p>
          <a:p>
            <a:pPr algn="l">
              <a:lnSpc>
                <a:spcPct val="100000"/>
              </a:lnSpc>
              <a:spcBef>
                <a:spcPts val="0"/>
              </a:spcBef>
              <a:spcAft>
                <a:spcPts val="0"/>
              </a:spcAft>
            </a:pPr>
            <a:r>
              <a:rPr sz="2100" b="0">
                <a:solidFill>
                  <a:srgbClr val="11243A"/>
                </a:solidFill>
                <a:latin typeface="Arial"/>
              </a:rPr>
              <a:t>Quarter Kelly; 2% per-bet cap.</a:t>
            </a:r>
          </a:p>
          <a:p>
            <a:pPr algn="l">
              <a:lnSpc>
                <a:spcPct val="100000"/>
              </a:lnSpc>
              <a:spcBef>
                <a:spcPts val="0"/>
              </a:spcBef>
              <a:spcAft>
                <a:spcPts val="0"/>
              </a:spcAft>
            </a:pPr>
            <a:r>
              <a:rPr sz="2100" b="0">
                <a:solidFill>
                  <a:srgbClr val="11243A"/>
                </a:solidFill>
                <a:latin typeface="Arial"/>
              </a:rPr>
              <a:t>10% date-level cash budget; best archived quotes.</a:t>
            </a:r>
          </a:p>
        </p:txBody>
      </p:sp>
      <p:sp>
        <p:nvSpPr>
          <p:cNvPr id="21" name="slide013-element004-table-r00-c00-cell"/>
          <p:cNvSpPr/>
          <p:nvPr/>
        </p:nvSpPr>
        <p:spPr>
          <a:xfrm>
            <a:off x="7360920" y="3657600"/>
            <a:ext cx="3778757"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3-element004-table-r00-c00-text"/>
          <p:cNvSpPr txBox="1"/>
          <p:nvPr/>
        </p:nvSpPr>
        <p:spPr>
          <a:xfrm>
            <a:off x="7452360" y="3730752"/>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3" name="slide013-element004-table-r00-c01-cell"/>
          <p:cNvSpPr/>
          <p:nvPr/>
        </p:nvSpPr>
        <p:spPr>
          <a:xfrm>
            <a:off x="11139678" y="3657600"/>
            <a:ext cx="2850642"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3-element004-table-r00-c01-text"/>
          <p:cNvSpPr txBox="1"/>
          <p:nvPr/>
        </p:nvSpPr>
        <p:spPr>
          <a:xfrm>
            <a:off x="11231118" y="3730752"/>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Recorded result</a:t>
            </a:r>
          </a:p>
        </p:txBody>
      </p:sp>
      <p:sp>
        <p:nvSpPr>
          <p:cNvPr id="25" name="slide013-element004-table-r01-c00-cell"/>
          <p:cNvSpPr/>
          <p:nvPr/>
        </p:nvSpPr>
        <p:spPr>
          <a:xfrm>
            <a:off x="7360920" y="4095205"/>
            <a:ext cx="3778757"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3-element004-table-r01-c00-text"/>
          <p:cNvSpPr txBox="1"/>
          <p:nvPr/>
        </p:nvSpPr>
        <p:spPr>
          <a:xfrm>
            <a:off x="7452360" y="4168357"/>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priced fixtures</a:t>
            </a:r>
          </a:p>
        </p:txBody>
      </p:sp>
      <p:sp>
        <p:nvSpPr>
          <p:cNvPr id="27" name="slide013-element004-table-r01-c01-cell"/>
          <p:cNvSpPr/>
          <p:nvPr/>
        </p:nvSpPr>
        <p:spPr>
          <a:xfrm>
            <a:off x="11139678" y="4095205"/>
            <a:ext cx="2850642"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3-element004-table-r01-c01-text"/>
          <p:cNvSpPr txBox="1"/>
          <p:nvPr/>
        </p:nvSpPr>
        <p:spPr>
          <a:xfrm>
            <a:off x="11231118" y="4168357"/>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1,186 / 1,470</a:t>
            </a:r>
          </a:p>
        </p:txBody>
      </p:sp>
      <p:sp>
        <p:nvSpPr>
          <p:cNvPr id="29" name="slide013-element004-table-r02-c00-cell"/>
          <p:cNvSpPr/>
          <p:nvPr/>
        </p:nvSpPr>
        <p:spPr>
          <a:xfrm>
            <a:off x="7360920" y="4532811"/>
            <a:ext cx="3778757"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3-element004-table-r02-c00-text"/>
          <p:cNvSpPr txBox="1"/>
          <p:nvPr/>
        </p:nvSpPr>
        <p:spPr>
          <a:xfrm>
            <a:off x="7452360" y="4605963"/>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 trading frequency</a:t>
            </a:r>
          </a:p>
        </p:txBody>
      </p:sp>
      <p:sp>
        <p:nvSpPr>
          <p:cNvPr id="31" name="slide013-element004-table-r02-c01-cell"/>
          <p:cNvSpPr/>
          <p:nvPr/>
        </p:nvSpPr>
        <p:spPr>
          <a:xfrm>
            <a:off x="11139678" y="4532811"/>
            <a:ext cx="2850642"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3-element004-table-r02-c01-text"/>
          <p:cNvSpPr txBox="1"/>
          <p:nvPr/>
        </p:nvSpPr>
        <p:spPr>
          <a:xfrm>
            <a:off x="11231118" y="4605963"/>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30.69% / 80.68%</a:t>
            </a:r>
          </a:p>
        </p:txBody>
      </p:sp>
      <p:sp>
        <p:nvSpPr>
          <p:cNvPr id="33" name="slide013-element004-table-r03-c00-cell"/>
          <p:cNvSpPr/>
          <p:nvPr/>
        </p:nvSpPr>
        <p:spPr>
          <a:xfrm>
            <a:off x="7360920" y="4970417"/>
            <a:ext cx="3778757"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3-element004-table-r03-c00-text"/>
          <p:cNvSpPr txBox="1"/>
          <p:nvPr/>
        </p:nvSpPr>
        <p:spPr>
          <a:xfrm>
            <a:off x="7452360" y="5043569"/>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 loss per trade</a:t>
            </a:r>
          </a:p>
        </p:txBody>
      </p:sp>
      <p:sp>
        <p:nvSpPr>
          <p:cNvPr id="35" name="slide013-element004-table-r03-c01-cell"/>
          <p:cNvSpPr/>
          <p:nvPr/>
        </p:nvSpPr>
        <p:spPr>
          <a:xfrm>
            <a:off x="11139678" y="4970417"/>
            <a:ext cx="2850642"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3-element004-table-r03-c01-text"/>
          <p:cNvSpPr txBox="1"/>
          <p:nvPr/>
        </p:nvSpPr>
        <p:spPr>
          <a:xfrm>
            <a:off x="11231118" y="5043569"/>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2226.45 / 1652.54</a:t>
            </a:r>
          </a:p>
        </p:txBody>
      </p:sp>
      <p:sp>
        <p:nvSpPr>
          <p:cNvPr id="37" name="slide013-element004-table-r04-c00-cell"/>
          <p:cNvSpPr/>
          <p:nvPr/>
        </p:nvSpPr>
        <p:spPr>
          <a:xfrm>
            <a:off x="7360920" y="5408022"/>
            <a:ext cx="3778757"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3-element004-table-r04-c00-text"/>
          <p:cNvSpPr txBox="1"/>
          <p:nvPr/>
        </p:nvSpPr>
        <p:spPr>
          <a:xfrm>
            <a:off x="7452360" y="5481174"/>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Realized winning gain / losing loss</a:t>
            </a:r>
          </a:p>
        </p:txBody>
      </p:sp>
      <p:sp>
        <p:nvSpPr>
          <p:cNvPr id="39" name="slide013-element004-table-r04-c01-cell"/>
          <p:cNvSpPr/>
          <p:nvPr/>
        </p:nvSpPr>
        <p:spPr>
          <a:xfrm>
            <a:off x="11139678" y="5408022"/>
            <a:ext cx="2850642"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3-element004-table-r04-c01-text"/>
          <p:cNvSpPr txBox="1"/>
          <p:nvPr/>
        </p:nvSpPr>
        <p:spPr>
          <a:xfrm>
            <a:off x="11231118" y="5481174"/>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5973.63 / 2529.45</a:t>
            </a:r>
          </a:p>
        </p:txBody>
      </p:sp>
      <p:sp>
        <p:nvSpPr>
          <p:cNvPr id="41" name="slide013-element004-table-r05-c00-cell"/>
          <p:cNvSpPr/>
          <p:nvPr/>
        </p:nvSpPr>
        <p:spPr>
          <a:xfrm>
            <a:off x="7360920" y="5845628"/>
            <a:ext cx="3778757"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3-element004-table-r05-c00-text"/>
          <p:cNvSpPr txBox="1"/>
          <p:nvPr/>
        </p:nvSpPr>
        <p:spPr>
          <a:xfrm>
            <a:off x="7452360" y="5918780"/>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ROI on total stakes</a:t>
            </a:r>
          </a:p>
        </p:txBody>
      </p:sp>
      <p:sp>
        <p:nvSpPr>
          <p:cNvPr id="43" name="slide013-element004-table-r05-c01-cell"/>
          <p:cNvSpPr/>
          <p:nvPr/>
        </p:nvSpPr>
        <p:spPr>
          <a:xfrm>
            <a:off x="11139678" y="5845628"/>
            <a:ext cx="2850642"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3-element004-table-r05-c01-text"/>
          <p:cNvSpPr txBox="1"/>
          <p:nvPr/>
        </p:nvSpPr>
        <p:spPr>
          <a:xfrm>
            <a:off x="11231118" y="5918780"/>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2.99%</a:t>
            </a:r>
          </a:p>
        </p:txBody>
      </p:sp>
      <p:sp>
        <p:nvSpPr>
          <p:cNvPr id="45" name="slide013-element004-table-r06-c00-cell"/>
          <p:cNvSpPr/>
          <p:nvPr/>
        </p:nvSpPr>
        <p:spPr>
          <a:xfrm>
            <a:off x="7360920" y="6283234"/>
            <a:ext cx="3778757"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3-element004-table-r06-c00-text"/>
          <p:cNvSpPr txBox="1"/>
          <p:nvPr/>
        </p:nvSpPr>
        <p:spPr>
          <a:xfrm>
            <a:off x="7452360" y="6356386"/>
            <a:ext cx="3595877"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Maximum drawdown</a:t>
            </a:r>
          </a:p>
        </p:txBody>
      </p:sp>
      <p:sp>
        <p:nvSpPr>
          <p:cNvPr id="47" name="slide013-element004-table-r06-c01-cell"/>
          <p:cNvSpPr/>
          <p:nvPr/>
        </p:nvSpPr>
        <p:spPr>
          <a:xfrm>
            <a:off x="11139678" y="6283234"/>
            <a:ext cx="2850642"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3-element004-table-r06-c01-text"/>
          <p:cNvSpPr txBox="1"/>
          <p:nvPr/>
        </p:nvSpPr>
        <p:spPr>
          <a:xfrm>
            <a:off x="11231118" y="6356386"/>
            <a:ext cx="2667762"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38.35%</a:t>
            </a:r>
          </a:p>
        </p:txBody>
      </p:sp>
      <p:sp>
        <p:nvSpPr>
          <p:cNvPr id="49" name="slide013-element005-text"/>
          <p:cNvSpPr txBox="1"/>
          <p:nvPr/>
        </p:nvSpPr>
        <p:spPr>
          <a:xfrm>
            <a:off x="594360" y="7086600"/>
            <a:ext cx="13350240" cy="36576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B44949"/>
                </a:solidFill>
                <a:latin typeface="Arial"/>
              </a:rPr>
              <a:t>Its recorded ROI confidence interval crosses zero. The historical ranking does not select a validated live policy.</a:t>
            </a:r>
          </a:p>
        </p:txBody>
      </p:sp>
      <p:cxnSp>
        <p:nvCxnSpPr>
          <p:cNvPr id="50" name="slide01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1" name="slide01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metrics.parquet; metrics_continuous.parquet; metrics_single.parquet | Full paths in notes</a:t>
            </a:r>
          </a:p>
        </p:txBody>
      </p:sp>
      <p:sp>
        <p:nvSpPr>
          <p:cNvPr id="52" name="slide01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 one-season winner can fail over four seasons</a:t>
            </a:r>
          </a:p>
        </p:txBody>
      </p:sp>
      <p:sp>
        <p:nvSpPr>
          <p:cNvPr id="4" name="slide01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P028: team + full player block, logistic regression, Bet365 reference prices, quarter Kelly capped at 2% per bet.</a:t>
            </a:r>
          </a:p>
        </p:txBody>
      </p:sp>
      <p:sp>
        <p:nvSpPr>
          <p:cNvPr id="5" name="slide014-element000-card-background"/>
          <p:cNvSpPr/>
          <p:nvPr/>
        </p:nvSpPr>
        <p:spPr>
          <a:xfrm>
            <a:off x="594360" y="1920240"/>
            <a:ext cx="6446520" cy="16459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4-element000-card-accent"/>
          <p:cNvSpPr/>
          <p:nvPr/>
        </p:nvSpPr>
        <p:spPr>
          <a:xfrm>
            <a:off x="594360" y="1920240"/>
            <a:ext cx="50292" cy="16459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14-element000-card-label"/>
          <p:cNvSpPr txBox="1"/>
          <p:nvPr/>
        </p:nvSpPr>
        <p:spPr>
          <a:xfrm>
            <a:off x="749808" y="2029968"/>
            <a:ext cx="613562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2025/26 ENDING ACCOUNT</a:t>
            </a:r>
          </a:p>
        </p:txBody>
      </p:sp>
      <p:sp>
        <p:nvSpPr>
          <p:cNvPr id="8" name="slide014-element000-card-value"/>
          <p:cNvSpPr txBox="1"/>
          <p:nvPr/>
        </p:nvSpPr>
        <p:spPr>
          <a:xfrm>
            <a:off x="749808" y="2286000"/>
            <a:ext cx="613562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167,925</a:t>
            </a:r>
          </a:p>
        </p:txBody>
      </p:sp>
      <p:sp>
        <p:nvSpPr>
          <p:cNvPr id="9" name="slide014-element000-card-detail"/>
          <p:cNvSpPr txBox="1"/>
          <p:nvPr/>
        </p:nvSpPr>
        <p:spPr>
          <a:xfrm>
            <a:off x="749808" y="2816352"/>
            <a:ext cx="6135624" cy="7132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67.93% return on starting cash</a:t>
            </a:r>
          </a:p>
        </p:txBody>
      </p:sp>
      <p:sp>
        <p:nvSpPr>
          <p:cNvPr id="10" name="slide014-element001-card-background"/>
          <p:cNvSpPr/>
          <p:nvPr/>
        </p:nvSpPr>
        <p:spPr>
          <a:xfrm>
            <a:off x="7360920" y="1920240"/>
            <a:ext cx="6629400" cy="16459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4-element001-card-accent"/>
          <p:cNvSpPr/>
          <p:nvPr/>
        </p:nvSpPr>
        <p:spPr>
          <a:xfrm>
            <a:off x="7360920" y="1920240"/>
            <a:ext cx="50292" cy="1645920"/>
          </a:xfrm>
          <a:prstGeom prst="rect">
            <a:avLst/>
          </a:prstGeom>
          <a:solidFill>
            <a:srgbClr val="B4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4-element001-card-label"/>
          <p:cNvSpPr txBox="1"/>
          <p:nvPr/>
        </p:nvSpPr>
        <p:spPr>
          <a:xfrm>
            <a:off x="7516368" y="2029968"/>
            <a:ext cx="631850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CONTINUOUS FOUR-SEASON ACCOUNT</a:t>
            </a:r>
          </a:p>
        </p:txBody>
      </p:sp>
      <p:sp>
        <p:nvSpPr>
          <p:cNvPr id="13" name="slide014-element001-card-value"/>
          <p:cNvSpPr txBox="1"/>
          <p:nvPr/>
        </p:nvSpPr>
        <p:spPr>
          <a:xfrm>
            <a:off x="7516368" y="2286000"/>
            <a:ext cx="631850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B44949"/>
                </a:solidFill>
                <a:latin typeface="Arial"/>
              </a:rPr>
              <a:t>16,675</a:t>
            </a:r>
          </a:p>
        </p:txBody>
      </p:sp>
      <p:sp>
        <p:nvSpPr>
          <p:cNvPr id="14" name="slide014-element001-card-detail"/>
          <p:cNvSpPr txBox="1"/>
          <p:nvPr/>
        </p:nvSpPr>
        <p:spPr>
          <a:xfrm>
            <a:off x="7516368" y="2816352"/>
            <a:ext cx="6318504" cy="7132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-83.33% return on starting cash</a:t>
            </a:r>
          </a:p>
        </p:txBody>
      </p:sp>
      <p:sp>
        <p:nvSpPr>
          <p:cNvPr id="15" name="slide014-element002-table-r00-c00-cell"/>
          <p:cNvSpPr/>
          <p:nvPr/>
        </p:nvSpPr>
        <p:spPr>
          <a:xfrm>
            <a:off x="594360" y="3977639"/>
            <a:ext cx="3755989" cy="7772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4-element002-table-r00-c00-text"/>
          <p:cNvSpPr txBox="1"/>
          <p:nvPr/>
        </p:nvSpPr>
        <p:spPr>
          <a:xfrm>
            <a:off x="685800" y="4050791"/>
            <a:ext cx="3573109" cy="63093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Scope</a:t>
            </a:r>
          </a:p>
        </p:txBody>
      </p:sp>
      <p:sp>
        <p:nvSpPr>
          <p:cNvPr id="17" name="slide014-element002-table-r00-c01-cell"/>
          <p:cNvSpPr/>
          <p:nvPr/>
        </p:nvSpPr>
        <p:spPr>
          <a:xfrm>
            <a:off x="4350349" y="3977639"/>
            <a:ext cx="1341424" cy="7772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4-element002-table-r00-c01-text"/>
          <p:cNvSpPr txBox="1"/>
          <p:nvPr/>
        </p:nvSpPr>
        <p:spPr>
          <a:xfrm>
            <a:off x="4441789" y="4050791"/>
            <a:ext cx="1158544" cy="63093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Bets</a:t>
            </a:r>
          </a:p>
        </p:txBody>
      </p:sp>
      <p:sp>
        <p:nvSpPr>
          <p:cNvPr id="19" name="slide014-element002-table-r00-c02-cell"/>
          <p:cNvSpPr/>
          <p:nvPr/>
        </p:nvSpPr>
        <p:spPr>
          <a:xfrm>
            <a:off x="5691774" y="3977639"/>
            <a:ext cx="1877994" cy="7772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4-element002-table-r00-c02-text"/>
          <p:cNvSpPr txBox="1"/>
          <p:nvPr/>
        </p:nvSpPr>
        <p:spPr>
          <a:xfrm>
            <a:off x="5783214" y="4050791"/>
            <a:ext cx="1695114" cy="63093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Hit ratio</a:t>
            </a:r>
          </a:p>
        </p:txBody>
      </p:sp>
      <p:sp>
        <p:nvSpPr>
          <p:cNvPr id="21" name="slide014-element002-table-r00-c03-cell"/>
          <p:cNvSpPr/>
          <p:nvPr/>
        </p:nvSpPr>
        <p:spPr>
          <a:xfrm>
            <a:off x="7569768" y="3977639"/>
            <a:ext cx="2280422" cy="7772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4-element002-table-r00-c03-text"/>
          <p:cNvSpPr txBox="1"/>
          <p:nvPr/>
        </p:nvSpPr>
        <p:spPr>
          <a:xfrm>
            <a:off x="7661208" y="4050791"/>
            <a:ext cx="2097542" cy="63093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Trade frequency</a:t>
            </a:r>
          </a:p>
        </p:txBody>
      </p:sp>
      <p:sp>
        <p:nvSpPr>
          <p:cNvPr id="23" name="slide014-element002-table-r00-c04-cell"/>
          <p:cNvSpPr/>
          <p:nvPr/>
        </p:nvSpPr>
        <p:spPr>
          <a:xfrm>
            <a:off x="9850191" y="3977639"/>
            <a:ext cx="1877994" cy="7772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4-element002-table-r00-c04-text"/>
          <p:cNvSpPr txBox="1"/>
          <p:nvPr/>
        </p:nvSpPr>
        <p:spPr>
          <a:xfrm>
            <a:off x="9941631" y="4050791"/>
            <a:ext cx="1695114" cy="63093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ROI</a:t>
            </a:r>
          </a:p>
        </p:txBody>
      </p:sp>
      <p:sp>
        <p:nvSpPr>
          <p:cNvPr id="25" name="slide014-element002-table-r00-c05-cell"/>
          <p:cNvSpPr/>
          <p:nvPr/>
        </p:nvSpPr>
        <p:spPr>
          <a:xfrm>
            <a:off x="11728185" y="3977639"/>
            <a:ext cx="2280422" cy="7772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4-element002-table-r00-c05-text"/>
          <p:cNvSpPr txBox="1"/>
          <p:nvPr/>
        </p:nvSpPr>
        <p:spPr>
          <a:xfrm>
            <a:off x="11819625" y="4050791"/>
            <a:ext cx="2097542" cy="63093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Max drawdown</a:t>
            </a:r>
          </a:p>
        </p:txBody>
      </p:sp>
      <p:sp>
        <p:nvSpPr>
          <p:cNvPr id="27" name="slide014-element002-table-r01-c00-cell"/>
          <p:cNvSpPr/>
          <p:nvPr/>
        </p:nvSpPr>
        <p:spPr>
          <a:xfrm>
            <a:off x="594360" y="4754879"/>
            <a:ext cx="3755989" cy="7772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4-element002-table-r01-c00-text"/>
          <p:cNvSpPr txBox="1"/>
          <p:nvPr/>
        </p:nvSpPr>
        <p:spPr>
          <a:xfrm>
            <a:off x="685800" y="4828031"/>
            <a:ext cx="3573109"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2025/26</a:t>
            </a:r>
          </a:p>
        </p:txBody>
      </p:sp>
      <p:sp>
        <p:nvSpPr>
          <p:cNvPr id="29" name="slide014-element002-table-r01-c01-cell"/>
          <p:cNvSpPr/>
          <p:nvPr/>
        </p:nvSpPr>
        <p:spPr>
          <a:xfrm>
            <a:off x="4350349" y="4754879"/>
            <a:ext cx="1341424" cy="7772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4-element002-table-r01-c01-text"/>
          <p:cNvSpPr txBox="1"/>
          <p:nvPr/>
        </p:nvSpPr>
        <p:spPr>
          <a:xfrm>
            <a:off x="4441789" y="4828031"/>
            <a:ext cx="1158544"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345</a:t>
            </a:r>
          </a:p>
        </p:txBody>
      </p:sp>
      <p:sp>
        <p:nvSpPr>
          <p:cNvPr id="31" name="slide014-element002-table-r01-c02-cell"/>
          <p:cNvSpPr/>
          <p:nvPr/>
        </p:nvSpPr>
        <p:spPr>
          <a:xfrm>
            <a:off x="5691774" y="4754879"/>
            <a:ext cx="1877994" cy="7772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4-element002-table-r01-c02-text"/>
          <p:cNvSpPr txBox="1"/>
          <p:nvPr/>
        </p:nvSpPr>
        <p:spPr>
          <a:xfrm>
            <a:off x="5783214" y="4828031"/>
            <a:ext cx="1695114"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28.70%</a:t>
            </a:r>
          </a:p>
        </p:txBody>
      </p:sp>
      <p:sp>
        <p:nvSpPr>
          <p:cNvPr id="33" name="slide014-element002-table-r01-c03-cell"/>
          <p:cNvSpPr/>
          <p:nvPr/>
        </p:nvSpPr>
        <p:spPr>
          <a:xfrm>
            <a:off x="7569768" y="4754879"/>
            <a:ext cx="2280422" cy="7772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4-element002-table-r01-c03-text"/>
          <p:cNvSpPr txBox="1"/>
          <p:nvPr/>
        </p:nvSpPr>
        <p:spPr>
          <a:xfrm>
            <a:off x="7661208" y="4828031"/>
            <a:ext cx="2097542"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92.25%</a:t>
            </a:r>
          </a:p>
        </p:txBody>
      </p:sp>
      <p:sp>
        <p:nvSpPr>
          <p:cNvPr id="35" name="slide014-element002-table-r01-c04-cell"/>
          <p:cNvSpPr/>
          <p:nvPr/>
        </p:nvSpPr>
        <p:spPr>
          <a:xfrm>
            <a:off x="9850191" y="4754879"/>
            <a:ext cx="1877994" cy="7772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4-element002-table-r01-c04-text"/>
          <p:cNvSpPr txBox="1"/>
          <p:nvPr/>
        </p:nvSpPr>
        <p:spPr>
          <a:xfrm>
            <a:off x="9941631" y="4828031"/>
            <a:ext cx="1695114"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10.62%</a:t>
            </a:r>
          </a:p>
        </p:txBody>
      </p:sp>
      <p:sp>
        <p:nvSpPr>
          <p:cNvPr id="37" name="slide014-element002-table-r01-c05-cell"/>
          <p:cNvSpPr/>
          <p:nvPr/>
        </p:nvSpPr>
        <p:spPr>
          <a:xfrm>
            <a:off x="11728185" y="4754879"/>
            <a:ext cx="2280422" cy="7772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4-element002-table-r01-c05-text"/>
          <p:cNvSpPr txBox="1"/>
          <p:nvPr/>
        </p:nvSpPr>
        <p:spPr>
          <a:xfrm>
            <a:off x="11819625" y="4828031"/>
            <a:ext cx="2097542"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32.79%</a:t>
            </a:r>
          </a:p>
        </p:txBody>
      </p:sp>
      <p:sp>
        <p:nvSpPr>
          <p:cNvPr id="39" name="slide014-element002-table-r02-c00-cell"/>
          <p:cNvSpPr/>
          <p:nvPr/>
        </p:nvSpPr>
        <p:spPr>
          <a:xfrm>
            <a:off x="594360" y="5532120"/>
            <a:ext cx="3755989" cy="7772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4-element002-table-r02-c00-text"/>
          <p:cNvSpPr txBox="1"/>
          <p:nvPr/>
        </p:nvSpPr>
        <p:spPr>
          <a:xfrm>
            <a:off x="685800" y="5605272"/>
            <a:ext cx="3573109"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Continuous four seasons</a:t>
            </a:r>
          </a:p>
        </p:txBody>
      </p:sp>
      <p:sp>
        <p:nvSpPr>
          <p:cNvPr id="41" name="slide014-element002-table-r02-c01-cell"/>
          <p:cNvSpPr/>
          <p:nvPr/>
        </p:nvSpPr>
        <p:spPr>
          <a:xfrm>
            <a:off x="4350349" y="5532120"/>
            <a:ext cx="1341424" cy="7772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4-element002-table-r02-c01-text"/>
          <p:cNvSpPr txBox="1"/>
          <p:nvPr/>
        </p:nvSpPr>
        <p:spPr>
          <a:xfrm>
            <a:off x="4441789" y="5605272"/>
            <a:ext cx="1158544"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1328</a:t>
            </a:r>
          </a:p>
        </p:txBody>
      </p:sp>
      <p:sp>
        <p:nvSpPr>
          <p:cNvPr id="43" name="slide014-element002-table-r02-c02-cell"/>
          <p:cNvSpPr/>
          <p:nvPr/>
        </p:nvSpPr>
        <p:spPr>
          <a:xfrm>
            <a:off x="5691774" y="5532120"/>
            <a:ext cx="1877994" cy="7772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4-element002-table-r02-c02-text"/>
          <p:cNvSpPr txBox="1"/>
          <p:nvPr/>
        </p:nvSpPr>
        <p:spPr>
          <a:xfrm>
            <a:off x="5783214" y="5605272"/>
            <a:ext cx="1695114"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26.58%</a:t>
            </a:r>
          </a:p>
        </p:txBody>
      </p:sp>
      <p:sp>
        <p:nvSpPr>
          <p:cNvPr id="45" name="slide014-element002-table-r02-c03-cell"/>
          <p:cNvSpPr/>
          <p:nvPr/>
        </p:nvSpPr>
        <p:spPr>
          <a:xfrm>
            <a:off x="7569768" y="5532120"/>
            <a:ext cx="2280422" cy="7772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4-element002-table-r02-c03-text"/>
          <p:cNvSpPr txBox="1"/>
          <p:nvPr/>
        </p:nvSpPr>
        <p:spPr>
          <a:xfrm>
            <a:off x="7661208" y="5605272"/>
            <a:ext cx="2097542"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90.34%</a:t>
            </a:r>
          </a:p>
        </p:txBody>
      </p:sp>
      <p:sp>
        <p:nvSpPr>
          <p:cNvPr id="47" name="slide014-element002-table-r02-c04-cell"/>
          <p:cNvSpPr/>
          <p:nvPr/>
        </p:nvSpPr>
        <p:spPr>
          <a:xfrm>
            <a:off x="9850191" y="5532120"/>
            <a:ext cx="1877994" cy="7772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4-element002-table-r02-c04-text"/>
          <p:cNvSpPr txBox="1"/>
          <p:nvPr/>
        </p:nvSpPr>
        <p:spPr>
          <a:xfrm>
            <a:off x="9941631" y="5605272"/>
            <a:ext cx="1695114"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-10.67%</a:t>
            </a:r>
          </a:p>
        </p:txBody>
      </p:sp>
      <p:sp>
        <p:nvSpPr>
          <p:cNvPr id="49" name="slide014-element002-table-r02-c05-cell"/>
          <p:cNvSpPr/>
          <p:nvPr/>
        </p:nvSpPr>
        <p:spPr>
          <a:xfrm>
            <a:off x="11728185" y="5532120"/>
            <a:ext cx="2280422" cy="7772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4-element002-table-r02-c05-text"/>
          <p:cNvSpPr txBox="1"/>
          <p:nvPr/>
        </p:nvSpPr>
        <p:spPr>
          <a:xfrm>
            <a:off x="11819625" y="5605272"/>
            <a:ext cx="2097542" cy="63093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95.18%</a:t>
            </a:r>
          </a:p>
        </p:txBody>
      </p:sp>
      <p:sp>
        <p:nvSpPr>
          <p:cNvPr id="51" name="slide014-element003-text"/>
          <p:cNvSpPr txBox="1"/>
          <p:nvPr/>
        </p:nvSpPr>
        <p:spPr>
          <a:xfrm>
            <a:off x="594360" y="6766560"/>
            <a:ext cx="13350240" cy="59436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536578"/>
                </a:solidFill>
                <a:latin typeface="Arial"/>
              </a:rPr>
              <a:t>The model's pooled accuracy is 50.95% and log loss is 1.0161. A profitable slice does not establish better forecasting.</a:t>
            </a:r>
          </a:p>
        </p:txBody>
      </p:sp>
      <p:cxnSp>
        <p:nvCxnSpPr>
          <p:cNvPr id="52" name="slide01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3" name="slide01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metrics_single.parquet; metrics_continuous.parquet; model_metrics_pooled.parquet | Full paths in notes</a:t>
            </a:r>
          </a:p>
        </p:txBody>
      </p:sp>
      <p:sp>
        <p:nvSpPr>
          <p:cNvPr id="54" name="slide01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The same-scope trading scorecard</a:t>
            </a:r>
          </a:p>
        </p:txBody>
      </p:sp>
      <p:sp>
        <p:nvSpPr>
          <p:cNvPr id="4" name="slide01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All rows: continuous four seasons, 1,470 priced opportunities, one initial 100,000 account.</a:t>
            </a:r>
          </a:p>
        </p:txBody>
      </p:sp>
      <p:sp>
        <p:nvSpPr>
          <p:cNvPr id="5" name="slide015-element000-table-r00-c00-cell"/>
          <p:cNvSpPr/>
          <p:nvPr/>
        </p:nvSpPr>
        <p:spPr>
          <a:xfrm>
            <a:off x="594360" y="1920240"/>
            <a:ext cx="3353562"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5-element000-table-r00-c00-text"/>
          <p:cNvSpPr txBox="1"/>
          <p:nvPr/>
        </p:nvSpPr>
        <p:spPr>
          <a:xfrm>
            <a:off x="685800" y="1993392"/>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Strategy / role</a:t>
            </a:r>
          </a:p>
        </p:txBody>
      </p:sp>
      <p:sp>
        <p:nvSpPr>
          <p:cNvPr id="7" name="slide015-element000-table-r00-c01-cell"/>
          <p:cNvSpPr/>
          <p:nvPr/>
        </p:nvSpPr>
        <p:spPr>
          <a:xfrm>
            <a:off x="3947922" y="1920240"/>
            <a:ext cx="1743852"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5-element000-table-r00-c01-text"/>
          <p:cNvSpPr txBox="1"/>
          <p:nvPr/>
        </p:nvSpPr>
        <p:spPr>
          <a:xfrm>
            <a:off x="4039361" y="1993392"/>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Final money</a:t>
            </a:r>
          </a:p>
        </p:txBody>
      </p:sp>
      <p:sp>
        <p:nvSpPr>
          <p:cNvPr id="9" name="slide015-element000-table-r00-c02-cell"/>
          <p:cNvSpPr/>
          <p:nvPr/>
        </p:nvSpPr>
        <p:spPr>
          <a:xfrm>
            <a:off x="5691774" y="1920240"/>
            <a:ext cx="1341424"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5-element000-table-r00-c02-text"/>
          <p:cNvSpPr txBox="1"/>
          <p:nvPr/>
        </p:nvSpPr>
        <p:spPr>
          <a:xfrm>
            <a:off x="5783214" y="1993392"/>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Hit ratio</a:t>
            </a:r>
          </a:p>
        </p:txBody>
      </p:sp>
      <p:sp>
        <p:nvSpPr>
          <p:cNvPr id="11" name="slide015-element000-table-r00-c03-cell"/>
          <p:cNvSpPr/>
          <p:nvPr/>
        </p:nvSpPr>
        <p:spPr>
          <a:xfrm>
            <a:off x="7033199" y="1920240"/>
            <a:ext cx="1341424"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5-element000-table-r00-c03-text"/>
          <p:cNvSpPr txBox="1"/>
          <p:nvPr/>
        </p:nvSpPr>
        <p:spPr>
          <a:xfrm>
            <a:off x="7124639" y="1993392"/>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Trade freq.</a:t>
            </a:r>
          </a:p>
        </p:txBody>
      </p:sp>
      <p:sp>
        <p:nvSpPr>
          <p:cNvPr id="13" name="slide015-element000-table-r00-c04-cell"/>
          <p:cNvSpPr/>
          <p:nvPr/>
        </p:nvSpPr>
        <p:spPr>
          <a:xfrm>
            <a:off x="8374623" y="1920240"/>
            <a:ext cx="1609709"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5-element000-table-r00-c04-text"/>
          <p:cNvSpPr txBox="1"/>
          <p:nvPr/>
        </p:nvSpPr>
        <p:spPr>
          <a:xfrm>
            <a:off x="8466063" y="1993392"/>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Expected gain / trade</a:t>
            </a:r>
          </a:p>
        </p:txBody>
      </p:sp>
      <p:sp>
        <p:nvSpPr>
          <p:cNvPr id="15" name="slide015-element000-table-r00-c05-cell"/>
          <p:cNvSpPr/>
          <p:nvPr/>
        </p:nvSpPr>
        <p:spPr>
          <a:xfrm>
            <a:off x="9984333" y="1920240"/>
            <a:ext cx="1609709"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5-element000-table-r00-c05-text"/>
          <p:cNvSpPr txBox="1"/>
          <p:nvPr/>
        </p:nvSpPr>
        <p:spPr>
          <a:xfrm>
            <a:off x="10075773" y="1993392"/>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Expected loss / trade</a:t>
            </a:r>
          </a:p>
        </p:txBody>
      </p:sp>
      <p:sp>
        <p:nvSpPr>
          <p:cNvPr id="17" name="slide015-element000-table-r00-c06-cell"/>
          <p:cNvSpPr/>
          <p:nvPr/>
        </p:nvSpPr>
        <p:spPr>
          <a:xfrm>
            <a:off x="11594043" y="1920240"/>
            <a:ext cx="1207282"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5-element000-table-r00-c06-text"/>
          <p:cNvSpPr txBox="1"/>
          <p:nvPr/>
        </p:nvSpPr>
        <p:spPr>
          <a:xfrm>
            <a:off x="11685483" y="1993392"/>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ROI</a:t>
            </a:r>
          </a:p>
        </p:txBody>
      </p:sp>
      <p:sp>
        <p:nvSpPr>
          <p:cNvPr id="19" name="slide015-element000-table-r00-c07-cell"/>
          <p:cNvSpPr/>
          <p:nvPr/>
        </p:nvSpPr>
        <p:spPr>
          <a:xfrm>
            <a:off x="12801325" y="1920240"/>
            <a:ext cx="1207282" cy="600891"/>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5-element000-table-r00-c07-text"/>
          <p:cNvSpPr txBox="1"/>
          <p:nvPr/>
        </p:nvSpPr>
        <p:spPr>
          <a:xfrm>
            <a:off x="12892765" y="1993392"/>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Max DD</a:t>
            </a:r>
          </a:p>
        </p:txBody>
      </p:sp>
      <p:sp>
        <p:nvSpPr>
          <p:cNvPr id="21" name="slide015-element000-table-r01-c00-cell"/>
          <p:cNvSpPr/>
          <p:nvPr/>
        </p:nvSpPr>
        <p:spPr>
          <a:xfrm>
            <a:off x="594360" y="2521131"/>
            <a:ext cx="335356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5-element000-table-r01-c00-text"/>
          <p:cNvSpPr txBox="1"/>
          <p:nvPr/>
        </p:nvSpPr>
        <p:spPr>
          <a:xfrm>
            <a:off x="685800" y="2594283"/>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S029 | Best learned predictor</a:t>
            </a:r>
          </a:p>
        </p:txBody>
      </p:sp>
      <p:sp>
        <p:nvSpPr>
          <p:cNvPr id="23" name="slide015-element000-table-r01-c01-cell"/>
          <p:cNvSpPr/>
          <p:nvPr/>
        </p:nvSpPr>
        <p:spPr>
          <a:xfrm>
            <a:off x="3947922" y="2521131"/>
            <a:ext cx="174385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5-element000-table-r01-c01-text"/>
          <p:cNvSpPr txBox="1"/>
          <p:nvPr/>
        </p:nvSpPr>
        <p:spPr>
          <a:xfrm>
            <a:off x="4039361" y="2594283"/>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123,340</a:t>
            </a:r>
          </a:p>
        </p:txBody>
      </p:sp>
      <p:sp>
        <p:nvSpPr>
          <p:cNvPr id="25" name="slide015-element000-table-r01-c02-cell"/>
          <p:cNvSpPr/>
          <p:nvPr/>
        </p:nvSpPr>
        <p:spPr>
          <a:xfrm>
            <a:off x="5691774" y="2521131"/>
            <a:ext cx="1341424"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5-element000-table-r01-c02-text"/>
          <p:cNvSpPr txBox="1"/>
          <p:nvPr/>
        </p:nvSpPr>
        <p:spPr>
          <a:xfrm>
            <a:off x="5783214" y="2594283"/>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31.04%</a:t>
            </a:r>
          </a:p>
        </p:txBody>
      </p:sp>
      <p:sp>
        <p:nvSpPr>
          <p:cNvPr id="27" name="slide015-element000-table-r01-c03-cell"/>
          <p:cNvSpPr/>
          <p:nvPr/>
        </p:nvSpPr>
        <p:spPr>
          <a:xfrm>
            <a:off x="7033199" y="2521131"/>
            <a:ext cx="1341424"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5-element000-table-r01-c03-text"/>
          <p:cNvSpPr txBox="1"/>
          <p:nvPr/>
        </p:nvSpPr>
        <p:spPr>
          <a:xfrm>
            <a:off x="7124639" y="2594283"/>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78.03%</a:t>
            </a:r>
          </a:p>
        </p:txBody>
      </p:sp>
      <p:sp>
        <p:nvSpPr>
          <p:cNvPr id="29" name="slide015-element000-table-r01-c04-cell"/>
          <p:cNvSpPr/>
          <p:nvPr/>
        </p:nvSpPr>
        <p:spPr>
          <a:xfrm>
            <a:off x="8374623" y="2521131"/>
            <a:ext cx="1609709"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5-element000-table-r01-c04-text"/>
          <p:cNvSpPr txBox="1"/>
          <p:nvPr/>
        </p:nvSpPr>
        <p:spPr>
          <a:xfrm>
            <a:off x="8466063" y="2594283"/>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852.95</a:t>
            </a:r>
          </a:p>
        </p:txBody>
      </p:sp>
      <p:sp>
        <p:nvSpPr>
          <p:cNvPr id="31" name="slide015-element000-table-r01-c05-cell"/>
          <p:cNvSpPr/>
          <p:nvPr/>
        </p:nvSpPr>
        <p:spPr>
          <a:xfrm>
            <a:off x="9984333" y="2521131"/>
            <a:ext cx="1609709"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5-element000-table-r01-c05-text"/>
          <p:cNvSpPr txBox="1"/>
          <p:nvPr/>
        </p:nvSpPr>
        <p:spPr>
          <a:xfrm>
            <a:off x="10075773" y="2594283"/>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663.70</a:t>
            </a:r>
          </a:p>
        </p:txBody>
      </p:sp>
      <p:sp>
        <p:nvSpPr>
          <p:cNvPr id="33" name="slide015-element000-table-r01-c06-cell"/>
          <p:cNvSpPr/>
          <p:nvPr/>
        </p:nvSpPr>
        <p:spPr>
          <a:xfrm>
            <a:off x="11594043" y="2521131"/>
            <a:ext cx="120728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5-element000-table-r01-c06-text"/>
          <p:cNvSpPr txBox="1"/>
          <p:nvPr/>
        </p:nvSpPr>
        <p:spPr>
          <a:xfrm>
            <a:off x="11685483" y="2594283"/>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2.03%</a:t>
            </a:r>
          </a:p>
        </p:txBody>
      </p:sp>
      <p:sp>
        <p:nvSpPr>
          <p:cNvPr id="35" name="slide015-element000-table-r01-c07-cell"/>
          <p:cNvSpPr/>
          <p:nvPr/>
        </p:nvSpPr>
        <p:spPr>
          <a:xfrm>
            <a:off x="12801325" y="2521131"/>
            <a:ext cx="120728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5-element000-table-r01-c07-text"/>
          <p:cNvSpPr txBox="1"/>
          <p:nvPr/>
        </p:nvSpPr>
        <p:spPr>
          <a:xfrm>
            <a:off x="12892765" y="2594283"/>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31.88%</a:t>
            </a:r>
          </a:p>
        </p:txBody>
      </p:sp>
      <p:sp>
        <p:nvSpPr>
          <p:cNvPr id="37" name="slide015-element000-table-r02-c00-cell"/>
          <p:cNvSpPr/>
          <p:nvPr/>
        </p:nvSpPr>
        <p:spPr>
          <a:xfrm>
            <a:off x="594360" y="3122022"/>
            <a:ext cx="335356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5-element000-table-r02-c00-text"/>
          <p:cNvSpPr txBox="1"/>
          <p:nvPr/>
        </p:nvSpPr>
        <p:spPr>
          <a:xfrm>
            <a:off x="685800" y="3195174"/>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S033 | Simplest predictor</a:t>
            </a:r>
          </a:p>
        </p:txBody>
      </p:sp>
      <p:sp>
        <p:nvSpPr>
          <p:cNvPr id="39" name="slide015-element000-table-r02-c01-cell"/>
          <p:cNvSpPr/>
          <p:nvPr/>
        </p:nvSpPr>
        <p:spPr>
          <a:xfrm>
            <a:off x="3947922" y="3122022"/>
            <a:ext cx="174385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5-element000-table-r02-c01-text"/>
          <p:cNvSpPr txBox="1"/>
          <p:nvPr/>
        </p:nvSpPr>
        <p:spPr>
          <a:xfrm>
            <a:off x="4039361" y="3195174"/>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29,760</a:t>
            </a:r>
          </a:p>
        </p:txBody>
      </p:sp>
      <p:sp>
        <p:nvSpPr>
          <p:cNvPr id="41" name="slide015-element000-table-r02-c02-cell"/>
          <p:cNvSpPr/>
          <p:nvPr/>
        </p:nvSpPr>
        <p:spPr>
          <a:xfrm>
            <a:off x="5691774" y="3122022"/>
            <a:ext cx="1341424"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5-element000-table-r02-c02-text"/>
          <p:cNvSpPr txBox="1"/>
          <p:nvPr/>
        </p:nvSpPr>
        <p:spPr>
          <a:xfrm>
            <a:off x="5783214" y="3195174"/>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23.01%</a:t>
            </a:r>
          </a:p>
        </p:txBody>
      </p:sp>
      <p:sp>
        <p:nvSpPr>
          <p:cNvPr id="43" name="slide015-element000-table-r02-c03-cell"/>
          <p:cNvSpPr/>
          <p:nvPr/>
        </p:nvSpPr>
        <p:spPr>
          <a:xfrm>
            <a:off x="7033199" y="3122022"/>
            <a:ext cx="1341424"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5-element000-table-r02-c03-text"/>
          <p:cNvSpPr txBox="1"/>
          <p:nvPr/>
        </p:nvSpPr>
        <p:spPr>
          <a:xfrm>
            <a:off x="7124639" y="3195174"/>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98.44%</a:t>
            </a:r>
          </a:p>
        </p:txBody>
      </p:sp>
      <p:sp>
        <p:nvSpPr>
          <p:cNvPr id="45" name="slide015-element000-table-r02-c04-cell"/>
          <p:cNvSpPr/>
          <p:nvPr/>
        </p:nvSpPr>
        <p:spPr>
          <a:xfrm>
            <a:off x="8374623" y="3122022"/>
            <a:ext cx="1609709"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5-element000-table-r02-c04-text"/>
          <p:cNvSpPr txBox="1"/>
          <p:nvPr/>
        </p:nvSpPr>
        <p:spPr>
          <a:xfrm>
            <a:off x="8466063" y="3195174"/>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1739.52</a:t>
            </a:r>
          </a:p>
        </p:txBody>
      </p:sp>
      <p:sp>
        <p:nvSpPr>
          <p:cNvPr id="47" name="slide015-element000-table-r02-c05-cell"/>
          <p:cNvSpPr/>
          <p:nvPr/>
        </p:nvSpPr>
        <p:spPr>
          <a:xfrm>
            <a:off x="9984333" y="3122022"/>
            <a:ext cx="1609709"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5-element000-table-r02-c05-text"/>
          <p:cNvSpPr txBox="1"/>
          <p:nvPr/>
        </p:nvSpPr>
        <p:spPr>
          <a:xfrm>
            <a:off x="10075773" y="3195174"/>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611.96</a:t>
            </a:r>
          </a:p>
        </p:txBody>
      </p:sp>
      <p:sp>
        <p:nvSpPr>
          <p:cNvPr id="49" name="slide015-element000-table-r02-c06-cell"/>
          <p:cNvSpPr/>
          <p:nvPr/>
        </p:nvSpPr>
        <p:spPr>
          <a:xfrm>
            <a:off x="11594043" y="3122022"/>
            <a:ext cx="120728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5-element000-table-r02-c06-text"/>
          <p:cNvSpPr txBox="1"/>
          <p:nvPr/>
        </p:nvSpPr>
        <p:spPr>
          <a:xfrm>
            <a:off x="11685483" y="3195174"/>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-4.85%</a:t>
            </a:r>
          </a:p>
        </p:txBody>
      </p:sp>
      <p:sp>
        <p:nvSpPr>
          <p:cNvPr id="51" name="slide015-element000-table-r02-c07-cell"/>
          <p:cNvSpPr/>
          <p:nvPr/>
        </p:nvSpPr>
        <p:spPr>
          <a:xfrm>
            <a:off x="12801325" y="3122022"/>
            <a:ext cx="120728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5-element000-table-r02-c07-text"/>
          <p:cNvSpPr txBox="1"/>
          <p:nvPr/>
        </p:nvSpPr>
        <p:spPr>
          <a:xfrm>
            <a:off x="12892765" y="3195174"/>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89.49%</a:t>
            </a:r>
          </a:p>
        </p:txBody>
      </p:sp>
      <p:sp>
        <p:nvSpPr>
          <p:cNvPr id="53" name="slide015-element000-table-r03-c00-cell"/>
          <p:cNvSpPr/>
          <p:nvPr/>
        </p:nvSpPr>
        <p:spPr>
          <a:xfrm>
            <a:off x="594360" y="3722914"/>
            <a:ext cx="335356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5-element000-table-r03-c00-text"/>
          <p:cNvSpPr txBox="1"/>
          <p:nvPr/>
        </p:nvSpPr>
        <p:spPr>
          <a:xfrm>
            <a:off x="685800" y="3796066"/>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S017 | Team data</a:t>
            </a:r>
          </a:p>
        </p:txBody>
      </p:sp>
      <p:sp>
        <p:nvSpPr>
          <p:cNvPr id="55" name="slide015-element000-table-r03-c01-cell"/>
          <p:cNvSpPr/>
          <p:nvPr/>
        </p:nvSpPr>
        <p:spPr>
          <a:xfrm>
            <a:off x="3947922" y="3722914"/>
            <a:ext cx="174385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5-element000-table-r03-c01-text"/>
          <p:cNvSpPr txBox="1"/>
          <p:nvPr/>
        </p:nvSpPr>
        <p:spPr>
          <a:xfrm>
            <a:off x="4039361" y="3796066"/>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119,790</a:t>
            </a:r>
          </a:p>
        </p:txBody>
      </p:sp>
      <p:sp>
        <p:nvSpPr>
          <p:cNvPr id="57" name="slide015-element000-table-r03-c02-cell"/>
          <p:cNvSpPr/>
          <p:nvPr/>
        </p:nvSpPr>
        <p:spPr>
          <a:xfrm>
            <a:off x="5691774" y="3722914"/>
            <a:ext cx="1341424"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5-element000-table-r03-c02-text"/>
          <p:cNvSpPr txBox="1"/>
          <p:nvPr/>
        </p:nvSpPr>
        <p:spPr>
          <a:xfrm>
            <a:off x="5783214" y="3796066"/>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29.57%</a:t>
            </a:r>
          </a:p>
        </p:txBody>
      </p:sp>
      <p:sp>
        <p:nvSpPr>
          <p:cNvPr id="59" name="slide015-element000-table-r03-c03-cell"/>
          <p:cNvSpPr/>
          <p:nvPr/>
        </p:nvSpPr>
        <p:spPr>
          <a:xfrm>
            <a:off x="7033199" y="3722914"/>
            <a:ext cx="1341424"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5-element000-table-r03-c03-text"/>
          <p:cNvSpPr txBox="1"/>
          <p:nvPr/>
        </p:nvSpPr>
        <p:spPr>
          <a:xfrm>
            <a:off x="7124639" y="3796066"/>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84.42%</a:t>
            </a:r>
          </a:p>
        </p:txBody>
      </p:sp>
      <p:sp>
        <p:nvSpPr>
          <p:cNvPr id="61" name="slide015-element000-table-r03-c04-cell"/>
          <p:cNvSpPr/>
          <p:nvPr/>
        </p:nvSpPr>
        <p:spPr>
          <a:xfrm>
            <a:off x="8374623" y="3722914"/>
            <a:ext cx="1609709"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5-element000-table-r03-c04-text"/>
          <p:cNvSpPr txBox="1"/>
          <p:nvPr/>
        </p:nvSpPr>
        <p:spPr>
          <a:xfrm>
            <a:off x="8466063" y="3796066"/>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962.54</a:t>
            </a:r>
          </a:p>
        </p:txBody>
      </p:sp>
      <p:sp>
        <p:nvSpPr>
          <p:cNvPr id="63" name="slide015-element000-table-r03-c05-cell"/>
          <p:cNvSpPr/>
          <p:nvPr/>
        </p:nvSpPr>
        <p:spPr>
          <a:xfrm>
            <a:off x="9984333" y="3722914"/>
            <a:ext cx="1609709"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5-element000-table-r03-c05-text"/>
          <p:cNvSpPr txBox="1"/>
          <p:nvPr/>
        </p:nvSpPr>
        <p:spPr>
          <a:xfrm>
            <a:off x="10075773" y="3796066"/>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648.43</a:t>
            </a:r>
          </a:p>
        </p:txBody>
      </p:sp>
      <p:sp>
        <p:nvSpPr>
          <p:cNvPr id="65" name="slide015-element000-table-r03-c06-cell"/>
          <p:cNvSpPr/>
          <p:nvPr/>
        </p:nvSpPr>
        <p:spPr>
          <a:xfrm>
            <a:off x="11594043" y="3722914"/>
            <a:ext cx="120728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5-element000-table-r03-c06-text"/>
          <p:cNvSpPr txBox="1"/>
          <p:nvPr/>
        </p:nvSpPr>
        <p:spPr>
          <a:xfrm>
            <a:off x="11685483" y="3796066"/>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1.59%</a:t>
            </a:r>
          </a:p>
        </p:txBody>
      </p:sp>
      <p:sp>
        <p:nvSpPr>
          <p:cNvPr id="67" name="slide015-element000-table-r03-c07-cell"/>
          <p:cNvSpPr/>
          <p:nvPr/>
        </p:nvSpPr>
        <p:spPr>
          <a:xfrm>
            <a:off x="12801325" y="3722914"/>
            <a:ext cx="120728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5-element000-table-r03-c07-text"/>
          <p:cNvSpPr txBox="1"/>
          <p:nvPr/>
        </p:nvSpPr>
        <p:spPr>
          <a:xfrm>
            <a:off x="12892765" y="3796066"/>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40.35%</a:t>
            </a:r>
          </a:p>
        </p:txBody>
      </p:sp>
      <p:sp>
        <p:nvSpPr>
          <p:cNvPr id="69" name="slide015-element000-table-r04-c00-cell"/>
          <p:cNvSpPr/>
          <p:nvPr/>
        </p:nvSpPr>
        <p:spPr>
          <a:xfrm>
            <a:off x="594360" y="4323805"/>
            <a:ext cx="335356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5-element000-table-r04-c00-text"/>
          <p:cNvSpPr txBox="1"/>
          <p:nvPr/>
        </p:nvSpPr>
        <p:spPr>
          <a:xfrm>
            <a:off x="685800" y="4396957"/>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P009 | Player form</a:t>
            </a:r>
          </a:p>
        </p:txBody>
      </p:sp>
      <p:sp>
        <p:nvSpPr>
          <p:cNvPr id="71" name="slide015-element000-table-r04-c01-cell"/>
          <p:cNvSpPr/>
          <p:nvPr/>
        </p:nvSpPr>
        <p:spPr>
          <a:xfrm>
            <a:off x="3947922" y="4323805"/>
            <a:ext cx="174385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5-element000-table-r04-c01-text"/>
          <p:cNvSpPr txBox="1"/>
          <p:nvPr/>
        </p:nvSpPr>
        <p:spPr>
          <a:xfrm>
            <a:off x="4039361" y="4396957"/>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0</a:t>
            </a:r>
          </a:p>
        </p:txBody>
      </p:sp>
      <p:sp>
        <p:nvSpPr>
          <p:cNvPr id="73" name="slide015-element000-table-r04-c02-cell"/>
          <p:cNvSpPr/>
          <p:nvPr/>
        </p:nvSpPr>
        <p:spPr>
          <a:xfrm>
            <a:off x="5691774" y="4323805"/>
            <a:ext cx="1341424"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5-element000-table-r04-c02-text"/>
          <p:cNvSpPr txBox="1"/>
          <p:nvPr/>
        </p:nvSpPr>
        <p:spPr>
          <a:xfrm>
            <a:off x="5783214" y="4396957"/>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25.00%</a:t>
            </a:r>
          </a:p>
        </p:txBody>
      </p:sp>
      <p:sp>
        <p:nvSpPr>
          <p:cNvPr id="75" name="slide015-element000-table-r04-c03-cell"/>
          <p:cNvSpPr/>
          <p:nvPr/>
        </p:nvSpPr>
        <p:spPr>
          <a:xfrm>
            <a:off x="7033199" y="4323805"/>
            <a:ext cx="1341424"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5-element000-table-r04-c03-text"/>
          <p:cNvSpPr txBox="1"/>
          <p:nvPr/>
        </p:nvSpPr>
        <p:spPr>
          <a:xfrm>
            <a:off x="7124639" y="4396957"/>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64.22%</a:t>
            </a:r>
          </a:p>
        </p:txBody>
      </p:sp>
      <p:sp>
        <p:nvSpPr>
          <p:cNvPr id="77" name="slide015-element000-table-r04-c04-cell"/>
          <p:cNvSpPr/>
          <p:nvPr/>
        </p:nvSpPr>
        <p:spPr>
          <a:xfrm>
            <a:off x="8374623" y="4323805"/>
            <a:ext cx="1609709"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5-element000-table-r04-c04-text"/>
          <p:cNvSpPr txBox="1"/>
          <p:nvPr/>
        </p:nvSpPr>
        <p:spPr>
          <a:xfrm>
            <a:off x="8466063" y="4396957"/>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1098.04</a:t>
            </a:r>
          </a:p>
        </p:txBody>
      </p:sp>
      <p:sp>
        <p:nvSpPr>
          <p:cNvPr id="79" name="slide015-element000-table-r04-c05-cell"/>
          <p:cNvSpPr/>
          <p:nvPr/>
        </p:nvSpPr>
        <p:spPr>
          <a:xfrm>
            <a:off x="9984333" y="4323805"/>
            <a:ext cx="1609709"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5-element000-table-r04-c05-text"/>
          <p:cNvSpPr txBox="1"/>
          <p:nvPr/>
        </p:nvSpPr>
        <p:spPr>
          <a:xfrm>
            <a:off x="10075773" y="4396957"/>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618.22</a:t>
            </a:r>
          </a:p>
        </p:txBody>
      </p:sp>
      <p:sp>
        <p:nvSpPr>
          <p:cNvPr id="81" name="slide015-element000-table-r04-c06-cell"/>
          <p:cNvSpPr/>
          <p:nvPr/>
        </p:nvSpPr>
        <p:spPr>
          <a:xfrm>
            <a:off x="11594043" y="4323805"/>
            <a:ext cx="120728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5-element000-table-r04-c06-text"/>
          <p:cNvSpPr txBox="1"/>
          <p:nvPr/>
        </p:nvSpPr>
        <p:spPr>
          <a:xfrm>
            <a:off x="11685483" y="4396957"/>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-10.87%</a:t>
            </a:r>
          </a:p>
        </p:txBody>
      </p:sp>
      <p:sp>
        <p:nvSpPr>
          <p:cNvPr id="83" name="slide015-element000-table-r04-c07-cell"/>
          <p:cNvSpPr/>
          <p:nvPr/>
        </p:nvSpPr>
        <p:spPr>
          <a:xfrm>
            <a:off x="12801325" y="4323805"/>
            <a:ext cx="120728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5-element000-table-r04-c07-text"/>
          <p:cNvSpPr txBox="1"/>
          <p:nvPr/>
        </p:nvSpPr>
        <p:spPr>
          <a:xfrm>
            <a:off x="12892765" y="4396957"/>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85" name="slide015-element000-table-r05-c00-cell"/>
          <p:cNvSpPr/>
          <p:nvPr/>
        </p:nvSpPr>
        <p:spPr>
          <a:xfrm>
            <a:off x="594360" y="4924697"/>
            <a:ext cx="335356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5-element000-table-r05-c00-text"/>
          <p:cNvSpPr txBox="1"/>
          <p:nvPr/>
        </p:nvSpPr>
        <p:spPr>
          <a:xfrm>
            <a:off x="685800" y="4997849"/>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S060 | 4-year capital leader</a:t>
            </a:r>
          </a:p>
        </p:txBody>
      </p:sp>
      <p:sp>
        <p:nvSpPr>
          <p:cNvPr id="87" name="slide015-element000-table-r05-c01-cell"/>
          <p:cNvSpPr/>
          <p:nvPr/>
        </p:nvSpPr>
        <p:spPr>
          <a:xfrm>
            <a:off x="3947922" y="4924697"/>
            <a:ext cx="174385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5-element000-table-r05-c01-text"/>
          <p:cNvSpPr txBox="1"/>
          <p:nvPr/>
        </p:nvSpPr>
        <p:spPr>
          <a:xfrm>
            <a:off x="4039361" y="4997849"/>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195,190</a:t>
            </a:r>
          </a:p>
        </p:txBody>
      </p:sp>
      <p:sp>
        <p:nvSpPr>
          <p:cNvPr id="89" name="slide015-element000-table-r05-c02-cell"/>
          <p:cNvSpPr/>
          <p:nvPr/>
        </p:nvSpPr>
        <p:spPr>
          <a:xfrm>
            <a:off x="5691774" y="4924697"/>
            <a:ext cx="1341424"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5-element000-table-r05-c02-text"/>
          <p:cNvSpPr txBox="1"/>
          <p:nvPr/>
        </p:nvSpPr>
        <p:spPr>
          <a:xfrm>
            <a:off x="5783214" y="4997849"/>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30.69%</a:t>
            </a:r>
          </a:p>
        </p:txBody>
      </p:sp>
      <p:sp>
        <p:nvSpPr>
          <p:cNvPr id="91" name="slide015-element000-table-r05-c03-cell"/>
          <p:cNvSpPr/>
          <p:nvPr/>
        </p:nvSpPr>
        <p:spPr>
          <a:xfrm>
            <a:off x="7033199" y="4924697"/>
            <a:ext cx="1341424"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5-element000-table-r05-c03-text"/>
          <p:cNvSpPr txBox="1"/>
          <p:nvPr/>
        </p:nvSpPr>
        <p:spPr>
          <a:xfrm>
            <a:off x="7124639" y="4997849"/>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80.68%</a:t>
            </a:r>
          </a:p>
        </p:txBody>
      </p:sp>
      <p:sp>
        <p:nvSpPr>
          <p:cNvPr id="93" name="slide015-element000-table-r05-c04-cell"/>
          <p:cNvSpPr/>
          <p:nvPr/>
        </p:nvSpPr>
        <p:spPr>
          <a:xfrm>
            <a:off x="8374623" y="4924697"/>
            <a:ext cx="1609709"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5-element000-table-r05-c04-text"/>
          <p:cNvSpPr txBox="1"/>
          <p:nvPr/>
        </p:nvSpPr>
        <p:spPr>
          <a:xfrm>
            <a:off x="8466063" y="4997849"/>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2226.45</a:t>
            </a:r>
          </a:p>
        </p:txBody>
      </p:sp>
      <p:sp>
        <p:nvSpPr>
          <p:cNvPr id="95" name="slide015-element000-table-r05-c05-cell"/>
          <p:cNvSpPr/>
          <p:nvPr/>
        </p:nvSpPr>
        <p:spPr>
          <a:xfrm>
            <a:off x="9984333" y="4924697"/>
            <a:ext cx="1609709"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15-element000-table-r05-c05-text"/>
          <p:cNvSpPr txBox="1"/>
          <p:nvPr/>
        </p:nvSpPr>
        <p:spPr>
          <a:xfrm>
            <a:off x="10075773" y="4997849"/>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1652.54</a:t>
            </a:r>
          </a:p>
        </p:txBody>
      </p:sp>
      <p:sp>
        <p:nvSpPr>
          <p:cNvPr id="97" name="slide015-element000-table-r05-c06-cell"/>
          <p:cNvSpPr/>
          <p:nvPr/>
        </p:nvSpPr>
        <p:spPr>
          <a:xfrm>
            <a:off x="11594043" y="4924697"/>
            <a:ext cx="120728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15-element000-table-r05-c06-text"/>
          <p:cNvSpPr txBox="1"/>
          <p:nvPr/>
        </p:nvSpPr>
        <p:spPr>
          <a:xfrm>
            <a:off x="11685483" y="4997849"/>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2.99%</a:t>
            </a:r>
          </a:p>
        </p:txBody>
      </p:sp>
      <p:sp>
        <p:nvSpPr>
          <p:cNvPr id="99" name="slide015-element000-table-r05-c07-cell"/>
          <p:cNvSpPr/>
          <p:nvPr/>
        </p:nvSpPr>
        <p:spPr>
          <a:xfrm>
            <a:off x="12801325" y="4924697"/>
            <a:ext cx="1207282" cy="600891"/>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15-element000-table-r05-c07-text"/>
          <p:cNvSpPr txBox="1"/>
          <p:nvPr/>
        </p:nvSpPr>
        <p:spPr>
          <a:xfrm>
            <a:off x="12892765" y="4997849"/>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38.35%</a:t>
            </a:r>
          </a:p>
        </p:txBody>
      </p:sp>
      <p:sp>
        <p:nvSpPr>
          <p:cNvPr id="101" name="slide015-element000-table-r06-c00-cell"/>
          <p:cNvSpPr/>
          <p:nvPr/>
        </p:nvSpPr>
        <p:spPr>
          <a:xfrm>
            <a:off x="594360" y="5525588"/>
            <a:ext cx="335356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15-element000-table-r06-c00-text"/>
          <p:cNvSpPr txBox="1"/>
          <p:nvPr/>
        </p:nvSpPr>
        <p:spPr>
          <a:xfrm>
            <a:off x="685800" y="5598740"/>
            <a:ext cx="317068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P028 | 2025 capital leader</a:t>
            </a:r>
          </a:p>
        </p:txBody>
      </p:sp>
      <p:sp>
        <p:nvSpPr>
          <p:cNvPr id="103" name="slide015-element000-table-r06-c01-cell"/>
          <p:cNvSpPr/>
          <p:nvPr/>
        </p:nvSpPr>
        <p:spPr>
          <a:xfrm>
            <a:off x="3947922" y="5525588"/>
            <a:ext cx="174385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15-element000-table-r06-c01-text"/>
          <p:cNvSpPr txBox="1"/>
          <p:nvPr/>
        </p:nvSpPr>
        <p:spPr>
          <a:xfrm>
            <a:off x="4039361" y="5598740"/>
            <a:ext cx="156097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16,675</a:t>
            </a:r>
          </a:p>
        </p:txBody>
      </p:sp>
      <p:sp>
        <p:nvSpPr>
          <p:cNvPr id="105" name="slide015-element000-table-r06-c02-cell"/>
          <p:cNvSpPr/>
          <p:nvPr/>
        </p:nvSpPr>
        <p:spPr>
          <a:xfrm>
            <a:off x="5691774" y="5525588"/>
            <a:ext cx="1341424"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lide015-element000-table-r06-c02-text"/>
          <p:cNvSpPr txBox="1"/>
          <p:nvPr/>
        </p:nvSpPr>
        <p:spPr>
          <a:xfrm>
            <a:off x="5783214" y="5598740"/>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26.58%</a:t>
            </a:r>
          </a:p>
        </p:txBody>
      </p:sp>
      <p:sp>
        <p:nvSpPr>
          <p:cNvPr id="107" name="slide015-element000-table-r06-c03-cell"/>
          <p:cNvSpPr/>
          <p:nvPr/>
        </p:nvSpPr>
        <p:spPr>
          <a:xfrm>
            <a:off x="7033199" y="5525588"/>
            <a:ext cx="1341424"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slide015-element000-table-r06-c03-text"/>
          <p:cNvSpPr txBox="1"/>
          <p:nvPr/>
        </p:nvSpPr>
        <p:spPr>
          <a:xfrm>
            <a:off x="7124639" y="5598740"/>
            <a:ext cx="1158544"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90.34%</a:t>
            </a:r>
          </a:p>
        </p:txBody>
      </p:sp>
      <p:sp>
        <p:nvSpPr>
          <p:cNvPr id="109" name="slide015-element000-table-r06-c04-cell"/>
          <p:cNvSpPr/>
          <p:nvPr/>
        </p:nvSpPr>
        <p:spPr>
          <a:xfrm>
            <a:off x="8374623" y="5525588"/>
            <a:ext cx="1609709"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lide015-element000-table-r06-c04-text"/>
          <p:cNvSpPr txBox="1"/>
          <p:nvPr/>
        </p:nvSpPr>
        <p:spPr>
          <a:xfrm>
            <a:off x="8466063" y="5598740"/>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628.17</a:t>
            </a:r>
          </a:p>
        </p:txBody>
      </p:sp>
      <p:sp>
        <p:nvSpPr>
          <p:cNvPr id="111" name="slide015-element000-table-r06-c05-cell"/>
          <p:cNvSpPr/>
          <p:nvPr/>
        </p:nvSpPr>
        <p:spPr>
          <a:xfrm>
            <a:off x="9984333" y="5525588"/>
            <a:ext cx="1609709"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lide015-element000-table-r06-c05-text"/>
          <p:cNvSpPr txBox="1"/>
          <p:nvPr/>
        </p:nvSpPr>
        <p:spPr>
          <a:xfrm>
            <a:off x="10075773" y="5598740"/>
            <a:ext cx="1426829"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356.67</a:t>
            </a:r>
          </a:p>
        </p:txBody>
      </p:sp>
      <p:sp>
        <p:nvSpPr>
          <p:cNvPr id="113" name="slide015-element000-table-r06-c06-cell"/>
          <p:cNvSpPr/>
          <p:nvPr/>
        </p:nvSpPr>
        <p:spPr>
          <a:xfrm>
            <a:off x="11594043" y="5525588"/>
            <a:ext cx="120728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lide015-element000-table-r06-c06-text"/>
          <p:cNvSpPr txBox="1"/>
          <p:nvPr/>
        </p:nvSpPr>
        <p:spPr>
          <a:xfrm>
            <a:off x="11685483" y="5598740"/>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-10.67%</a:t>
            </a:r>
          </a:p>
        </p:txBody>
      </p:sp>
      <p:sp>
        <p:nvSpPr>
          <p:cNvPr id="115" name="slide015-element000-table-r06-c07-cell"/>
          <p:cNvSpPr/>
          <p:nvPr/>
        </p:nvSpPr>
        <p:spPr>
          <a:xfrm>
            <a:off x="12801325" y="5525588"/>
            <a:ext cx="1207282" cy="600891"/>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slide015-element000-table-r06-c07-text"/>
          <p:cNvSpPr txBox="1"/>
          <p:nvPr/>
        </p:nvSpPr>
        <p:spPr>
          <a:xfrm>
            <a:off x="12892765" y="5598740"/>
            <a:ext cx="1024402" cy="454587"/>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95.18%</a:t>
            </a:r>
          </a:p>
        </p:txBody>
      </p:sp>
      <p:sp>
        <p:nvSpPr>
          <p:cNvPr id="117" name="slide015-element001-text"/>
          <p:cNvSpPr txBox="1"/>
          <p:nvPr/>
        </p:nvSpPr>
        <p:spPr>
          <a:xfrm>
            <a:off x="594360" y="6492240"/>
            <a:ext cx="13350240" cy="91440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536578"/>
                </a:solidFill>
                <a:latin typeface="Arial"/>
              </a:rPr>
              <a:t>Expected gain/loss use the model's probabilities and the recorded stakes. They are not average realized wins/losses.</a:t>
            </a:r>
          </a:p>
          <a:p>
            <a:pPr algn="l">
              <a:lnSpc>
                <a:spcPct val="100000"/>
              </a:lnSpc>
              <a:spcBef>
                <a:spcPts val="0"/>
              </a:spcBef>
              <a:spcAft>
                <a:spcPts val="0"/>
              </a:spcAft>
            </a:pPr>
            <a:r>
              <a:rPr sz="1900" b="0">
                <a:solidFill>
                  <a:srgbClr val="536578"/>
                </a:solidFill>
                <a:latin typeface="Arial"/>
              </a:rPr>
              <a:t>Full observed payoffs, uncertainty and all 116 / 88 account metrics are in the companion workbook.</a:t>
            </a:r>
          </a:p>
        </p:txBody>
      </p:sp>
      <p:cxnSp>
        <p:nvCxnSpPr>
          <p:cNvPr id="118" name="slide01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19" name="slide01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metrics.parquet; metrics_continuous.parquet; metrics_single.parquet | Full paths in notes</a:t>
            </a:r>
          </a:p>
        </p:txBody>
      </p:sp>
      <p:sp>
        <p:nvSpPr>
          <p:cNvPr id="120" name="slide01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Historical profit depends on prices and path assumptions</a:t>
            </a:r>
          </a:p>
        </p:txBody>
      </p:sp>
      <p:sp>
        <p:nvSpPr>
          <p:cNvPr id="4" name="slide01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S060 illustrates why a quote replay and a payout-only repricing answer different questions.</a:t>
            </a:r>
          </a:p>
        </p:txBody>
      </p:sp>
      <p:sp>
        <p:nvSpPr>
          <p:cNvPr id="5" name="slide016-element000-card-background"/>
          <p:cNvSpPr/>
          <p:nvPr/>
        </p:nvSpPr>
        <p:spPr>
          <a:xfrm>
            <a:off x="594360" y="1938528"/>
            <a:ext cx="4251960" cy="16002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6-element000-card-accent"/>
          <p:cNvSpPr/>
          <p:nvPr/>
        </p:nvSpPr>
        <p:spPr>
          <a:xfrm>
            <a:off x="594360" y="1938528"/>
            <a:ext cx="50292" cy="16002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16-element000-card-label"/>
          <p:cNvSpPr txBox="1"/>
          <p:nvPr/>
        </p:nvSpPr>
        <p:spPr>
          <a:xfrm>
            <a:off x="749808" y="2048256"/>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ORIGINAL BEST-QUOTE PROFIT</a:t>
            </a:r>
          </a:p>
        </p:txBody>
      </p:sp>
      <p:sp>
        <p:nvSpPr>
          <p:cNvPr id="8" name="slide016-element000-card-value"/>
          <p:cNvSpPr txBox="1"/>
          <p:nvPr/>
        </p:nvSpPr>
        <p:spPr>
          <a:xfrm>
            <a:off x="749808" y="2304288"/>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95,190</a:t>
            </a:r>
          </a:p>
        </p:txBody>
      </p:sp>
      <p:sp>
        <p:nvSpPr>
          <p:cNvPr id="9" name="slide016-element000-card-detail"/>
          <p:cNvSpPr txBox="1"/>
          <p:nvPr/>
        </p:nvSpPr>
        <p:spPr>
          <a:xfrm>
            <a:off x="749808" y="2834640"/>
            <a:ext cx="3941064" cy="6675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Saved choices and cash path</a:t>
            </a:r>
          </a:p>
        </p:txBody>
      </p:sp>
      <p:sp>
        <p:nvSpPr>
          <p:cNvPr id="10" name="slide016-element001-card-background"/>
          <p:cNvSpPr/>
          <p:nvPr/>
        </p:nvSpPr>
        <p:spPr>
          <a:xfrm>
            <a:off x="5175504" y="1938528"/>
            <a:ext cx="4251960" cy="16002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6-element001-card-accent"/>
          <p:cNvSpPr/>
          <p:nvPr/>
        </p:nvSpPr>
        <p:spPr>
          <a:xfrm>
            <a:off x="5175504" y="1938528"/>
            <a:ext cx="50292" cy="16002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6-element001-card-label"/>
          <p:cNvSpPr txBox="1"/>
          <p:nvPr/>
        </p:nvSpPr>
        <p:spPr>
          <a:xfrm>
            <a:off x="5330952" y="2048256"/>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BET365 POLICY REPLAY PROFIT</a:t>
            </a:r>
          </a:p>
        </p:txBody>
      </p:sp>
      <p:sp>
        <p:nvSpPr>
          <p:cNvPr id="13" name="slide016-element001-card-value"/>
          <p:cNvSpPr txBox="1"/>
          <p:nvPr/>
        </p:nvSpPr>
        <p:spPr>
          <a:xfrm>
            <a:off x="5330952" y="2304288"/>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55,952</a:t>
            </a:r>
          </a:p>
        </p:txBody>
      </p:sp>
      <p:sp>
        <p:nvSpPr>
          <p:cNvPr id="14" name="slide016-element001-card-detail"/>
          <p:cNvSpPr txBox="1"/>
          <p:nvPr/>
        </p:nvSpPr>
        <p:spPr>
          <a:xfrm>
            <a:off x="5330952" y="2834640"/>
            <a:ext cx="3941064" cy="6675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Recompute selection and sizing</a:t>
            </a:r>
          </a:p>
        </p:txBody>
      </p:sp>
      <p:sp>
        <p:nvSpPr>
          <p:cNvPr id="15" name="slide016-element002-card-background"/>
          <p:cNvSpPr/>
          <p:nvPr/>
        </p:nvSpPr>
        <p:spPr>
          <a:xfrm>
            <a:off x="9756648" y="1938528"/>
            <a:ext cx="4251960" cy="16002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6-element002-card-accent"/>
          <p:cNvSpPr/>
          <p:nvPr/>
        </p:nvSpPr>
        <p:spPr>
          <a:xfrm>
            <a:off x="9756648" y="1938528"/>
            <a:ext cx="50292" cy="1600200"/>
          </a:xfrm>
          <a:prstGeom prst="rect">
            <a:avLst/>
          </a:prstGeom>
          <a:solidFill>
            <a:srgbClr val="B4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6-element002-card-label"/>
          <p:cNvSpPr txBox="1"/>
          <p:nvPr/>
        </p:nvSpPr>
        <p:spPr>
          <a:xfrm>
            <a:off x="9912096" y="2048256"/>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FIXED-EXPOSURE REPRICING</a:t>
            </a:r>
          </a:p>
        </p:txBody>
      </p:sp>
      <p:sp>
        <p:nvSpPr>
          <p:cNvPr id="18" name="slide016-element002-card-value"/>
          <p:cNvSpPr txBox="1"/>
          <p:nvPr/>
        </p:nvSpPr>
        <p:spPr>
          <a:xfrm>
            <a:off x="9912096" y="2304288"/>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B44949"/>
                </a:solidFill>
                <a:latin typeface="Arial"/>
              </a:rPr>
              <a:t>-30,549</a:t>
            </a:r>
          </a:p>
        </p:txBody>
      </p:sp>
      <p:sp>
        <p:nvSpPr>
          <p:cNvPr id="19" name="slide016-element002-card-detail"/>
          <p:cNvSpPr txBox="1"/>
          <p:nvPr/>
        </p:nvSpPr>
        <p:spPr>
          <a:xfrm>
            <a:off x="9912096" y="2834640"/>
            <a:ext cx="3941064" cy="6675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Keep original bets/stakes; change payouts</a:t>
            </a:r>
          </a:p>
        </p:txBody>
      </p:sp>
      <p:sp>
        <p:nvSpPr>
          <p:cNvPr id="20" name="slide016-element003-text"/>
          <p:cNvSpPr txBox="1"/>
          <p:nvPr/>
        </p:nvSpPr>
        <p:spPr>
          <a:xfrm>
            <a:off x="594360" y="4096512"/>
            <a:ext cx="6446520" cy="237744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Best quotes may come from different books.</a:t>
            </a:r>
          </a:p>
          <a:p>
            <a:pPr algn="l">
              <a:lnSpc>
                <a:spcPct val="100000"/>
              </a:lnSpc>
              <a:spcBef>
                <a:spcPts val="0"/>
              </a:spcBef>
              <a:spcAft>
                <a:spcPts val="0"/>
              </a:spcAft>
            </a:pPr>
            <a:r>
              <a:rPr sz="2200" b="0">
                <a:solidFill>
                  <a:srgbClr val="11243A"/>
                </a:solidFill>
                <a:latin typeface="Arial"/>
              </a:rPr>
              <a:t>Capture clocks and availability are unverified.</a:t>
            </a:r>
          </a:p>
          <a:p>
            <a:pPr algn="l">
              <a:lnSpc>
                <a:spcPct val="100000"/>
              </a:lnSpc>
              <a:spcBef>
                <a:spcPts val="0"/>
              </a:spcBef>
              <a:spcAft>
                <a:spcPts val="0"/>
              </a:spcAft>
            </a:pPr>
            <a:r>
              <a:rPr sz="2200" b="0">
                <a:solidFill>
                  <a:srgbClr val="11243A"/>
                </a:solidFill>
                <a:latin typeface="Arial"/>
              </a:rPr>
              <a:t>No stake limits or observed transaction costs are modeled.</a:t>
            </a:r>
          </a:p>
        </p:txBody>
      </p:sp>
      <p:sp>
        <p:nvSpPr>
          <p:cNvPr id="21" name="slide016-element004-text"/>
          <p:cNvSpPr txBox="1"/>
          <p:nvPr/>
        </p:nvSpPr>
        <p:spPr>
          <a:xfrm>
            <a:off x="7360920" y="4096512"/>
            <a:ext cx="6629400" cy="237744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Selections and sizing react to odds.</a:t>
            </a:r>
          </a:p>
          <a:p>
            <a:pPr algn="l">
              <a:lnSpc>
                <a:spcPct val="100000"/>
              </a:lnSpc>
              <a:spcBef>
                <a:spcPts val="0"/>
              </a:spcBef>
              <a:spcAft>
                <a:spcPts val="0"/>
              </a:spcAft>
            </a:pPr>
            <a:r>
              <a:rPr sz="2200" b="0">
                <a:solidFill>
                  <a:srgbClr val="11243A"/>
                </a:solidFill>
                <a:latin typeface="Arial"/>
              </a:rPr>
              <a:t>Cash exposure changes the later path.</a:t>
            </a:r>
          </a:p>
          <a:p>
            <a:pPr algn="l">
              <a:lnSpc>
                <a:spcPct val="100000"/>
              </a:lnSpc>
              <a:spcBef>
                <a:spcPts val="0"/>
              </a:spcBef>
              <a:spcAft>
                <a:spcPts val="0"/>
              </a:spcAft>
            </a:pPr>
            <a:r>
              <a:rPr sz="2200" b="0">
                <a:solidFill>
                  <a:srgbClr val="11243A"/>
                </a:solidFill>
                <a:latin typeface="Arial"/>
              </a:rPr>
              <a:t>Whole-date bootstrap intervals do not remove model or strategy selection uncertainty.</a:t>
            </a:r>
          </a:p>
        </p:txBody>
      </p:sp>
      <p:sp>
        <p:nvSpPr>
          <p:cNvPr id="22" name="slide016-element005-text"/>
          <p:cNvSpPr txBox="1"/>
          <p:nvPr/>
        </p:nvSpPr>
        <p:spPr>
          <a:xfrm>
            <a:off x="594360" y="6995160"/>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B44949"/>
                </a:solidFill>
                <a:latin typeface="Arial"/>
              </a:rPr>
              <a:t>These archived-price paths do not demonstrate executable fills, arbitrage or prospective investment returns.</a:t>
            </a:r>
          </a:p>
        </p:txBody>
      </p:sp>
      <p:cxnSp>
        <p:nvCxnSpPr>
          <p:cNvPr id="23" name="slide01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4" name="slide01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metrics_continuous.parquet; quote_summary.json; PROTOCOL.md | Full paths in notes</a:t>
            </a:r>
          </a:p>
        </p:txBody>
      </p:sp>
      <p:sp>
        <p:nvSpPr>
          <p:cNvPr id="25" name="slide01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 prospective pipeline exists; trading P&amp;L does not</a:t>
            </a:r>
          </a:p>
        </p:txBody>
      </p:sp>
      <p:sp>
        <p:nvSpPr>
          <p:cNvPr id="4" name="slide01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Status of the saved 20 October snapshot. October 23–25 targets have not been scored in this presentation.</a:t>
            </a:r>
          </a:p>
        </p:txBody>
      </p:sp>
      <p:sp>
        <p:nvSpPr>
          <p:cNvPr id="5" name="slide017-element000-card-background"/>
          <p:cNvSpPr/>
          <p:nvPr/>
        </p:nvSpPr>
        <p:spPr>
          <a:xfrm>
            <a:off x="594360" y="1920240"/>
            <a:ext cx="4251960" cy="16459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7-element000-card-accent"/>
          <p:cNvSpPr/>
          <p:nvPr/>
        </p:nvSpPr>
        <p:spPr>
          <a:xfrm>
            <a:off x="594360" y="1920240"/>
            <a:ext cx="50292" cy="16459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17-element000-card-label"/>
          <p:cNvSpPr txBox="1"/>
          <p:nvPr/>
        </p:nvSpPr>
        <p:spPr>
          <a:xfrm>
            <a:off x="749808" y="20299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RESOLVED FIXTURES</a:t>
            </a:r>
          </a:p>
        </p:txBody>
      </p:sp>
      <p:sp>
        <p:nvSpPr>
          <p:cNvPr id="8" name="slide017-element000-card-value"/>
          <p:cNvSpPr txBox="1"/>
          <p:nvPr/>
        </p:nvSpPr>
        <p:spPr>
          <a:xfrm>
            <a:off x="749808" y="22860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a:t>
            </a:r>
          </a:p>
        </p:txBody>
      </p:sp>
      <p:sp>
        <p:nvSpPr>
          <p:cNvPr id="9" name="slide017-element000-card-detail"/>
          <p:cNvSpPr txBox="1"/>
          <p:nvPr/>
        </p:nvSpPr>
        <p:spPr>
          <a:xfrm>
            <a:off x="749808" y="2816352"/>
            <a:ext cx="3941064" cy="7132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40 predictions from four frozen models</a:t>
            </a:r>
          </a:p>
        </p:txBody>
      </p:sp>
      <p:sp>
        <p:nvSpPr>
          <p:cNvPr id="10" name="slide017-element001-card-background"/>
          <p:cNvSpPr/>
          <p:nvPr/>
        </p:nvSpPr>
        <p:spPr>
          <a:xfrm>
            <a:off x="5175504" y="1920240"/>
            <a:ext cx="4251960" cy="16459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7-element001-card-accent"/>
          <p:cNvSpPr/>
          <p:nvPr/>
        </p:nvSpPr>
        <p:spPr>
          <a:xfrm>
            <a:off x="5175504" y="1920240"/>
            <a:ext cx="50292" cy="16459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7-element001-card-label"/>
          <p:cNvSpPr txBox="1"/>
          <p:nvPr/>
        </p:nvSpPr>
        <p:spPr>
          <a:xfrm>
            <a:off x="5330952" y="20299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NEXT COHORT</a:t>
            </a:r>
          </a:p>
        </p:txBody>
      </p:sp>
      <p:sp>
        <p:nvSpPr>
          <p:cNvPr id="13" name="slide017-element001-card-value"/>
          <p:cNvSpPr txBox="1"/>
          <p:nvPr/>
        </p:nvSpPr>
        <p:spPr>
          <a:xfrm>
            <a:off x="5330952" y="22860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120 pending</a:t>
            </a:r>
          </a:p>
        </p:txBody>
      </p:sp>
      <p:sp>
        <p:nvSpPr>
          <p:cNvPr id="14" name="slide017-element001-card-detail"/>
          <p:cNvSpPr txBox="1"/>
          <p:nvPr/>
        </p:nvSpPr>
        <p:spPr>
          <a:xfrm>
            <a:off x="5330952" y="2816352"/>
            <a:ext cx="3941064" cy="7132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40 earlier-model + 80 new-model forecasts</a:t>
            </a:r>
          </a:p>
        </p:txBody>
      </p:sp>
      <p:sp>
        <p:nvSpPr>
          <p:cNvPr id="15" name="slide017-element002-card-background"/>
          <p:cNvSpPr/>
          <p:nvPr/>
        </p:nvSpPr>
        <p:spPr>
          <a:xfrm>
            <a:off x="9756648" y="1920240"/>
            <a:ext cx="4251960" cy="16459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7-element002-card-accent"/>
          <p:cNvSpPr/>
          <p:nvPr/>
        </p:nvSpPr>
        <p:spPr>
          <a:xfrm>
            <a:off x="9756648" y="1920240"/>
            <a:ext cx="50292" cy="1645920"/>
          </a:xfrm>
          <a:prstGeom prst="rect">
            <a:avLst/>
          </a:prstGeom>
          <a:solidFill>
            <a:srgbClr val="D1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7-element002-card-label"/>
          <p:cNvSpPr txBox="1"/>
          <p:nvPr/>
        </p:nvSpPr>
        <p:spPr>
          <a:xfrm>
            <a:off x="9912096" y="20299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RECORDED PROSPECTIVE TRADES</a:t>
            </a:r>
          </a:p>
        </p:txBody>
      </p:sp>
      <p:sp>
        <p:nvSpPr>
          <p:cNvPr id="18" name="slide017-element002-card-value"/>
          <p:cNvSpPr txBox="1"/>
          <p:nvPr/>
        </p:nvSpPr>
        <p:spPr>
          <a:xfrm>
            <a:off x="9912096" y="22860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D18B18"/>
                </a:solidFill>
                <a:latin typeface="Arial"/>
              </a:rPr>
              <a:t>0</a:t>
            </a:r>
          </a:p>
        </p:txBody>
      </p:sp>
      <p:sp>
        <p:nvSpPr>
          <p:cNvPr id="19" name="slide017-element002-card-detail"/>
          <p:cNvSpPr txBox="1"/>
          <p:nvPr/>
        </p:nvSpPr>
        <p:spPr>
          <a:xfrm>
            <a:off x="9912096" y="2816352"/>
            <a:ext cx="3941064" cy="7132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No valid pre-kickoff quote/stake ledger</a:t>
            </a:r>
          </a:p>
        </p:txBody>
      </p:sp>
      <p:sp>
        <p:nvSpPr>
          <p:cNvPr id="20" name="slide017-element003-text"/>
          <p:cNvSpPr txBox="1"/>
          <p:nvPr/>
        </p:nvSpPr>
        <p:spPr>
          <a:xfrm>
            <a:off x="594360" y="4133087"/>
            <a:ext cx="6400800" cy="2194560"/>
          </a:xfrm>
          <a:prstGeom prst="rect">
            <a:avLst/>
          </a:prstGeom>
          <a:noFill/>
        </p:spPr>
        <p:txBody>
          <a:bodyPr wrap="square" lIns="0" rIns="0" tIns="0" bIns="0" anchor="t">
            <a:noAutofit/>
          </a:bodyPr>
          <a:lstStyle/>
          <a:p>
            <a:pPr algn="l">
              <a:lnSpc>
                <a:spcPct val="100000"/>
              </a:lnSpc>
              <a:spcBef>
                <a:spcPts val="0"/>
              </a:spcBef>
              <a:spcAft>
                <a:spcPts val="0"/>
              </a:spcAft>
            </a:pPr>
            <a:r>
              <a:rPr sz="2300" b="0">
                <a:solidFill>
                  <a:srgbClr val="11243A"/>
                </a:solidFill>
                <a:latin typeface="Arial"/>
              </a:rPr>
              <a:t>All four earlier models scored 6 / 10.</a:t>
            </a:r>
          </a:p>
          <a:p>
            <a:pPr algn="l">
              <a:lnSpc>
                <a:spcPct val="100000"/>
              </a:lnSpc>
              <a:spcBef>
                <a:spcPts val="0"/>
              </a:spcBef>
              <a:spcAft>
                <a:spcPts val="0"/>
              </a:spcAft>
            </a:pPr>
            <a:r>
              <a:rPr sz="2300" b="0">
                <a:solidFill>
                  <a:srgbClr val="11243A"/>
                </a:solidFill>
                <a:latin typeface="Arial"/>
              </a:rPr>
              <a:t>60% accuracy; 95% Wilson interval:</a:t>
            </a:r>
          </a:p>
          <a:p>
            <a:pPr algn="l">
              <a:lnSpc>
                <a:spcPct val="100000"/>
              </a:lnSpc>
              <a:spcBef>
                <a:spcPts val="0"/>
              </a:spcBef>
              <a:spcAft>
                <a:spcPts val="0"/>
              </a:spcAft>
            </a:pPr>
            <a:r>
              <a:rPr sz="2300" b="0">
                <a:solidFill>
                  <a:srgbClr val="11243A"/>
                </a:solidFill>
                <a:latin typeface="Arial"/>
              </a:rPr>
              <a:t>31.27%–83.18%.</a:t>
            </a:r>
          </a:p>
          <a:p>
            <a:pPr algn="l">
              <a:lnSpc>
                <a:spcPct val="100000"/>
              </a:lnSpc>
              <a:spcBef>
                <a:spcPts val="0"/>
              </a:spcBef>
              <a:spcAft>
                <a:spcPts val="0"/>
              </a:spcAft>
            </a:pPr>
            <a:r>
              <a:rPr sz="2300" b="0">
                <a:solidFill>
                  <a:srgbClr val="11243A"/>
                </a:solidFill>
                <a:latin typeface="Arial"/>
              </a:rPr>
              <a:t>No winner was selected.</a:t>
            </a:r>
          </a:p>
        </p:txBody>
      </p:sp>
      <p:sp>
        <p:nvSpPr>
          <p:cNvPr id="21" name="slide017-element004-text"/>
          <p:cNvSpPr txBox="1"/>
          <p:nvPr/>
        </p:nvSpPr>
        <p:spPr>
          <a:xfrm>
            <a:off x="7360920" y="4133087"/>
            <a:ext cx="6583680" cy="2194560"/>
          </a:xfrm>
          <a:prstGeom prst="rect">
            <a:avLst/>
          </a:prstGeom>
          <a:noFill/>
        </p:spPr>
        <p:txBody>
          <a:bodyPr wrap="square" lIns="0" rIns="0" tIns="0" bIns="0" anchor="t">
            <a:noAutofit/>
          </a:bodyPr>
          <a:lstStyle/>
          <a:p>
            <a:pPr algn="l">
              <a:lnSpc>
                <a:spcPct val="100000"/>
              </a:lnSpc>
              <a:spcBef>
                <a:spcPts val="0"/>
              </a:spcBef>
              <a:spcAft>
                <a:spcPts val="0"/>
              </a:spcAft>
            </a:pPr>
            <a:r>
              <a:rPr sz="2300" b="0">
                <a:solidFill>
                  <a:srgbClr val="11243A"/>
                </a:solidFill>
                <a:latin typeface="Arial"/>
              </a:rPr>
              <a:t>All 120 pending predictions refer to the same ten upcoming fixtures.</a:t>
            </a:r>
          </a:p>
          <a:p>
            <a:pPr algn="l">
              <a:lnSpc>
                <a:spcPct val="100000"/>
              </a:lnSpc>
              <a:spcBef>
                <a:spcPts val="0"/>
              </a:spcBef>
              <a:spcAft>
                <a:spcPts val="0"/>
              </a:spcAft>
            </a:pPr>
            <a:r>
              <a:rPr sz="2300" b="0">
                <a:solidFill>
                  <a:srgbClr val="11243A"/>
                </a:solidFill>
                <a:latin typeface="Arial"/>
              </a:rPr>
              <a:t>The reviewed export copies the same 80 new-model records; it adds no forecasts.</a:t>
            </a:r>
          </a:p>
        </p:txBody>
      </p:sp>
      <p:sp>
        <p:nvSpPr>
          <p:cNvPr id="22" name="slide017-element005-text"/>
          <p:cNvSpPr txBox="1"/>
          <p:nvPr/>
        </p:nvSpPr>
        <p:spPr>
          <a:xfrm>
            <a:off x="594360" y="6995160"/>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Hash-chained records retain creation times, inputs and model hashes. Missing prices mean no prospective ROI or wealth graph.</a:t>
            </a:r>
          </a:p>
        </p:txBody>
      </p:sp>
      <p:cxnSp>
        <p:nvCxnSpPr>
          <p:cNvPr id="23" name="slide01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4" name="slide01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prospective_status.json; model_scores.csv; forecast_release.json | Full paths in notes</a:t>
            </a:r>
          </a:p>
        </p:txBody>
      </p:sp>
      <p:sp>
        <p:nvSpPr>
          <p:cNvPr id="25" name="slide01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What the implemented results support</a:t>
            </a:r>
          </a:p>
        </p:txBody>
      </p:sp>
      <p:sp>
        <p:nvSpPr>
          <p:cNvPr id="4" name="slide01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A reproducible research and forecasting system, with clear negative as well as positive findings.</a:t>
            </a:r>
          </a:p>
        </p:txBody>
      </p:sp>
      <p:sp>
        <p:nvSpPr>
          <p:cNvPr id="5" name="slide018-element000-card-background"/>
          <p:cNvSpPr/>
          <p:nvPr/>
        </p:nvSpPr>
        <p:spPr>
          <a:xfrm>
            <a:off x="594360" y="196596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8-element000-card-accent"/>
          <p:cNvSpPr/>
          <p:nvPr/>
        </p:nvSpPr>
        <p:spPr>
          <a:xfrm>
            <a:off x="594360" y="196596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18-element000-card-label"/>
          <p:cNvSpPr txBox="1"/>
          <p:nvPr/>
        </p:nvSpPr>
        <p:spPr>
          <a:xfrm>
            <a:off x="749808" y="207568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PREDICTION</a:t>
            </a:r>
          </a:p>
        </p:txBody>
      </p:sp>
      <p:sp>
        <p:nvSpPr>
          <p:cNvPr id="8" name="slide018-element000-card-value"/>
          <p:cNvSpPr txBox="1"/>
          <p:nvPr/>
        </p:nvSpPr>
        <p:spPr>
          <a:xfrm>
            <a:off x="749808" y="233172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Market baseline</a:t>
            </a:r>
          </a:p>
        </p:txBody>
      </p:sp>
      <p:sp>
        <p:nvSpPr>
          <p:cNvPr id="9" name="slide018-element000-card-detail"/>
          <p:cNvSpPr txBox="1"/>
          <p:nvPr/>
        </p:nvSpPr>
        <p:spPr>
          <a:xfrm>
            <a:off x="749808" y="286207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Lowest pooled log loss and Brier</a:t>
            </a:r>
          </a:p>
        </p:txBody>
      </p:sp>
      <p:sp>
        <p:nvSpPr>
          <p:cNvPr id="10" name="slide018-element001-card-background"/>
          <p:cNvSpPr/>
          <p:nvPr/>
        </p:nvSpPr>
        <p:spPr>
          <a:xfrm>
            <a:off x="5175504" y="196596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8-element001-card-accent"/>
          <p:cNvSpPr/>
          <p:nvPr/>
        </p:nvSpPr>
        <p:spPr>
          <a:xfrm>
            <a:off x="5175504" y="1965960"/>
            <a:ext cx="50292" cy="1417320"/>
          </a:xfrm>
          <a:prstGeom prst="rect">
            <a:avLst/>
          </a:prstGeom>
          <a:solidFill>
            <a:srgbClr val="D1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8-element001-card-label"/>
          <p:cNvSpPr txBox="1"/>
          <p:nvPr/>
        </p:nvSpPr>
        <p:spPr>
          <a:xfrm>
            <a:off x="5330952" y="207568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PLAYER EXPANSION</a:t>
            </a:r>
          </a:p>
        </p:txBody>
      </p:sp>
      <p:sp>
        <p:nvSpPr>
          <p:cNvPr id="13" name="slide018-element001-card-value"/>
          <p:cNvSpPr txBox="1"/>
          <p:nvPr/>
        </p:nvSpPr>
        <p:spPr>
          <a:xfrm>
            <a:off x="5330952" y="233172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D18B18"/>
                </a:solidFill>
                <a:latin typeface="Arial"/>
              </a:rPr>
              <a:t>No improvement</a:t>
            </a:r>
          </a:p>
        </p:txBody>
      </p:sp>
      <p:sp>
        <p:nvSpPr>
          <p:cNvPr id="14" name="slide018-element001-card-detail"/>
          <p:cNvSpPr txBox="1"/>
          <p:nvPr/>
        </p:nvSpPr>
        <p:spPr>
          <a:xfrm>
            <a:off x="5330952" y="286207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All six variants trail matched controls</a:t>
            </a:r>
          </a:p>
        </p:txBody>
      </p:sp>
      <p:sp>
        <p:nvSpPr>
          <p:cNvPr id="15" name="slide018-element002-card-background"/>
          <p:cNvSpPr/>
          <p:nvPr/>
        </p:nvSpPr>
        <p:spPr>
          <a:xfrm>
            <a:off x="9756648" y="196596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8-element002-card-accent"/>
          <p:cNvSpPr/>
          <p:nvPr/>
        </p:nvSpPr>
        <p:spPr>
          <a:xfrm>
            <a:off x="9756648" y="196596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8-element002-card-label"/>
          <p:cNvSpPr txBox="1"/>
          <p:nvPr/>
        </p:nvSpPr>
        <p:spPr>
          <a:xfrm>
            <a:off x="9912096" y="207568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TRADING</a:t>
            </a:r>
          </a:p>
        </p:txBody>
      </p:sp>
      <p:sp>
        <p:nvSpPr>
          <p:cNvPr id="18" name="slide018-element002-card-value"/>
          <p:cNvSpPr txBox="1"/>
          <p:nvPr/>
        </p:nvSpPr>
        <p:spPr>
          <a:xfrm>
            <a:off x="9912096" y="233172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Leaders differ</a:t>
            </a:r>
          </a:p>
        </p:txBody>
      </p:sp>
      <p:sp>
        <p:nvSpPr>
          <p:cNvPr id="19" name="slide018-element002-card-detail"/>
          <p:cNvSpPr txBox="1"/>
          <p:nvPr/>
        </p:nvSpPr>
        <p:spPr>
          <a:xfrm>
            <a:off x="9912096" y="286207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Probability loss and capital are distinct</a:t>
            </a:r>
          </a:p>
        </p:txBody>
      </p:sp>
      <p:sp>
        <p:nvSpPr>
          <p:cNvPr id="20" name="slide018-element003-text"/>
          <p:cNvSpPr txBox="1"/>
          <p:nvPr/>
        </p:nvSpPr>
        <p:spPr>
          <a:xfrm>
            <a:off x="594360" y="4114800"/>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a:solidFill>
                  <a:srgbClr val="0D897D"/>
                </a:solidFill>
                <a:latin typeface="Arial"/>
              </a:rPr>
              <a:t>The next valid evidence is already defined</a:t>
            </a:r>
          </a:p>
        </p:txBody>
      </p:sp>
      <p:sp>
        <p:nvSpPr>
          <p:cNvPr id="21" name="slide018-element004-text"/>
          <p:cNvSpPr txBox="1"/>
          <p:nvPr/>
        </p:nvSpPr>
        <p:spPr>
          <a:xfrm>
            <a:off x="594360" y="4892040"/>
            <a:ext cx="13350240" cy="1371600"/>
          </a:xfrm>
          <a:prstGeom prst="rect">
            <a:avLst/>
          </a:prstGeom>
          <a:noFill/>
        </p:spPr>
        <p:txBody>
          <a:bodyPr wrap="square" lIns="0" rIns="0" tIns="0" bIns="0" anchor="t">
            <a:noAutofit/>
          </a:bodyPr>
          <a:lstStyle/>
          <a:p>
            <a:pPr algn="l">
              <a:lnSpc>
                <a:spcPct val="100000"/>
              </a:lnSpc>
              <a:spcBef>
                <a:spcPts val="0"/>
              </a:spcBef>
              <a:spcAft>
                <a:spcPts val="0"/>
              </a:spcAft>
            </a:pPr>
            <a:r>
              <a:rPr sz="2500" b="0">
                <a:solidFill>
                  <a:srgbClr val="11243A"/>
                </a:solidFill>
                <a:latin typeface="Arial"/>
              </a:rPr>
              <a:t>Evaluate the fixed pending forecast cohorts as their results arrive.</a:t>
            </a:r>
          </a:p>
          <a:p>
            <a:pPr algn="l">
              <a:lnSpc>
                <a:spcPct val="100000"/>
              </a:lnSpc>
              <a:spcBef>
                <a:spcPts val="0"/>
              </a:spcBef>
              <a:spcAft>
                <a:spcPts val="0"/>
              </a:spcAft>
            </a:pPr>
            <a:r>
              <a:rPr sz="2500" b="0">
                <a:solidFill>
                  <a:srgbClr val="11243A"/>
                </a:solidFill>
                <a:latin typeface="Arial"/>
              </a:rPr>
              <a:t>Capture valid pre-kickoff quotes before assessing prospective trading.</a:t>
            </a:r>
          </a:p>
          <a:p>
            <a:pPr algn="l">
              <a:lnSpc>
                <a:spcPct val="100000"/>
              </a:lnSpc>
              <a:spcBef>
                <a:spcPts val="0"/>
              </a:spcBef>
              <a:spcAft>
                <a:spcPts val="0"/>
              </a:spcAft>
            </a:pPr>
            <a:r>
              <a:rPr sz="2500" b="0">
                <a:solidFill>
                  <a:srgbClr val="11243A"/>
                </a:solidFill>
                <a:latin typeface="Arial"/>
              </a:rPr>
              <a:t>Preserve losing variants and the original information boundaries.</a:t>
            </a:r>
          </a:p>
        </p:txBody>
      </p:sp>
      <p:sp>
        <p:nvSpPr>
          <p:cNvPr id="22" name="slide018-element005-text"/>
          <p:cNvSpPr txBox="1"/>
          <p:nvPr/>
        </p:nvSpPr>
        <p:spPr>
          <a:xfrm>
            <a:off x="594360" y="6903720"/>
            <a:ext cx="13350240" cy="50292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The following slides are backup material: metric definitions, provenance and the complete 116-strategy catalog.</a:t>
            </a:r>
          </a:p>
        </p:txBody>
      </p:sp>
      <p:cxnSp>
        <p:nvCxnSpPr>
          <p:cNvPr id="23" name="slide01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4" name="slide01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independent_audit.json; ABLATION_RESULTS.md | Full paths in notes</a:t>
            </a:r>
          </a:p>
        </p:txBody>
      </p:sp>
      <p:sp>
        <p:nvSpPr>
          <p:cNvPr id="25" name="slide01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Backup | metric definitions</a:t>
            </a:r>
          </a:p>
        </p:txBody>
      </p:sp>
      <p:sp>
        <p:nvSpPr>
          <p:cNvPr id="4" name="slide01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All money values are generic monetary units. Cash accounts have no deposits or borrowing.</a:t>
            </a:r>
          </a:p>
        </p:txBody>
      </p:sp>
      <p:sp>
        <p:nvSpPr>
          <p:cNvPr id="5" name="slide019-element000-table-r00-c00-cell"/>
          <p:cNvSpPr/>
          <p:nvPr/>
        </p:nvSpPr>
        <p:spPr>
          <a:xfrm>
            <a:off x="594360" y="1920240"/>
            <a:ext cx="4024274" cy="5791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9-element000-table-r00-c00-text"/>
          <p:cNvSpPr txBox="1"/>
          <p:nvPr/>
        </p:nvSpPr>
        <p:spPr>
          <a:xfrm>
            <a:off x="685800" y="199339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Metric</a:t>
            </a:r>
          </a:p>
        </p:txBody>
      </p:sp>
      <p:sp>
        <p:nvSpPr>
          <p:cNvPr id="7" name="slide019-element000-table-r00-c01-cell"/>
          <p:cNvSpPr/>
          <p:nvPr/>
        </p:nvSpPr>
        <p:spPr>
          <a:xfrm>
            <a:off x="4618634" y="1920240"/>
            <a:ext cx="9389973" cy="5791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9-element000-table-r00-c01-text"/>
          <p:cNvSpPr txBox="1"/>
          <p:nvPr/>
        </p:nvSpPr>
        <p:spPr>
          <a:xfrm>
            <a:off x="4710074" y="199339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Definition / denominator</a:t>
            </a:r>
          </a:p>
        </p:txBody>
      </p:sp>
      <p:sp>
        <p:nvSpPr>
          <p:cNvPr id="9" name="slide019-element000-table-r01-c00-cell"/>
          <p:cNvSpPr/>
          <p:nvPr/>
        </p:nvSpPr>
        <p:spPr>
          <a:xfrm>
            <a:off x="594360" y="2499360"/>
            <a:ext cx="4024274"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9-element000-table-r01-c00-text"/>
          <p:cNvSpPr txBox="1"/>
          <p:nvPr/>
        </p:nvSpPr>
        <p:spPr>
          <a:xfrm>
            <a:off x="685800" y="257251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Prediction accuracy</a:t>
            </a:r>
          </a:p>
        </p:txBody>
      </p:sp>
      <p:sp>
        <p:nvSpPr>
          <p:cNvPr id="11" name="slide019-element000-table-r01-c01-cell"/>
          <p:cNvSpPr/>
          <p:nvPr/>
        </p:nvSpPr>
        <p:spPr>
          <a:xfrm>
            <a:off x="4618634" y="2499360"/>
            <a:ext cx="9389973"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9-element000-table-r01-c01-text"/>
          <p:cNvSpPr txBox="1"/>
          <p:nvPr/>
        </p:nvSpPr>
        <p:spPr>
          <a:xfrm>
            <a:off x="4710074" y="257251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Correct most-likely H/D/A classifications / evaluated matches</a:t>
            </a:r>
          </a:p>
        </p:txBody>
      </p:sp>
      <p:sp>
        <p:nvSpPr>
          <p:cNvPr id="13" name="slide019-element000-table-r02-c00-cell"/>
          <p:cNvSpPr/>
          <p:nvPr/>
        </p:nvSpPr>
        <p:spPr>
          <a:xfrm>
            <a:off x="594360" y="3078480"/>
            <a:ext cx="4024274"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9-element000-table-r02-c00-text"/>
          <p:cNvSpPr txBox="1"/>
          <p:nvPr/>
        </p:nvSpPr>
        <p:spPr>
          <a:xfrm>
            <a:off x="685800" y="315163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Hit ratio</a:t>
            </a:r>
          </a:p>
        </p:txBody>
      </p:sp>
      <p:sp>
        <p:nvSpPr>
          <p:cNvPr id="15" name="slide019-element000-table-r02-c01-cell"/>
          <p:cNvSpPr/>
          <p:nvPr/>
        </p:nvSpPr>
        <p:spPr>
          <a:xfrm>
            <a:off x="4618634" y="3078480"/>
            <a:ext cx="9389973"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9-element000-table-r02-c01-text"/>
          <p:cNvSpPr txBox="1"/>
          <p:nvPr/>
        </p:nvSpPr>
        <p:spPr>
          <a:xfrm>
            <a:off x="4710074" y="315163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Winning settled bets / all settled bets</a:t>
            </a:r>
          </a:p>
        </p:txBody>
      </p:sp>
      <p:sp>
        <p:nvSpPr>
          <p:cNvPr id="17" name="slide019-element000-table-r03-c00-cell"/>
          <p:cNvSpPr/>
          <p:nvPr/>
        </p:nvSpPr>
        <p:spPr>
          <a:xfrm>
            <a:off x="594360" y="3657600"/>
            <a:ext cx="4024274"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9-element000-table-r03-c00-text"/>
          <p:cNvSpPr txBox="1"/>
          <p:nvPr/>
        </p:nvSpPr>
        <p:spPr>
          <a:xfrm>
            <a:off x="685800" y="373075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Trade frequency</a:t>
            </a:r>
          </a:p>
        </p:txBody>
      </p:sp>
      <p:sp>
        <p:nvSpPr>
          <p:cNvPr id="19" name="slide019-element000-table-r03-c01-cell"/>
          <p:cNvSpPr/>
          <p:nvPr/>
        </p:nvSpPr>
        <p:spPr>
          <a:xfrm>
            <a:off x="4618634" y="3657600"/>
            <a:ext cx="9389973"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9-element000-table-r03-c01-text"/>
          <p:cNvSpPr txBox="1"/>
          <p:nvPr/>
        </p:nvSpPr>
        <p:spPr>
          <a:xfrm>
            <a:off x="4710074" y="373075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Actual placed bets / common priced fixture opportunities</a:t>
            </a:r>
          </a:p>
        </p:txBody>
      </p:sp>
      <p:sp>
        <p:nvSpPr>
          <p:cNvPr id="21" name="slide019-element000-table-r04-c00-cell"/>
          <p:cNvSpPr/>
          <p:nvPr/>
        </p:nvSpPr>
        <p:spPr>
          <a:xfrm>
            <a:off x="594360" y="4236720"/>
            <a:ext cx="4024274"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9-element000-table-r04-c00-text"/>
          <p:cNvSpPr txBox="1"/>
          <p:nvPr/>
        </p:nvSpPr>
        <p:spPr>
          <a:xfrm>
            <a:off x="685800" y="430987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Model expected gain per trade</a:t>
            </a:r>
          </a:p>
        </p:txBody>
      </p:sp>
      <p:sp>
        <p:nvSpPr>
          <p:cNvPr id="23" name="slide019-element000-table-r04-c01-cell"/>
          <p:cNvSpPr/>
          <p:nvPr/>
        </p:nvSpPr>
        <p:spPr>
          <a:xfrm>
            <a:off x="4618634" y="4236720"/>
            <a:ext cx="9389973"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9-element000-table-r04-c01-text"/>
          <p:cNvSpPr txBox="1"/>
          <p:nvPr/>
        </p:nvSpPr>
        <p:spPr>
          <a:xfrm>
            <a:off x="4710074" y="430987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Mean of p × stake × (decimal odds − 1) over placed bets</a:t>
            </a:r>
          </a:p>
        </p:txBody>
      </p:sp>
      <p:sp>
        <p:nvSpPr>
          <p:cNvPr id="25" name="slide019-element000-table-r05-c00-cell"/>
          <p:cNvSpPr/>
          <p:nvPr/>
        </p:nvSpPr>
        <p:spPr>
          <a:xfrm>
            <a:off x="594360" y="4815840"/>
            <a:ext cx="4024274"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9-element000-table-r05-c00-text"/>
          <p:cNvSpPr txBox="1"/>
          <p:nvPr/>
        </p:nvSpPr>
        <p:spPr>
          <a:xfrm>
            <a:off x="685800" y="488899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Model expected loss per trade</a:t>
            </a:r>
          </a:p>
        </p:txBody>
      </p:sp>
      <p:sp>
        <p:nvSpPr>
          <p:cNvPr id="27" name="slide019-element000-table-r05-c01-cell"/>
          <p:cNvSpPr/>
          <p:nvPr/>
        </p:nvSpPr>
        <p:spPr>
          <a:xfrm>
            <a:off x="4618634" y="4815840"/>
            <a:ext cx="9389973"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9-element000-table-r05-c01-text"/>
          <p:cNvSpPr txBox="1"/>
          <p:nvPr/>
        </p:nvSpPr>
        <p:spPr>
          <a:xfrm>
            <a:off x="4710074" y="488899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Mean of (1 − p) × stake over placed bets</a:t>
            </a:r>
          </a:p>
        </p:txBody>
      </p:sp>
      <p:sp>
        <p:nvSpPr>
          <p:cNvPr id="29" name="slide019-element000-table-r06-c00-cell"/>
          <p:cNvSpPr/>
          <p:nvPr/>
        </p:nvSpPr>
        <p:spPr>
          <a:xfrm>
            <a:off x="594360" y="5394960"/>
            <a:ext cx="4024274"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9-element000-table-r06-c00-text"/>
          <p:cNvSpPr txBox="1"/>
          <p:nvPr/>
        </p:nvSpPr>
        <p:spPr>
          <a:xfrm>
            <a:off x="685800" y="546811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Observed win / loss means</a:t>
            </a:r>
          </a:p>
        </p:txBody>
      </p:sp>
      <p:sp>
        <p:nvSpPr>
          <p:cNvPr id="31" name="slide019-element000-table-r06-c01-cell"/>
          <p:cNvSpPr/>
          <p:nvPr/>
        </p:nvSpPr>
        <p:spPr>
          <a:xfrm>
            <a:off x="4618634" y="5394960"/>
            <a:ext cx="9389973"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9-element000-table-r06-c01-text"/>
          <p:cNvSpPr txBox="1"/>
          <p:nvPr/>
        </p:nvSpPr>
        <p:spPr>
          <a:xfrm>
            <a:off x="4710074" y="546811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Average net winning payoff / average losing stake, conditional on outcome</a:t>
            </a:r>
          </a:p>
        </p:txBody>
      </p:sp>
      <p:sp>
        <p:nvSpPr>
          <p:cNvPr id="33" name="slide019-element000-table-r07-c00-cell"/>
          <p:cNvSpPr/>
          <p:nvPr/>
        </p:nvSpPr>
        <p:spPr>
          <a:xfrm>
            <a:off x="594360" y="5974080"/>
            <a:ext cx="4024274"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9-element000-table-r07-c00-text"/>
          <p:cNvSpPr txBox="1"/>
          <p:nvPr/>
        </p:nvSpPr>
        <p:spPr>
          <a:xfrm>
            <a:off x="685800" y="6047232"/>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Stake ROI / capital return</a:t>
            </a:r>
          </a:p>
        </p:txBody>
      </p:sp>
      <p:sp>
        <p:nvSpPr>
          <p:cNvPr id="35" name="slide019-element000-table-r07-c01-cell"/>
          <p:cNvSpPr/>
          <p:nvPr/>
        </p:nvSpPr>
        <p:spPr>
          <a:xfrm>
            <a:off x="4618634" y="5974080"/>
            <a:ext cx="9389973" cy="5791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9-element000-table-r07-c01-text"/>
          <p:cNvSpPr txBox="1"/>
          <p:nvPr/>
        </p:nvSpPr>
        <p:spPr>
          <a:xfrm>
            <a:off x="4710074" y="6047232"/>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Net profit / turnover; net profit / initial 100,000</a:t>
            </a:r>
          </a:p>
        </p:txBody>
      </p:sp>
      <p:sp>
        <p:nvSpPr>
          <p:cNvPr id="37" name="slide019-element000-table-r08-c00-cell"/>
          <p:cNvSpPr/>
          <p:nvPr/>
        </p:nvSpPr>
        <p:spPr>
          <a:xfrm>
            <a:off x="594360" y="6553199"/>
            <a:ext cx="4024274"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9-element000-table-r08-c00-text"/>
          <p:cNvSpPr txBox="1"/>
          <p:nvPr/>
        </p:nvSpPr>
        <p:spPr>
          <a:xfrm>
            <a:off x="685800" y="6626351"/>
            <a:ext cx="3841394"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Maximum drawdown</a:t>
            </a:r>
          </a:p>
        </p:txBody>
      </p:sp>
      <p:sp>
        <p:nvSpPr>
          <p:cNvPr id="39" name="slide019-element000-table-r08-c01-cell"/>
          <p:cNvSpPr/>
          <p:nvPr/>
        </p:nvSpPr>
        <p:spPr>
          <a:xfrm>
            <a:off x="4618634" y="6553199"/>
            <a:ext cx="9389973" cy="5791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9-element000-table-r08-c01-text"/>
          <p:cNvSpPr txBox="1"/>
          <p:nvPr/>
        </p:nvSpPr>
        <p:spPr>
          <a:xfrm>
            <a:off x="4710074" y="6626351"/>
            <a:ext cx="9207093" cy="43281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Largest peak-to-trough proportional decline in the account path</a:t>
            </a:r>
          </a:p>
        </p:txBody>
      </p:sp>
      <p:cxnSp>
        <p:nvCxnSpPr>
          <p:cNvPr id="41" name="slide01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2" name="slide01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METHODOLOGY.md; metrics.py | Full paths in notes</a:t>
            </a:r>
          </a:p>
        </p:txBody>
      </p:sp>
      <p:sp>
        <p:nvSpPr>
          <p:cNvPr id="43" name="slide01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2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Backup | provenance and reproducibility</a:t>
            </a:r>
          </a:p>
        </p:txBody>
      </p:sp>
      <p:sp>
        <p:nvSpPr>
          <p:cNvPr id="4" name="slide02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All displayed numerical results come from saved project artifacts; this presentation fits no models and places no trades.</a:t>
            </a:r>
          </a:p>
        </p:txBody>
      </p:sp>
      <p:sp>
        <p:nvSpPr>
          <p:cNvPr id="5" name="slide020-element000-table-r00-c00-cell"/>
          <p:cNvSpPr/>
          <p:nvPr/>
        </p:nvSpPr>
        <p:spPr>
          <a:xfrm>
            <a:off x="594360" y="1920240"/>
            <a:ext cx="5633984" cy="7010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0-element000-table-r00-c00-text"/>
          <p:cNvSpPr txBox="1"/>
          <p:nvPr/>
        </p:nvSpPr>
        <p:spPr>
          <a:xfrm>
            <a:off x="685800" y="1993392"/>
            <a:ext cx="5451104" cy="5547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Artifact block</a:t>
            </a:r>
          </a:p>
        </p:txBody>
      </p:sp>
      <p:sp>
        <p:nvSpPr>
          <p:cNvPr id="7" name="slide020-element000-table-r00-c01-cell"/>
          <p:cNvSpPr/>
          <p:nvPr/>
        </p:nvSpPr>
        <p:spPr>
          <a:xfrm>
            <a:off x="6228344" y="1920240"/>
            <a:ext cx="7780263" cy="7010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0-element000-table-r00-c01-text"/>
          <p:cNvSpPr txBox="1"/>
          <p:nvPr/>
        </p:nvSpPr>
        <p:spPr>
          <a:xfrm>
            <a:off x="6319784" y="1993392"/>
            <a:ext cx="7597383" cy="5547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What to inspect</a:t>
            </a:r>
          </a:p>
        </p:txBody>
      </p:sp>
      <p:sp>
        <p:nvSpPr>
          <p:cNvPr id="9" name="slide020-element000-table-r01-c00-cell"/>
          <p:cNvSpPr/>
          <p:nvPr/>
        </p:nvSpPr>
        <p:spPr>
          <a:xfrm>
            <a:off x="594360" y="2621280"/>
            <a:ext cx="5633984" cy="7010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0-element000-table-r01-c00-text"/>
          <p:cNvSpPr txBox="1"/>
          <p:nvPr/>
        </p:nvSpPr>
        <p:spPr>
          <a:xfrm>
            <a:off x="685800" y="2694432"/>
            <a:ext cx="5451104"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epl_modeling/ablation_results</a:t>
            </a:r>
          </a:p>
        </p:txBody>
      </p:sp>
      <p:sp>
        <p:nvSpPr>
          <p:cNvPr id="11" name="slide020-element000-table-r01-c01-cell"/>
          <p:cNvSpPr/>
          <p:nvPr/>
        </p:nvSpPr>
        <p:spPr>
          <a:xfrm>
            <a:off x="6228344" y="2621280"/>
            <a:ext cx="7780263" cy="7010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0-element000-table-r01-c01-text"/>
          <p:cNvSpPr txBox="1"/>
          <p:nvPr/>
        </p:nvSpPr>
        <p:spPr>
          <a:xfrm>
            <a:off x="6319784" y="2694432"/>
            <a:ext cx="7597383"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Earlier rolling predictions, 11 variants and fitted models</a:t>
            </a:r>
          </a:p>
        </p:txBody>
      </p:sp>
      <p:sp>
        <p:nvSpPr>
          <p:cNvPr id="13" name="slide020-element000-table-r02-c00-cell"/>
          <p:cNvSpPr/>
          <p:nvPr/>
        </p:nvSpPr>
        <p:spPr>
          <a:xfrm>
            <a:off x="594360" y="3322320"/>
            <a:ext cx="5633984" cy="7010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0-element000-table-r02-c00-text"/>
          <p:cNvSpPr txBox="1"/>
          <p:nvPr/>
        </p:nvSpPr>
        <p:spPr>
          <a:xfrm>
            <a:off x="685800" y="3395472"/>
            <a:ext cx="5451104"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epl_player_models/results/20261020_player_models_review</a:t>
            </a:r>
          </a:p>
        </p:txBody>
      </p:sp>
      <p:sp>
        <p:nvSpPr>
          <p:cNvPr id="15" name="slide020-element000-table-r02-c01-cell"/>
          <p:cNvSpPr/>
          <p:nvPr/>
        </p:nvSpPr>
        <p:spPr>
          <a:xfrm>
            <a:off x="6228344" y="3322320"/>
            <a:ext cx="7780263" cy="7010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0-element000-table-r02-c01-text"/>
          <p:cNvSpPr txBox="1"/>
          <p:nvPr/>
        </p:nvSpPr>
        <p:spPr>
          <a:xfrm>
            <a:off x="6319784" y="3395472"/>
            <a:ext cx="7597383"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New model comparisons, all-116 / all-88 graph data, detailed accounts</a:t>
            </a:r>
          </a:p>
        </p:txBody>
      </p:sp>
      <p:sp>
        <p:nvSpPr>
          <p:cNvPr id="17" name="slide020-element000-table-r03-c00-cell"/>
          <p:cNvSpPr/>
          <p:nvPr/>
        </p:nvSpPr>
        <p:spPr>
          <a:xfrm>
            <a:off x="594360" y="4023360"/>
            <a:ext cx="5633984" cy="7010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0-element000-table-r03-c00-text"/>
          <p:cNvSpPr txBox="1"/>
          <p:nvPr/>
        </p:nvSpPr>
        <p:spPr>
          <a:xfrm>
            <a:off x="685800" y="4096512"/>
            <a:ext cx="5451104"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epl_strategy_validation / epl_execution</a:t>
            </a:r>
          </a:p>
        </p:txBody>
      </p:sp>
      <p:sp>
        <p:nvSpPr>
          <p:cNvPr id="19" name="slide020-element000-table-r03-c01-cell"/>
          <p:cNvSpPr/>
          <p:nvPr/>
        </p:nvSpPr>
        <p:spPr>
          <a:xfrm>
            <a:off x="6228344" y="4023360"/>
            <a:ext cx="7780263" cy="7010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0-element000-table-r03-c01-text"/>
          <p:cNvSpPr txBox="1"/>
          <p:nvPr/>
        </p:nvSpPr>
        <p:spPr>
          <a:xfrm>
            <a:off x="6319784" y="4096512"/>
            <a:ext cx="7597383"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Continuous cash replays, selection audit and quote sensitivity</a:t>
            </a:r>
          </a:p>
        </p:txBody>
      </p:sp>
      <p:sp>
        <p:nvSpPr>
          <p:cNvPr id="21" name="slide020-element000-table-r04-c00-cell"/>
          <p:cNvSpPr/>
          <p:nvPr/>
        </p:nvSpPr>
        <p:spPr>
          <a:xfrm>
            <a:off x="594360" y="4724399"/>
            <a:ext cx="5633984" cy="7010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0-element000-table-r04-c00-text"/>
          <p:cNvSpPr txBox="1"/>
          <p:nvPr/>
        </p:nvSpPr>
        <p:spPr>
          <a:xfrm>
            <a:off x="685800" y="4797551"/>
            <a:ext cx="5451104"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epl_prospective/results/20261020_first_outcomes</a:t>
            </a:r>
          </a:p>
        </p:txBody>
      </p:sp>
      <p:sp>
        <p:nvSpPr>
          <p:cNvPr id="23" name="slide020-element000-table-r04-c01-cell"/>
          <p:cNvSpPr/>
          <p:nvPr/>
        </p:nvSpPr>
        <p:spPr>
          <a:xfrm>
            <a:off x="6228344" y="4724399"/>
            <a:ext cx="7780263" cy="7010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0-element000-table-r04-c01-text"/>
          <p:cNvSpPr txBox="1"/>
          <p:nvPr/>
        </p:nvSpPr>
        <p:spPr>
          <a:xfrm>
            <a:off x="6319784" y="4797551"/>
            <a:ext cx="7597383"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First ten-game prospective evaluation and source cross-checks</a:t>
            </a:r>
          </a:p>
        </p:txBody>
      </p:sp>
      <p:sp>
        <p:nvSpPr>
          <p:cNvPr id="25" name="slide020-element000-table-r05-c00-cell"/>
          <p:cNvSpPr/>
          <p:nvPr/>
        </p:nvSpPr>
        <p:spPr>
          <a:xfrm>
            <a:off x="594360" y="5425440"/>
            <a:ext cx="5633984" cy="7010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0-element000-table-r05-c00-text"/>
          <p:cNvSpPr txBox="1"/>
          <p:nvPr/>
        </p:nvSpPr>
        <p:spPr>
          <a:xfrm>
            <a:off x="685800" y="5498592"/>
            <a:ext cx="5451104"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Presentation companion files</a:t>
            </a:r>
          </a:p>
        </p:txBody>
      </p:sp>
      <p:sp>
        <p:nvSpPr>
          <p:cNvPr id="27" name="slide020-element000-table-r05-c01-cell"/>
          <p:cNvSpPr/>
          <p:nvPr/>
        </p:nvSpPr>
        <p:spPr>
          <a:xfrm>
            <a:off x="6228344" y="5425440"/>
            <a:ext cx="7780263" cy="7010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0-element000-table-r05-c01-text"/>
          <p:cNvSpPr txBox="1"/>
          <p:nvPr/>
        </p:nvSpPr>
        <p:spPr>
          <a:xfrm>
            <a:off x="6319784" y="5498592"/>
            <a:ext cx="7597383" cy="5547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All numerical tables, exact configurations, source hashes and speaker notes</a:t>
            </a:r>
          </a:p>
        </p:txBody>
      </p:sp>
      <p:sp>
        <p:nvSpPr>
          <p:cNvPr id="29" name="slide020-element001-text"/>
          <p:cNvSpPr txBox="1"/>
          <p:nvPr/>
        </p:nvSpPr>
        <p:spPr>
          <a:xfrm>
            <a:off x="594360" y="6327648"/>
            <a:ext cx="13350240" cy="91440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536578"/>
                </a:solidFill>
                <a:latin typeface="Arial"/>
              </a:rPr>
              <a:t>Protected previous exports and the user-edited data workbook remain unchanged.</a:t>
            </a:r>
          </a:p>
          <a:p>
            <a:pPr algn="l">
              <a:lnSpc>
                <a:spcPct val="100000"/>
              </a:lnSpc>
              <a:spcBef>
                <a:spcPts val="0"/>
              </a:spcBef>
              <a:spcAft>
                <a:spcPts val="0"/>
              </a:spcAft>
            </a:pPr>
            <a:r>
              <a:rPr sz="2100" b="0">
                <a:solidFill>
                  <a:srgbClr val="536578"/>
                </a:solidFill>
                <a:latin typeface="Arial"/>
              </a:rPr>
              <a:t>The presentation audit reconciles scores, curve endpoints, ranking scopes and all 116 catalog IDs.</a:t>
            </a:r>
          </a:p>
        </p:txBody>
      </p:sp>
      <p:cxnSp>
        <p:nvCxnSpPr>
          <p:cNvPr id="30" name="slide02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1" name="slide02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manifest.json | Full paths in notes</a:t>
            </a:r>
          </a:p>
        </p:txBody>
      </p:sp>
      <p:sp>
        <p:nvSpPr>
          <p:cNvPr id="32" name="slide02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S001–S008</a:t>
            </a:r>
          </a:p>
        </p:txBody>
      </p:sp>
      <p:sp>
        <p:nvSpPr>
          <p:cNvPr id="4" name="slide02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1-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1-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1-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1-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1-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1-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1-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1-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1-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1-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1-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1-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S001</a:t>
            </a:r>
          </a:p>
        </p:txBody>
      </p:sp>
      <p:sp>
        <p:nvSpPr>
          <p:cNvPr id="17" name="slide021-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1-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19" name="slide021-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1-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21" name="slide021-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1-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1-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1-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1-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1-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S002</a:t>
            </a:r>
          </a:p>
        </p:txBody>
      </p:sp>
      <p:sp>
        <p:nvSpPr>
          <p:cNvPr id="27" name="slide021-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1-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29" name="slide021-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1-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31" name="slide021-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1-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21-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1-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1-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1-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S003</a:t>
            </a:r>
          </a:p>
        </p:txBody>
      </p:sp>
      <p:sp>
        <p:nvSpPr>
          <p:cNvPr id="37" name="slide021-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1-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39" name="slide021-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1-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41" name="slide021-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1-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1-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1-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45" name="slide021-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1-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S004</a:t>
            </a:r>
          </a:p>
        </p:txBody>
      </p:sp>
      <p:sp>
        <p:nvSpPr>
          <p:cNvPr id="47" name="slide021-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1-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49" name="slide021-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1-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51" name="slide021-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1-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21-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1-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55" name="slide021-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1-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S005</a:t>
            </a:r>
          </a:p>
        </p:txBody>
      </p:sp>
      <p:sp>
        <p:nvSpPr>
          <p:cNvPr id="57" name="slide021-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1-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59" name="slide021-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1-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1-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1-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1-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1-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1-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1-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S006</a:t>
            </a:r>
          </a:p>
        </p:txBody>
      </p:sp>
      <p:sp>
        <p:nvSpPr>
          <p:cNvPr id="67" name="slide021-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1-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69" name="slide021-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1-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1-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1-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21-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1-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1-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1-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S007</a:t>
            </a:r>
          </a:p>
        </p:txBody>
      </p:sp>
      <p:sp>
        <p:nvSpPr>
          <p:cNvPr id="77" name="slide021-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1-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79" name="slide021-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1-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21-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1-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21-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1-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85" name="slide021-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1-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S008</a:t>
            </a:r>
          </a:p>
        </p:txBody>
      </p:sp>
      <p:sp>
        <p:nvSpPr>
          <p:cNvPr id="87" name="slide021-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1-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89" name="slide021-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1-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21-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1-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21-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1-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95" name="slide021-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S009–S016</a:t>
            </a:r>
          </a:p>
        </p:txBody>
      </p:sp>
      <p:sp>
        <p:nvSpPr>
          <p:cNvPr id="4" name="slide02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2-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2-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2-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2-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2-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2-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2-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2-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2-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2-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2-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2-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S009</a:t>
            </a:r>
          </a:p>
        </p:txBody>
      </p:sp>
      <p:sp>
        <p:nvSpPr>
          <p:cNvPr id="17" name="slide022-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2-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19" name="slide022-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2-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21" name="slide022-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2-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2-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2-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2-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2-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S010</a:t>
            </a:r>
          </a:p>
        </p:txBody>
      </p:sp>
      <p:sp>
        <p:nvSpPr>
          <p:cNvPr id="27" name="slide022-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2-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29" name="slide022-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2-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31" name="slide022-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2-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22-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2-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2-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2-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S011</a:t>
            </a:r>
          </a:p>
        </p:txBody>
      </p:sp>
      <p:sp>
        <p:nvSpPr>
          <p:cNvPr id="37" name="slide022-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2-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39" name="slide022-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2-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41" name="slide022-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2-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2-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2-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45" name="slide022-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2-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S012</a:t>
            </a:r>
          </a:p>
        </p:txBody>
      </p:sp>
      <p:sp>
        <p:nvSpPr>
          <p:cNvPr id="47" name="slide022-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2-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49" name="slide022-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2-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Cash; no admissible trade</a:t>
            </a:r>
          </a:p>
        </p:txBody>
      </p:sp>
      <p:sp>
        <p:nvSpPr>
          <p:cNvPr id="51" name="slide022-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2-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22-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2-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55" name="slide022-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2-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S013</a:t>
            </a:r>
          </a:p>
        </p:txBody>
      </p:sp>
      <p:sp>
        <p:nvSpPr>
          <p:cNvPr id="57" name="slide022-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2-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59" name="slide022-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2-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2-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2-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2-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2-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2-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2-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S014</a:t>
            </a:r>
          </a:p>
        </p:txBody>
      </p:sp>
      <p:sp>
        <p:nvSpPr>
          <p:cNvPr id="67" name="slide022-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2-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69" name="slide022-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2-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2-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2-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22-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2-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2-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2-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S015</a:t>
            </a:r>
          </a:p>
        </p:txBody>
      </p:sp>
      <p:sp>
        <p:nvSpPr>
          <p:cNvPr id="77" name="slide022-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2-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79" name="slide022-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2-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22-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2-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22-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2-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85" name="slide022-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2-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S016</a:t>
            </a:r>
          </a:p>
        </p:txBody>
      </p:sp>
      <p:sp>
        <p:nvSpPr>
          <p:cNvPr id="87" name="slide022-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2-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89" name="slide022-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2-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22-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2-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22-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2-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95" name="slide022-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S017–S024</a:t>
            </a:r>
          </a:p>
        </p:txBody>
      </p:sp>
      <p:sp>
        <p:nvSpPr>
          <p:cNvPr id="4" name="slide02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3-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3-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3-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3-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3-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3-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3-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3-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3-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3-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3-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3-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S017</a:t>
            </a:r>
          </a:p>
        </p:txBody>
      </p:sp>
      <p:sp>
        <p:nvSpPr>
          <p:cNvPr id="17" name="slide023-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3-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 logistic</a:t>
            </a:r>
          </a:p>
        </p:txBody>
      </p:sp>
      <p:sp>
        <p:nvSpPr>
          <p:cNvPr id="19" name="slide023-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3-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23-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3-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3-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3-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3-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3-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S018</a:t>
            </a:r>
          </a:p>
        </p:txBody>
      </p:sp>
      <p:sp>
        <p:nvSpPr>
          <p:cNvPr id="27" name="slide023-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3-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 logistic</a:t>
            </a:r>
          </a:p>
        </p:txBody>
      </p:sp>
      <p:sp>
        <p:nvSpPr>
          <p:cNvPr id="29" name="slide023-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3-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23-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3-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23-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3-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3-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3-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S019</a:t>
            </a:r>
          </a:p>
        </p:txBody>
      </p:sp>
      <p:sp>
        <p:nvSpPr>
          <p:cNvPr id="37" name="slide023-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3-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 logistic</a:t>
            </a:r>
          </a:p>
        </p:txBody>
      </p:sp>
      <p:sp>
        <p:nvSpPr>
          <p:cNvPr id="39" name="slide023-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3-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23-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3-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3-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3-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3-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3-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S020</a:t>
            </a:r>
          </a:p>
        </p:txBody>
      </p:sp>
      <p:sp>
        <p:nvSpPr>
          <p:cNvPr id="47" name="slide023-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3-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 logistic</a:t>
            </a:r>
          </a:p>
        </p:txBody>
      </p:sp>
      <p:sp>
        <p:nvSpPr>
          <p:cNvPr id="49" name="slide023-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3-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23-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3-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23-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3-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3-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3-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S021</a:t>
            </a:r>
          </a:p>
        </p:txBody>
      </p:sp>
      <p:sp>
        <p:nvSpPr>
          <p:cNvPr id="57" name="slide023-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3-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Team+FPL logistic</a:t>
            </a:r>
          </a:p>
        </p:txBody>
      </p:sp>
      <p:sp>
        <p:nvSpPr>
          <p:cNvPr id="59" name="slide023-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3-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3-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3-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3-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3-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3-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3-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S022</a:t>
            </a:r>
          </a:p>
        </p:txBody>
      </p:sp>
      <p:sp>
        <p:nvSpPr>
          <p:cNvPr id="67" name="slide023-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3-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Team+FPL logistic</a:t>
            </a:r>
          </a:p>
        </p:txBody>
      </p:sp>
      <p:sp>
        <p:nvSpPr>
          <p:cNvPr id="69" name="slide023-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3-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3-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3-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23-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3-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3-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3-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S023</a:t>
            </a:r>
          </a:p>
        </p:txBody>
      </p:sp>
      <p:sp>
        <p:nvSpPr>
          <p:cNvPr id="77" name="slide023-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3-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79" name="slide023-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3-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23-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3-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23-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3-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3-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3-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S024</a:t>
            </a:r>
          </a:p>
        </p:txBody>
      </p:sp>
      <p:sp>
        <p:nvSpPr>
          <p:cNvPr id="87" name="slide023-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3-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89" name="slide023-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3-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23-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3-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23-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3-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3-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S025–S032</a:t>
            </a:r>
          </a:p>
        </p:txBody>
      </p:sp>
      <p:sp>
        <p:nvSpPr>
          <p:cNvPr id="4" name="slide02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4-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4-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4-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4-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4-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4-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4-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4-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4-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4-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4-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4-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S025</a:t>
            </a:r>
          </a:p>
        </p:txBody>
      </p:sp>
      <p:sp>
        <p:nvSpPr>
          <p:cNvPr id="17" name="slide024-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4-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 market-residual</a:t>
            </a:r>
          </a:p>
        </p:txBody>
      </p:sp>
      <p:sp>
        <p:nvSpPr>
          <p:cNvPr id="19" name="slide024-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4-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24-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4-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4-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4-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4-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4-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S026</a:t>
            </a:r>
          </a:p>
        </p:txBody>
      </p:sp>
      <p:sp>
        <p:nvSpPr>
          <p:cNvPr id="27" name="slide024-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4-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 market-residual</a:t>
            </a:r>
          </a:p>
        </p:txBody>
      </p:sp>
      <p:sp>
        <p:nvSpPr>
          <p:cNvPr id="29" name="slide024-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4-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24-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4-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24-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4-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4-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4-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S027</a:t>
            </a:r>
          </a:p>
        </p:txBody>
      </p:sp>
      <p:sp>
        <p:nvSpPr>
          <p:cNvPr id="37" name="slide024-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4-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 residual</a:t>
            </a:r>
          </a:p>
        </p:txBody>
      </p:sp>
      <p:sp>
        <p:nvSpPr>
          <p:cNvPr id="39" name="slide024-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4-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24-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4-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4-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4-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4-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4-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S028</a:t>
            </a:r>
          </a:p>
        </p:txBody>
      </p:sp>
      <p:sp>
        <p:nvSpPr>
          <p:cNvPr id="47" name="slide024-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4-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 residual</a:t>
            </a:r>
          </a:p>
        </p:txBody>
      </p:sp>
      <p:sp>
        <p:nvSpPr>
          <p:cNvPr id="49" name="slide024-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4-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24-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4-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24-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4-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4-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4-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S029</a:t>
            </a:r>
          </a:p>
        </p:txBody>
      </p:sp>
      <p:sp>
        <p:nvSpPr>
          <p:cNvPr id="57" name="slide024-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4-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Team+FPL residual</a:t>
            </a:r>
          </a:p>
        </p:txBody>
      </p:sp>
      <p:sp>
        <p:nvSpPr>
          <p:cNvPr id="59" name="slide024-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4-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4-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4-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4-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4-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4-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4-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S030</a:t>
            </a:r>
          </a:p>
        </p:txBody>
      </p:sp>
      <p:sp>
        <p:nvSpPr>
          <p:cNvPr id="67" name="slide024-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4-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Team+FPL residual</a:t>
            </a:r>
          </a:p>
        </p:txBody>
      </p:sp>
      <p:sp>
        <p:nvSpPr>
          <p:cNvPr id="69" name="slide024-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4-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4-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4-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24-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4-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4-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4-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S031</a:t>
            </a:r>
          </a:p>
        </p:txBody>
      </p:sp>
      <p:sp>
        <p:nvSpPr>
          <p:cNvPr id="77" name="slide024-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4-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79" name="slide024-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4-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24-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4-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24-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4-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4-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4-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S032</a:t>
            </a:r>
          </a:p>
        </p:txBody>
      </p:sp>
      <p:sp>
        <p:nvSpPr>
          <p:cNvPr id="87" name="slide024-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4-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89" name="slide024-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4-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24-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4-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24-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4-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4-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S033–S040</a:t>
            </a:r>
          </a:p>
        </p:txBody>
      </p:sp>
      <p:sp>
        <p:nvSpPr>
          <p:cNvPr id="4" name="slide02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5-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5-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5-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5-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5-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5-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5-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5-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5-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5-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5-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5-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S033</a:t>
            </a:r>
          </a:p>
        </p:txBody>
      </p:sp>
      <p:sp>
        <p:nvSpPr>
          <p:cNvPr id="17" name="slide025-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5-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Class-frequency baseline</a:t>
            </a:r>
          </a:p>
        </p:txBody>
      </p:sp>
      <p:sp>
        <p:nvSpPr>
          <p:cNvPr id="19" name="slide025-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5-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25-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5-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5-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5-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5-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5-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S034</a:t>
            </a:r>
          </a:p>
        </p:txBody>
      </p:sp>
      <p:sp>
        <p:nvSpPr>
          <p:cNvPr id="27" name="slide025-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5-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Class-frequency baseline</a:t>
            </a:r>
          </a:p>
        </p:txBody>
      </p:sp>
      <p:sp>
        <p:nvSpPr>
          <p:cNvPr id="29" name="slide025-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5-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25-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5-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25-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5-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5-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5-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S035</a:t>
            </a:r>
          </a:p>
        </p:txBody>
      </p:sp>
      <p:sp>
        <p:nvSpPr>
          <p:cNvPr id="37" name="slide025-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5-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39" name="slide025-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5-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25-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5-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5-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5-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5-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5-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S036</a:t>
            </a:r>
          </a:p>
        </p:txBody>
      </p:sp>
      <p:sp>
        <p:nvSpPr>
          <p:cNvPr id="47" name="slide025-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5-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49" name="slide025-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5-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25-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5-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25-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5-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5-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5-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S037</a:t>
            </a:r>
          </a:p>
        </p:txBody>
      </p:sp>
      <p:sp>
        <p:nvSpPr>
          <p:cNvPr id="57" name="slide025-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5-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market_temperature</a:t>
            </a:r>
          </a:p>
        </p:txBody>
      </p:sp>
      <p:sp>
        <p:nvSpPr>
          <p:cNvPr id="59" name="slide025-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5-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5-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5-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5-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5-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5-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5-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S038</a:t>
            </a:r>
          </a:p>
        </p:txBody>
      </p:sp>
      <p:sp>
        <p:nvSpPr>
          <p:cNvPr id="67" name="slide025-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5-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market_temperature</a:t>
            </a:r>
          </a:p>
        </p:txBody>
      </p:sp>
      <p:sp>
        <p:nvSpPr>
          <p:cNvPr id="69" name="slide025-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5-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5-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5-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25-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5-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5-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5-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S039</a:t>
            </a:r>
          </a:p>
        </p:txBody>
      </p:sp>
      <p:sp>
        <p:nvSpPr>
          <p:cNvPr id="77" name="slide025-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5-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79" name="slide025-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5-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 in every fixture</a:t>
            </a:r>
          </a:p>
        </p:txBody>
      </p:sp>
      <p:sp>
        <p:nvSpPr>
          <p:cNvPr id="81" name="slide025-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5-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25-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5-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5-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5-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S040</a:t>
            </a:r>
          </a:p>
        </p:txBody>
      </p:sp>
      <p:sp>
        <p:nvSpPr>
          <p:cNvPr id="87" name="slide025-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5-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89" name="slide025-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5-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D in every fixture</a:t>
            </a:r>
          </a:p>
        </p:txBody>
      </p:sp>
      <p:sp>
        <p:nvSpPr>
          <p:cNvPr id="91" name="slide025-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5-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93" name="slide025-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5-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5-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S041–S048</a:t>
            </a:r>
          </a:p>
        </p:txBody>
      </p:sp>
      <p:sp>
        <p:nvSpPr>
          <p:cNvPr id="4" name="slide02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6-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6-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6-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6-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6-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6-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6-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6-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6-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6-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6-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6-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S041</a:t>
            </a:r>
          </a:p>
        </p:txBody>
      </p:sp>
      <p:sp>
        <p:nvSpPr>
          <p:cNvPr id="17" name="slide026-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6-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19" name="slide026-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6-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A in every fixture</a:t>
            </a:r>
          </a:p>
        </p:txBody>
      </p:sp>
      <p:sp>
        <p:nvSpPr>
          <p:cNvPr id="21" name="slide026-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6-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6-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6-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6-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6-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S042</a:t>
            </a:r>
          </a:p>
        </p:txBody>
      </p:sp>
      <p:sp>
        <p:nvSpPr>
          <p:cNvPr id="27" name="slide026-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6-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29" name="slide026-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6-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Highest raw market probability</a:t>
            </a:r>
          </a:p>
        </p:txBody>
      </p:sp>
      <p:sp>
        <p:nvSpPr>
          <p:cNvPr id="31" name="slide026-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6-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33" name="slide026-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6-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6-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6-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S043</a:t>
            </a:r>
          </a:p>
        </p:txBody>
      </p:sp>
      <p:sp>
        <p:nvSpPr>
          <p:cNvPr id="37" name="slide026-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6-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Raw market baseline</a:t>
            </a:r>
          </a:p>
        </p:txBody>
      </p:sp>
      <p:sp>
        <p:nvSpPr>
          <p:cNvPr id="39" name="slide026-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6-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Lowest raw market probability</a:t>
            </a:r>
          </a:p>
        </p:txBody>
      </p:sp>
      <p:sp>
        <p:nvSpPr>
          <p:cNvPr id="41" name="slide026-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6-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6-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6-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6-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6-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S044</a:t>
            </a:r>
          </a:p>
        </p:txBody>
      </p:sp>
      <p:sp>
        <p:nvSpPr>
          <p:cNvPr id="47" name="slide026-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6-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49" name="slide026-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6-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Highest model probability; no edge filter</a:t>
            </a:r>
          </a:p>
        </p:txBody>
      </p:sp>
      <p:sp>
        <p:nvSpPr>
          <p:cNvPr id="51" name="slide026-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6-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53" name="slide026-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6-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6-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6-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S045</a:t>
            </a:r>
          </a:p>
        </p:txBody>
      </p:sp>
      <p:sp>
        <p:nvSpPr>
          <p:cNvPr id="57" name="slide026-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6-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59" name="slide026-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6-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Highest model probability; no edge filter</a:t>
            </a:r>
          </a:p>
        </p:txBody>
      </p:sp>
      <p:sp>
        <p:nvSpPr>
          <p:cNvPr id="61" name="slide026-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6-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6-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6-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6-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6-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S046</a:t>
            </a:r>
          </a:p>
        </p:txBody>
      </p:sp>
      <p:sp>
        <p:nvSpPr>
          <p:cNvPr id="67" name="slide026-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6-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4-logistic mean</a:t>
            </a:r>
          </a:p>
        </p:txBody>
      </p:sp>
      <p:sp>
        <p:nvSpPr>
          <p:cNvPr id="69" name="slide026-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6-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6-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6-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73" name="slide026-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6-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6-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6-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S047</a:t>
            </a:r>
          </a:p>
        </p:txBody>
      </p:sp>
      <p:sp>
        <p:nvSpPr>
          <p:cNvPr id="77" name="slide026-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6-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4-logistic mean</a:t>
            </a:r>
          </a:p>
        </p:txBody>
      </p:sp>
      <p:sp>
        <p:nvSpPr>
          <p:cNvPr id="79" name="slide026-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6-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26-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6-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83" name="slide026-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6-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6-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6-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S048</a:t>
            </a:r>
          </a:p>
        </p:txBody>
      </p:sp>
      <p:sp>
        <p:nvSpPr>
          <p:cNvPr id="87" name="slide026-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6-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89" name="slide026-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6-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26-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6-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93" name="slide026-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6-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6-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S049–S056</a:t>
            </a:r>
          </a:p>
        </p:txBody>
      </p:sp>
      <p:sp>
        <p:nvSpPr>
          <p:cNvPr id="4" name="slide02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7-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7-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7-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7-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7-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7-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7-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7-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7-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7-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7-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7-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S049</a:t>
            </a:r>
          </a:p>
        </p:txBody>
      </p:sp>
      <p:sp>
        <p:nvSpPr>
          <p:cNvPr id="17" name="slide027-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7-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19" name="slide027-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7-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27-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7-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23" name="slide027-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7-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7-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7-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S050</a:t>
            </a:r>
          </a:p>
        </p:txBody>
      </p:sp>
      <p:sp>
        <p:nvSpPr>
          <p:cNvPr id="27" name="slide027-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7-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Combined-logistic/market mean</a:t>
            </a:r>
          </a:p>
        </p:txBody>
      </p:sp>
      <p:sp>
        <p:nvSpPr>
          <p:cNvPr id="29" name="slide027-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7-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27-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7-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33" name="slide027-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7-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7-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7-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S051</a:t>
            </a:r>
          </a:p>
        </p:txBody>
      </p:sp>
      <p:sp>
        <p:nvSpPr>
          <p:cNvPr id="37" name="slide027-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7-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Combined-logistic/market mean</a:t>
            </a:r>
          </a:p>
        </p:txBody>
      </p:sp>
      <p:sp>
        <p:nvSpPr>
          <p:cNvPr id="39" name="slide027-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7-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27-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7-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43" name="slide027-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7-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7-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7-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S052</a:t>
            </a:r>
          </a:p>
        </p:txBody>
      </p:sp>
      <p:sp>
        <p:nvSpPr>
          <p:cNvPr id="47" name="slide027-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7-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49" name="slide027-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7-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27-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7-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1.00% of cash</a:t>
            </a:r>
          </a:p>
        </p:txBody>
      </p:sp>
      <p:sp>
        <p:nvSpPr>
          <p:cNvPr id="53" name="slide027-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7-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7-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7-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S053</a:t>
            </a:r>
          </a:p>
        </p:txBody>
      </p:sp>
      <p:sp>
        <p:nvSpPr>
          <p:cNvPr id="57" name="slide027-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7-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59" name="slide027-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7-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7-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7-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1.00% of cash</a:t>
            </a:r>
          </a:p>
        </p:txBody>
      </p:sp>
      <p:sp>
        <p:nvSpPr>
          <p:cNvPr id="63" name="slide027-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7-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7-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7-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S054</a:t>
            </a:r>
          </a:p>
        </p:txBody>
      </p:sp>
      <p:sp>
        <p:nvSpPr>
          <p:cNvPr id="67" name="slide027-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7-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69" name="slide027-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7-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27-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7-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1.00% of cash</a:t>
            </a:r>
          </a:p>
        </p:txBody>
      </p:sp>
      <p:sp>
        <p:nvSpPr>
          <p:cNvPr id="73" name="slide027-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7-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7-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7-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S055</a:t>
            </a:r>
          </a:p>
        </p:txBody>
      </p:sp>
      <p:sp>
        <p:nvSpPr>
          <p:cNvPr id="77" name="slide027-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7-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79" name="slide027-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7-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27-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7-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0.125 Kelly; cap 1.00%</a:t>
            </a:r>
          </a:p>
        </p:txBody>
      </p:sp>
      <p:sp>
        <p:nvSpPr>
          <p:cNvPr id="83" name="slide027-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7-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7-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7-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S056</a:t>
            </a:r>
          </a:p>
        </p:txBody>
      </p:sp>
      <p:sp>
        <p:nvSpPr>
          <p:cNvPr id="87" name="slide027-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7-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89" name="slide027-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7-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27-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7-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0.5 Kelly; cap 2.00%</a:t>
            </a:r>
          </a:p>
        </p:txBody>
      </p:sp>
      <p:sp>
        <p:nvSpPr>
          <p:cNvPr id="93" name="slide027-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7-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7-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S057–S064</a:t>
            </a:r>
          </a:p>
        </p:txBody>
      </p:sp>
      <p:sp>
        <p:nvSpPr>
          <p:cNvPr id="4" name="slide02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8-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8-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8-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8-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8-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8-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8-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8-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8-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8-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8-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8-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S057</a:t>
            </a:r>
          </a:p>
        </p:txBody>
      </p:sp>
      <p:sp>
        <p:nvSpPr>
          <p:cNvPr id="17" name="slide028-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8-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19" name="slide028-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8-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28-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8-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0.125 Kelly; cap 1.00%</a:t>
            </a:r>
          </a:p>
        </p:txBody>
      </p:sp>
      <p:sp>
        <p:nvSpPr>
          <p:cNvPr id="23" name="slide028-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8-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8-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8-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S058</a:t>
            </a:r>
          </a:p>
        </p:txBody>
      </p:sp>
      <p:sp>
        <p:nvSpPr>
          <p:cNvPr id="27" name="slide028-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8-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29" name="slide028-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8-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28-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8-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0.5 Kelly; cap 2.00%</a:t>
            </a:r>
          </a:p>
        </p:txBody>
      </p:sp>
      <p:sp>
        <p:nvSpPr>
          <p:cNvPr id="33" name="slide028-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8-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8-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8-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S059</a:t>
            </a:r>
          </a:p>
        </p:txBody>
      </p:sp>
      <p:sp>
        <p:nvSpPr>
          <p:cNvPr id="37" name="slide028-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8-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39" name="slide028-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8-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28-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8-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 date cap 10.00%</a:t>
            </a:r>
          </a:p>
        </p:txBody>
      </p:sp>
      <p:sp>
        <p:nvSpPr>
          <p:cNvPr id="43" name="slide028-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8-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8-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8-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S060</a:t>
            </a:r>
          </a:p>
        </p:txBody>
      </p:sp>
      <p:sp>
        <p:nvSpPr>
          <p:cNvPr id="47" name="slide028-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8-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49" name="slide028-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8-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28-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8-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 date cap 10.00%</a:t>
            </a:r>
          </a:p>
        </p:txBody>
      </p:sp>
      <p:sp>
        <p:nvSpPr>
          <p:cNvPr id="53" name="slide028-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8-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8-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8-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S061</a:t>
            </a:r>
          </a:p>
        </p:txBody>
      </p:sp>
      <p:sp>
        <p:nvSpPr>
          <p:cNvPr id="57" name="slide028-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8-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59" name="slide028-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8-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28-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8-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 date cap 10.00%</a:t>
            </a:r>
          </a:p>
        </p:txBody>
      </p:sp>
      <p:sp>
        <p:nvSpPr>
          <p:cNvPr id="63" name="slide028-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8-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8-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8-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S062</a:t>
            </a:r>
          </a:p>
        </p:txBody>
      </p:sp>
      <p:sp>
        <p:nvSpPr>
          <p:cNvPr id="67" name="slide028-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8-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69" name="slide028-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8-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agree ≥6/8</a:t>
            </a:r>
          </a:p>
        </p:txBody>
      </p:sp>
      <p:sp>
        <p:nvSpPr>
          <p:cNvPr id="71" name="slide028-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8-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73" name="slide028-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8-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8-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8-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S063</a:t>
            </a:r>
          </a:p>
        </p:txBody>
      </p:sp>
      <p:sp>
        <p:nvSpPr>
          <p:cNvPr id="77" name="slide028-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8-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79" name="slide028-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8-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agree ≥6/8</a:t>
            </a:r>
          </a:p>
        </p:txBody>
      </p:sp>
      <p:sp>
        <p:nvSpPr>
          <p:cNvPr id="81" name="slide028-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8-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83" name="slide028-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8-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8-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8-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S064</a:t>
            </a:r>
          </a:p>
        </p:txBody>
      </p:sp>
      <p:sp>
        <p:nvSpPr>
          <p:cNvPr id="87" name="slide028-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8-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89" name="slide028-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8-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H</a:t>
            </a:r>
          </a:p>
        </p:txBody>
      </p:sp>
      <p:sp>
        <p:nvSpPr>
          <p:cNvPr id="91" name="slide028-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8-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93" name="slide028-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8-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8-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2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S065–S072</a:t>
            </a:r>
          </a:p>
        </p:txBody>
      </p:sp>
      <p:sp>
        <p:nvSpPr>
          <p:cNvPr id="4" name="slide02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29-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9-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29-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9-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29-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9-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29-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9-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29-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9-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29-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9-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S065</a:t>
            </a:r>
          </a:p>
        </p:txBody>
      </p:sp>
      <p:sp>
        <p:nvSpPr>
          <p:cNvPr id="17" name="slide029-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9-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19" name="slide029-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9-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D</a:t>
            </a:r>
          </a:p>
        </p:txBody>
      </p:sp>
      <p:sp>
        <p:nvSpPr>
          <p:cNvPr id="21" name="slide029-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9-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29-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9-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29-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9-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S066</a:t>
            </a:r>
          </a:p>
        </p:txBody>
      </p:sp>
      <p:sp>
        <p:nvSpPr>
          <p:cNvPr id="27" name="slide029-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9-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29" name="slide029-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9-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A</a:t>
            </a:r>
          </a:p>
        </p:txBody>
      </p:sp>
      <p:sp>
        <p:nvSpPr>
          <p:cNvPr id="31" name="slide029-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9-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33" name="slide029-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9-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29-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9-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S067</a:t>
            </a:r>
          </a:p>
        </p:txBody>
      </p:sp>
      <p:sp>
        <p:nvSpPr>
          <p:cNvPr id="37" name="slide029-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9-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39" name="slide029-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9-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10.00%</a:t>
            </a:r>
          </a:p>
        </p:txBody>
      </p:sp>
      <p:sp>
        <p:nvSpPr>
          <p:cNvPr id="41" name="slide029-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9-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29-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9-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29-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9-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S068</a:t>
            </a:r>
          </a:p>
        </p:txBody>
      </p:sp>
      <p:sp>
        <p:nvSpPr>
          <p:cNvPr id="47" name="slide029-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9-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49" name="slide029-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9-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10.00%</a:t>
            </a:r>
          </a:p>
        </p:txBody>
      </p:sp>
      <p:sp>
        <p:nvSpPr>
          <p:cNvPr id="51" name="slide029-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9-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53" name="slide029-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9-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29-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9-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S069</a:t>
            </a:r>
          </a:p>
        </p:txBody>
      </p:sp>
      <p:sp>
        <p:nvSpPr>
          <p:cNvPr id="57" name="slide029-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9-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59" name="slide029-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9-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10.00%</a:t>
            </a:r>
          </a:p>
        </p:txBody>
      </p:sp>
      <p:sp>
        <p:nvSpPr>
          <p:cNvPr id="61" name="slide029-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9-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29-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9-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29-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9-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S070</a:t>
            </a:r>
          </a:p>
        </p:txBody>
      </p:sp>
      <p:sp>
        <p:nvSpPr>
          <p:cNvPr id="67" name="slide029-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9-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logistic</a:t>
            </a:r>
          </a:p>
        </p:txBody>
      </p:sp>
      <p:sp>
        <p:nvSpPr>
          <p:cNvPr id="69" name="slide029-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9-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odds 1.5–5.0</a:t>
            </a:r>
          </a:p>
        </p:txBody>
      </p:sp>
      <p:sp>
        <p:nvSpPr>
          <p:cNvPr id="71" name="slide029-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9-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73" name="slide029-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9-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29-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9-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S071</a:t>
            </a:r>
          </a:p>
        </p:txBody>
      </p:sp>
      <p:sp>
        <p:nvSpPr>
          <p:cNvPr id="77" name="slide029-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9-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Team+xG+FPL residual</a:t>
            </a:r>
          </a:p>
        </p:txBody>
      </p:sp>
      <p:sp>
        <p:nvSpPr>
          <p:cNvPr id="79" name="slide029-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9-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odds 1.5–5.0</a:t>
            </a:r>
          </a:p>
        </p:txBody>
      </p:sp>
      <p:sp>
        <p:nvSpPr>
          <p:cNvPr id="81" name="slide029-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9-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29-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9-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29-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9-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S072</a:t>
            </a:r>
          </a:p>
        </p:txBody>
      </p:sp>
      <p:sp>
        <p:nvSpPr>
          <p:cNvPr id="87" name="slide029-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9-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8-learned mean</a:t>
            </a:r>
          </a:p>
        </p:txBody>
      </p:sp>
      <p:sp>
        <p:nvSpPr>
          <p:cNvPr id="89" name="slide029-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9-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 odds 1.5–5.0</a:t>
            </a:r>
          </a:p>
        </p:txBody>
      </p:sp>
      <p:sp>
        <p:nvSpPr>
          <p:cNvPr id="91" name="slide029-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9-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93" name="slide029-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9-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29-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2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2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2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3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3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S073–S080</a:t>
            </a:r>
          </a:p>
        </p:txBody>
      </p:sp>
      <p:sp>
        <p:nvSpPr>
          <p:cNvPr id="4" name="slide03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30-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30-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30-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30-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30-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30-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30-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30-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30-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30-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30-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30-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S073</a:t>
            </a:r>
          </a:p>
        </p:txBody>
      </p:sp>
      <p:sp>
        <p:nvSpPr>
          <p:cNvPr id="17" name="slide030-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30-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19" name="slide030-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30-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0.00%</a:t>
            </a:r>
          </a:p>
        </p:txBody>
      </p:sp>
      <p:sp>
        <p:nvSpPr>
          <p:cNvPr id="21" name="slide030-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30-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30-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30-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30-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30-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S074</a:t>
            </a:r>
          </a:p>
        </p:txBody>
      </p:sp>
      <p:sp>
        <p:nvSpPr>
          <p:cNvPr id="27" name="slide030-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30-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29" name="slide030-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30-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2.50%</a:t>
            </a:r>
          </a:p>
        </p:txBody>
      </p:sp>
      <p:sp>
        <p:nvSpPr>
          <p:cNvPr id="31" name="slide030-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30-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33" name="slide030-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30-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30-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30-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S075</a:t>
            </a:r>
          </a:p>
        </p:txBody>
      </p:sp>
      <p:sp>
        <p:nvSpPr>
          <p:cNvPr id="37" name="slide030-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30-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39" name="slide030-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30-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7.50%</a:t>
            </a:r>
          </a:p>
        </p:txBody>
      </p:sp>
      <p:sp>
        <p:nvSpPr>
          <p:cNvPr id="41" name="slide030-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30-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30-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30-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30-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30-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S076</a:t>
            </a:r>
          </a:p>
        </p:txBody>
      </p:sp>
      <p:sp>
        <p:nvSpPr>
          <p:cNvPr id="47" name="slide030-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30-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49" name="slide030-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30-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10.00%</a:t>
            </a:r>
          </a:p>
        </p:txBody>
      </p:sp>
      <p:sp>
        <p:nvSpPr>
          <p:cNvPr id="51" name="slide030-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30-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53" name="slide030-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30-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30-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30-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S077</a:t>
            </a:r>
          </a:p>
        </p:txBody>
      </p:sp>
      <p:sp>
        <p:nvSpPr>
          <p:cNvPr id="57" name="slide030-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30-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59" name="slide030-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30-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15.00%</a:t>
            </a:r>
          </a:p>
        </p:txBody>
      </p:sp>
      <p:sp>
        <p:nvSpPr>
          <p:cNvPr id="61" name="slide030-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30-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30-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30-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30-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30-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S078</a:t>
            </a:r>
          </a:p>
        </p:txBody>
      </p:sp>
      <p:sp>
        <p:nvSpPr>
          <p:cNvPr id="67" name="slide030-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30-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SVM</a:t>
            </a:r>
          </a:p>
        </p:txBody>
      </p:sp>
      <p:sp>
        <p:nvSpPr>
          <p:cNvPr id="69" name="slide030-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30-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20.00%</a:t>
            </a:r>
          </a:p>
        </p:txBody>
      </p:sp>
      <p:sp>
        <p:nvSpPr>
          <p:cNvPr id="71" name="slide030-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30-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73" name="slide030-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30-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30-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30-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S079</a:t>
            </a:r>
          </a:p>
        </p:txBody>
      </p:sp>
      <p:sp>
        <p:nvSpPr>
          <p:cNvPr id="77" name="slide030-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30-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79" name="slide030-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30-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0.00%</a:t>
            </a:r>
          </a:p>
        </p:txBody>
      </p:sp>
      <p:sp>
        <p:nvSpPr>
          <p:cNvPr id="81" name="slide030-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30-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30-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30-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85" name="slide030-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30-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S080</a:t>
            </a:r>
          </a:p>
        </p:txBody>
      </p:sp>
      <p:sp>
        <p:nvSpPr>
          <p:cNvPr id="87" name="slide030-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30-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89" name="slide030-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30-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2.50%</a:t>
            </a:r>
          </a:p>
        </p:txBody>
      </p:sp>
      <p:sp>
        <p:nvSpPr>
          <p:cNvPr id="91" name="slide030-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30-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93" name="slide030-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30-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95" name="slide030-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3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3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3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3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3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S081–P004</a:t>
            </a:r>
          </a:p>
        </p:txBody>
      </p:sp>
      <p:sp>
        <p:nvSpPr>
          <p:cNvPr id="4" name="slide03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31-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31-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31-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31-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31-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31-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31-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31-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31-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31-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31-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31-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S081</a:t>
            </a:r>
          </a:p>
        </p:txBody>
      </p:sp>
      <p:sp>
        <p:nvSpPr>
          <p:cNvPr id="17" name="slide031-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31-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19" name="slide031-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31-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7.50%</a:t>
            </a:r>
          </a:p>
        </p:txBody>
      </p:sp>
      <p:sp>
        <p:nvSpPr>
          <p:cNvPr id="21" name="slide031-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31-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31-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31-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31-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31-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S082</a:t>
            </a:r>
          </a:p>
        </p:txBody>
      </p:sp>
      <p:sp>
        <p:nvSpPr>
          <p:cNvPr id="27" name="slide031-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31-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29" name="slide031-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31-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10.00%</a:t>
            </a:r>
          </a:p>
        </p:txBody>
      </p:sp>
      <p:sp>
        <p:nvSpPr>
          <p:cNvPr id="31" name="slide031-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31-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33" name="slide031-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31-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31-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31-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S083</a:t>
            </a:r>
          </a:p>
        </p:txBody>
      </p:sp>
      <p:sp>
        <p:nvSpPr>
          <p:cNvPr id="37" name="slide031-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31-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39" name="slide031-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31-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15.00%</a:t>
            </a:r>
          </a:p>
        </p:txBody>
      </p:sp>
      <p:sp>
        <p:nvSpPr>
          <p:cNvPr id="41" name="slide031-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31-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31-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31-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45" name="slide031-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31-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S084</a:t>
            </a:r>
          </a:p>
        </p:txBody>
      </p:sp>
      <p:sp>
        <p:nvSpPr>
          <p:cNvPr id="47" name="slide031-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31-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First-study MLP</a:t>
            </a:r>
          </a:p>
        </p:txBody>
      </p:sp>
      <p:sp>
        <p:nvSpPr>
          <p:cNvPr id="49" name="slide031-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31-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20.00%</a:t>
            </a:r>
          </a:p>
        </p:txBody>
      </p:sp>
      <p:sp>
        <p:nvSpPr>
          <p:cNvPr id="51" name="slide031-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31-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53" name="slide031-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31-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55" name="slide031-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31-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P001</a:t>
            </a:r>
          </a:p>
        </p:txBody>
      </p:sp>
      <p:sp>
        <p:nvSpPr>
          <p:cNvPr id="57" name="slide031-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31-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 control</a:t>
            </a:r>
          </a:p>
        </p:txBody>
      </p:sp>
      <p:sp>
        <p:nvSpPr>
          <p:cNvPr id="59" name="slide031-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31-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31-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31-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31-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31-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31-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31-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P002</a:t>
            </a:r>
          </a:p>
        </p:txBody>
      </p:sp>
      <p:sp>
        <p:nvSpPr>
          <p:cNvPr id="67" name="slide031-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31-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 control</a:t>
            </a:r>
          </a:p>
        </p:txBody>
      </p:sp>
      <p:sp>
        <p:nvSpPr>
          <p:cNvPr id="69" name="slide031-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31-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31-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31-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31-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31-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31-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31-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P003</a:t>
            </a:r>
          </a:p>
        </p:txBody>
      </p:sp>
      <p:sp>
        <p:nvSpPr>
          <p:cNvPr id="77" name="slide031-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31-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 control</a:t>
            </a:r>
          </a:p>
        </p:txBody>
      </p:sp>
      <p:sp>
        <p:nvSpPr>
          <p:cNvPr id="79" name="slide031-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31-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31-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31-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31-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31-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85" name="slide031-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31-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P004</a:t>
            </a:r>
          </a:p>
        </p:txBody>
      </p:sp>
      <p:sp>
        <p:nvSpPr>
          <p:cNvPr id="87" name="slide031-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31-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 control</a:t>
            </a:r>
          </a:p>
        </p:txBody>
      </p:sp>
      <p:sp>
        <p:nvSpPr>
          <p:cNvPr id="89" name="slide031-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31-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31-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31-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31-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31-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95" name="slide031-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3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3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3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3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3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P005–P012</a:t>
            </a:r>
          </a:p>
        </p:txBody>
      </p:sp>
      <p:sp>
        <p:nvSpPr>
          <p:cNvPr id="4" name="slide03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32-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32-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32-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32-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32-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32-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32-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32-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32-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32-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32-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32-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P005</a:t>
            </a:r>
          </a:p>
        </p:txBody>
      </p:sp>
      <p:sp>
        <p:nvSpPr>
          <p:cNvPr id="17" name="slide032-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32-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 control</a:t>
            </a:r>
          </a:p>
        </p:txBody>
      </p:sp>
      <p:sp>
        <p:nvSpPr>
          <p:cNvPr id="19" name="slide032-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32-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32-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32-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32-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32-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32-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32-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P006</a:t>
            </a:r>
          </a:p>
        </p:txBody>
      </p:sp>
      <p:sp>
        <p:nvSpPr>
          <p:cNvPr id="27" name="slide032-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32-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 control</a:t>
            </a:r>
          </a:p>
        </p:txBody>
      </p:sp>
      <p:sp>
        <p:nvSpPr>
          <p:cNvPr id="29" name="slide032-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32-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32-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32-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32-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32-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32-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32-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P007</a:t>
            </a:r>
          </a:p>
        </p:txBody>
      </p:sp>
      <p:sp>
        <p:nvSpPr>
          <p:cNvPr id="37" name="slide032-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32-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 control</a:t>
            </a:r>
          </a:p>
        </p:txBody>
      </p:sp>
      <p:sp>
        <p:nvSpPr>
          <p:cNvPr id="39" name="slide032-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32-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32-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32-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32-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32-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45" name="slide032-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32-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P008</a:t>
            </a:r>
          </a:p>
        </p:txBody>
      </p:sp>
      <p:sp>
        <p:nvSpPr>
          <p:cNvPr id="47" name="slide032-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32-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 control</a:t>
            </a:r>
          </a:p>
        </p:txBody>
      </p:sp>
      <p:sp>
        <p:nvSpPr>
          <p:cNvPr id="49" name="slide032-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32-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32-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32-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32-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32-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55" name="slide032-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32-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P009</a:t>
            </a:r>
          </a:p>
        </p:txBody>
      </p:sp>
      <p:sp>
        <p:nvSpPr>
          <p:cNvPr id="57" name="slide032-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32-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form</a:t>
            </a:r>
          </a:p>
        </p:txBody>
      </p:sp>
      <p:sp>
        <p:nvSpPr>
          <p:cNvPr id="59" name="slide032-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32-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32-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32-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32-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32-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32-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32-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P010</a:t>
            </a:r>
          </a:p>
        </p:txBody>
      </p:sp>
      <p:sp>
        <p:nvSpPr>
          <p:cNvPr id="67" name="slide032-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32-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form</a:t>
            </a:r>
          </a:p>
        </p:txBody>
      </p:sp>
      <p:sp>
        <p:nvSpPr>
          <p:cNvPr id="69" name="slide032-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32-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32-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32-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32-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32-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32-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32-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P011</a:t>
            </a:r>
          </a:p>
        </p:txBody>
      </p:sp>
      <p:sp>
        <p:nvSpPr>
          <p:cNvPr id="77" name="slide032-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32-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form</a:t>
            </a:r>
          </a:p>
        </p:txBody>
      </p:sp>
      <p:sp>
        <p:nvSpPr>
          <p:cNvPr id="79" name="slide032-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32-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32-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32-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32-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32-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85" name="slide032-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32-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P012</a:t>
            </a:r>
          </a:p>
        </p:txBody>
      </p:sp>
      <p:sp>
        <p:nvSpPr>
          <p:cNvPr id="87" name="slide032-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32-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form</a:t>
            </a:r>
          </a:p>
        </p:txBody>
      </p:sp>
      <p:sp>
        <p:nvSpPr>
          <p:cNvPr id="89" name="slide032-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32-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32-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32-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32-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32-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95" name="slide032-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3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3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3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3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3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P013–P020</a:t>
            </a:r>
          </a:p>
        </p:txBody>
      </p:sp>
      <p:sp>
        <p:nvSpPr>
          <p:cNvPr id="4" name="slide03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33-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33-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33-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33-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33-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33-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33-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33-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33-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33-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33-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33-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P013</a:t>
            </a:r>
          </a:p>
        </p:txBody>
      </p:sp>
      <p:sp>
        <p:nvSpPr>
          <p:cNvPr id="17" name="slide033-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33-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form</a:t>
            </a:r>
          </a:p>
        </p:txBody>
      </p:sp>
      <p:sp>
        <p:nvSpPr>
          <p:cNvPr id="19" name="slide033-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33-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33-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33-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33-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33-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33-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33-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P014</a:t>
            </a:r>
          </a:p>
        </p:txBody>
      </p:sp>
      <p:sp>
        <p:nvSpPr>
          <p:cNvPr id="27" name="slide033-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33-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form</a:t>
            </a:r>
          </a:p>
        </p:txBody>
      </p:sp>
      <p:sp>
        <p:nvSpPr>
          <p:cNvPr id="29" name="slide033-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33-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33-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33-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33-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33-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33-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33-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P015</a:t>
            </a:r>
          </a:p>
        </p:txBody>
      </p:sp>
      <p:sp>
        <p:nvSpPr>
          <p:cNvPr id="37" name="slide033-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33-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form</a:t>
            </a:r>
          </a:p>
        </p:txBody>
      </p:sp>
      <p:sp>
        <p:nvSpPr>
          <p:cNvPr id="39" name="slide033-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33-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33-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33-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33-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33-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45" name="slide033-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33-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P016</a:t>
            </a:r>
          </a:p>
        </p:txBody>
      </p:sp>
      <p:sp>
        <p:nvSpPr>
          <p:cNvPr id="47" name="slide033-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33-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form</a:t>
            </a:r>
          </a:p>
        </p:txBody>
      </p:sp>
      <p:sp>
        <p:nvSpPr>
          <p:cNvPr id="49" name="slide033-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33-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33-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33-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33-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33-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55" name="slide033-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33-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P017</a:t>
            </a:r>
          </a:p>
        </p:txBody>
      </p:sp>
      <p:sp>
        <p:nvSpPr>
          <p:cNvPr id="57" name="slide033-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33-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squad</a:t>
            </a:r>
          </a:p>
        </p:txBody>
      </p:sp>
      <p:sp>
        <p:nvSpPr>
          <p:cNvPr id="59" name="slide033-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33-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33-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33-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33-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33-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33-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33-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P018</a:t>
            </a:r>
          </a:p>
        </p:txBody>
      </p:sp>
      <p:sp>
        <p:nvSpPr>
          <p:cNvPr id="67" name="slide033-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33-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squad</a:t>
            </a:r>
          </a:p>
        </p:txBody>
      </p:sp>
      <p:sp>
        <p:nvSpPr>
          <p:cNvPr id="69" name="slide033-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33-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33-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33-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33-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33-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33-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33-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P019</a:t>
            </a:r>
          </a:p>
        </p:txBody>
      </p:sp>
      <p:sp>
        <p:nvSpPr>
          <p:cNvPr id="77" name="slide033-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33-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squad</a:t>
            </a:r>
          </a:p>
        </p:txBody>
      </p:sp>
      <p:sp>
        <p:nvSpPr>
          <p:cNvPr id="79" name="slide033-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33-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33-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33-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33-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33-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85" name="slide033-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33-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P020</a:t>
            </a:r>
          </a:p>
        </p:txBody>
      </p:sp>
      <p:sp>
        <p:nvSpPr>
          <p:cNvPr id="87" name="slide033-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33-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player squad</a:t>
            </a:r>
          </a:p>
        </p:txBody>
      </p:sp>
      <p:sp>
        <p:nvSpPr>
          <p:cNvPr id="89" name="slide033-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33-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33-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33-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33-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33-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95" name="slide033-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3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3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3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3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3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P021–P028</a:t>
            </a:r>
          </a:p>
        </p:txBody>
      </p:sp>
      <p:sp>
        <p:nvSpPr>
          <p:cNvPr id="4" name="slide03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34-element000-table-r00-c00-cell"/>
          <p:cNvSpPr/>
          <p:nvPr/>
        </p:nvSpPr>
        <p:spPr>
          <a:xfrm>
            <a:off x="594360" y="1828800"/>
            <a:ext cx="938997"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34-element000-table-r00-c00-text"/>
          <p:cNvSpPr txBox="1"/>
          <p:nvPr/>
        </p:nvSpPr>
        <p:spPr>
          <a:xfrm>
            <a:off x="685800" y="19019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34-element000-table-r00-c01-cell"/>
          <p:cNvSpPr/>
          <p:nvPr/>
        </p:nvSpPr>
        <p:spPr>
          <a:xfrm>
            <a:off x="1533357" y="1828800"/>
            <a:ext cx="3353562"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34-element000-table-r00-c01-text"/>
          <p:cNvSpPr txBox="1"/>
          <p:nvPr/>
        </p:nvSpPr>
        <p:spPr>
          <a:xfrm>
            <a:off x="1624797" y="19019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34-element000-table-r00-c02-cell"/>
          <p:cNvSpPr/>
          <p:nvPr/>
        </p:nvSpPr>
        <p:spPr>
          <a:xfrm>
            <a:off x="4886919" y="1828800"/>
            <a:ext cx="402427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34-element000-table-r00-c02-text"/>
          <p:cNvSpPr txBox="1"/>
          <p:nvPr/>
        </p:nvSpPr>
        <p:spPr>
          <a:xfrm>
            <a:off x="4978359" y="19019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34-element000-table-r00-c03-cell"/>
          <p:cNvSpPr/>
          <p:nvPr/>
        </p:nvSpPr>
        <p:spPr>
          <a:xfrm>
            <a:off x="8911193" y="1828800"/>
            <a:ext cx="3755989"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34-element000-table-r00-c03-text"/>
          <p:cNvSpPr txBox="1"/>
          <p:nvPr/>
        </p:nvSpPr>
        <p:spPr>
          <a:xfrm>
            <a:off x="9002633" y="19019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34-element000-table-r00-c04-cell"/>
          <p:cNvSpPr/>
          <p:nvPr/>
        </p:nvSpPr>
        <p:spPr>
          <a:xfrm>
            <a:off x="12667183" y="1828800"/>
            <a:ext cx="1341424" cy="594359"/>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34-element000-table-r00-c04-text"/>
          <p:cNvSpPr txBox="1"/>
          <p:nvPr/>
        </p:nvSpPr>
        <p:spPr>
          <a:xfrm>
            <a:off x="12758623" y="19019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34-element000-table-r01-c00-cell"/>
          <p:cNvSpPr/>
          <p:nvPr/>
        </p:nvSpPr>
        <p:spPr>
          <a:xfrm>
            <a:off x="594360" y="242316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34-element000-table-r01-c00-text"/>
          <p:cNvSpPr txBox="1"/>
          <p:nvPr/>
        </p:nvSpPr>
        <p:spPr>
          <a:xfrm>
            <a:off x="685800" y="24963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P021</a:t>
            </a:r>
          </a:p>
        </p:txBody>
      </p:sp>
      <p:sp>
        <p:nvSpPr>
          <p:cNvPr id="17" name="slide034-element000-table-r01-c01-cell"/>
          <p:cNvSpPr/>
          <p:nvPr/>
        </p:nvSpPr>
        <p:spPr>
          <a:xfrm>
            <a:off x="1533357" y="242316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34-element000-table-r01-c01-text"/>
          <p:cNvSpPr txBox="1"/>
          <p:nvPr/>
        </p:nvSpPr>
        <p:spPr>
          <a:xfrm>
            <a:off x="1624797" y="24963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squad</a:t>
            </a:r>
          </a:p>
        </p:txBody>
      </p:sp>
      <p:sp>
        <p:nvSpPr>
          <p:cNvPr id="19" name="slide034-element000-table-r01-c02-cell"/>
          <p:cNvSpPr/>
          <p:nvPr/>
        </p:nvSpPr>
        <p:spPr>
          <a:xfrm>
            <a:off x="4886919" y="242316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34-element000-table-r01-c02-text"/>
          <p:cNvSpPr txBox="1"/>
          <p:nvPr/>
        </p:nvSpPr>
        <p:spPr>
          <a:xfrm>
            <a:off x="4978359" y="24963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34-element000-table-r01-c03-cell"/>
          <p:cNvSpPr/>
          <p:nvPr/>
        </p:nvSpPr>
        <p:spPr>
          <a:xfrm>
            <a:off x="8911193" y="242316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34-element000-table-r01-c03-text"/>
          <p:cNvSpPr txBox="1"/>
          <p:nvPr/>
        </p:nvSpPr>
        <p:spPr>
          <a:xfrm>
            <a:off x="9002633" y="24963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34-element000-table-r01-c04-cell"/>
          <p:cNvSpPr/>
          <p:nvPr/>
        </p:nvSpPr>
        <p:spPr>
          <a:xfrm>
            <a:off x="12667183" y="242316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34-element000-table-r01-c04-text"/>
          <p:cNvSpPr txBox="1"/>
          <p:nvPr/>
        </p:nvSpPr>
        <p:spPr>
          <a:xfrm>
            <a:off x="12758623" y="24963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34-element000-table-r02-c00-cell"/>
          <p:cNvSpPr/>
          <p:nvPr/>
        </p:nvSpPr>
        <p:spPr>
          <a:xfrm>
            <a:off x="594360" y="301752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34-element000-table-r02-c00-text"/>
          <p:cNvSpPr txBox="1"/>
          <p:nvPr/>
        </p:nvSpPr>
        <p:spPr>
          <a:xfrm>
            <a:off x="685800" y="309067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P022</a:t>
            </a:r>
          </a:p>
        </p:txBody>
      </p:sp>
      <p:sp>
        <p:nvSpPr>
          <p:cNvPr id="27" name="slide034-element000-table-r02-c01-cell"/>
          <p:cNvSpPr/>
          <p:nvPr/>
        </p:nvSpPr>
        <p:spPr>
          <a:xfrm>
            <a:off x="1533357" y="301752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34-element000-table-r02-c01-text"/>
          <p:cNvSpPr txBox="1"/>
          <p:nvPr/>
        </p:nvSpPr>
        <p:spPr>
          <a:xfrm>
            <a:off x="1624797" y="309067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squad</a:t>
            </a:r>
          </a:p>
        </p:txBody>
      </p:sp>
      <p:sp>
        <p:nvSpPr>
          <p:cNvPr id="29" name="slide034-element000-table-r02-c02-cell"/>
          <p:cNvSpPr/>
          <p:nvPr/>
        </p:nvSpPr>
        <p:spPr>
          <a:xfrm>
            <a:off x="4886919" y="301752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34-element000-table-r02-c02-text"/>
          <p:cNvSpPr txBox="1"/>
          <p:nvPr/>
        </p:nvSpPr>
        <p:spPr>
          <a:xfrm>
            <a:off x="4978359" y="309067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34-element000-table-r02-c03-cell"/>
          <p:cNvSpPr/>
          <p:nvPr/>
        </p:nvSpPr>
        <p:spPr>
          <a:xfrm>
            <a:off x="8911193" y="301752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34-element000-table-r02-c03-text"/>
          <p:cNvSpPr txBox="1"/>
          <p:nvPr/>
        </p:nvSpPr>
        <p:spPr>
          <a:xfrm>
            <a:off x="9002633" y="309067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34-element000-table-r02-c04-cell"/>
          <p:cNvSpPr/>
          <p:nvPr/>
        </p:nvSpPr>
        <p:spPr>
          <a:xfrm>
            <a:off x="12667183" y="301752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34-element000-table-r02-c04-text"/>
          <p:cNvSpPr txBox="1"/>
          <p:nvPr/>
        </p:nvSpPr>
        <p:spPr>
          <a:xfrm>
            <a:off x="12758623" y="309067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34-element000-table-r03-c00-cell"/>
          <p:cNvSpPr/>
          <p:nvPr/>
        </p:nvSpPr>
        <p:spPr>
          <a:xfrm>
            <a:off x="594360" y="361187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34-element000-table-r03-c00-text"/>
          <p:cNvSpPr txBox="1"/>
          <p:nvPr/>
        </p:nvSpPr>
        <p:spPr>
          <a:xfrm>
            <a:off x="685800" y="36850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P023</a:t>
            </a:r>
          </a:p>
        </p:txBody>
      </p:sp>
      <p:sp>
        <p:nvSpPr>
          <p:cNvPr id="37" name="slide034-element000-table-r03-c01-cell"/>
          <p:cNvSpPr/>
          <p:nvPr/>
        </p:nvSpPr>
        <p:spPr>
          <a:xfrm>
            <a:off x="1533357" y="361187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34-element000-table-r03-c01-text"/>
          <p:cNvSpPr txBox="1"/>
          <p:nvPr/>
        </p:nvSpPr>
        <p:spPr>
          <a:xfrm>
            <a:off x="1624797" y="36850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squad</a:t>
            </a:r>
          </a:p>
        </p:txBody>
      </p:sp>
      <p:sp>
        <p:nvSpPr>
          <p:cNvPr id="39" name="slide034-element000-table-r03-c02-cell"/>
          <p:cNvSpPr/>
          <p:nvPr/>
        </p:nvSpPr>
        <p:spPr>
          <a:xfrm>
            <a:off x="4886919" y="361187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34-element000-table-r03-c02-text"/>
          <p:cNvSpPr txBox="1"/>
          <p:nvPr/>
        </p:nvSpPr>
        <p:spPr>
          <a:xfrm>
            <a:off x="4978359" y="36850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34-element000-table-r03-c03-cell"/>
          <p:cNvSpPr/>
          <p:nvPr/>
        </p:nvSpPr>
        <p:spPr>
          <a:xfrm>
            <a:off x="8911193" y="361187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34-element000-table-r03-c03-text"/>
          <p:cNvSpPr txBox="1"/>
          <p:nvPr/>
        </p:nvSpPr>
        <p:spPr>
          <a:xfrm>
            <a:off x="9002633" y="36850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34-element000-table-r03-c04-cell"/>
          <p:cNvSpPr/>
          <p:nvPr/>
        </p:nvSpPr>
        <p:spPr>
          <a:xfrm>
            <a:off x="12667183" y="361187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34-element000-table-r03-c04-text"/>
          <p:cNvSpPr txBox="1"/>
          <p:nvPr/>
        </p:nvSpPr>
        <p:spPr>
          <a:xfrm>
            <a:off x="12758623" y="36850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45" name="slide034-element000-table-r04-c00-cell"/>
          <p:cNvSpPr/>
          <p:nvPr/>
        </p:nvSpPr>
        <p:spPr>
          <a:xfrm>
            <a:off x="594360" y="4206240"/>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34-element000-table-r04-c00-text"/>
          <p:cNvSpPr txBox="1"/>
          <p:nvPr/>
        </p:nvSpPr>
        <p:spPr>
          <a:xfrm>
            <a:off x="685800" y="427939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P024</a:t>
            </a:r>
          </a:p>
        </p:txBody>
      </p:sp>
      <p:sp>
        <p:nvSpPr>
          <p:cNvPr id="47" name="slide034-element000-table-r04-c01-cell"/>
          <p:cNvSpPr/>
          <p:nvPr/>
        </p:nvSpPr>
        <p:spPr>
          <a:xfrm>
            <a:off x="1533357" y="4206240"/>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34-element000-table-r04-c01-text"/>
          <p:cNvSpPr txBox="1"/>
          <p:nvPr/>
        </p:nvSpPr>
        <p:spPr>
          <a:xfrm>
            <a:off x="1624797" y="427939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player squad</a:t>
            </a:r>
          </a:p>
        </p:txBody>
      </p:sp>
      <p:sp>
        <p:nvSpPr>
          <p:cNvPr id="49" name="slide034-element000-table-r04-c02-cell"/>
          <p:cNvSpPr/>
          <p:nvPr/>
        </p:nvSpPr>
        <p:spPr>
          <a:xfrm>
            <a:off x="4886919" y="4206240"/>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34-element000-table-r04-c02-text"/>
          <p:cNvSpPr txBox="1"/>
          <p:nvPr/>
        </p:nvSpPr>
        <p:spPr>
          <a:xfrm>
            <a:off x="4978359" y="427939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34-element000-table-r04-c03-cell"/>
          <p:cNvSpPr/>
          <p:nvPr/>
        </p:nvSpPr>
        <p:spPr>
          <a:xfrm>
            <a:off x="8911193" y="4206240"/>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34-element000-table-r04-c03-text"/>
          <p:cNvSpPr txBox="1"/>
          <p:nvPr/>
        </p:nvSpPr>
        <p:spPr>
          <a:xfrm>
            <a:off x="9002633" y="427939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34-element000-table-r04-c04-cell"/>
          <p:cNvSpPr/>
          <p:nvPr/>
        </p:nvSpPr>
        <p:spPr>
          <a:xfrm>
            <a:off x="12667183" y="4206240"/>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34-element000-table-r04-c04-text"/>
          <p:cNvSpPr txBox="1"/>
          <p:nvPr/>
        </p:nvSpPr>
        <p:spPr>
          <a:xfrm>
            <a:off x="12758623" y="427939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55" name="slide034-element000-table-r05-c00-cell"/>
          <p:cNvSpPr/>
          <p:nvPr/>
        </p:nvSpPr>
        <p:spPr>
          <a:xfrm>
            <a:off x="594360" y="4800600"/>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34-element000-table-r05-c00-text"/>
          <p:cNvSpPr txBox="1"/>
          <p:nvPr/>
        </p:nvSpPr>
        <p:spPr>
          <a:xfrm>
            <a:off x="685800" y="487375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P025</a:t>
            </a:r>
          </a:p>
        </p:txBody>
      </p:sp>
      <p:sp>
        <p:nvSpPr>
          <p:cNvPr id="57" name="slide034-element000-table-r05-c01-cell"/>
          <p:cNvSpPr/>
          <p:nvPr/>
        </p:nvSpPr>
        <p:spPr>
          <a:xfrm>
            <a:off x="1533357" y="4800600"/>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34-element000-table-r05-c01-text"/>
          <p:cNvSpPr txBox="1"/>
          <p:nvPr/>
        </p:nvSpPr>
        <p:spPr>
          <a:xfrm>
            <a:off x="1624797" y="487375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team+full player</a:t>
            </a:r>
          </a:p>
        </p:txBody>
      </p:sp>
      <p:sp>
        <p:nvSpPr>
          <p:cNvPr id="59" name="slide034-element000-table-r05-c02-cell"/>
          <p:cNvSpPr/>
          <p:nvPr/>
        </p:nvSpPr>
        <p:spPr>
          <a:xfrm>
            <a:off x="4886919" y="4800600"/>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34-element000-table-r05-c02-text"/>
          <p:cNvSpPr txBox="1"/>
          <p:nvPr/>
        </p:nvSpPr>
        <p:spPr>
          <a:xfrm>
            <a:off x="4978359" y="487375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61" name="slide034-element000-table-r05-c03-cell"/>
          <p:cNvSpPr/>
          <p:nvPr/>
        </p:nvSpPr>
        <p:spPr>
          <a:xfrm>
            <a:off x="8911193" y="4800600"/>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34-element000-table-r05-c03-text"/>
          <p:cNvSpPr txBox="1"/>
          <p:nvPr/>
        </p:nvSpPr>
        <p:spPr>
          <a:xfrm>
            <a:off x="9002633" y="487375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63" name="slide034-element000-table-r05-c04-cell"/>
          <p:cNvSpPr/>
          <p:nvPr/>
        </p:nvSpPr>
        <p:spPr>
          <a:xfrm>
            <a:off x="12667183" y="4800600"/>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34-element000-table-r05-c04-text"/>
          <p:cNvSpPr txBox="1"/>
          <p:nvPr/>
        </p:nvSpPr>
        <p:spPr>
          <a:xfrm>
            <a:off x="12758623" y="487375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65" name="slide034-element000-table-r06-c00-cell"/>
          <p:cNvSpPr/>
          <p:nvPr/>
        </p:nvSpPr>
        <p:spPr>
          <a:xfrm>
            <a:off x="594360" y="539495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34-element000-table-r06-c00-text"/>
          <p:cNvSpPr txBox="1"/>
          <p:nvPr/>
        </p:nvSpPr>
        <p:spPr>
          <a:xfrm>
            <a:off x="685800" y="5468112"/>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P026</a:t>
            </a:r>
          </a:p>
        </p:txBody>
      </p:sp>
      <p:sp>
        <p:nvSpPr>
          <p:cNvPr id="67" name="slide034-element000-table-r06-c01-cell"/>
          <p:cNvSpPr/>
          <p:nvPr/>
        </p:nvSpPr>
        <p:spPr>
          <a:xfrm>
            <a:off x="1533357" y="539495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34-element000-table-r06-c01-text"/>
          <p:cNvSpPr txBox="1"/>
          <p:nvPr/>
        </p:nvSpPr>
        <p:spPr>
          <a:xfrm>
            <a:off x="1624797" y="5468112"/>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team+full player</a:t>
            </a:r>
          </a:p>
        </p:txBody>
      </p:sp>
      <p:sp>
        <p:nvSpPr>
          <p:cNvPr id="69" name="slide034-element000-table-r06-c02-cell"/>
          <p:cNvSpPr/>
          <p:nvPr/>
        </p:nvSpPr>
        <p:spPr>
          <a:xfrm>
            <a:off x="4886919" y="539495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34-element000-table-r06-c02-text"/>
          <p:cNvSpPr txBox="1"/>
          <p:nvPr/>
        </p:nvSpPr>
        <p:spPr>
          <a:xfrm>
            <a:off x="4978359" y="5468112"/>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71" name="slide034-element000-table-r06-c03-cell"/>
          <p:cNvSpPr/>
          <p:nvPr/>
        </p:nvSpPr>
        <p:spPr>
          <a:xfrm>
            <a:off x="8911193" y="539495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34-element000-table-r06-c03-text"/>
          <p:cNvSpPr txBox="1"/>
          <p:nvPr/>
        </p:nvSpPr>
        <p:spPr>
          <a:xfrm>
            <a:off x="9002633" y="5468112"/>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73" name="slide034-element000-table-r06-c04-cell"/>
          <p:cNvSpPr/>
          <p:nvPr/>
        </p:nvSpPr>
        <p:spPr>
          <a:xfrm>
            <a:off x="12667183" y="539495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34-element000-table-r06-c04-text"/>
          <p:cNvSpPr txBox="1"/>
          <p:nvPr/>
        </p:nvSpPr>
        <p:spPr>
          <a:xfrm>
            <a:off x="12758623" y="5468112"/>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75" name="slide034-element000-table-r07-c00-cell"/>
          <p:cNvSpPr/>
          <p:nvPr/>
        </p:nvSpPr>
        <p:spPr>
          <a:xfrm>
            <a:off x="594360" y="5989319"/>
            <a:ext cx="938997"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34-element000-table-r07-c00-text"/>
          <p:cNvSpPr txBox="1"/>
          <p:nvPr/>
        </p:nvSpPr>
        <p:spPr>
          <a:xfrm>
            <a:off x="685800" y="606247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P027</a:t>
            </a:r>
          </a:p>
        </p:txBody>
      </p:sp>
      <p:sp>
        <p:nvSpPr>
          <p:cNvPr id="77" name="slide034-element000-table-r07-c01-cell"/>
          <p:cNvSpPr/>
          <p:nvPr/>
        </p:nvSpPr>
        <p:spPr>
          <a:xfrm>
            <a:off x="1533357" y="5989319"/>
            <a:ext cx="3353562"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34-element000-table-r07-c01-text"/>
          <p:cNvSpPr txBox="1"/>
          <p:nvPr/>
        </p:nvSpPr>
        <p:spPr>
          <a:xfrm>
            <a:off x="1624797" y="606247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team+full player</a:t>
            </a:r>
          </a:p>
        </p:txBody>
      </p:sp>
      <p:sp>
        <p:nvSpPr>
          <p:cNvPr id="79" name="slide034-element000-table-r07-c02-cell"/>
          <p:cNvSpPr/>
          <p:nvPr/>
        </p:nvSpPr>
        <p:spPr>
          <a:xfrm>
            <a:off x="4886919" y="5989319"/>
            <a:ext cx="402427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34-element000-table-r07-c02-text"/>
          <p:cNvSpPr txBox="1"/>
          <p:nvPr/>
        </p:nvSpPr>
        <p:spPr>
          <a:xfrm>
            <a:off x="4978359" y="606247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81" name="slide034-element000-table-r07-c03-cell"/>
          <p:cNvSpPr/>
          <p:nvPr/>
        </p:nvSpPr>
        <p:spPr>
          <a:xfrm>
            <a:off x="8911193" y="5989319"/>
            <a:ext cx="3755989"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34-element000-table-r07-c03-text"/>
          <p:cNvSpPr txBox="1"/>
          <p:nvPr/>
        </p:nvSpPr>
        <p:spPr>
          <a:xfrm>
            <a:off x="9002633" y="606247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83" name="slide034-element000-table-r07-c04-cell"/>
          <p:cNvSpPr/>
          <p:nvPr/>
        </p:nvSpPr>
        <p:spPr>
          <a:xfrm>
            <a:off x="12667183" y="5989319"/>
            <a:ext cx="1341424" cy="594359"/>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34-element000-table-r07-c04-text"/>
          <p:cNvSpPr txBox="1"/>
          <p:nvPr/>
        </p:nvSpPr>
        <p:spPr>
          <a:xfrm>
            <a:off x="12758623" y="606247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85" name="slide034-element000-table-r08-c00-cell"/>
          <p:cNvSpPr/>
          <p:nvPr/>
        </p:nvSpPr>
        <p:spPr>
          <a:xfrm>
            <a:off x="594360" y="6583679"/>
            <a:ext cx="938997"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34-element000-table-r08-c00-text"/>
          <p:cNvSpPr txBox="1"/>
          <p:nvPr/>
        </p:nvSpPr>
        <p:spPr>
          <a:xfrm>
            <a:off x="685800" y="6656831"/>
            <a:ext cx="756117"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P028</a:t>
            </a:r>
          </a:p>
        </p:txBody>
      </p:sp>
      <p:sp>
        <p:nvSpPr>
          <p:cNvPr id="87" name="slide034-element000-table-r08-c01-cell"/>
          <p:cNvSpPr/>
          <p:nvPr/>
        </p:nvSpPr>
        <p:spPr>
          <a:xfrm>
            <a:off x="1533357" y="6583679"/>
            <a:ext cx="3353562"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34-element000-table-r08-c01-text"/>
          <p:cNvSpPr txBox="1"/>
          <p:nvPr/>
        </p:nvSpPr>
        <p:spPr>
          <a:xfrm>
            <a:off x="1624797" y="6656831"/>
            <a:ext cx="3170682"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Logistic team+full player</a:t>
            </a:r>
          </a:p>
        </p:txBody>
      </p:sp>
      <p:sp>
        <p:nvSpPr>
          <p:cNvPr id="89" name="slide034-element000-table-r08-c02-cell"/>
          <p:cNvSpPr/>
          <p:nvPr/>
        </p:nvSpPr>
        <p:spPr>
          <a:xfrm>
            <a:off x="4886919" y="6583679"/>
            <a:ext cx="402427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34-element000-table-r08-c02-text"/>
          <p:cNvSpPr txBox="1"/>
          <p:nvPr/>
        </p:nvSpPr>
        <p:spPr>
          <a:xfrm>
            <a:off x="4978359" y="6656831"/>
            <a:ext cx="384139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91" name="slide034-element000-table-r08-c03-cell"/>
          <p:cNvSpPr/>
          <p:nvPr/>
        </p:nvSpPr>
        <p:spPr>
          <a:xfrm>
            <a:off x="8911193" y="6583679"/>
            <a:ext cx="3755989"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34-element000-table-r08-c03-text"/>
          <p:cNvSpPr txBox="1"/>
          <p:nvPr/>
        </p:nvSpPr>
        <p:spPr>
          <a:xfrm>
            <a:off x="9002633" y="6656831"/>
            <a:ext cx="3573109"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93" name="slide034-element000-table-r08-c04-cell"/>
          <p:cNvSpPr/>
          <p:nvPr/>
        </p:nvSpPr>
        <p:spPr>
          <a:xfrm>
            <a:off x="12667183" y="6583679"/>
            <a:ext cx="1341424" cy="594359"/>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34-element000-table-r08-c04-text"/>
          <p:cNvSpPr txBox="1"/>
          <p:nvPr/>
        </p:nvSpPr>
        <p:spPr>
          <a:xfrm>
            <a:off x="12758623" y="6656831"/>
            <a:ext cx="1158544" cy="448055"/>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95" name="slide034-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96" name="slide03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7" name="slide03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8" name="slide03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3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COMPLETE STRATEGY CATALOG | BACKUP</a:t>
            </a:r>
          </a:p>
        </p:txBody>
      </p:sp>
      <p:sp>
        <p:nvSpPr>
          <p:cNvPr id="3" name="slide03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Strategy appendix | P029–P032</a:t>
            </a:r>
          </a:p>
        </p:txBody>
      </p:sp>
      <p:sp>
        <p:nvSpPr>
          <p:cNvPr id="4" name="slide03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 / D / A = home / draw / away. Edge = p × decimal odds − 1. Full definitions and exact configurations are in speaker notes.</a:t>
            </a:r>
          </a:p>
        </p:txBody>
      </p:sp>
      <p:sp>
        <p:nvSpPr>
          <p:cNvPr id="5" name="slide035-element000-table-r00-c00-cell"/>
          <p:cNvSpPr/>
          <p:nvPr/>
        </p:nvSpPr>
        <p:spPr>
          <a:xfrm>
            <a:off x="594360" y="1828800"/>
            <a:ext cx="938997" cy="10698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35-element000-table-r00-c00-text"/>
          <p:cNvSpPr txBox="1"/>
          <p:nvPr/>
        </p:nvSpPr>
        <p:spPr>
          <a:xfrm>
            <a:off x="685800" y="1901952"/>
            <a:ext cx="756117" cy="923544"/>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ID</a:t>
            </a:r>
          </a:p>
        </p:txBody>
      </p:sp>
      <p:sp>
        <p:nvSpPr>
          <p:cNvPr id="7" name="slide035-element000-table-r00-c01-cell"/>
          <p:cNvSpPr/>
          <p:nvPr/>
        </p:nvSpPr>
        <p:spPr>
          <a:xfrm>
            <a:off x="1533357" y="1828800"/>
            <a:ext cx="3353562" cy="10698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35-element000-table-r00-c01-text"/>
          <p:cNvSpPr txBox="1"/>
          <p:nvPr/>
        </p:nvSpPr>
        <p:spPr>
          <a:xfrm>
            <a:off x="1624797" y="1901952"/>
            <a:ext cx="3170682" cy="923544"/>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Probability series</a:t>
            </a:r>
          </a:p>
        </p:txBody>
      </p:sp>
      <p:sp>
        <p:nvSpPr>
          <p:cNvPr id="9" name="slide035-element000-table-r00-c02-cell"/>
          <p:cNvSpPr/>
          <p:nvPr/>
        </p:nvSpPr>
        <p:spPr>
          <a:xfrm>
            <a:off x="4886919" y="1828800"/>
            <a:ext cx="4024274" cy="10698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35-element000-table-r00-c02-text"/>
          <p:cNvSpPr txBox="1"/>
          <p:nvPr/>
        </p:nvSpPr>
        <p:spPr>
          <a:xfrm>
            <a:off x="4978359" y="1901952"/>
            <a:ext cx="3841394" cy="923544"/>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Outcome / eligibility</a:t>
            </a:r>
          </a:p>
        </p:txBody>
      </p:sp>
      <p:sp>
        <p:nvSpPr>
          <p:cNvPr id="11" name="slide035-element000-table-r00-c03-cell"/>
          <p:cNvSpPr/>
          <p:nvPr/>
        </p:nvSpPr>
        <p:spPr>
          <a:xfrm>
            <a:off x="8911193" y="1828800"/>
            <a:ext cx="3755989" cy="10698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35-element000-table-r00-c03-text"/>
          <p:cNvSpPr txBox="1"/>
          <p:nvPr/>
        </p:nvSpPr>
        <p:spPr>
          <a:xfrm>
            <a:off x="9002633" y="1901952"/>
            <a:ext cx="3573109" cy="923544"/>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Requested stake / date cap</a:t>
            </a:r>
          </a:p>
        </p:txBody>
      </p:sp>
      <p:sp>
        <p:nvSpPr>
          <p:cNvPr id="13" name="slide035-element000-table-r00-c04-cell"/>
          <p:cNvSpPr/>
          <p:nvPr/>
        </p:nvSpPr>
        <p:spPr>
          <a:xfrm>
            <a:off x="12667183" y="1828800"/>
            <a:ext cx="1341424" cy="10698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35-element000-table-r00-c04-text"/>
          <p:cNvSpPr txBox="1"/>
          <p:nvPr/>
        </p:nvSpPr>
        <p:spPr>
          <a:xfrm>
            <a:off x="12758623" y="1901952"/>
            <a:ext cx="1158544" cy="923544"/>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Prices</a:t>
            </a:r>
          </a:p>
        </p:txBody>
      </p:sp>
      <p:sp>
        <p:nvSpPr>
          <p:cNvPr id="15" name="slide035-element000-table-r01-c00-cell"/>
          <p:cNvSpPr/>
          <p:nvPr/>
        </p:nvSpPr>
        <p:spPr>
          <a:xfrm>
            <a:off x="594360" y="2898648"/>
            <a:ext cx="938997"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35-element000-table-r01-c00-text"/>
          <p:cNvSpPr txBox="1"/>
          <p:nvPr/>
        </p:nvSpPr>
        <p:spPr>
          <a:xfrm>
            <a:off x="685800" y="2971800"/>
            <a:ext cx="756117"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P029</a:t>
            </a:r>
          </a:p>
        </p:txBody>
      </p:sp>
      <p:sp>
        <p:nvSpPr>
          <p:cNvPr id="17" name="slide035-element000-table-r01-c01-cell"/>
          <p:cNvSpPr/>
          <p:nvPr/>
        </p:nvSpPr>
        <p:spPr>
          <a:xfrm>
            <a:off x="1533357" y="2898648"/>
            <a:ext cx="3353562"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35-element000-table-r01-c01-text"/>
          <p:cNvSpPr txBox="1"/>
          <p:nvPr/>
        </p:nvSpPr>
        <p:spPr>
          <a:xfrm>
            <a:off x="1624797" y="2971800"/>
            <a:ext cx="3170682"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team+full player</a:t>
            </a:r>
          </a:p>
        </p:txBody>
      </p:sp>
      <p:sp>
        <p:nvSpPr>
          <p:cNvPr id="19" name="slide035-element000-table-r01-c02-cell"/>
          <p:cNvSpPr/>
          <p:nvPr/>
        </p:nvSpPr>
        <p:spPr>
          <a:xfrm>
            <a:off x="4886919" y="2898648"/>
            <a:ext cx="4024274"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35-element000-table-r01-c02-text"/>
          <p:cNvSpPr txBox="1"/>
          <p:nvPr/>
        </p:nvSpPr>
        <p:spPr>
          <a:xfrm>
            <a:off x="4978359" y="2971800"/>
            <a:ext cx="384139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21" name="slide035-element000-table-r01-c03-cell"/>
          <p:cNvSpPr/>
          <p:nvPr/>
        </p:nvSpPr>
        <p:spPr>
          <a:xfrm>
            <a:off x="8911193" y="2898648"/>
            <a:ext cx="3755989"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35-element000-table-r01-c03-text"/>
          <p:cNvSpPr txBox="1"/>
          <p:nvPr/>
        </p:nvSpPr>
        <p:spPr>
          <a:xfrm>
            <a:off x="9002633" y="2971800"/>
            <a:ext cx="3573109"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23" name="slide035-element000-table-r01-c04-cell"/>
          <p:cNvSpPr/>
          <p:nvPr/>
        </p:nvSpPr>
        <p:spPr>
          <a:xfrm>
            <a:off x="12667183" y="2898648"/>
            <a:ext cx="1341424"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35-element000-table-r01-c04-text"/>
          <p:cNvSpPr txBox="1"/>
          <p:nvPr/>
        </p:nvSpPr>
        <p:spPr>
          <a:xfrm>
            <a:off x="12758623" y="2971800"/>
            <a:ext cx="115854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25" name="slide035-element000-table-r02-c00-cell"/>
          <p:cNvSpPr/>
          <p:nvPr/>
        </p:nvSpPr>
        <p:spPr>
          <a:xfrm>
            <a:off x="594360" y="3968496"/>
            <a:ext cx="938997"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35-element000-table-r02-c00-text"/>
          <p:cNvSpPr txBox="1"/>
          <p:nvPr/>
        </p:nvSpPr>
        <p:spPr>
          <a:xfrm>
            <a:off x="685800" y="4041648"/>
            <a:ext cx="756117"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P030</a:t>
            </a:r>
          </a:p>
        </p:txBody>
      </p:sp>
      <p:sp>
        <p:nvSpPr>
          <p:cNvPr id="27" name="slide035-element000-table-r02-c01-cell"/>
          <p:cNvSpPr/>
          <p:nvPr/>
        </p:nvSpPr>
        <p:spPr>
          <a:xfrm>
            <a:off x="1533357" y="3968496"/>
            <a:ext cx="3353562"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35-element000-table-r02-c01-text"/>
          <p:cNvSpPr txBox="1"/>
          <p:nvPr/>
        </p:nvSpPr>
        <p:spPr>
          <a:xfrm>
            <a:off x="1624797" y="4041648"/>
            <a:ext cx="3170682"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team+full player</a:t>
            </a:r>
          </a:p>
        </p:txBody>
      </p:sp>
      <p:sp>
        <p:nvSpPr>
          <p:cNvPr id="29" name="slide035-element000-table-r02-c02-cell"/>
          <p:cNvSpPr/>
          <p:nvPr/>
        </p:nvSpPr>
        <p:spPr>
          <a:xfrm>
            <a:off x="4886919" y="3968496"/>
            <a:ext cx="4024274"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35-element000-table-r02-c02-text"/>
          <p:cNvSpPr txBox="1"/>
          <p:nvPr/>
        </p:nvSpPr>
        <p:spPr>
          <a:xfrm>
            <a:off x="4978359" y="4041648"/>
            <a:ext cx="384139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31" name="slide035-element000-table-r02-c03-cell"/>
          <p:cNvSpPr/>
          <p:nvPr/>
        </p:nvSpPr>
        <p:spPr>
          <a:xfrm>
            <a:off x="8911193" y="3968496"/>
            <a:ext cx="3755989"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35-element000-table-r02-c03-text"/>
          <p:cNvSpPr txBox="1"/>
          <p:nvPr/>
        </p:nvSpPr>
        <p:spPr>
          <a:xfrm>
            <a:off x="9002633" y="4041648"/>
            <a:ext cx="3573109"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33" name="slide035-element000-table-r02-c04-cell"/>
          <p:cNvSpPr/>
          <p:nvPr/>
        </p:nvSpPr>
        <p:spPr>
          <a:xfrm>
            <a:off x="12667183" y="3968496"/>
            <a:ext cx="1341424"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35-element000-table-r02-c04-text"/>
          <p:cNvSpPr txBox="1"/>
          <p:nvPr/>
        </p:nvSpPr>
        <p:spPr>
          <a:xfrm>
            <a:off x="12758623" y="4041648"/>
            <a:ext cx="115854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Best</a:t>
            </a:r>
          </a:p>
        </p:txBody>
      </p:sp>
      <p:sp>
        <p:nvSpPr>
          <p:cNvPr id="35" name="slide035-element000-table-r03-c00-cell"/>
          <p:cNvSpPr/>
          <p:nvPr/>
        </p:nvSpPr>
        <p:spPr>
          <a:xfrm>
            <a:off x="594360" y="5038344"/>
            <a:ext cx="938997"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35-element000-table-r03-c00-text"/>
          <p:cNvSpPr txBox="1"/>
          <p:nvPr/>
        </p:nvSpPr>
        <p:spPr>
          <a:xfrm>
            <a:off x="685800" y="5111496"/>
            <a:ext cx="756117"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P031</a:t>
            </a:r>
          </a:p>
        </p:txBody>
      </p:sp>
      <p:sp>
        <p:nvSpPr>
          <p:cNvPr id="37" name="slide035-element000-table-r03-c01-cell"/>
          <p:cNvSpPr/>
          <p:nvPr/>
        </p:nvSpPr>
        <p:spPr>
          <a:xfrm>
            <a:off x="1533357" y="5038344"/>
            <a:ext cx="3353562"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35-element000-table-r03-c01-text"/>
          <p:cNvSpPr txBox="1"/>
          <p:nvPr/>
        </p:nvSpPr>
        <p:spPr>
          <a:xfrm>
            <a:off x="1624797" y="5111496"/>
            <a:ext cx="3170682"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team+full player</a:t>
            </a:r>
          </a:p>
        </p:txBody>
      </p:sp>
      <p:sp>
        <p:nvSpPr>
          <p:cNvPr id="39" name="slide035-element000-table-r03-c02-cell"/>
          <p:cNvSpPr/>
          <p:nvPr/>
        </p:nvSpPr>
        <p:spPr>
          <a:xfrm>
            <a:off x="4886919" y="5038344"/>
            <a:ext cx="4024274"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35-element000-table-r03-c02-text"/>
          <p:cNvSpPr txBox="1"/>
          <p:nvPr/>
        </p:nvSpPr>
        <p:spPr>
          <a:xfrm>
            <a:off x="4978359" y="5111496"/>
            <a:ext cx="384139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41" name="slide035-element000-table-r03-c03-cell"/>
          <p:cNvSpPr/>
          <p:nvPr/>
        </p:nvSpPr>
        <p:spPr>
          <a:xfrm>
            <a:off x="8911193" y="5038344"/>
            <a:ext cx="3755989"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35-element000-table-r03-c03-text"/>
          <p:cNvSpPr txBox="1"/>
          <p:nvPr/>
        </p:nvSpPr>
        <p:spPr>
          <a:xfrm>
            <a:off x="9002633" y="5111496"/>
            <a:ext cx="3573109"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Flat 1,000</a:t>
            </a:r>
          </a:p>
        </p:txBody>
      </p:sp>
      <p:sp>
        <p:nvSpPr>
          <p:cNvPr id="43" name="slide035-element000-table-r03-c04-cell"/>
          <p:cNvSpPr/>
          <p:nvPr/>
        </p:nvSpPr>
        <p:spPr>
          <a:xfrm>
            <a:off x="12667183" y="5038344"/>
            <a:ext cx="1341424" cy="10698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35-element000-table-r03-c04-text"/>
          <p:cNvSpPr txBox="1"/>
          <p:nvPr/>
        </p:nvSpPr>
        <p:spPr>
          <a:xfrm>
            <a:off x="12758623" y="5111496"/>
            <a:ext cx="115854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45" name="slide035-element000-table-r04-c00-cell"/>
          <p:cNvSpPr/>
          <p:nvPr/>
        </p:nvSpPr>
        <p:spPr>
          <a:xfrm>
            <a:off x="594360" y="6108192"/>
            <a:ext cx="938997"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35-element000-table-r04-c00-text"/>
          <p:cNvSpPr txBox="1"/>
          <p:nvPr/>
        </p:nvSpPr>
        <p:spPr>
          <a:xfrm>
            <a:off x="685800" y="6181344"/>
            <a:ext cx="756117"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P032</a:t>
            </a:r>
          </a:p>
        </p:txBody>
      </p:sp>
      <p:sp>
        <p:nvSpPr>
          <p:cNvPr id="47" name="slide035-element000-table-r04-c01-cell"/>
          <p:cNvSpPr/>
          <p:nvPr/>
        </p:nvSpPr>
        <p:spPr>
          <a:xfrm>
            <a:off x="1533357" y="6108192"/>
            <a:ext cx="3353562"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35-element000-table-r04-c01-text"/>
          <p:cNvSpPr txBox="1"/>
          <p:nvPr/>
        </p:nvSpPr>
        <p:spPr>
          <a:xfrm>
            <a:off x="1624797" y="6181344"/>
            <a:ext cx="3170682"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HGB team+full player</a:t>
            </a:r>
          </a:p>
        </p:txBody>
      </p:sp>
      <p:sp>
        <p:nvSpPr>
          <p:cNvPr id="49" name="slide035-element000-table-r04-c02-cell"/>
          <p:cNvSpPr/>
          <p:nvPr/>
        </p:nvSpPr>
        <p:spPr>
          <a:xfrm>
            <a:off x="4886919" y="6108192"/>
            <a:ext cx="4024274"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35-element000-table-r04-c02-text"/>
          <p:cNvSpPr txBox="1"/>
          <p:nvPr/>
        </p:nvSpPr>
        <p:spPr>
          <a:xfrm>
            <a:off x="4978359" y="6181344"/>
            <a:ext cx="384139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Max edge &gt; 5.00%</a:t>
            </a:r>
          </a:p>
        </p:txBody>
      </p:sp>
      <p:sp>
        <p:nvSpPr>
          <p:cNvPr id="51" name="slide035-element000-table-r04-c03-cell"/>
          <p:cNvSpPr/>
          <p:nvPr/>
        </p:nvSpPr>
        <p:spPr>
          <a:xfrm>
            <a:off x="8911193" y="6108192"/>
            <a:ext cx="3755989"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35-element000-table-r04-c03-text"/>
          <p:cNvSpPr txBox="1"/>
          <p:nvPr/>
        </p:nvSpPr>
        <p:spPr>
          <a:xfrm>
            <a:off x="9002633" y="6181344"/>
            <a:ext cx="3573109"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0.25 Kelly; cap 2.00%</a:t>
            </a:r>
          </a:p>
        </p:txBody>
      </p:sp>
      <p:sp>
        <p:nvSpPr>
          <p:cNvPr id="53" name="slide035-element000-table-r04-c04-cell"/>
          <p:cNvSpPr/>
          <p:nvPr/>
        </p:nvSpPr>
        <p:spPr>
          <a:xfrm>
            <a:off x="12667183" y="6108192"/>
            <a:ext cx="1341424" cy="10698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35-element000-table-r04-c04-text"/>
          <p:cNvSpPr txBox="1"/>
          <p:nvPr/>
        </p:nvSpPr>
        <p:spPr>
          <a:xfrm>
            <a:off x="12758623" y="6181344"/>
            <a:ext cx="1158544" cy="923544"/>
          </a:xfrm>
          <a:prstGeom prst="rect">
            <a:avLst/>
          </a:prstGeom>
          <a:noFill/>
        </p:spPr>
        <p:txBody>
          <a:bodyPr wrap="square" lIns="0" rIns="0" tIns="0" bIns="0" anchor="ctr">
            <a:noAutofit/>
          </a:bodyPr>
          <a:lstStyle/>
          <a:p>
            <a:pPr algn="l">
              <a:lnSpc>
                <a:spcPct val="100000"/>
              </a:lnSpc>
              <a:spcBef>
                <a:spcPts val="0"/>
              </a:spcBef>
              <a:spcAft>
                <a:spcPts val="0"/>
              </a:spcAft>
            </a:pPr>
            <a:r>
              <a:rPr sz="1450" b="0">
                <a:solidFill>
                  <a:srgbClr val="11243A"/>
                </a:solidFill>
                <a:latin typeface="Arial"/>
              </a:rPr>
              <a:t>Bet365</a:t>
            </a:r>
          </a:p>
        </p:txBody>
      </p:sp>
      <p:sp>
        <p:nvSpPr>
          <p:cNvPr id="55" name="slide035-element001-text"/>
          <p:cNvSpPr txBox="1"/>
          <p:nvPr/>
        </p:nvSpPr>
        <p:spPr>
          <a:xfrm>
            <a:off x="594360" y="7315200"/>
            <a:ext cx="13350240" cy="228600"/>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Jointly scale same-date requests to available opening cash. Best = archived best individual-book quote. Cash rules do not trade.</a:t>
            </a:r>
          </a:p>
        </p:txBody>
      </p:sp>
      <p:cxnSp>
        <p:nvCxnSpPr>
          <p:cNvPr id="56" name="slide03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7" name="slide03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58" name="slide03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Premier League | Implemented Results</dc:title>
  <dc:subject>Player and team models, frozen strategies and capital progression</dc:subject>
  <dc:creator>Panagiotis</dc:creator>
  <cp:keywords>EPL; statistical arbitrage; implemented results; exploratory backtests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