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0E91F3B-2610-CB8B-BBD6-5B4BB39F90A7}">
          <p14:sldIdLst>
            <p14:sldId id="256"/>
          </p14:sldIdLst>
        </p14:section>
        <p14:section name="Data" id="{071BECFE-7CA3-B734-8CE7-455C6BC12D5C}">
          <p14:sldIdLst>
            <p14:sldId id="257"/>
            <p14:sldId id="258"/>
          </p14:sldIdLst>
        </p14:section>
        <p14:section name="Method" id="{A908E1C7-95AF-4E7C-0E2F-2C42C9037341}">
          <p14:sldIdLst>
            <p14:sldId id="259"/>
          </p14:sldIdLst>
        </p14:section>
        <p14:section name="Results" id="{E27CCD8E-0D3A-8303-9E9A-8113A5552F89}">
          <p14:sldIdLst>
            <p14:sldId id="260"/>
            <p14:sldId id="261"/>
            <p14:sldId id="262"/>
            <p14:sldId id="263"/>
          </p14:sldIdLst>
        </p14:section>
        <p14:section name="Close" id="{3A169169-CE1F-8B5D-1542-AF3E373D1AC6}">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174727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is simple. We have every box score since 2010. Can we turn that into a model that predicts games better than the sportsbooks do?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Raw averages shift as the league changes. Margins over opponents stay comparable across eras, which is why we use them.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public sources, neither official. The date format is the fiddly part: the season label tells you which calendar year a given month belongs to.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betting rule never asks who will win. It asks whether the price is wrong. That distinction drives everything that follows.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25% return on one season looks like a success. The Kelly result on identical bets should already make us suspicious.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panel repeats the whole pipeline from scratch. The spread between best and worst season is over 180 percentage points.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statistical heart of the talk. A 25% season sits well inside the noise band of a strategy with no edge at all.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model that cannot out-predict the price cannot beat it. This slide is the mechanism behind every result in the deck.</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a working NBA prediction model, and the most valuable result was learning why it could not make money.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1828800"/>
            <a:ext cx="10515600" cy="1463040"/>
          </a:xfrm>
          <a:prstGeom prst="rect">
            <a:avLst/>
          </a:prstGeom>
          <a:noFill/>
          <a:ln/>
        </p:spPr>
        <p:txBody>
          <a:bodyPr wrap="square" rtlCol="0"/>
          <a:lstStyle>
            <a:lvl1pPr marL="0" indent="0">
              <a:buNone/>
              <a:defRPr lang="en-US" sz="4000" b="1" dirty="0">
                <a:solidFill>
                  <a:schemeClr val="bg1"/>
                </a:solidFill>
              </a:defRPr>
            </a:lvl1pPr>
          </a:lstStyle>
          <a:p>
            <a:pPr marL="0" indent="0">
              <a:buNone/>
            </a:pPr>
            <a:endParaRPr lang="en-US" sz="4000" dirty="0"/>
          </a:p>
        </p:txBody>
      </p:sp>
      <p:sp>
        <p:nvSpPr>
          <p:cNvPr id="3" name="Text 0"/>
          <p:cNvSpPr>
            <a:spLocks noGrp="1"/>
          </p:cNvSpPr>
          <p:nvPr>
            <p:ph type="body" idx="101" hasCustomPrompt="1"/>
          </p:nvPr>
        </p:nvSpPr>
        <p:spPr>
          <a:xfrm>
            <a:off x="822960" y="3429000"/>
            <a:ext cx="10515600" cy="1463040"/>
          </a:xfrm>
          <a:prstGeom prst="rect">
            <a:avLst/>
          </a:prstGeom>
          <a:noFill/>
          <a:ln/>
        </p:spPr>
        <p:txBody>
          <a:bodyPr wrap="square" rtlCol="0"/>
          <a:lstStyle>
            <a:lvl1pPr marL="0" indent="0">
              <a:buNone/>
              <a:defRPr lang="en-US" sz="1600" dirty="0">
                <a:solidFill>
                  <a:srgbClr val="C8CEDA"/>
                </a:solidFill>
              </a:defRPr>
            </a:lvl1pPr>
          </a:lstStyle>
          <a:p>
            <a:pPr marL="0" indent="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chemeClr val="accent1"/>
          </a:solidFill>
          <a:ln/>
        </p:spPr>
        <p:txBody>
          <a:bodyPr/>
          <a:lstStyle/>
          <a:p>
            <a:endParaRPr lang="en-US"/>
          </a:p>
        </p:txBody>
      </p:sp>
      <p:sp>
        <p:nvSpPr>
          <p:cNvPr id="3" name="Text 1"/>
          <p:cNvSpPr>
            <a:spLocks noGrp="1"/>
          </p:cNvSpPr>
          <p:nvPr>
            <p:ph type="title" idx="101" hasCustomPrompt="1"/>
          </p:nvPr>
        </p:nvSpPr>
        <p:spPr>
          <a:xfrm>
            <a:off x="594360" y="384048"/>
            <a:ext cx="10972800" cy="685800"/>
          </a:xfrm>
          <a:prstGeom prst="rect">
            <a:avLst/>
          </a:prstGeom>
          <a:noFill/>
          <a:ln/>
        </p:spPr>
        <p:txBody>
          <a:bodyPr wrap="square" rtlCol="0"/>
          <a:lstStyle>
            <a:lvl1pPr marL="0" indent="0">
              <a:buNone/>
              <a:defRPr lang="en-US" sz="2700" b="1" dirty="0">
                <a:solidFill>
                  <a:schemeClr val="tx1"/>
                </a:solidFill>
              </a:defRPr>
            </a:lvl1pPr>
          </a:lstStyle>
          <a:p>
            <a:pPr marL="0" indent="0">
              <a:buNone/>
            </a:pPr>
            <a:endParaRPr lang="en-US" sz="2700" dirty="0"/>
          </a:p>
        </p:txBody>
      </p:sp>
      <p:sp>
        <p:nvSpPr>
          <p:cNvPr id="4" name="Text 1"/>
          <p:cNvSpPr txBox="1"/>
          <p:nvPr/>
        </p:nvSpPr>
        <p:spPr>
          <a:xfrm>
            <a:off x="594360" y="6355080"/>
            <a:ext cx="8686800" cy="274320"/>
          </a:xfrm>
          <a:prstGeom prst="rect">
            <a:avLst/>
          </a:prstGeom>
          <a:noFill/>
          <a:ln/>
        </p:spPr>
        <p:txBody>
          <a:bodyPr wrap="square" rtlCol="0" anchor="ctr"/>
          <a:lstStyle/>
          <a:p>
            <a:pPr marL="0" indent="0">
              <a:buNone/>
            </a:pPr>
            <a:r>
              <a:rPr lang="en-US" sz="900" dirty="0">
                <a:solidFill>
                  <a:srgbClr val="9AA3AF"/>
                </a:solidFill>
              </a:rPr>
              <a:t>NBA game prediction and market efficiency</a:t>
            </a:r>
            <a:endParaRPr lang="en-US" sz="900" dirty="0"/>
          </a:p>
        </p:txBody>
      </p:sp>
      <p:sp>
        <p:nvSpPr>
          <p:cNvPr id="5" name="Text 2"/>
          <p:cNvSpPr>
            <a:spLocks noGrp="1"/>
          </p:cNvSpPr>
          <p:nvPr>
            <p:ph idx="103" hasCustomPrompt="1"/>
          </p:nvPr>
        </p:nvSpPr>
        <p:spPr>
          <a:xfrm>
            <a:off x="11247120" y="6355080"/>
            <a:ext cx="548640" cy="274320"/>
          </a:xfrm>
          <a:prstGeom prst="rect">
            <a:avLst/>
          </a:prstGeom>
          <a:noFill/>
          <a:ln/>
        </p:spPr>
        <p:txBody>
          <a:bodyPr wrap="square" rtlCol="0"/>
          <a:lstStyle>
            <a:lvl1pPr marL="0" indent="0" algn="r">
              <a:buNone/>
              <a:defRPr lang="en-US" sz="900" dirty="0">
                <a:solidFill>
                  <a:srgbClr val="9AA3AF"/>
                </a:solidFill>
              </a:defRPr>
            </a:lvl1pPr>
          </a:lstStyle>
          <a:p>
            <a:pPr marL="0" indent="0" algn="r">
              <a:buNone/>
            </a:pPr>
            <a:endParaRPr lang="en-US" sz="9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1828800"/>
            <a:ext cx="10515600" cy="1463040"/>
          </a:xfrm>
          <a:prstGeom prst="rect">
            <a:avLst/>
          </a:prstGeom>
          <a:noFill/>
          <a:ln/>
        </p:spPr>
        <p:txBody>
          <a:bodyPr wrap="square" rtlCol="0" anchor="b"/>
          <a:lstStyle/>
          <a:p>
            <a:pPr marL="0" indent="0">
              <a:buNone/>
            </a:pPr>
            <a:r>
              <a:rPr lang="en-US" sz="4000" b="1" dirty="0">
                <a:solidFill>
                  <a:schemeClr val="bg1"/>
                </a:solidFill>
              </a:rPr>
              <a:t>Can Box Score Data Predict</a:t>
            </a:r>
            <a:endParaRPr lang="en-US" sz="4000" dirty="0"/>
          </a:p>
          <a:p>
            <a:pPr marL="0" indent="0">
              <a:buNone/>
            </a:pPr>
            <a:r>
              <a:rPr lang="en-US" sz="4000" b="1" dirty="0">
                <a:solidFill>
                  <a:schemeClr val="bg1"/>
                </a:solidFill>
              </a:rPr>
              <a:t>NBA Games Better Than Vegas?</a:t>
            </a:r>
            <a:endParaRPr lang="en-US" sz="4000" dirty="0"/>
          </a:p>
        </p:txBody>
      </p:sp>
      <p:sp>
        <p:nvSpPr>
          <p:cNvPr id="3" name="Text 0"/>
          <p:cNvSpPr>
            <a:spLocks noGrp="1"/>
          </p:cNvSpPr>
          <p:nvPr>
            <p:ph type="body" idx="101" hasCustomPrompt="1"/>
          </p:nvPr>
        </p:nvSpPr>
        <p:spPr>
          <a:xfrm>
            <a:off x="822960" y="3429000"/>
            <a:ext cx="10515600" cy="1463040"/>
          </a:xfrm>
          <a:prstGeom prst="rect">
            <a:avLst/>
          </a:prstGeom>
          <a:noFill/>
          <a:ln/>
        </p:spPr>
        <p:txBody>
          <a:bodyPr wrap="square" rtlCol="0" anchor="t"/>
          <a:lstStyle/>
          <a:p>
            <a:pPr marL="0" indent="0">
              <a:buNone/>
            </a:pPr>
            <a:r>
              <a:rPr lang="en-US" sz="1600" dirty="0">
                <a:solidFill>
                  <a:srgbClr val="C8CEDA"/>
                </a:solidFill>
              </a:rPr>
              <a:t>Building a game forecasting model on 14 seasons of NBA data, and testing it against real betting markets</a:t>
            </a:r>
            <a:endParaRPr lang="en-US" sz="1600" dirty="0"/>
          </a:p>
          <a:p>
            <a:pPr marL="0" indent="0">
              <a:buNone/>
            </a:pPr>
            <a:endParaRPr lang="en-US" sz="1600" dirty="0"/>
          </a:p>
          <a:p>
            <a:pPr marL="0" indent="0">
              <a:buNone/>
            </a:pPr>
            <a:r>
              <a:rPr lang="en-US" sz="1600" dirty="0">
                <a:solidFill>
                  <a:srgbClr val="C8CEDA"/>
                </a:solidFill>
              </a:rPr>
              <a:t>Panagiotis, Aman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94360" y="384048"/>
            <a:ext cx="10972800" cy="685800"/>
          </a:xfrm>
          <a:prstGeom prst="rect">
            <a:avLst/>
          </a:prstGeom>
          <a:noFill/>
          <a:ln/>
        </p:spPr>
        <p:txBody>
          <a:bodyPr wrap="square" rtlCol="0" anchor="ctr"/>
          <a:lstStyle/>
          <a:p>
            <a:pPr marL="0" indent="0">
              <a:buNone/>
            </a:pPr>
            <a:r>
              <a:rPr lang="en-US" sz="2700" b="1" dirty="0">
                <a:solidFill>
                  <a:schemeClr val="tx1"/>
                </a:solidFill>
              </a:rPr>
              <a:t>What we are working with</a:t>
            </a:r>
            <a:endParaRPr lang="en-US" sz="2700" dirty="0"/>
          </a:p>
        </p:txBody>
      </p:sp>
      <p:sp>
        <p:nvSpPr>
          <p:cNvPr id="3" name="Shape 1"/>
          <p:cNvSpPr/>
          <p:nvPr/>
        </p:nvSpPr>
        <p:spPr>
          <a:xfrm>
            <a:off x="594360" y="1234440"/>
            <a:ext cx="3520440" cy="2103120"/>
          </a:xfrm>
          <a:prstGeom prst="roundRect">
            <a:avLst>
              <a:gd name="adj" fmla="val 2609"/>
            </a:avLst>
          </a:prstGeom>
          <a:solidFill>
            <a:schemeClr val="bg2"/>
          </a:solidFill>
          <a:ln w="20320">
            <a:solidFill>
              <a:srgbClr val="3D5A80"/>
            </a:solidFill>
            <a:prstDash val="solid"/>
          </a:ln>
        </p:spPr>
        <p:txBody>
          <a:bodyPr/>
          <a:lstStyle/>
          <a:p>
            <a:endParaRPr lang="en-US"/>
          </a:p>
        </p:txBody>
      </p:sp>
      <p:sp>
        <p:nvSpPr>
          <p:cNvPr id="4" name="Text 2"/>
          <p:cNvSpPr txBox="1"/>
          <p:nvPr/>
        </p:nvSpPr>
        <p:spPr>
          <a:xfrm>
            <a:off x="795528" y="1389888"/>
            <a:ext cx="3118104" cy="310896"/>
          </a:xfrm>
          <a:prstGeom prst="rect">
            <a:avLst/>
          </a:prstGeom>
          <a:noFill/>
          <a:ln/>
        </p:spPr>
        <p:txBody>
          <a:bodyPr wrap="square" lIns="0" tIns="0" rIns="0" bIns="0" rtlCol="0" anchor="ctr"/>
          <a:lstStyle/>
          <a:p>
            <a:pPr marL="0" indent="0">
              <a:buNone/>
            </a:pPr>
            <a:r>
              <a:rPr lang="en-US" sz="1300" b="1" dirty="0">
                <a:solidFill>
                  <a:srgbClr val="3D5A80"/>
                </a:solidFill>
              </a:rPr>
              <a:t>GAME DATA</a:t>
            </a:r>
            <a:endParaRPr lang="en-US" sz="1300" dirty="0"/>
          </a:p>
        </p:txBody>
      </p:sp>
      <p:sp>
        <p:nvSpPr>
          <p:cNvPr id="5" name="Text 3"/>
          <p:cNvSpPr txBox="1"/>
          <p:nvPr/>
        </p:nvSpPr>
        <p:spPr>
          <a:xfrm>
            <a:off x="795528" y="1746504"/>
            <a:ext cx="3118104" cy="1417320"/>
          </a:xfrm>
          <a:prstGeom prst="rect">
            <a:avLst/>
          </a:prstGeom>
          <a:noFill/>
          <a:ln/>
        </p:spPr>
        <p:txBody>
          <a:bodyPr wrap="square" lIns="0" tIns="0" rIns="0" bIns="0" rtlCol="0" anchor="t"/>
          <a:lstStyle/>
          <a:p>
            <a:pPr marL="0" indent="0">
              <a:buNone/>
            </a:pPr>
            <a:r>
              <a:rPr lang="en-US" sz="1100" dirty="0">
                <a:solidFill>
                  <a:schemeClr val="tx1"/>
                </a:solidFill>
              </a:rPr>
              <a:t>33,316 team game logs covering 2010-11 through 2023-24.</a:t>
            </a:r>
            <a:endParaRPr lang="en-US" sz="1100" dirty="0"/>
          </a:p>
          <a:p>
            <a:pPr marL="0" indent="0">
              <a:buNone/>
            </a:pPr>
            <a:endParaRPr lang="en-US" sz="1100" dirty="0"/>
          </a:p>
          <a:p>
            <a:pPr marL="0" indent="0">
              <a:buNone/>
            </a:pPr>
            <a:r>
              <a:rPr lang="en-US" sz="1100" dirty="0">
                <a:solidFill>
                  <a:schemeClr val="tx1"/>
                </a:solidFill>
              </a:rPr>
              <a:t>Points, rebounds, assists, steals, blocks, turnovers, shooting splits.</a:t>
            </a:r>
            <a:endParaRPr lang="en-US" sz="1100" dirty="0"/>
          </a:p>
          <a:p>
            <a:pPr marL="0" indent="0">
              <a:buNone/>
            </a:pPr>
            <a:endParaRPr lang="en-US" sz="1100" dirty="0"/>
          </a:p>
          <a:p>
            <a:pPr marL="0" indent="0">
              <a:buNone/>
            </a:pPr>
            <a:r>
              <a:rPr lang="en-US" sz="1100" dirty="0">
                <a:solidFill>
                  <a:schemeClr val="tx1"/>
                </a:solidFill>
              </a:rPr>
              <a:t>14,471 games after cleaning.</a:t>
            </a:r>
            <a:endParaRPr lang="en-US" sz="1100" dirty="0"/>
          </a:p>
        </p:txBody>
      </p:sp>
      <p:sp>
        <p:nvSpPr>
          <p:cNvPr id="6" name="Shape 4"/>
          <p:cNvSpPr/>
          <p:nvPr/>
        </p:nvSpPr>
        <p:spPr>
          <a:xfrm>
            <a:off x="4325112" y="1234440"/>
            <a:ext cx="3520440" cy="2103120"/>
          </a:xfrm>
          <a:prstGeom prst="roundRect">
            <a:avLst>
              <a:gd name="adj" fmla="val 2609"/>
            </a:avLst>
          </a:prstGeom>
          <a:solidFill>
            <a:schemeClr val="bg2"/>
          </a:solidFill>
          <a:ln w="20320">
            <a:solidFill>
              <a:srgbClr val="3D5A80"/>
            </a:solidFill>
            <a:prstDash val="solid"/>
          </a:ln>
        </p:spPr>
        <p:txBody>
          <a:bodyPr/>
          <a:lstStyle/>
          <a:p>
            <a:endParaRPr lang="en-US"/>
          </a:p>
        </p:txBody>
      </p:sp>
      <p:sp>
        <p:nvSpPr>
          <p:cNvPr id="7" name="Text 5"/>
          <p:cNvSpPr txBox="1"/>
          <p:nvPr/>
        </p:nvSpPr>
        <p:spPr>
          <a:xfrm>
            <a:off x="4526280" y="1389888"/>
            <a:ext cx="3118104" cy="310896"/>
          </a:xfrm>
          <a:prstGeom prst="rect">
            <a:avLst/>
          </a:prstGeom>
          <a:noFill/>
          <a:ln/>
        </p:spPr>
        <p:txBody>
          <a:bodyPr wrap="square" lIns="0" tIns="0" rIns="0" bIns="0" rtlCol="0" anchor="ctr"/>
          <a:lstStyle/>
          <a:p>
            <a:pPr marL="0" indent="0">
              <a:buNone/>
            </a:pPr>
            <a:r>
              <a:rPr lang="en-US" sz="1300" b="1" dirty="0">
                <a:solidFill>
                  <a:srgbClr val="3D5A80"/>
                </a:solidFill>
              </a:rPr>
              <a:t>MARKET DATA</a:t>
            </a:r>
            <a:endParaRPr lang="en-US" sz="1300" dirty="0"/>
          </a:p>
        </p:txBody>
      </p:sp>
      <p:sp>
        <p:nvSpPr>
          <p:cNvPr id="8" name="Text 6"/>
          <p:cNvSpPr txBox="1"/>
          <p:nvPr/>
        </p:nvSpPr>
        <p:spPr>
          <a:xfrm>
            <a:off x="4526280" y="1746504"/>
            <a:ext cx="3118104" cy="1417320"/>
          </a:xfrm>
          <a:prstGeom prst="rect">
            <a:avLst/>
          </a:prstGeom>
          <a:noFill/>
          <a:ln/>
        </p:spPr>
        <p:txBody>
          <a:bodyPr wrap="square" lIns="0" tIns="0" rIns="0" bIns="0" rtlCol="0" anchor="t"/>
          <a:lstStyle/>
          <a:p>
            <a:pPr marL="0" indent="0">
              <a:buNone/>
            </a:pPr>
            <a:r>
              <a:rPr lang="en-US" sz="1100" dirty="0">
                <a:solidFill>
                  <a:schemeClr val="tx1"/>
                </a:solidFill>
              </a:rPr>
              <a:t>Historical moneyline prices for 13 seasons.</a:t>
            </a:r>
            <a:endParaRPr lang="en-US" sz="1100" dirty="0"/>
          </a:p>
          <a:p>
            <a:pPr marL="0" indent="0">
              <a:buNone/>
            </a:pPr>
            <a:endParaRPr lang="en-US" sz="1100" dirty="0"/>
          </a:p>
          <a:p>
            <a:pPr marL="0" indent="0">
              <a:buNone/>
            </a:pPr>
            <a:r>
              <a:rPr lang="en-US" sz="1100" dirty="0">
                <a:solidFill>
                  <a:schemeClr val="tx1"/>
                </a:solidFill>
              </a:rPr>
              <a:t>This is what the sportsbook thought each team's chances were, posted before tip-off.</a:t>
            </a:r>
            <a:endParaRPr lang="en-US" sz="1100" dirty="0"/>
          </a:p>
          <a:p>
            <a:pPr marL="0" indent="0">
              <a:buNone/>
            </a:pPr>
            <a:endParaRPr lang="en-US" sz="1100" dirty="0"/>
          </a:p>
          <a:p>
            <a:pPr marL="0" indent="0">
              <a:buNone/>
            </a:pPr>
            <a:r>
              <a:rPr lang="en-US" sz="1100" dirty="0">
                <a:solidFill>
                  <a:schemeClr val="tx1"/>
                </a:solidFill>
              </a:rPr>
              <a:t>100% match rate to the game data.</a:t>
            </a:r>
            <a:endParaRPr lang="en-US" sz="1100" dirty="0"/>
          </a:p>
        </p:txBody>
      </p:sp>
      <p:sp>
        <p:nvSpPr>
          <p:cNvPr id="9" name="Shape 7"/>
          <p:cNvSpPr/>
          <p:nvPr/>
        </p:nvSpPr>
        <p:spPr>
          <a:xfrm>
            <a:off x="8055864" y="1234440"/>
            <a:ext cx="3520440" cy="2103120"/>
          </a:xfrm>
          <a:prstGeom prst="roundRect">
            <a:avLst>
              <a:gd name="adj" fmla="val 2609"/>
            </a:avLst>
          </a:prstGeom>
          <a:solidFill>
            <a:schemeClr val="bg2"/>
          </a:solidFill>
          <a:ln w="20320">
            <a:solidFill>
              <a:srgbClr val="3D5A80"/>
            </a:solidFill>
            <a:prstDash val="solid"/>
          </a:ln>
        </p:spPr>
        <p:txBody>
          <a:bodyPr/>
          <a:lstStyle/>
          <a:p>
            <a:endParaRPr lang="en-US"/>
          </a:p>
        </p:txBody>
      </p:sp>
      <p:sp>
        <p:nvSpPr>
          <p:cNvPr id="10" name="Text 8"/>
          <p:cNvSpPr txBox="1"/>
          <p:nvPr/>
        </p:nvSpPr>
        <p:spPr>
          <a:xfrm>
            <a:off x="8257032" y="1389888"/>
            <a:ext cx="3118104" cy="310896"/>
          </a:xfrm>
          <a:prstGeom prst="rect">
            <a:avLst/>
          </a:prstGeom>
          <a:noFill/>
          <a:ln/>
        </p:spPr>
        <p:txBody>
          <a:bodyPr wrap="square" lIns="0" tIns="0" rIns="0" bIns="0" rtlCol="0" anchor="ctr"/>
          <a:lstStyle/>
          <a:p>
            <a:pPr marL="0" indent="0">
              <a:buNone/>
            </a:pPr>
            <a:r>
              <a:rPr lang="en-US" sz="1300" b="1" dirty="0">
                <a:solidFill>
                  <a:srgbClr val="3D5A80"/>
                </a:solidFill>
              </a:rPr>
              <a:t>THE TARGET</a:t>
            </a:r>
            <a:endParaRPr lang="en-US" sz="1300" dirty="0"/>
          </a:p>
        </p:txBody>
      </p:sp>
      <p:sp>
        <p:nvSpPr>
          <p:cNvPr id="11" name="Text 9"/>
          <p:cNvSpPr txBox="1"/>
          <p:nvPr/>
        </p:nvSpPr>
        <p:spPr>
          <a:xfrm>
            <a:off x="8257032" y="1746504"/>
            <a:ext cx="3118104" cy="1417320"/>
          </a:xfrm>
          <a:prstGeom prst="rect">
            <a:avLst/>
          </a:prstGeom>
          <a:noFill/>
          <a:ln/>
        </p:spPr>
        <p:txBody>
          <a:bodyPr wrap="square" lIns="0" tIns="0" rIns="0" bIns="0" rtlCol="0" anchor="t"/>
          <a:lstStyle/>
          <a:p>
            <a:pPr marL="0" indent="0">
              <a:buNone/>
            </a:pPr>
            <a:r>
              <a:rPr lang="en-US" sz="1100" dirty="0">
                <a:solidFill>
                  <a:schemeClr val="tx1"/>
                </a:solidFill>
              </a:rPr>
              <a:t>Did the home team win?</a:t>
            </a:r>
            <a:endParaRPr lang="en-US" sz="1100" dirty="0"/>
          </a:p>
          <a:p>
            <a:pPr marL="0" indent="0">
              <a:buNone/>
            </a:pPr>
            <a:endParaRPr lang="en-US" sz="1100" dirty="0"/>
          </a:p>
          <a:p>
            <a:pPr marL="0" indent="0">
              <a:buNone/>
            </a:pPr>
            <a:r>
              <a:rPr lang="en-US" sz="1100" dirty="0">
                <a:solidFill>
                  <a:schemeClr val="tx1"/>
                </a:solidFill>
              </a:rPr>
              <a:t>NBA games cannot end in a draw, so this is a clean binary outcome.</a:t>
            </a:r>
            <a:endParaRPr lang="en-US" sz="1100" dirty="0"/>
          </a:p>
          <a:p>
            <a:pPr marL="0" indent="0">
              <a:buNone/>
            </a:pPr>
            <a:endParaRPr lang="en-US" sz="1100" dirty="0"/>
          </a:p>
          <a:p>
            <a:pPr marL="0" indent="0">
              <a:buNone/>
            </a:pPr>
            <a:r>
              <a:rPr lang="en-US" sz="1100" dirty="0">
                <a:solidFill>
                  <a:schemeClr val="tx1"/>
                </a:solidFill>
              </a:rPr>
              <a:t>Home teams win 58.5% of the time.</a:t>
            </a:r>
            <a:endParaRPr lang="en-US" sz="1100" dirty="0"/>
          </a:p>
        </p:txBody>
      </p:sp>
      <p:sp>
        <p:nvSpPr>
          <p:cNvPr id="12" name="Text 10"/>
          <p:cNvSpPr txBox="1"/>
          <p:nvPr/>
        </p:nvSpPr>
        <p:spPr>
          <a:xfrm>
            <a:off x="594360" y="3611880"/>
            <a:ext cx="11018520" cy="411480"/>
          </a:xfrm>
          <a:prstGeom prst="rect">
            <a:avLst/>
          </a:prstGeom>
          <a:noFill/>
          <a:ln/>
        </p:spPr>
        <p:txBody>
          <a:bodyPr wrap="square" rtlCol="0" anchor="ctr"/>
          <a:lstStyle/>
          <a:p>
            <a:pPr marL="0" indent="0">
              <a:buNone/>
            </a:pPr>
            <a:r>
              <a:rPr lang="en-US" sz="1600" b="1" dirty="0">
                <a:solidFill>
                  <a:schemeClr val="tx1"/>
                </a:solidFill>
              </a:rPr>
              <a:t>The core idea: how much does a team outperform its opponents?</a:t>
            </a:r>
            <a:endParaRPr lang="en-US" sz="1600" dirty="0"/>
          </a:p>
        </p:txBody>
      </p:sp>
      <p:sp>
        <p:nvSpPr>
          <p:cNvPr id="13" name="Shape 11"/>
          <p:cNvSpPr/>
          <p:nvPr/>
        </p:nvSpPr>
        <p:spPr>
          <a:xfrm>
            <a:off x="594360" y="4114800"/>
            <a:ext cx="11018520" cy="1783080"/>
          </a:xfrm>
          <a:prstGeom prst="roundRect">
            <a:avLst>
              <a:gd name="adj" fmla="val 3077"/>
            </a:avLst>
          </a:prstGeom>
          <a:solidFill>
            <a:schemeClr val="bg2"/>
          </a:solidFill>
          <a:ln w="20320">
            <a:solidFill>
              <a:srgbClr val="C1440E"/>
            </a:solidFill>
            <a:prstDash val="solid"/>
          </a:ln>
        </p:spPr>
        <p:txBody>
          <a:bodyPr/>
          <a:lstStyle/>
          <a:p>
            <a:endParaRPr lang="en-US"/>
          </a:p>
        </p:txBody>
      </p:sp>
      <p:sp>
        <p:nvSpPr>
          <p:cNvPr id="14" name="Text 12"/>
          <p:cNvSpPr txBox="1"/>
          <p:nvPr/>
        </p:nvSpPr>
        <p:spPr>
          <a:xfrm>
            <a:off x="795528" y="4270248"/>
            <a:ext cx="10616184" cy="310896"/>
          </a:xfrm>
          <a:prstGeom prst="rect">
            <a:avLst/>
          </a:prstGeom>
          <a:noFill/>
          <a:ln/>
        </p:spPr>
        <p:txBody>
          <a:bodyPr wrap="square" lIns="0" tIns="0" rIns="0" bIns="0" rtlCol="0" anchor="ctr"/>
          <a:lstStyle/>
          <a:p>
            <a:pPr marL="0" indent="0">
              <a:buNone/>
            </a:pPr>
            <a:r>
              <a:rPr lang="en-US" sz="1300" b="1" dirty="0">
                <a:solidFill>
                  <a:srgbClr val="C1440E"/>
                </a:solidFill>
              </a:rPr>
              <a:t>FEATURE CONSTRUCTION</a:t>
            </a:r>
            <a:endParaRPr lang="en-US" sz="1300" dirty="0"/>
          </a:p>
        </p:txBody>
      </p:sp>
      <p:sp>
        <p:nvSpPr>
          <p:cNvPr id="15" name="Text 13"/>
          <p:cNvSpPr txBox="1"/>
          <p:nvPr/>
        </p:nvSpPr>
        <p:spPr>
          <a:xfrm>
            <a:off x="795528" y="4626864"/>
            <a:ext cx="10616184" cy="1097280"/>
          </a:xfrm>
          <a:prstGeom prst="rect">
            <a:avLst/>
          </a:prstGeom>
          <a:noFill/>
          <a:ln/>
        </p:spPr>
        <p:txBody>
          <a:bodyPr wrap="square" lIns="0" tIns="0" rIns="0" bIns="0" rtlCol="0" anchor="t"/>
          <a:lstStyle/>
          <a:p>
            <a:pPr marL="0" indent="0">
              <a:buNone/>
            </a:pPr>
            <a:r>
              <a:rPr lang="en-US" sz="1100" dirty="0">
                <a:solidFill>
                  <a:schemeClr val="tx1"/>
                </a:solidFill>
              </a:rPr>
              <a:t>For every statistic we take the team's value minus its opponent's value in that game, then average across all earlier games in the season. A team averaging +6 rebounds per game is a strong rebounding team regardless of league-wide pace.</a:t>
            </a:r>
            <a:endParaRPr lang="en-US" sz="1100" dirty="0"/>
          </a:p>
          <a:p>
            <a:pPr marL="0" indent="0">
              <a:buNone/>
            </a:pPr>
            <a:endParaRPr lang="en-US" sz="1100" dirty="0"/>
          </a:p>
          <a:p>
            <a:pPr marL="0" indent="0">
              <a:buNone/>
            </a:pPr>
            <a:r>
              <a:rPr lang="en-US" sz="1100" dirty="0">
                <a:solidFill>
                  <a:schemeClr val="tx1"/>
                </a:solidFill>
              </a:rPr>
              <a:t>We build 25 such features, then subtract the away team's values from the home team's. Each game becomes one row. The current game is never used to predict itself.</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94360" y="384048"/>
            <a:ext cx="10972800" cy="685800"/>
          </a:xfrm>
          <a:prstGeom prst="rect">
            <a:avLst/>
          </a:prstGeom>
          <a:noFill/>
          <a:ln/>
        </p:spPr>
        <p:txBody>
          <a:bodyPr wrap="square" rtlCol="0" anchor="ctr"/>
          <a:lstStyle/>
          <a:p>
            <a:pPr marL="0" indent="0">
              <a:buNone/>
            </a:pPr>
            <a:r>
              <a:rPr lang="en-US" sz="2700" b="1" dirty="0">
                <a:solidFill>
                  <a:schemeClr val="tx1"/>
                </a:solidFill>
              </a:rPr>
              <a:t>Where the data comes from</a:t>
            </a:r>
            <a:endParaRPr lang="en-US" sz="2700" dirty="0"/>
          </a:p>
        </p:txBody>
      </p:sp>
      <p:sp>
        <p:nvSpPr>
          <p:cNvPr id="3" name="Shape 1"/>
          <p:cNvSpPr/>
          <p:nvPr/>
        </p:nvSpPr>
        <p:spPr>
          <a:xfrm>
            <a:off x="594360" y="1188720"/>
            <a:ext cx="5394960" cy="2240280"/>
          </a:xfrm>
          <a:prstGeom prst="roundRect">
            <a:avLst>
              <a:gd name="adj" fmla="val 2449"/>
            </a:avLst>
          </a:prstGeom>
          <a:solidFill>
            <a:schemeClr val="bg2"/>
          </a:solidFill>
          <a:ln w="20320">
            <a:solidFill>
              <a:srgbClr val="3D5A80"/>
            </a:solidFill>
            <a:prstDash val="solid"/>
          </a:ln>
        </p:spPr>
        <p:txBody>
          <a:bodyPr/>
          <a:lstStyle/>
          <a:p>
            <a:endParaRPr lang="en-US"/>
          </a:p>
        </p:txBody>
      </p:sp>
      <p:sp>
        <p:nvSpPr>
          <p:cNvPr id="4" name="Text 2"/>
          <p:cNvSpPr txBox="1"/>
          <p:nvPr/>
        </p:nvSpPr>
        <p:spPr>
          <a:xfrm>
            <a:off x="795528" y="1344168"/>
            <a:ext cx="4992624" cy="310896"/>
          </a:xfrm>
          <a:prstGeom prst="rect">
            <a:avLst/>
          </a:prstGeom>
          <a:noFill/>
          <a:ln/>
        </p:spPr>
        <p:txBody>
          <a:bodyPr wrap="square" lIns="0" tIns="0" rIns="0" bIns="0" rtlCol="0" anchor="ctr"/>
          <a:lstStyle/>
          <a:p>
            <a:pPr marL="0" indent="0">
              <a:buNone/>
            </a:pPr>
            <a:r>
              <a:rPr lang="en-US" sz="1300" b="1" dirty="0">
                <a:solidFill>
                  <a:srgbClr val="3D5A80"/>
                </a:solidFill>
              </a:rPr>
              <a:t>BOX SCORES</a:t>
            </a:r>
            <a:endParaRPr lang="en-US" sz="1300" dirty="0"/>
          </a:p>
        </p:txBody>
      </p:sp>
      <p:sp>
        <p:nvSpPr>
          <p:cNvPr id="5" name="Text 3"/>
          <p:cNvSpPr txBox="1"/>
          <p:nvPr/>
        </p:nvSpPr>
        <p:spPr>
          <a:xfrm>
            <a:off x="795528" y="1700784"/>
            <a:ext cx="4992624" cy="1554480"/>
          </a:xfrm>
          <a:prstGeom prst="rect">
            <a:avLst/>
          </a:prstGeom>
          <a:noFill/>
          <a:ln/>
        </p:spPr>
        <p:txBody>
          <a:bodyPr wrap="square" lIns="0" tIns="0" rIns="0" bIns="0" rtlCol="0" anchor="t"/>
          <a:lstStyle/>
          <a:p>
            <a:pPr marL="0" indent="0">
              <a:buNone/>
            </a:pPr>
            <a:r>
              <a:rPr lang="en-US" sz="1100" dirty="0">
                <a:solidFill>
                  <a:schemeClr val="tx1"/>
                </a:solidFill>
              </a:rPr>
              <a:t>A public GitHub dataset of NBA team game logs, 2010-11 to 2023-24.</a:t>
            </a:r>
            <a:endParaRPr lang="en-US" sz="1100" dirty="0"/>
          </a:p>
          <a:p>
            <a:pPr marL="0" indent="0">
              <a:buNone/>
            </a:pPr>
            <a:endParaRPr lang="en-US" sz="1100" dirty="0"/>
          </a:p>
          <a:p>
            <a:pPr marL="0" indent="0">
              <a:buNone/>
            </a:pPr>
            <a:r>
              <a:rPr lang="en-US" sz="1100" dirty="0">
                <a:solidFill>
                  <a:schemeClr val="tx1"/>
                </a:solidFill>
              </a:rPr>
              <a:t>Column names and ID formats match the NBA's official stats endpoints, though the repository does not document how it was collected.</a:t>
            </a:r>
            <a:endParaRPr lang="en-US" sz="1100" dirty="0"/>
          </a:p>
          <a:p>
            <a:pPr marL="0" indent="0">
              <a:buNone/>
            </a:pPr>
            <a:endParaRPr lang="en-US" sz="1100" dirty="0"/>
          </a:p>
          <a:p>
            <a:pPr marL="0" indent="0">
              <a:buNone/>
            </a:pPr>
            <a:r>
              <a:rPr lang="en-US" sz="1100" dirty="0">
                <a:solidFill>
                  <a:schemeClr val="tx1"/>
                </a:solidFill>
              </a:rPr>
              <a:t>Checked against known results: the 2015-16 Warriors come out at 89.0%, matching their 73-9 record.</a:t>
            </a:r>
            <a:endParaRPr lang="en-US" sz="1100" dirty="0"/>
          </a:p>
        </p:txBody>
      </p:sp>
      <p:sp>
        <p:nvSpPr>
          <p:cNvPr id="6" name="Shape 4"/>
          <p:cNvSpPr/>
          <p:nvPr/>
        </p:nvSpPr>
        <p:spPr>
          <a:xfrm>
            <a:off x="6217920" y="1188720"/>
            <a:ext cx="5394960" cy="2240280"/>
          </a:xfrm>
          <a:prstGeom prst="roundRect">
            <a:avLst>
              <a:gd name="adj" fmla="val 2449"/>
            </a:avLst>
          </a:prstGeom>
          <a:solidFill>
            <a:schemeClr val="bg2"/>
          </a:solidFill>
          <a:ln w="20320">
            <a:solidFill>
              <a:srgbClr val="C1440E"/>
            </a:solidFill>
            <a:prstDash val="solid"/>
          </a:ln>
        </p:spPr>
        <p:txBody>
          <a:bodyPr/>
          <a:lstStyle/>
          <a:p>
            <a:endParaRPr lang="en-US"/>
          </a:p>
        </p:txBody>
      </p:sp>
      <p:sp>
        <p:nvSpPr>
          <p:cNvPr id="7" name="Text 5"/>
          <p:cNvSpPr txBox="1"/>
          <p:nvPr/>
        </p:nvSpPr>
        <p:spPr>
          <a:xfrm>
            <a:off x="6419088" y="1344168"/>
            <a:ext cx="4992624" cy="310896"/>
          </a:xfrm>
          <a:prstGeom prst="rect">
            <a:avLst/>
          </a:prstGeom>
          <a:noFill/>
          <a:ln/>
        </p:spPr>
        <p:txBody>
          <a:bodyPr wrap="square" lIns="0" tIns="0" rIns="0" bIns="0" rtlCol="0" anchor="ctr"/>
          <a:lstStyle/>
          <a:p>
            <a:pPr marL="0" indent="0">
              <a:buNone/>
            </a:pPr>
            <a:r>
              <a:rPr lang="en-US" sz="1300" b="1" dirty="0">
                <a:solidFill>
                  <a:srgbClr val="C1440E"/>
                </a:solidFill>
              </a:rPr>
              <a:t>MONEYLINE ODDS</a:t>
            </a:r>
            <a:endParaRPr lang="en-US" sz="1300" dirty="0"/>
          </a:p>
        </p:txBody>
      </p:sp>
      <p:sp>
        <p:nvSpPr>
          <p:cNvPr id="8" name="Text 6"/>
          <p:cNvSpPr txBox="1"/>
          <p:nvPr/>
        </p:nvSpPr>
        <p:spPr>
          <a:xfrm>
            <a:off x="6419088" y="1700784"/>
            <a:ext cx="4992624" cy="1554480"/>
          </a:xfrm>
          <a:prstGeom prst="rect">
            <a:avLst/>
          </a:prstGeom>
          <a:noFill/>
          <a:ln/>
        </p:spPr>
        <p:txBody>
          <a:bodyPr wrap="square" lIns="0" tIns="0" rIns="0" bIns="0" rtlCol="0" anchor="t"/>
          <a:lstStyle/>
          <a:p>
            <a:pPr marL="0" indent="0">
              <a:buNone/>
            </a:pPr>
            <a:r>
              <a:rPr lang="en-US" sz="1100" dirty="0">
                <a:solidFill>
                  <a:schemeClr val="tx1"/>
                </a:solidFill>
              </a:rPr>
              <a:t>A SQLite database shipped with a public betting repository, one table per season since 2007-08.</a:t>
            </a:r>
            <a:endParaRPr lang="en-US" sz="1100" dirty="0"/>
          </a:p>
          <a:p>
            <a:pPr marL="0" indent="0">
              <a:buNone/>
            </a:pPr>
            <a:endParaRPr lang="en-US" sz="1100" dirty="0"/>
          </a:p>
          <a:p>
            <a:pPr marL="0" indent="0">
              <a:buNone/>
            </a:pPr>
            <a:r>
              <a:rPr lang="en-US" sz="1100" dirty="0">
                <a:solidFill>
                  <a:schemeClr val="tx1"/>
                </a:solidFill>
              </a:rPr>
              <a:t>Its collection script scrapes Sportsbook Review, an odds comparison site that archives what each sportsbook posted. FanDuel is the default book.</a:t>
            </a:r>
            <a:endParaRPr lang="en-US" sz="1100" dirty="0"/>
          </a:p>
          <a:p>
            <a:pPr marL="0" indent="0">
              <a:buNone/>
            </a:pPr>
            <a:endParaRPr lang="en-US" sz="1100" dirty="0"/>
          </a:p>
          <a:p>
            <a:pPr marL="0" indent="0">
              <a:buNone/>
            </a:pPr>
            <a:r>
              <a:rPr lang="en-US" sz="1100" dirty="0">
                <a:solidFill>
                  <a:schemeClr val="tx1"/>
                </a:solidFill>
              </a:rPr>
              <a:t>Sportsbook Review is not a bookmaker. It is a record of prices.</a:t>
            </a:r>
            <a:endParaRPr lang="en-US" sz="1100" dirty="0"/>
          </a:p>
        </p:txBody>
      </p:sp>
      <p:sp>
        <p:nvSpPr>
          <p:cNvPr id="9" name="Shape 7"/>
          <p:cNvSpPr/>
          <p:nvPr/>
        </p:nvSpPr>
        <p:spPr>
          <a:xfrm>
            <a:off x="594360" y="3611880"/>
            <a:ext cx="5394960" cy="2286000"/>
          </a:xfrm>
          <a:prstGeom prst="roundRect">
            <a:avLst>
              <a:gd name="adj" fmla="val 2400"/>
            </a:avLst>
          </a:prstGeom>
          <a:solidFill>
            <a:schemeClr val="bg2"/>
          </a:solidFill>
          <a:ln w="20320">
            <a:solidFill>
              <a:srgbClr val="9C6644"/>
            </a:solidFill>
            <a:prstDash val="solid"/>
          </a:ln>
        </p:spPr>
        <p:txBody>
          <a:bodyPr/>
          <a:lstStyle/>
          <a:p>
            <a:endParaRPr lang="en-US"/>
          </a:p>
        </p:txBody>
      </p:sp>
      <p:sp>
        <p:nvSpPr>
          <p:cNvPr id="10" name="Text 8"/>
          <p:cNvSpPr txBox="1"/>
          <p:nvPr/>
        </p:nvSpPr>
        <p:spPr>
          <a:xfrm>
            <a:off x="795528" y="3767328"/>
            <a:ext cx="4992624" cy="310896"/>
          </a:xfrm>
          <a:prstGeom prst="rect">
            <a:avLst/>
          </a:prstGeom>
          <a:noFill/>
          <a:ln/>
        </p:spPr>
        <p:txBody>
          <a:bodyPr wrap="square" lIns="0" tIns="0" rIns="0" bIns="0" rtlCol="0" anchor="ctr"/>
          <a:lstStyle/>
          <a:p>
            <a:pPr marL="0" indent="0">
              <a:buNone/>
            </a:pPr>
            <a:r>
              <a:rPr lang="en-US" sz="1300" b="1" dirty="0">
                <a:solidFill>
                  <a:srgbClr val="9C6644"/>
                </a:solidFill>
              </a:rPr>
              <a:t>DECODING THE DATES</a:t>
            </a:r>
            <a:endParaRPr lang="en-US" sz="1300" dirty="0"/>
          </a:p>
        </p:txBody>
      </p:sp>
      <p:sp>
        <p:nvSpPr>
          <p:cNvPr id="11" name="Text 9"/>
          <p:cNvSpPr txBox="1"/>
          <p:nvPr/>
        </p:nvSpPr>
        <p:spPr>
          <a:xfrm>
            <a:off x="795528" y="4123944"/>
            <a:ext cx="4992624" cy="1600200"/>
          </a:xfrm>
          <a:prstGeom prst="rect">
            <a:avLst/>
          </a:prstGeom>
          <a:noFill/>
          <a:ln/>
        </p:spPr>
        <p:txBody>
          <a:bodyPr wrap="square" lIns="0" tIns="0" rIns="0" bIns="0" rtlCol="0" anchor="t"/>
          <a:lstStyle/>
          <a:p>
            <a:pPr marL="0" indent="0">
              <a:buNone/>
            </a:pPr>
            <a:r>
              <a:rPr lang="en-US" sz="1100" dirty="0">
                <a:solidFill>
                  <a:schemeClr val="tx1"/>
                </a:solidFill>
              </a:rPr>
              <a:t>Odds rows are stamped like 2014-15-1027.</a:t>
            </a:r>
            <a:endParaRPr lang="en-US" sz="1100" dirty="0"/>
          </a:p>
          <a:p>
            <a:pPr marL="0" indent="0">
              <a:buNone/>
            </a:pPr>
            <a:endParaRPr lang="en-US" sz="1100" dirty="0"/>
          </a:p>
          <a:p>
            <a:pPr marL="0" indent="0">
              <a:buNone/>
            </a:pPr>
            <a:r>
              <a:rPr lang="en-US" sz="1100" dirty="0">
                <a:solidFill>
                  <a:schemeClr val="tx1"/>
                </a:solidFill>
              </a:rPr>
              <a:t>The first part is the season, the last four digits are month and day. October through December belong to the first year, January through June to the second.</a:t>
            </a:r>
            <a:endParaRPr lang="en-US" sz="1100" dirty="0"/>
          </a:p>
          <a:p>
            <a:pPr marL="0" indent="0">
              <a:buNone/>
            </a:pPr>
            <a:endParaRPr lang="en-US" sz="1100" dirty="0"/>
          </a:p>
          <a:p>
            <a:pPr marL="0" indent="0">
              <a:buNone/>
            </a:pPr>
            <a:r>
              <a:rPr lang="en-US" sz="1100" dirty="0">
                <a:solidFill>
                  <a:schemeClr val="tx1"/>
                </a:solidFill>
              </a:rPr>
              <a:t>So 2014-15-1027 becomes 27 October 2014, and 2014-15-0611 becomes 11 June 2015.</a:t>
            </a:r>
            <a:endParaRPr lang="en-US" sz="1100" dirty="0"/>
          </a:p>
        </p:txBody>
      </p:sp>
      <p:sp>
        <p:nvSpPr>
          <p:cNvPr id="12" name="Shape 10"/>
          <p:cNvSpPr/>
          <p:nvPr/>
        </p:nvSpPr>
        <p:spPr>
          <a:xfrm>
            <a:off x="6217920" y="3611880"/>
            <a:ext cx="5394960" cy="2286000"/>
          </a:xfrm>
          <a:prstGeom prst="roundRect">
            <a:avLst>
              <a:gd name="adj" fmla="val 2400"/>
            </a:avLst>
          </a:prstGeom>
          <a:solidFill>
            <a:schemeClr val="bg2"/>
          </a:solidFill>
          <a:ln w="20320">
            <a:solidFill>
              <a:srgbClr val="4F6D7A"/>
            </a:solidFill>
            <a:prstDash val="solid"/>
          </a:ln>
        </p:spPr>
        <p:txBody>
          <a:bodyPr/>
          <a:lstStyle/>
          <a:p>
            <a:endParaRPr lang="en-US"/>
          </a:p>
        </p:txBody>
      </p:sp>
      <p:sp>
        <p:nvSpPr>
          <p:cNvPr id="13" name="Text 11"/>
          <p:cNvSpPr txBox="1"/>
          <p:nvPr/>
        </p:nvSpPr>
        <p:spPr>
          <a:xfrm>
            <a:off x="6419088" y="3767328"/>
            <a:ext cx="4992624" cy="310896"/>
          </a:xfrm>
          <a:prstGeom prst="rect">
            <a:avLst/>
          </a:prstGeom>
          <a:noFill/>
          <a:ln/>
        </p:spPr>
        <p:txBody>
          <a:bodyPr wrap="square" lIns="0" tIns="0" rIns="0" bIns="0" rtlCol="0" anchor="ctr"/>
          <a:lstStyle/>
          <a:p>
            <a:pPr marL="0" indent="0">
              <a:buNone/>
            </a:pPr>
            <a:r>
              <a:rPr lang="en-US" sz="1300" b="1" dirty="0">
                <a:solidFill>
                  <a:srgbClr val="4F6D7A"/>
                </a:solidFill>
              </a:rPr>
              <a:t>JOINING THE TWO</a:t>
            </a:r>
            <a:endParaRPr lang="en-US" sz="1300" dirty="0"/>
          </a:p>
        </p:txBody>
      </p:sp>
      <p:sp>
        <p:nvSpPr>
          <p:cNvPr id="14" name="Text 12"/>
          <p:cNvSpPr txBox="1"/>
          <p:nvPr/>
        </p:nvSpPr>
        <p:spPr>
          <a:xfrm>
            <a:off x="6419088" y="4123944"/>
            <a:ext cx="4992624" cy="1600200"/>
          </a:xfrm>
          <a:prstGeom prst="rect">
            <a:avLst/>
          </a:prstGeom>
          <a:noFill/>
          <a:ln/>
        </p:spPr>
        <p:txBody>
          <a:bodyPr wrap="square" lIns="0" tIns="0" rIns="0" bIns="0" rtlCol="0" anchor="t"/>
          <a:lstStyle/>
          <a:p>
            <a:pPr marL="0" indent="0">
              <a:buNone/>
            </a:pPr>
            <a:r>
              <a:rPr lang="en-US" sz="1100" dirty="0">
                <a:solidFill>
                  <a:schemeClr val="tx1"/>
                </a:solidFill>
              </a:rPr>
              <a:t>Matched on game date plus both team abbreviations. Date alone is not unique, since many games share a night, and using both teams guards against reversing home and away.</a:t>
            </a:r>
            <a:endParaRPr lang="en-US" sz="1100" dirty="0"/>
          </a:p>
          <a:p>
            <a:pPr marL="0" indent="0">
              <a:buNone/>
            </a:pPr>
            <a:endParaRPr lang="en-US" sz="1100" dirty="0"/>
          </a:p>
          <a:p>
            <a:pPr marL="0" indent="0">
              <a:buNone/>
            </a:pPr>
            <a:r>
              <a:rPr lang="en-US" sz="1100" dirty="0">
                <a:solidFill>
                  <a:schemeClr val="tx1"/>
                </a:solidFill>
              </a:rPr>
              <a:t>All 5,368 games across the five core seasons matched, with no missing prices.</a:t>
            </a:r>
            <a:endParaRPr lang="en-US" sz="1100" dirty="0"/>
          </a:p>
          <a:p>
            <a:pPr marL="0" indent="0">
              <a:buNone/>
            </a:pPr>
            <a:endParaRPr lang="en-US" sz="1100" dirty="0"/>
          </a:p>
          <a:p>
            <a:pPr marL="0" indent="0">
              <a:buNone/>
            </a:pPr>
            <a:r>
              <a:rPr lang="en-US" sz="1100" dirty="0">
                <a:solidFill>
                  <a:schemeClr val="tx1"/>
                </a:solidFill>
              </a:rPr>
              <a:t>One caveat: we could not establish whether these are opening or closing quotes.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94360" y="384048"/>
            <a:ext cx="10972800" cy="685800"/>
          </a:xfrm>
          <a:prstGeom prst="rect">
            <a:avLst/>
          </a:prstGeom>
          <a:noFill/>
          <a:ln/>
        </p:spPr>
        <p:txBody>
          <a:bodyPr wrap="square" rtlCol="0" anchor="ctr"/>
          <a:lstStyle/>
          <a:p>
            <a:pPr marL="0" indent="0">
              <a:buNone/>
            </a:pPr>
            <a:r>
              <a:rPr lang="en-US" sz="2700" b="1" dirty="0">
                <a:solidFill>
                  <a:schemeClr val="tx1"/>
                </a:solidFill>
              </a:rPr>
              <a:t>From prediction to decision</a:t>
            </a:r>
            <a:endParaRPr lang="en-US" sz="2700" dirty="0"/>
          </a:p>
        </p:txBody>
      </p:sp>
      <p:sp>
        <p:nvSpPr>
          <p:cNvPr id="3" name="Text 1"/>
          <p:cNvSpPr txBox="1"/>
          <p:nvPr/>
        </p:nvSpPr>
        <p:spPr>
          <a:xfrm>
            <a:off x="594360" y="1188720"/>
            <a:ext cx="11018520" cy="411480"/>
          </a:xfrm>
          <a:prstGeom prst="rect">
            <a:avLst/>
          </a:prstGeom>
          <a:noFill/>
          <a:ln/>
        </p:spPr>
        <p:txBody>
          <a:bodyPr wrap="square" rtlCol="0" anchor="ctr"/>
          <a:lstStyle/>
          <a:p>
            <a:pPr marL="0" indent="0">
              <a:buNone/>
            </a:pPr>
            <a:r>
              <a:rPr lang="en-US" sz="1400" dirty="0">
                <a:solidFill>
                  <a:schemeClr val="tx1"/>
                </a:solidFill>
              </a:rPr>
              <a:t>A forecast is only useful if it beats the price. The sportsbook posts odds; we convert them to a probability and compare.</a:t>
            </a:r>
            <a:endParaRPr lang="en-US" sz="1400" dirty="0"/>
          </a:p>
        </p:txBody>
      </p:sp>
      <p:sp>
        <p:nvSpPr>
          <p:cNvPr id="4" name="Shape 2"/>
          <p:cNvSpPr/>
          <p:nvPr/>
        </p:nvSpPr>
        <p:spPr>
          <a:xfrm>
            <a:off x="594360" y="1783080"/>
            <a:ext cx="5394960" cy="1920240"/>
          </a:xfrm>
          <a:prstGeom prst="roundRect">
            <a:avLst>
              <a:gd name="adj" fmla="val 2857"/>
            </a:avLst>
          </a:prstGeom>
          <a:solidFill>
            <a:schemeClr val="bg2"/>
          </a:solidFill>
          <a:ln w="20320">
            <a:solidFill>
              <a:srgbClr val="3D5A80"/>
            </a:solidFill>
            <a:prstDash val="solid"/>
          </a:ln>
        </p:spPr>
        <p:txBody>
          <a:bodyPr/>
          <a:lstStyle/>
          <a:p>
            <a:endParaRPr lang="en-US"/>
          </a:p>
        </p:txBody>
      </p:sp>
      <p:sp>
        <p:nvSpPr>
          <p:cNvPr id="5" name="Text 3"/>
          <p:cNvSpPr txBox="1"/>
          <p:nvPr/>
        </p:nvSpPr>
        <p:spPr>
          <a:xfrm>
            <a:off x="795528" y="1938528"/>
            <a:ext cx="4992624" cy="310896"/>
          </a:xfrm>
          <a:prstGeom prst="rect">
            <a:avLst/>
          </a:prstGeom>
          <a:noFill/>
          <a:ln/>
        </p:spPr>
        <p:txBody>
          <a:bodyPr wrap="square" lIns="0" tIns="0" rIns="0" bIns="0" rtlCol="0" anchor="ctr"/>
          <a:lstStyle/>
          <a:p>
            <a:pPr marL="0" indent="0">
              <a:buNone/>
            </a:pPr>
            <a:r>
              <a:rPr lang="en-US" sz="1300" b="1" dirty="0">
                <a:solidFill>
                  <a:srgbClr val="3D5A80"/>
                </a:solidFill>
              </a:rPr>
              <a:t>WORKED EXAMPLE</a:t>
            </a:r>
            <a:endParaRPr lang="en-US" sz="1300" dirty="0"/>
          </a:p>
        </p:txBody>
      </p:sp>
      <p:sp>
        <p:nvSpPr>
          <p:cNvPr id="6" name="Text 4"/>
          <p:cNvSpPr txBox="1"/>
          <p:nvPr/>
        </p:nvSpPr>
        <p:spPr>
          <a:xfrm>
            <a:off x="795528" y="2295144"/>
            <a:ext cx="4992624" cy="1234440"/>
          </a:xfrm>
          <a:prstGeom prst="rect">
            <a:avLst/>
          </a:prstGeom>
          <a:noFill/>
          <a:ln/>
        </p:spPr>
        <p:txBody>
          <a:bodyPr wrap="square" lIns="0" tIns="0" rIns="0" bIns="0" rtlCol="0" anchor="t"/>
          <a:lstStyle/>
          <a:p>
            <a:pPr marL="0" indent="0">
              <a:buNone/>
            </a:pPr>
            <a:r>
              <a:rPr lang="en-US" sz="1100" dirty="0">
                <a:solidFill>
                  <a:schemeClr val="tx1"/>
                </a:solidFill>
              </a:rPr>
              <a:t>Lakers at home, moneyline of -150.</a:t>
            </a:r>
            <a:endParaRPr lang="en-US" sz="1100" dirty="0"/>
          </a:p>
          <a:p>
            <a:pPr marL="0" indent="0">
              <a:buNone/>
            </a:pPr>
            <a:endParaRPr lang="en-US" sz="1100" dirty="0"/>
          </a:p>
          <a:p>
            <a:pPr marL="0" indent="0">
              <a:buNone/>
            </a:pPr>
            <a:r>
              <a:rPr lang="en-US" sz="1100" dirty="0">
                <a:solidFill>
                  <a:schemeClr val="tx1"/>
                </a:solidFill>
              </a:rPr>
              <a:t>That implies a 60% chance of winning.</a:t>
            </a:r>
            <a:endParaRPr lang="en-US" sz="1100" dirty="0"/>
          </a:p>
          <a:p>
            <a:pPr marL="0" indent="0">
              <a:buNone/>
            </a:pPr>
            <a:endParaRPr lang="en-US" sz="1100" dirty="0"/>
          </a:p>
          <a:p>
            <a:pPr marL="0" indent="0">
              <a:buNone/>
            </a:pPr>
            <a:r>
              <a:rPr lang="en-US" sz="1100" dirty="0">
                <a:solidFill>
                  <a:schemeClr val="tx1"/>
                </a:solidFill>
              </a:rPr>
              <a:t>Our model says 65%. The price looks too generous, so we bet.</a:t>
            </a:r>
            <a:endParaRPr lang="en-US" sz="1100" dirty="0"/>
          </a:p>
          <a:p>
            <a:pPr marL="0" indent="0">
              <a:buNone/>
            </a:pPr>
            <a:endParaRPr lang="en-US" sz="1100" dirty="0"/>
          </a:p>
          <a:p>
            <a:pPr marL="0" indent="0">
              <a:buNone/>
            </a:pPr>
            <a:r>
              <a:rPr lang="en-US" sz="1100" dirty="0">
                <a:solidFill>
                  <a:schemeClr val="tx1"/>
                </a:solidFill>
              </a:rPr>
              <a:t>If the model said 55%, we skip the game.</a:t>
            </a:r>
            <a:endParaRPr lang="en-US" sz="1100" dirty="0"/>
          </a:p>
        </p:txBody>
      </p:sp>
      <p:sp>
        <p:nvSpPr>
          <p:cNvPr id="7" name="Shape 5"/>
          <p:cNvSpPr/>
          <p:nvPr/>
        </p:nvSpPr>
        <p:spPr>
          <a:xfrm>
            <a:off x="6217920" y="1783080"/>
            <a:ext cx="5394960" cy="1920240"/>
          </a:xfrm>
          <a:prstGeom prst="roundRect">
            <a:avLst>
              <a:gd name="adj" fmla="val 2857"/>
            </a:avLst>
          </a:prstGeom>
          <a:solidFill>
            <a:schemeClr val="bg2"/>
          </a:solidFill>
          <a:ln w="20320">
            <a:solidFill>
              <a:srgbClr val="C1440E"/>
            </a:solidFill>
            <a:prstDash val="solid"/>
          </a:ln>
        </p:spPr>
        <p:txBody>
          <a:bodyPr/>
          <a:lstStyle/>
          <a:p>
            <a:endParaRPr lang="en-US"/>
          </a:p>
        </p:txBody>
      </p:sp>
      <p:sp>
        <p:nvSpPr>
          <p:cNvPr id="8" name="Text 6"/>
          <p:cNvSpPr txBox="1"/>
          <p:nvPr/>
        </p:nvSpPr>
        <p:spPr>
          <a:xfrm>
            <a:off x="6419088" y="1938528"/>
            <a:ext cx="4992624" cy="310896"/>
          </a:xfrm>
          <a:prstGeom prst="rect">
            <a:avLst/>
          </a:prstGeom>
          <a:noFill/>
          <a:ln/>
        </p:spPr>
        <p:txBody>
          <a:bodyPr wrap="square" lIns="0" tIns="0" rIns="0" bIns="0" rtlCol="0" anchor="ctr"/>
          <a:lstStyle/>
          <a:p>
            <a:pPr marL="0" indent="0">
              <a:buNone/>
            </a:pPr>
            <a:r>
              <a:rPr lang="en-US" sz="1300" b="1" dirty="0">
                <a:solidFill>
                  <a:srgbClr val="C1440E"/>
                </a:solidFill>
              </a:rPr>
              <a:t>THE HURDLE</a:t>
            </a:r>
            <a:endParaRPr lang="en-US" sz="1300" dirty="0"/>
          </a:p>
        </p:txBody>
      </p:sp>
      <p:sp>
        <p:nvSpPr>
          <p:cNvPr id="9" name="Text 7"/>
          <p:cNvSpPr txBox="1"/>
          <p:nvPr/>
        </p:nvSpPr>
        <p:spPr>
          <a:xfrm>
            <a:off x="6419088" y="2295144"/>
            <a:ext cx="4992624" cy="1234440"/>
          </a:xfrm>
          <a:prstGeom prst="rect">
            <a:avLst/>
          </a:prstGeom>
          <a:noFill/>
          <a:ln/>
        </p:spPr>
        <p:txBody>
          <a:bodyPr wrap="square" lIns="0" tIns="0" rIns="0" bIns="0" rtlCol="0" anchor="t"/>
          <a:lstStyle/>
          <a:p>
            <a:pPr marL="0" indent="0">
              <a:buNone/>
            </a:pPr>
            <a:r>
              <a:rPr lang="en-US" sz="1100" dirty="0">
                <a:solidFill>
                  <a:schemeClr val="tx1"/>
                </a:solidFill>
              </a:rPr>
              <a:t>Both sides of a bet together imply more than 100%. The excess is the bookmaker's cut.</a:t>
            </a:r>
            <a:endParaRPr lang="en-US" sz="1100" dirty="0"/>
          </a:p>
          <a:p>
            <a:pPr marL="0" indent="0">
              <a:buNone/>
            </a:pPr>
            <a:endParaRPr lang="en-US" sz="1100" dirty="0"/>
          </a:p>
          <a:p>
            <a:pPr marL="0" indent="0">
              <a:buNone/>
            </a:pPr>
            <a:r>
              <a:rPr lang="en-US" sz="1100" dirty="0">
                <a:solidFill>
                  <a:schemeClr val="tx1"/>
                </a:solidFill>
              </a:rPr>
              <a:t>In our data it is 3.87%.</a:t>
            </a:r>
            <a:endParaRPr lang="en-US" sz="1100" dirty="0"/>
          </a:p>
          <a:p>
            <a:pPr marL="0" indent="0">
              <a:buNone/>
            </a:pPr>
            <a:endParaRPr lang="en-US" sz="1100" dirty="0"/>
          </a:p>
          <a:p>
            <a:pPr marL="0" indent="0">
              <a:buNone/>
            </a:pPr>
            <a:r>
              <a:rPr lang="en-US" sz="1100" dirty="0">
                <a:solidFill>
                  <a:schemeClr val="tx1"/>
                </a:solidFill>
              </a:rPr>
              <a:t>You must be nearly four points sharper than the book before earning anything.</a:t>
            </a:r>
            <a:endParaRPr lang="en-US" sz="1100" dirty="0"/>
          </a:p>
        </p:txBody>
      </p:sp>
      <p:sp>
        <p:nvSpPr>
          <p:cNvPr id="10" name="Text 8"/>
          <p:cNvSpPr txBox="1"/>
          <p:nvPr/>
        </p:nvSpPr>
        <p:spPr>
          <a:xfrm>
            <a:off x="594360" y="3977640"/>
            <a:ext cx="11018520" cy="411480"/>
          </a:xfrm>
          <a:prstGeom prst="rect">
            <a:avLst/>
          </a:prstGeom>
          <a:noFill/>
          <a:ln/>
        </p:spPr>
        <p:txBody>
          <a:bodyPr wrap="square" rtlCol="0" anchor="ctr"/>
          <a:lstStyle/>
          <a:p>
            <a:pPr marL="0" indent="0">
              <a:buNone/>
            </a:pPr>
            <a:r>
              <a:rPr lang="en-US" sz="1300" dirty="0">
                <a:solidFill>
                  <a:schemeClr val="tx1"/>
                </a:solidFill>
              </a:rPr>
              <a:t>Four models tested: logistic regression, random forest, SVM, neural network. Two selection criteria: accuracy, and calibration.</a:t>
            </a:r>
            <a:endParaRPr lang="en-US" sz="1300" dirty="0"/>
          </a:p>
        </p:txBody>
      </p:sp>
      <p:sp>
        <p:nvSpPr>
          <p:cNvPr id="11" name="Shape 9"/>
          <p:cNvSpPr/>
          <p:nvPr/>
        </p:nvSpPr>
        <p:spPr>
          <a:xfrm>
            <a:off x="594360" y="4526280"/>
            <a:ext cx="11018520" cy="1371600"/>
          </a:xfrm>
          <a:prstGeom prst="roundRect">
            <a:avLst>
              <a:gd name="adj" fmla="val 4000"/>
            </a:avLst>
          </a:prstGeom>
          <a:solidFill>
            <a:schemeClr val="bg2"/>
          </a:solidFill>
          <a:ln w="20320">
            <a:solidFill>
              <a:srgbClr val="9C6644"/>
            </a:solidFill>
            <a:prstDash val="solid"/>
          </a:ln>
        </p:spPr>
        <p:txBody>
          <a:bodyPr/>
          <a:lstStyle/>
          <a:p>
            <a:endParaRPr lang="en-US"/>
          </a:p>
        </p:txBody>
      </p:sp>
      <p:sp>
        <p:nvSpPr>
          <p:cNvPr id="12" name="Text 10"/>
          <p:cNvSpPr txBox="1"/>
          <p:nvPr/>
        </p:nvSpPr>
        <p:spPr>
          <a:xfrm>
            <a:off x="795528" y="4681728"/>
            <a:ext cx="10616184" cy="310896"/>
          </a:xfrm>
          <a:prstGeom prst="rect">
            <a:avLst/>
          </a:prstGeom>
          <a:noFill/>
          <a:ln/>
        </p:spPr>
        <p:txBody>
          <a:bodyPr wrap="square" lIns="0" tIns="0" rIns="0" bIns="0" rtlCol="0" anchor="ctr"/>
          <a:lstStyle/>
          <a:p>
            <a:pPr marL="0" indent="0">
              <a:buNone/>
            </a:pPr>
            <a:r>
              <a:rPr lang="en-US" sz="1300" b="1" dirty="0">
                <a:solidFill>
                  <a:srgbClr val="9C6644"/>
                </a:solidFill>
              </a:rPr>
              <a:t>ACCURACY VERSUS CALIBRATION</a:t>
            </a:r>
            <a:endParaRPr lang="en-US" sz="1300" dirty="0"/>
          </a:p>
        </p:txBody>
      </p:sp>
      <p:sp>
        <p:nvSpPr>
          <p:cNvPr id="13" name="Text 11"/>
          <p:cNvSpPr txBox="1"/>
          <p:nvPr/>
        </p:nvSpPr>
        <p:spPr>
          <a:xfrm>
            <a:off x="795528" y="5038344"/>
            <a:ext cx="10616184" cy="685800"/>
          </a:xfrm>
          <a:prstGeom prst="rect">
            <a:avLst/>
          </a:prstGeom>
          <a:noFill/>
          <a:ln/>
        </p:spPr>
        <p:txBody>
          <a:bodyPr wrap="square" lIns="0" tIns="0" rIns="0" bIns="0" rtlCol="0" anchor="t"/>
          <a:lstStyle/>
          <a:p>
            <a:pPr marL="0" indent="0">
              <a:buNone/>
            </a:pPr>
            <a:r>
              <a:rPr lang="en-US" sz="1100" dirty="0">
                <a:solidFill>
                  <a:schemeClr val="tx1"/>
                </a:solidFill>
              </a:rPr>
              <a:t>Accuracy asks how often the predicted winner is right. Calibration asks whether the probabilities are honest: among games called 70%, roughly 70% should be won. For betting, calibration is what matters, because the probability is the thing the decision consumes.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94360" y="384048"/>
            <a:ext cx="10972800" cy="685800"/>
          </a:xfrm>
          <a:prstGeom prst="rect">
            <a:avLst/>
          </a:prstGeom>
          <a:noFill/>
          <a:ln/>
        </p:spPr>
        <p:txBody>
          <a:bodyPr wrap="square" rtlCol="0" anchor="ctr"/>
          <a:lstStyle/>
          <a:p>
            <a:pPr marL="0" indent="0">
              <a:buNone/>
            </a:pPr>
            <a:r>
              <a:rPr lang="en-US" sz="2700" b="1" dirty="0">
                <a:solidFill>
                  <a:schemeClr val="tx1"/>
                </a:solidFill>
              </a:rPr>
              <a:t>The model works, by the usual standards</a:t>
            </a:r>
            <a:endParaRPr lang="en-US" sz="27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94360" y="1280160"/>
          <a:ext cx="6126480" cy="2011680"/>
        </p:xfrm>
        <a:graphic>
          <a:graphicData uri="http://schemas.openxmlformats.org/drawingml/2006/table">
            <a:tbl>
              <a:tblPr/>
              <a:tblGrid>
                <a:gridCol w="265176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402336">
                <a:tc>
                  <a:txBody>
                    <a:bodyPr/>
                    <a:lstStyle/>
                    <a:p>
                      <a:pPr marL="0" indent="0" algn="ctr">
                        <a:buNone/>
                      </a:pPr>
                      <a:r>
                        <a:rPr lang="en-US" sz="1150" b="1" dirty="0">
                          <a:solidFill>
                            <a:srgbClr val="14213D"/>
                          </a:solidFill>
                        </a:rPr>
                        <a:t>Model</a:t>
                      </a:r>
                      <a:endParaRPr lang="en-US" sz="1150" dirty="0"/>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4213D"/>
                          </a:solidFill>
                        </a:rPr>
                        <a:t>Accuracy</a:t>
                      </a:r>
                      <a:endParaRPr lang="en-US" sz="1150" dirty="0"/>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4213D"/>
                          </a:solidFill>
                        </a:rPr>
                        <a:t>Calibration error</a:t>
                      </a:r>
                      <a:endParaRPr lang="en-US" sz="1150" dirty="0"/>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02336">
                <a:tc>
                  <a:txBody>
                    <a:bodyPr/>
                    <a:lstStyle/>
                    <a:p>
                      <a:pPr marL="0" indent="0" algn="ctr">
                        <a:buNone/>
                      </a:pPr>
                      <a:r>
                        <a:rPr lang="en-US" sz="1150" dirty="0">
                          <a:solidFill>
                            <a:srgbClr val="14213D"/>
                          </a:solidFill>
                        </a:rPr>
                        <a:t>Logistic regression</a:t>
                      </a:r>
                      <a:endParaRPr lang="en-US" sz="1150" dirty="0"/>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4213D"/>
                          </a:solidFill>
                        </a:rPr>
                        <a:t>65.3%</a:t>
                      </a:r>
                      <a:endParaRPr lang="en-US" sz="1150" dirty="0"/>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4213D"/>
                          </a:solidFill>
                        </a:rPr>
                        <a:t>4.31%</a:t>
                      </a:r>
                      <a:endParaRPr lang="en-US" sz="1150" dirty="0"/>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lgn="ctr">
                        <a:buNone/>
                      </a:pPr>
                      <a:r>
                        <a:rPr lang="en-US" sz="1150" dirty="0">
                          <a:solidFill>
                            <a:srgbClr val="14213D"/>
                          </a:solidFill>
                        </a:rPr>
                        <a:t>Random forest</a:t>
                      </a:r>
                      <a:endParaRPr lang="en-US" sz="1150" dirty="0"/>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4213D"/>
                          </a:solidFill>
                        </a:rPr>
                        <a:t>65.4%</a:t>
                      </a:r>
                      <a:endParaRPr lang="en-US" sz="1150" dirty="0"/>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4213D"/>
                          </a:solidFill>
                        </a:rPr>
                        <a:t>5.68%</a:t>
                      </a:r>
                      <a:endParaRPr lang="en-US" sz="1150" dirty="0"/>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2336">
                <a:tc>
                  <a:txBody>
                    <a:bodyPr/>
                    <a:lstStyle/>
                    <a:p>
                      <a:pPr marL="0" indent="0" algn="ctr">
                        <a:buNone/>
                      </a:pPr>
                      <a:r>
                        <a:rPr lang="en-US" sz="1150" dirty="0">
                          <a:solidFill>
                            <a:srgbClr val="14213D"/>
                          </a:solidFill>
                        </a:rPr>
                        <a:t>Neural network</a:t>
                      </a:r>
                      <a:endParaRPr lang="en-US" sz="1150" dirty="0"/>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4213D"/>
                          </a:solidFill>
                        </a:rPr>
                        <a:t>65.5%</a:t>
                      </a:r>
                      <a:endParaRPr lang="en-US" sz="1150" dirty="0"/>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4213D"/>
                          </a:solidFill>
                        </a:rPr>
                        <a:t>4.65%</a:t>
                      </a:r>
                      <a:endParaRPr lang="en-US" sz="1150" dirty="0"/>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2336">
                <a:tc>
                  <a:txBody>
                    <a:bodyPr/>
                    <a:lstStyle/>
                    <a:p>
                      <a:pPr marL="0" indent="0" algn="ctr">
                        <a:buNone/>
                      </a:pPr>
                      <a:r>
                        <a:rPr lang="en-US" sz="1150" dirty="0">
                          <a:solidFill>
                            <a:srgbClr val="14213D"/>
                          </a:solidFill>
                        </a:rPr>
                        <a:t>Support vector machine</a:t>
                      </a:r>
                      <a:endParaRPr lang="en-US" sz="1150" dirty="0"/>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4213D"/>
                          </a:solidFill>
                        </a:rPr>
                        <a:t>66.3%</a:t>
                      </a:r>
                      <a:endParaRPr lang="en-US" sz="1150" dirty="0"/>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4213D"/>
                          </a:solidFill>
                        </a:rPr>
                        <a:t>4.40%</a:t>
                      </a:r>
                      <a:endParaRPr lang="en-US" sz="1150" dirty="0"/>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4" name="Shape 1"/>
          <p:cNvSpPr/>
          <p:nvPr/>
        </p:nvSpPr>
        <p:spPr>
          <a:xfrm>
            <a:off x="7086600" y="1280160"/>
            <a:ext cx="4526280" cy="2377440"/>
          </a:xfrm>
          <a:prstGeom prst="roundRect">
            <a:avLst>
              <a:gd name="adj" fmla="val 2308"/>
            </a:avLst>
          </a:prstGeom>
          <a:solidFill>
            <a:schemeClr val="bg2"/>
          </a:solidFill>
          <a:ln w="20320">
            <a:solidFill>
              <a:srgbClr val="3D5A80"/>
            </a:solidFill>
            <a:prstDash val="solid"/>
          </a:ln>
        </p:spPr>
        <p:txBody>
          <a:bodyPr/>
          <a:lstStyle/>
          <a:p>
            <a:endParaRPr lang="en-US"/>
          </a:p>
        </p:txBody>
      </p:sp>
      <p:sp>
        <p:nvSpPr>
          <p:cNvPr id="5" name="Text 2"/>
          <p:cNvSpPr txBox="1"/>
          <p:nvPr/>
        </p:nvSpPr>
        <p:spPr>
          <a:xfrm>
            <a:off x="7287768" y="1435608"/>
            <a:ext cx="4123944" cy="310896"/>
          </a:xfrm>
          <a:prstGeom prst="rect">
            <a:avLst/>
          </a:prstGeom>
          <a:noFill/>
          <a:ln/>
        </p:spPr>
        <p:txBody>
          <a:bodyPr wrap="square" lIns="0" tIns="0" rIns="0" bIns="0" rtlCol="0" anchor="ctr"/>
          <a:lstStyle/>
          <a:p>
            <a:pPr marL="0" indent="0">
              <a:buNone/>
            </a:pPr>
            <a:r>
              <a:rPr lang="en-US" sz="1300" b="1" dirty="0">
                <a:solidFill>
                  <a:srgbClr val="3D5A80"/>
                </a:solidFill>
              </a:rPr>
              <a:t>LOOKS RESPECTABLE</a:t>
            </a:r>
            <a:endParaRPr lang="en-US" sz="1300" dirty="0"/>
          </a:p>
        </p:txBody>
      </p:sp>
      <p:sp>
        <p:nvSpPr>
          <p:cNvPr id="3" name="Text 3"/>
          <p:cNvSpPr txBox="1"/>
          <p:nvPr/>
        </p:nvSpPr>
        <p:spPr>
          <a:xfrm>
            <a:off x="7287768" y="1792224"/>
            <a:ext cx="4123944" cy="1691640"/>
          </a:xfrm>
          <a:prstGeom prst="rect">
            <a:avLst/>
          </a:prstGeom>
          <a:noFill/>
          <a:ln/>
        </p:spPr>
        <p:txBody>
          <a:bodyPr wrap="square" lIns="0" tIns="0" rIns="0" bIns="0" rtlCol="0" anchor="t"/>
          <a:lstStyle/>
          <a:p>
            <a:pPr marL="0" indent="0">
              <a:buNone/>
            </a:pPr>
            <a:r>
              <a:rPr lang="en-US" sz="1100" dirty="0">
                <a:solidFill>
                  <a:schemeClr val="tx1"/>
                </a:solidFill>
              </a:rPr>
              <a:t>66% accuracy on NBA games is in line with published research, which clusters around 65 to 70%.</a:t>
            </a:r>
            <a:endParaRPr lang="en-US" sz="1100" dirty="0"/>
          </a:p>
          <a:p>
            <a:pPr marL="0" indent="0">
              <a:buNone/>
            </a:pPr>
            <a:endParaRPr lang="en-US" sz="1100" dirty="0"/>
          </a:p>
          <a:p>
            <a:pPr marL="0" indent="0">
              <a:buNone/>
            </a:pPr>
            <a:r>
              <a:rPr lang="en-US" sz="1100" dirty="0">
                <a:solidFill>
                  <a:schemeClr val="tx1"/>
                </a:solidFill>
              </a:rPr>
              <a:t>Calibration error near 4% means the probabilities are broadly honest.</a:t>
            </a:r>
            <a:endParaRPr lang="en-US" sz="1100" dirty="0"/>
          </a:p>
          <a:p>
            <a:pPr marL="0" indent="0">
              <a:buNone/>
            </a:pPr>
            <a:endParaRPr lang="en-US" sz="1100" dirty="0"/>
          </a:p>
          <a:p>
            <a:pPr marL="0" indent="0">
              <a:buNone/>
            </a:pPr>
            <a:r>
              <a:rPr lang="en-US" sz="1100" dirty="0">
                <a:solidFill>
                  <a:schemeClr val="tx1"/>
                </a:solidFill>
              </a:rPr>
              <a:t>By normal machine learning standards, this is a working model.</a:t>
            </a:r>
            <a:endParaRPr lang="en-US" sz="1100" dirty="0"/>
          </a:p>
        </p:txBody>
      </p:sp>
      <p:sp>
        <p:nvSpPr>
          <p:cNvPr id="7" name="Text 4"/>
          <p:cNvSpPr txBox="1"/>
          <p:nvPr/>
        </p:nvSpPr>
        <p:spPr>
          <a:xfrm>
            <a:off x="594360" y="3886200"/>
            <a:ext cx="11018520" cy="411480"/>
          </a:xfrm>
          <a:prstGeom prst="rect">
            <a:avLst/>
          </a:prstGeom>
          <a:noFill/>
          <a:ln/>
        </p:spPr>
        <p:txBody>
          <a:bodyPr wrap="square" rtlCol="0" anchor="ctr"/>
          <a:lstStyle/>
          <a:p>
            <a:pPr marL="0" indent="0">
              <a:buNone/>
            </a:pPr>
            <a:r>
              <a:rPr lang="en-US" sz="1600" b="1" dirty="0">
                <a:solidFill>
                  <a:schemeClr val="tx1"/>
                </a:solidFill>
              </a:rPr>
              <a:t>So we ran a full season of betting with it.</a:t>
            </a:r>
            <a:endParaRPr lang="en-US" sz="1600" dirty="0"/>
          </a:p>
        </p:txBody>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594360" y="4434840"/>
          <a:ext cx="6126480" cy="1207008"/>
        </p:xfrm>
        <a:graphic>
          <a:graphicData uri="http://schemas.openxmlformats.org/drawingml/2006/table">
            <a:tbl>
              <a:tblPr/>
              <a:tblGrid>
                <a:gridCol w="26517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402336">
                <a:tc>
                  <a:txBody>
                    <a:bodyPr/>
                    <a:lstStyle/>
                    <a:p>
                      <a:pPr marL="0" indent="0" algn="ctr">
                        <a:buNone/>
                      </a:pPr>
                      <a:r>
                        <a:rPr lang="en-US" sz="1150" b="1" dirty="0">
                          <a:solidFill>
                            <a:srgbClr val="14213D"/>
                          </a:solidFill>
                        </a:rPr>
                        <a:t>Strategy</a:t>
                      </a:r>
                      <a:endParaRPr lang="en-US" sz="1150" dirty="0"/>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4213D"/>
                          </a:solidFill>
                        </a:rPr>
                        <a:t>Final bankroll</a:t>
                      </a:r>
                      <a:endParaRPr lang="en-US" sz="1150" dirty="0"/>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4213D"/>
                          </a:solidFill>
                        </a:rPr>
                        <a:t>Return</a:t>
                      </a:r>
                      <a:endParaRPr lang="en-US" sz="1150" dirty="0"/>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02336">
                <a:tc>
                  <a:txBody>
                    <a:bodyPr/>
                    <a:lstStyle/>
                    <a:p>
                      <a:pPr marL="0" indent="0" algn="ctr">
                        <a:buNone/>
                      </a:pPr>
                      <a:r>
                        <a:rPr lang="en-US" sz="1150" dirty="0">
                          <a:solidFill>
                            <a:srgbClr val="14213D"/>
                          </a:solidFill>
                        </a:rPr>
                        <a:t>Flat $100 per bet</a:t>
                      </a:r>
                      <a:endParaRPr lang="en-US" sz="1150" dirty="0"/>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4213D"/>
                          </a:solidFill>
                        </a:rPr>
                        <a:t>$12,503</a:t>
                      </a:r>
                      <a:endParaRPr lang="en-US" sz="1150" dirty="0"/>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4213D"/>
                          </a:solidFill>
                        </a:rPr>
                        <a:t>+25.0%</a:t>
                      </a:r>
                      <a:endParaRPr lang="en-US" sz="1150" dirty="0"/>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lgn="ctr">
                        <a:buNone/>
                      </a:pPr>
                      <a:r>
                        <a:rPr lang="en-US" sz="1150" dirty="0">
                          <a:solidFill>
                            <a:srgbClr val="14213D"/>
                          </a:solidFill>
                        </a:rPr>
                        <a:t>Eighth Kelly staking</a:t>
                      </a:r>
                      <a:endParaRPr lang="en-US" sz="1150" dirty="0"/>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4213D"/>
                          </a:solidFill>
                        </a:rPr>
                        <a:t>$4,489</a:t>
                      </a:r>
                      <a:endParaRPr lang="en-US" sz="1150" dirty="0"/>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4213D"/>
                          </a:solidFill>
                        </a:rPr>
                        <a:t>-55.1%</a:t>
                      </a:r>
                      <a:endParaRPr lang="en-US" sz="1150" dirty="0"/>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9" name="Shape 5"/>
          <p:cNvSpPr/>
          <p:nvPr/>
        </p:nvSpPr>
        <p:spPr>
          <a:xfrm>
            <a:off x="7086600" y="4434840"/>
            <a:ext cx="4526280" cy="1463040"/>
          </a:xfrm>
          <a:prstGeom prst="roundRect">
            <a:avLst>
              <a:gd name="adj" fmla="val 3750"/>
            </a:avLst>
          </a:prstGeom>
          <a:solidFill>
            <a:schemeClr val="bg2"/>
          </a:solidFill>
          <a:ln w="20320">
            <a:solidFill>
              <a:srgbClr val="C1440E"/>
            </a:solidFill>
            <a:prstDash val="solid"/>
          </a:ln>
        </p:spPr>
        <p:txBody>
          <a:bodyPr/>
          <a:lstStyle/>
          <a:p>
            <a:endParaRPr lang="en-US"/>
          </a:p>
        </p:txBody>
      </p:sp>
      <p:sp>
        <p:nvSpPr>
          <p:cNvPr id="10" name="Text 6"/>
          <p:cNvSpPr txBox="1"/>
          <p:nvPr/>
        </p:nvSpPr>
        <p:spPr>
          <a:xfrm>
            <a:off x="7287768" y="4590288"/>
            <a:ext cx="4123944" cy="310896"/>
          </a:xfrm>
          <a:prstGeom prst="rect">
            <a:avLst/>
          </a:prstGeom>
          <a:noFill/>
          <a:ln/>
        </p:spPr>
        <p:txBody>
          <a:bodyPr wrap="square" lIns="0" tIns="0" rIns="0" bIns="0" rtlCol="0" anchor="ctr"/>
          <a:lstStyle/>
          <a:p>
            <a:pPr marL="0" indent="0">
              <a:buNone/>
            </a:pPr>
            <a:r>
              <a:rPr lang="en-US" sz="1300" b="1" dirty="0">
                <a:solidFill>
                  <a:srgbClr val="C1440E"/>
                </a:solidFill>
              </a:rPr>
              <a:t>ONE SEASON, TWO ANSWERS</a:t>
            </a:r>
            <a:endParaRPr lang="en-US" sz="1300" dirty="0"/>
          </a:p>
        </p:txBody>
      </p:sp>
      <p:sp>
        <p:nvSpPr>
          <p:cNvPr id="8" name="Text 7"/>
          <p:cNvSpPr txBox="1"/>
          <p:nvPr/>
        </p:nvSpPr>
        <p:spPr>
          <a:xfrm>
            <a:off x="7287768" y="4946904"/>
            <a:ext cx="4123944" cy="777240"/>
          </a:xfrm>
          <a:prstGeom prst="rect">
            <a:avLst/>
          </a:prstGeom>
          <a:noFill/>
          <a:ln/>
        </p:spPr>
        <p:txBody>
          <a:bodyPr wrap="square" lIns="0" tIns="0" rIns="0" bIns="0" rtlCol="0" anchor="t"/>
          <a:lstStyle/>
          <a:p>
            <a:pPr marL="0" indent="0">
              <a:buNone/>
            </a:pPr>
            <a:r>
              <a:rPr lang="en-US" sz="1100" dirty="0">
                <a:solidFill>
                  <a:schemeClr val="tx1"/>
                </a:solidFill>
              </a:rPr>
              <a:t>The same model and the same bets. Only the stake sizing differs, and the outcome flips from a 25% gain to a 55% loss.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94360" y="384048"/>
            <a:ext cx="10972800" cy="685800"/>
          </a:xfrm>
          <a:prstGeom prst="rect">
            <a:avLst/>
          </a:prstGeom>
          <a:noFill/>
          <a:ln/>
        </p:spPr>
        <p:txBody>
          <a:bodyPr wrap="square" rtlCol="0" anchor="ctr"/>
          <a:lstStyle/>
          <a:p>
            <a:pPr marL="0" indent="0">
              <a:buNone/>
            </a:pPr>
            <a:r>
              <a:rPr lang="en-US" sz="2700" b="1" dirty="0">
                <a:solidFill>
                  <a:schemeClr val="tx1"/>
                </a:solidFill>
              </a:rPr>
              <a:t>Nine seasons tell a different story</a:t>
            </a:r>
            <a:endParaRPr lang="en-US" sz="2700" dirty="0"/>
          </a:p>
        </p:txBody>
      </p:sp>
      <p:pic>
        <p:nvPicPr>
          <p:cNvPr id="3" name="Image 0" descr="/mnt/user-data/outputs/pnl_by_season.png"/>
          <p:cNvPicPr>
            <a:picLocks noChangeAspect="1"/>
          </p:cNvPicPr>
          <p:nvPr/>
        </p:nvPicPr>
        <p:blipFill>
          <a:blip r:embed="rId3"/>
          <a:stretch>
            <a:fillRect/>
          </a:stretch>
        </p:blipFill>
        <p:spPr>
          <a:xfrm>
            <a:off x="548640" y="1143000"/>
            <a:ext cx="7863840" cy="4754880"/>
          </a:xfrm>
          <a:prstGeom prst="rect">
            <a:avLst/>
          </a:prstGeom>
        </p:spPr>
      </p:pic>
      <p:sp>
        <p:nvSpPr>
          <p:cNvPr id="4" name="Shape 1"/>
          <p:cNvSpPr/>
          <p:nvPr/>
        </p:nvSpPr>
        <p:spPr>
          <a:xfrm>
            <a:off x="8641080" y="1143000"/>
            <a:ext cx="3017520" cy="2286000"/>
          </a:xfrm>
          <a:prstGeom prst="roundRect">
            <a:avLst>
              <a:gd name="adj" fmla="val 2400"/>
            </a:avLst>
          </a:prstGeom>
          <a:solidFill>
            <a:schemeClr val="bg2"/>
          </a:solidFill>
          <a:ln w="20320">
            <a:solidFill>
              <a:srgbClr val="C1440E"/>
            </a:solidFill>
            <a:prstDash val="solid"/>
          </a:ln>
        </p:spPr>
        <p:txBody>
          <a:bodyPr/>
          <a:lstStyle/>
          <a:p>
            <a:endParaRPr lang="en-US"/>
          </a:p>
        </p:txBody>
      </p:sp>
      <p:sp>
        <p:nvSpPr>
          <p:cNvPr id="5" name="Text 2"/>
          <p:cNvSpPr txBox="1"/>
          <p:nvPr/>
        </p:nvSpPr>
        <p:spPr>
          <a:xfrm>
            <a:off x="8842248" y="1298448"/>
            <a:ext cx="2615184" cy="310896"/>
          </a:xfrm>
          <a:prstGeom prst="rect">
            <a:avLst/>
          </a:prstGeom>
          <a:noFill/>
          <a:ln/>
        </p:spPr>
        <p:txBody>
          <a:bodyPr wrap="square" lIns="0" tIns="0" rIns="0" bIns="0" rtlCol="0" anchor="ctr"/>
          <a:lstStyle/>
          <a:p>
            <a:pPr marL="0" indent="0">
              <a:buNone/>
            </a:pPr>
            <a:r>
              <a:rPr lang="en-US" sz="1300" b="1" dirty="0">
                <a:solidFill>
                  <a:srgbClr val="C1440E"/>
                </a:solidFill>
              </a:rPr>
              <a:t>WILD SWINGS</a:t>
            </a:r>
            <a:endParaRPr lang="en-US" sz="1300" dirty="0"/>
          </a:p>
        </p:txBody>
      </p:sp>
      <p:sp>
        <p:nvSpPr>
          <p:cNvPr id="6" name="Text 3"/>
          <p:cNvSpPr txBox="1"/>
          <p:nvPr/>
        </p:nvSpPr>
        <p:spPr>
          <a:xfrm>
            <a:off x="8842248" y="1655064"/>
            <a:ext cx="2615184" cy="1600200"/>
          </a:xfrm>
          <a:prstGeom prst="rect">
            <a:avLst/>
          </a:prstGeom>
          <a:noFill/>
          <a:ln/>
        </p:spPr>
        <p:txBody>
          <a:bodyPr wrap="square" lIns="0" tIns="0" rIns="0" bIns="0" rtlCol="0" anchor="t"/>
          <a:lstStyle/>
          <a:p>
            <a:pPr marL="0" indent="0">
              <a:buNone/>
            </a:pPr>
            <a:r>
              <a:rPr lang="en-US" sz="1100" dirty="0">
                <a:solidFill>
                  <a:schemeClr val="tx1"/>
                </a:solidFill>
              </a:rPr>
              <a:t>2016-17: up 57%</a:t>
            </a:r>
            <a:endParaRPr lang="en-US" sz="1100" dirty="0"/>
          </a:p>
          <a:p>
            <a:pPr marL="0" indent="0">
              <a:buNone/>
            </a:pPr>
            <a:r>
              <a:rPr lang="en-US" sz="1100" dirty="0">
                <a:solidFill>
                  <a:schemeClr val="tx1"/>
                </a:solidFill>
              </a:rPr>
              <a:t>2019-20: up 86%</a:t>
            </a:r>
            <a:endParaRPr lang="en-US" sz="1100" dirty="0"/>
          </a:p>
          <a:p>
            <a:pPr marL="0" indent="0">
              <a:buNone/>
            </a:pPr>
            <a:r>
              <a:rPr lang="en-US" sz="1100" dirty="0">
                <a:solidFill>
                  <a:schemeClr val="tx1"/>
                </a:solidFill>
              </a:rPr>
              <a:t>2022-23: up 7%</a:t>
            </a:r>
            <a:endParaRPr lang="en-US" sz="1100" dirty="0"/>
          </a:p>
          <a:p>
            <a:pPr marL="0" indent="0">
              <a:buNone/>
            </a:pPr>
            <a:endParaRPr lang="en-US" sz="1100" dirty="0"/>
          </a:p>
          <a:p>
            <a:pPr marL="0" indent="0">
              <a:buNone/>
            </a:pPr>
            <a:r>
              <a:rPr lang="en-US" sz="1100" dirty="0">
                <a:solidFill>
                  <a:schemeClr val="tx1"/>
                </a:solidFill>
              </a:rPr>
              <a:t>2017-18: bankrupt</a:t>
            </a:r>
            <a:endParaRPr lang="en-US" sz="1100" dirty="0"/>
          </a:p>
          <a:p>
            <a:pPr marL="0" indent="0">
              <a:buNone/>
            </a:pPr>
            <a:r>
              <a:rPr lang="en-US" sz="1100" dirty="0">
                <a:solidFill>
                  <a:schemeClr val="tx1"/>
                </a:solidFill>
              </a:rPr>
              <a:t>2021-22: down 84%</a:t>
            </a:r>
            <a:endParaRPr lang="en-US" sz="1100" dirty="0"/>
          </a:p>
          <a:p>
            <a:pPr marL="0" indent="0">
              <a:buNone/>
            </a:pPr>
            <a:r>
              <a:rPr lang="en-US" sz="1100" dirty="0">
                <a:solidFill>
                  <a:schemeClr val="tx1"/>
                </a:solidFill>
              </a:rPr>
              <a:t>2014-15: down 65%</a:t>
            </a:r>
            <a:endParaRPr lang="en-US" sz="1100" dirty="0"/>
          </a:p>
        </p:txBody>
      </p:sp>
      <p:sp>
        <p:nvSpPr>
          <p:cNvPr id="7" name="Shape 4"/>
          <p:cNvSpPr/>
          <p:nvPr/>
        </p:nvSpPr>
        <p:spPr>
          <a:xfrm>
            <a:off x="8641080" y="3611880"/>
            <a:ext cx="3017520" cy="2286000"/>
          </a:xfrm>
          <a:prstGeom prst="roundRect">
            <a:avLst>
              <a:gd name="adj" fmla="val 2400"/>
            </a:avLst>
          </a:prstGeom>
          <a:solidFill>
            <a:schemeClr val="bg2"/>
          </a:solidFill>
          <a:ln w="20320">
            <a:solidFill>
              <a:srgbClr val="3D5A80"/>
            </a:solidFill>
            <a:prstDash val="solid"/>
          </a:ln>
        </p:spPr>
        <p:txBody>
          <a:bodyPr/>
          <a:lstStyle/>
          <a:p>
            <a:endParaRPr lang="en-US"/>
          </a:p>
        </p:txBody>
      </p:sp>
      <p:sp>
        <p:nvSpPr>
          <p:cNvPr id="8" name="Text 5"/>
          <p:cNvSpPr txBox="1"/>
          <p:nvPr/>
        </p:nvSpPr>
        <p:spPr>
          <a:xfrm>
            <a:off x="8842248" y="3767328"/>
            <a:ext cx="2615184" cy="310896"/>
          </a:xfrm>
          <a:prstGeom prst="rect">
            <a:avLst/>
          </a:prstGeom>
          <a:noFill/>
          <a:ln/>
        </p:spPr>
        <p:txBody>
          <a:bodyPr wrap="square" lIns="0" tIns="0" rIns="0" bIns="0" rtlCol="0" anchor="ctr"/>
          <a:lstStyle/>
          <a:p>
            <a:pPr marL="0" indent="0">
              <a:buNone/>
            </a:pPr>
            <a:r>
              <a:rPr lang="en-US" sz="1300" b="1" dirty="0">
                <a:solidFill>
                  <a:srgbClr val="3D5A80"/>
                </a:solidFill>
              </a:rPr>
              <a:t>NO STABLE EDGE</a:t>
            </a:r>
            <a:endParaRPr lang="en-US" sz="1300" dirty="0"/>
          </a:p>
        </p:txBody>
      </p:sp>
      <p:sp>
        <p:nvSpPr>
          <p:cNvPr id="9" name="Text 6"/>
          <p:cNvSpPr txBox="1"/>
          <p:nvPr/>
        </p:nvSpPr>
        <p:spPr>
          <a:xfrm>
            <a:off x="8842248" y="4123944"/>
            <a:ext cx="2615184" cy="1600200"/>
          </a:xfrm>
          <a:prstGeom prst="rect">
            <a:avLst/>
          </a:prstGeom>
          <a:noFill/>
          <a:ln/>
        </p:spPr>
        <p:txBody>
          <a:bodyPr wrap="square" lIns="0" tIns="0" rIns="0" bIns="0" rtlCol="0" anchor="t"/>
          <a:lstStyle/>
          <a:p>
            <a:pPr marL="0" indent="0">
              <a:buNone/>
            </a:pPr>
            <a:r>
              <a:rPr lang="en-US" sz="1100" dirty="0">
                <a:solidFill>
                  <a:schemeClr val="tx1"/>
                </a:solidFill>
              </a:rPr>
              <a:t>Same code. Same features. Nine different answers.</a:t>
            </a:r>
            <a:endParaRPr lang="en-US" sz="1100" dirty="0"/>
          </a:p>
          <a:p>
            <a:pPr marL="0" indent="0">
              <a:buNone/>
            </a:pPr>
            <a:endParaRPr lang="en-US" sz="1100" dirty="0"/>
          </a:p>
          <a:p>
            <a:pPr marL="0" indent="0">
              <a:buNone/>
            </a:pPr>
            <a:r>
              <a:rPr lang="en-US" sz="1100" dirty="0">
                <a:solidFill>
                  <a:schemeClr val="tx1"/>
                </a:solidFill>
              </a:rPr>
              <a:t>Average return across all seasons is negative.</a:t>
            </a:r>
            <a:endParaRPr lang="en-US" sz="1100" dirty="0"/>
          </a:p>
          <a:p>
            <a:pPr marL="0" indent="0">
              <a:buNone/>
            </a:pPr>
            <a:endParaRPr lang="en-US" sz="1100" dirty="0"/>
          </a:p>
          <a:p>
            <a:pPr marL="0" indent="0">
              <a:buNone/>
            </a:pPr>
            <a:r>
              <a:rPr lang="en-US" sz="1100" dirty="0">
                <a:solidFill>
                  <a:schemeClr val="tx1"/>
                </a:solidFill>
              </a:rPr>
              <a:t>The 25% season was not skill. It was one draw.</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94360" y="384048"/>
            <a:ext cx="10972800" cy="685800"/>
          </a:xfrm>
          <a:prstGeom prst="rect">
            <a:avLst/>
          </a:prstGeom>
          <a:noFill/>
          <a:ln/>
        </p:spPr>
        <p:txBody>
          <a:bodyPr wrap="square" rtlCol="0" anchor="ctr"/>
          <a:lstStyle/>
          <a:p>
            <a:pPr marL="0" indent="0">
              <a:buNone/>
            </a:pPr>
            <a:r>
              <a:rPr lang="en-US" sz="2700" b="1" dirty="0">
                <a:solidFill>
                  <a:schemeClr val="tx1"/>
                </a:solidFill>
              </a:rPr>
              <a:t>Over 9,400 games, the money drains away</a:t>
            </a:r>
            <a:endParaRPr lang="en-US" sz="2700" dirty="0"/>
          </a:p>
        </p:txBody>
      </p:sp>
      <p:pic>
        <p:nvPicPr>
          <p:cNvPr id="3" name="Image 0" descr="/mnt/user-data/outputs/pnl_cumulative.png"/>
          <p:cNvPicPr>
            <a:picLocks noChangeAspect="1"/>
          </p:cNvPicPr>
          <p:nvPr/>
        </p:nvPicPr>
        <p:blipFill>
          <a:blip r:embed="rId3"/>
          <a:stretch>
            <a:fillRect/>
          </a:stretch>
        </p:blipFill>
        <p:spPr>
          <a:xfrm>
            <a:off x="548640" y="1188720"/>
            <a:ext cx="11064240" cy="3749040"/>
          </a:xfrm>
          <a:prstGeom prst="rect">
            <a:avLst/>
          </a:prstGeom>
        </p:spPr>
      </p:pic>
      <p:sp>
        <p:nvSpPr>
          <p:cNvPr id="4" name="Text 1"/>
          <p:cNvSpPr txBox="1"/>
          <p:nvPr/>
        </p:nvSpPr>
        <p:spPr>
          <a:xfrm>
            <a:off x="594360" y="5074920"/>
            <a:ext cx="11018520" cy="411480"/>
          </a:xfrm>
          <a:prstGeom prst="rect">
            <a:avLst/>
          </a:prstGeom>
          <a:noFill/>
          <a:ln/>
        </p:spPr>
        <p:txBody>
          <a:bodyPr wrap="square" rtlCol="0" anchor="ctr"/>
          <a:lstStyle/>
          <a:p>
            <a:pPr marL="0" indent="0">
              <a:buNone/>
            </a:pPr>
            <a:r>
              <a:rPr lang="en-US" sz="1350" b="1" dirty="0">
                <a:solidFill>
                  <a:schemeClr val="tx1"/>
                </a:solidFill>
              </a:rPr>
              <a:t>Carrying profits forward across all nine seasons, both strategies end below where they started.</a:t>
            </a:r>
            <a:endParaRPr lang="en-US" sz="1350" dirty="0"/>
          </a:p>
        </p:txBody>
      </p:sp>
      <p:sp>
        <p:nvSpPr>
          <p:cNvPr id="5" name="Text 2"/>
          <p:cNvSpPr txBox="1"/>
          <p:nvPr/>
        </p:nvSpPr>
        <p:spPr>
          <a:xfrm>
            <a:off x="594360" y="5532120"/>
            <a:ext cx="11018520" cy="594360"/>
          </a:xfrm>
          <a:prstGeom prst="rect">
            <a:avLst/>
          </a:prstGeom>
          <a:noFill/>
          <a:ln/>
        </p:spPr>
        <p:txBody>
          <a:bodyPr wrap="square" rtlCol="0" anchor="ctr"/>
          <a:lstStyle/>
          <a:p>
            <a:pPr marL="0" indent="0">
              <a:buNone/>
            </a:pPr>
            <a:r>
              <a:rPr lang="en-US" sz="1200" i="1" dirty="0">
                <a:solidFill>
                  <a:schemeClr val="tx2"/>
                </a:solidFill>
              </a:rPr>
              <a:t>Most bets land on underdogs paying around 4.5 to 1. With roughly 450 such bets a season, one season's return has a standard deviation of plus or minus 43 percentage points. Any single season tells you almost nothing.</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94360" y="384048"/>
            <a:ext cx="10972800" cy="685800"/>
          </a:xfrm>
          <a:prstGeom prst="rect">
            <a:avLst/>
          </a:prstGeom>
          <a:noFill/>
          <a:ln/>
        </p:spPr>
        <p:txBody>
          <a:bodyPr wrap="square" rtlCol="0" anchor="ctr"/>
          <a:lstStyle/>
          <a:p>
            <a:pPr marL="0" indent="0">
              <a:buNone/>
            </a:pPr>
            <a:r>
              <a:rPr lang="en-US" sz="2700" b="1" dirty="0">
                <a:solidFill>
                  <a:schemeClr val="tx1"/>
                </a:solidFill>
              </a:rPr>
              <a:t>Why: the market already knows everything</a:t>
            </a:r>
            <a:endParaRPr lang="en-US" sz="27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94360" y="1280160"/>
          <a:ext cx="6035040" cy="1261872"/>
        </p:xfrm>
        <a:graphic>
          <a:graphicData uri="http://schemas.openxmlformats.org/drawingml/2006/table">
            <a:tbl>
              <a:tblPr/>
              <a:tblGrid>
                <a:gridCol w="19202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420624">
                <a:tc>
                  <a:txBody>
                    <a:bodyPr/>
                    <a:lstStyle/>
                    <a:p>
                      <a:pPr marL="0" indent="0" algn="ctr">
                        <a:buNone/>
                      </a:pPr>
                      <a:endParaRPr lang="en-US" sz="1200" dirty="0"/>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4213D"/>
                          </a:solidFill>
                        </a:rPr>
                        <a:t>Log loss</a:t>
                      </a:r>
                      <a:endParaRPr lang="en-US" sz="1200" dirty="0"/>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4213D"/>
                          </a:solidFill>
                        </a:rPr>
                        <a:t>Accuracy</a:t>
                      </a:r>
                      <a:endParaRPr lang="en-US" sz="1200" dirty="0"/>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4213D"/>
                          </a:solidFill>
                        </a:rPr>
                        <a:t>Calib. error</a:t>
                      </a:r>
                      <a:endParaRPr lang="en-US" sz="1200" dirty="0"/>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20624">
                <a:tc>
                  <a:txBody>
                    <a:bodyPr/>
                    <a:lstStyle/>
                    <a:p>
                      <a:pPr marL="0" indent="0" algn="ctr">
                        <a:buNone/>
                      </a:pPr>
                      <a:r>
                        <a:rPr lang="en-US" sz="1200" dirty="0">
                          <a:solidFill>
                            <a:srgbClr val="14213D"/>
                          </a:solidFill>
                        </a:rPr>
                        <a:t>Our model</a:t>
                      </a:r>
                      <a:endParaRPr lang="en-US" sz="1200" dirty="0"/>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4213D"/>
                          </a:solidFill>
                        </a:rPr>
                        <a:t>0.6230</a:t>
                      </a:r>
                      <a:endParaRPr lang="en-US" sz="1200" dirty="0"/>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4213D"/>
                          </a:solidFill>
                        </a:rPr>
                        <a:t>64.9%</a:t>
                      </a:r>
                      <a:endParaRPr lang="en-US" sz="1200" dirty="0"/>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4213D"/>
                          </a:solidFill>
                        </a:rPr>
                        <a:t>15.5%</a:t>
                      </a:r>
                      <a:endParaRPr lang="en-US" sz="1200" dirty="0"/>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lgn="ctr">
                        <a:buNone/>
                      </a:pPr>
                      <a:r>
                        <a:rPr lang="en-US" sz="1200" dirty="0">
                          <a:solidFill>
                            <a:srgbClr val="14213D"/>
                          </a:solidFill>
                        </a:rPr>
                        <a:t>Sportsbook</a:t>
                      </a:r>
                      <a:endParaRPr lang="en-US" sz="1200" dirty="0"/>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4213D"/>
                          </a:solidFill>
                        </a:rPr>
                        <a:t>0.5962</a:t>
                      </a:r>
                      <a:endParaRPr lang="en-US" sz="1200" dirty="0"/>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4213D"/>
                          </a:solidFill>
                        </a:rPr>
                        <a:t>67.9%</a:t>
                      </a:r>
                      <a:endParaRPr lang="en-US" sz="1200" dirty="0"/>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4213D"/>
                          </a:solidFill>
                        </a:rPr>
                        <a:t>3.8%</a:t>
                      </a:r>
                      <a:endParaRPr lang="en-US" sz="1200" dirty="0"/>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4" name="Text 1"/>
          <p:cNvSpPr txBox="1"/>
          <p:nvPr/>
        </p:nvSpPr>
        <p:spPr>
          <a:xfrm>
            <a:off x="594360" y="2834640"/>
            <a:ext cx="6035040" cy="365760"/>
          </a:xfrm>
          <a:prstGeom prst="rect">
            <a:avLst/>
          </a:prstGeom>
          <a:noFill/>
          <a:ln/>
        </p:spPr>
        <p:txBody>
          <a:bodyPr wrap="square" rtlCol="0" anchor="ctr"/>
          <a:lstStyle/>
          <a:p>
            <a:pPr marL="0" indent="0">
              <a:buNone/>
            </a:pPr>
            <a:r>
              <a:rPr lang="en-US" sz="1250" b="1" dirty="0">
                <a:solidFill>
                  <a:srgbClr val="C1440E"/>
                </a:solidFill>
              </a:rPr>
              <a:t>The sportsbook is more accurate and better calibrated, in all 9 of 9 seasons.</a:t>
            </a:r>
            <a:endParaRPr lang="en-US" sz="1250" dirty="0"/>
          </a:p>
        </p:txBody>
      </p:sp>
      <p:sp>
        <p:nvSpPr>
          <p:cNvPr id="5" name="Shape 2"/>
          <p:cNvSpPr/>
          <p:nvPr/>
        </p:nvSpPr>
        <p:spPr>
          <a:xfrm>
            <a:off x="6949440" y="1280160"/>
            <a:ext cx="4663440" cy="1920240"/>
          </a:xfrm>
          <a:prstGeom prst="roundRect">
            <a:avLst>
              <a:gd name="adj" fmla="val 2857"/>
            </a:avLst>
          </a:prstGeom>
          <a:solidFill>
            <a:schemeClr val="bg2"/>
          </a:solidFill>
          <a:ln w="20320">
            <a:solidFill>
              <a:srgbClr val="C1440E"/>
            </a:solidFill>
            <a:prstDash val="solid"/>
          </a:ln>
        </p:spPr>
        <p:txBody>
          <a:bodyPr/>
          <a:lstStyle/>
          <a:p>
            <a:endParaRPr lang="en-US"/>
          </a:p>
        </p:txBody>
      </p:sp>
      <p:sp>
        <p:nvSpPr>
          <p:cNvPr id="6" name="Text 3"/>
          <p:cNvSpPr txBox="1"/>
          <p:nvPr/>
        </p:nvSpPr>
        <p:spPr>
          <a:xfrm>
            <a:off x="7150608" y="1435608"/>
            <a:ext cx="4261104" cy="310896"/>
          </a:xfrm>
          <a:prstGeom prst="rect">
            <a:avLst/>
          </a:prstGeom>
          <a:noFill/>
          <a:ln/>
        </p:spPr>
        <p:txBody>
          <a:bodyPr wrap="square" lIns="0" tIns="0" rIns="0" bIns="0" rtlCol="0" anchor="ctr"/>
          <a:lstStyle/>
          <a:p>
            <a:pPr marL="0" indent="0">
              <a:buNone/>
            </a:pPr>
            <a:r>
              <a:rPr lang="en-US" sz="1300" b="1" dirty="0">
                <a:solidFill>
                  <a:srgbClr val="C1440E"/>
                </a:solidFill>
              </a:rPr>
              <a:t>OUR FEATURES ADD NOTHING</a:t>
            </a:r>
            <a:endParaRPr lang="en-US" sz="1300" dirty="0"/>
          </a:p>
        </p:txBody>
      </p:sp>
      <p:sp>
        <p:nvSpPr>
          <p:cNvPr id="7" name="Text 4"/>
          <p:cNvSpPr txBox="1"/>
          <p:nvPr/>
        </p:nvSpPr>
        <p:spPr>
          <a:xfrm>
            <a:off x="7150608" y="1792224"/>
            <a:ext cx="4261104" cy="1234440"/>
          </a:xfrm>
          <a:prstGeom prst="rect">
            <a:avLst/>
          </a:prstGeom>
          <a:noFill/>
          <a:ln/>
        </p:spPr>
        <p:txBody>
          <a:bodyPr wrap="square" lIns="0" tIns="0" rIns="0" bIns="0" rtlCol="0" anchor="t"/>
          <a:lstStyle/>
          <a:p>
            <a:pPr marL="0" indent="0">
              <a:buNone/>
            </a:pPr>
            <a:r>
              <a:rPr lang="en-US" sz="1100" dirty="0">
                <a:solidFill>
                  <a:schemeClr val="tx1"/>
                </a:solidFill>
              </a:rPr>
              <a:t>Combine our 25 box score features with the market price and predictions get worse in 8 of 9 seasons.</a:t>
            </a:r>
            <a:endParaRPr lang="en-US" sz="1100" dirty="0"/>
          </a:p>
          <a:p>
            <a:pPr marL="0" indent="0">
              <a:buNone/>
            </a:pPr>
            <a:endParaRPr lang="en-US" sz="1100" dirty="0"/>
          </a:p>
          <a:p>
            <a:pPr marL="0" indent="0">
              <a:buNone/>
            </a:pPr>
            <a:r>
              <a:rPr lang="en-US" sz="1100" dirty="0">
                <a:solidFill>
                  <a:schemeClr val="tx1"/>
                </a:solidFill>
              </a:rPr>
              <a:t>The odds already contain everything the box scores can tell us.</a:t>
            </a:r>
            <a:endParaRPr lang="en-US" sz="1100" dirty="0"/>
          </a:p>
        </p:txBody>
      </p:sp>
      <p:sp>
        <p:nvSpPr>
          <p:cNvPr id="8" name="Shape 5"/>
          <p:cNvSpPr/>
          <p:nvPr/>
        </p:nvSpPr>
        <p:spPr>
          <a:xfrm>
            <a:off x="594360" y="3429000"/>
            <a:ext cx="5394960" cy="2514600"/>
          </a:xfrm>
          <a:prstGeom prst="roundRect">
            <a:avLst>
              <a:gd name="adj" fmla="val 2182"/>
            </a:avLst>
          </a:prstGeom>
          <a:solidFill>
            <a:schemeClr val="bg2"/>
          </a:solidFill>
          <a:ln w="20320">
            <a:solidFill>
              <a:srgbClr val="3D5A80"/>
            </a:solidFill>
            <a:prstDash val="solid"/>
          </a:ln>
        </p:spPr>
        <p:txBody>
          <a:bodyPr/>
          <a:lstStyle/>
          <a:p>
            <a:endParaRPr lang="en-US"/>
          </a:p>
        </p:txBody>
      </p:sp>
      <p:sp>
        <p:nvSpPr>
          <p:cNvPr id="3" name="Text 6"/>
          <p:cNvSpPr txBox="1"/>
          <p:nvPr/>
        </p:nvSpPr>
        <p:spPr>
          <a:xfrm>
            <a:off x="795528" y="3584448"/>
            <a:ext cx="4992624" cy="310896"/>
          </a:xfrm>
          <a:prstGeom prst="rect">
            <a:avLst/>
          </a:prstGeom>
          <a:noFill/>
          <a:ln/>
        </p:spPr>
        <p:txBody>
          <a:bodyPr wrap="square" lIns="0" tIns="0" rIns="0" bIns="0" rtlCol="0" anchor="ctr"/>
          <a:lstStyle/>
          <a:p>
            <a:pPr marL="0" indent="0">
              <a:buNone/>
            </a:pPr>
            <a:r>
              <a:rPr lang="en-US" sz="1300" b="1" dirty="0">
                <a:solidFill>
                  <a:srgbClr val="3D5A80"/>
                </a:solidFill>
              </a:rPr>
              <a:t>WHERE THE WINS CAME FROM</a:t>
            </a:r>
            <a:endParaRPr lang="en-US" sz="1300" dirty="0"/>
          </a:p>
        </p:txBody>
      </p:sp>
      <p:sp>
        <p:nvSpPr>
          <p:cNvPr id="10" name="Text 7"/>
          <p:cNvSpPr txBox="1"/>
          <p:nvPr/>
        </p:nvSpPr>
        <p:spPr>
          <a:xfrm>
            <a:off x="795528" y="3941064"/>
            <a:ext cx="4992624" cy="1828800"/>
          </a:xfrm>
          <a:prstGeom prst="rect">
            <a:avLst/>
          </a:prstGeom>
          <a:noFill/>
          <a:ln/>
        </p:spPr>
        <p:txBody>
          <a:bodyPr wrap="square" lIns="0" tIns="0" rIns="0" bIns="0" rtlCol="0" anchor="t"/>
          <a:lstStyle/>
          <a:p>
            <a:pPr marL="0" indent="0">
              <a:buNone/>
            </a:pPr>
            <a:r>
              <a:rPr lang="en-US" sz="1100" dirty="0">
                <a:solidFill>
                  <a:schemeClr val="tx1"/>
                </a:solidFill>
              </a:rPr>
              <a:t>Every profitable season was carried by underdog bets. Every losing season by underdog misses.</a:t>
            </a:r>
            <a:endParaRPr lang="en-US" sz="1100" dirty="0"/>
          </a:p>
          <a:p>
            <a:pPr marL="0" indent="0">
              <a:buNone/>
            </a:pPr>
            <a:endParaRPr lang="en-US" sz="1100" dirty="0"/>
          </a:p>
          <a:p>
            <a:pPr marL="0" indent="0">
              <a:buNone/>
            </a:pPr>
            <a:r>
              <a:rPr lang="en-US" sz="1100" dirty="0">
                <a:solidFill>
                  <a:schemeClr val="tx1"/>
                </a:solidFill>
              </a:rPr>
              <a:t>Betting underdogs blindly, with no model at all, also gained 42% in 2016-17.</a:t>
            </a:r>
            <a:endParaRPr lang="en-US" sz="1100" dirty="0"/>
          </a:p>
          <a:p>
            <a:pPr marL="0" indent="0">
              <a:buNone/>
            </a:pPr>
            <a:endParaRPr lang="en-US" sz="1100" dirty="0"/>
          </a:p>
          <a:p>
            <a:pPr marL="0" indent="0">
              <a:buNone/>
            </a:pPr>
            <a:r>
              <a:rPr lang="en-US" sz="1100" dirty="0">
                <a:solidFill>
                  <a:schemeClr val="tx1"/>
                </a:solidFill>
              </a:rPr>
              <a:t>The good years were lucky years, not skilful ones.</a:t>
            </a:r>
            <a:endParaRPr lang="en-US" sz="1100" dirty="0"/>
          </a:p>
        </p:txBody>
      </p:sp>
      <p:sp>
        <p:nvSpPr>
          <p:cNvPr id="11" name="Shape 8"/>
          <p:cNvSpPr/>
          <p:nvPr/>
        </p:nvSpPr>
        <p:spPr>
          <a:xfrm>
            <a:off x="6217920" y="3429000"/>
            <a:ext cx="5394960" cy="2514600"/>
          </a:xfrm>
          <a:prstGeom prst="roundRect">
            <a:avLst>
              <a:gd name="adj" fmla="val 2182"/>
            </a:avLst>
          </a:prstGeom>
          <a:solidFill>
            <a:schemeClr val="bg2"/>
          </a:solidFill>
          <a:ln w="20320">
            <a:solidFill>
              <a:srgbClr val="9C6644"/>
            </a:solidFill>
            <a:prstDash val="solid"/>
          </a:ln>
        </p:spPr>
        <p:txBody>
          <a:bodyPr/>
          <a:lstStyle/>
          <a:p>
            <a:endParaRPr lang="en-US"/>
          </a:p>
        </p:txBody>
      </p:sp>
      <p:sp>
        <p:nvSpPr>
          <p:cNvPr id="12" name="Text 9"/>
          <p:cNvSpPr txBox="1"/>
          <p:nvPr/>
        </p:nvSpPr>
        <p:spPr>
          <a:xfrm>
            <a:off x="6419088" y="3584448"/>
            <a:ext cx="4992624" cy="310896"/>
          </a:xfrm>
          <a:prstGeom prst="rect">
            <a:avLst/>
          </a:prstGeom>
          <a:noFill/>
          <a:ln/>
        </p:spPr>
        <p:txBody>
          <a:bodyPr wrap="square" lIns="0" tIns="0" rIns="0" bIns="0" rtlCol="0" anchor="ctr"/>
          <a:lstStyle/>
          <a:p>
            <a:pPr marL="0" indent="0">
              <a:buNone/>
            </a:pPr>
            <a:r>
              <a:rPr lang="en-US" sz="1300" b="1" dirty="0">
                <a:solidFill>
                  <a:srgbClr val="9C6644"/>
                </a:solidFill>
              </a:rPr>
              <a:t>THE ONE REAL SIGNAL</a:t>
            </a:r>
            <a:endParaRPr lang="en-US" sz="1300" dirty="0"/>
          </a:p>
        </p:txBody>
      </p:sp>
      <p:sp>
        <p:nvSpPr>
          <p:cNvPr id="13" name="Text 10"/>
          <p:cNvSpPr txBox="1"/>
          <p:nvPr/>
        </p:nvSpPr>
        <p:spPr>
          <a:xfrm>
            <a:off x="6419088" y="3941064"/>
            <a:ext cx="4992624" cy="1828800"/>
          </a:xfrm>
          <a:prstGeom prst="rect">
            <a:avLst/>
          </a:prstGeom>
          <a:noFill/>
          <a:ln/>
        </p:spPr>
        <p:txBody>
          <a:bodyPr wrap="square" lIns="0" tIns="0" rIns="0" bIns="0" rtlCol="0" anchor="t"/>
          <a:lstStyle/>
          <a:p>
            <a:pPr marL="0" indent="0">
              <a:buNone/>
            </a:pPr>
            <a:r>
              <a:rPr lang="en-US" sz="1100" dirty="0">
                <a:solidFill>
                  <a:schemeClr val="tx1"/>
                </a:solidFill>
              </a:rPr>
              <a:t>Our underdog picks won 23.3% of the time where the book implied 22.0%, an edge of 1.3 points.</a:t>
            </a:r>
            <a:endParaRPr lang="en-US" sz="1100" dirty="0"/>
          </a:p>
          <a:p>
            <a:pPr marL="0" indent="0">
              <a:buNone/>
            </a:pPr>
            <a:endParaRPr lang="en-US" sz="1100" dirty="0"/>
          </a:p>
          <a:p>
            <a:pPr marL="0" indent="0">
              <a:buNone/>
            </a:pPr>
            <a:r>
              <a:rPr lang="en-US" sz="1100" dirty="0">
                <a:solidFill>
                  <a:schemeClr val="tx1"/>
                </a:solidFill>
              </a:rPr>
              <a:t>Over 3,591 bets the margin of error is 1.4 points, so this does not clear significance.</a:t>
            </a:r>
            <a:endParaRPr lang="en-US" sz="1100" dirty="0"/>
          </a:p>
          <a:p>
            <a:pPr marL="0" indent="0">
              <a:buNone/>
            </a:pPr>
            <a:endParaRPr lang="en-US" sz="1100" dirty="0"/>
          </a:p>
          <a:p>
            <a:pPr marL="0" indent="0">
              <a:buNone/>
            </a:pPr>
            <a:r>
              <a:rPr lang="en-US" sz="1100" dirty="0">
                <a:solidFill>
                  <a:schemeClr val="tx1"/>
                </a:solidFill>
              </a:rPr>
              <a:t>Confirming it would take about 40 seasons.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94360" y="384048"/>
            <a:ext cx="10972800" cy="685800"/>
          </a:xfrm>
          <a:prstGeom prst="rect">
            <a:avLst/>
          </a:prstGeom>
          <a:noFill/>
          <a:ln/>
        </p:spPr>
        <p:txBody>
          <a:bodyPr wrap="square" rtlCol="0" anchor="ctr"/>
          <a:lstStyle/>
          <a:p>
            <a:pPr marL="0" indent="0">
              <a:buNone/>
            </a:pPr>
            <a:r>
              <a:rPr lang="en-US" sz="2700" b="1" dirty="0">
                <a:solidFill>
                  <a:schemeClr val="tx1"/>
                </a:solidFill>
              </a:rPr>
              <a:t>What we learned</a:t>
            </a:r>
            <a:endParaRPr lang="en-US" sz="2700" dirty="0"/>
          </a:p>
        </p:txBody>
      </p:sp>
      <p:sp>
        <p:nvSpPr>
          <p:cNvPr id="3" name="Shape 1"/>
          <p:cNvSpPr/>
          <p:nvPr/>
        </p:nvSpPr>
        <p:spPr>
          <a:xfrm>
            <a:off x="594360" y="1188720"/>
            <a:ext cx="3520440" cy="2194560"/>
          </a:xfrm>
          <a:prstGeom prst="roundRect">
            <a:avLst>
              <a:gd name="adj" fmla="val 2500"/>
            </a:avLst>
          </a:prstGeom>
          <a:solidFill>
            <a:schemeClr val="bg2"/>
          </a:solidFill>
          <a:ln w="20320">
            <a:solidFill>
              <a:srgbClr val="3D5A80"/>
            </a:solidFill>
            <a:prstDash val="solid"/>
          </a:ln>
        </p:spPr>
        <p:txBody>
          <a:bodyPr/>
          <a:lstStyle/>
          <a:p>
            <a:endParaRPr lang="en-US"/>
          </a:p>
        </p:txBody>
      </p:sp>
      <p:sp>
        <p:nvSpPr>
          <p:cNvPr id="4" name="Text 2"/>
          <p:cNvSpPr txBox="1"/>
          <p:nvPr/>
        </p:nvSpPr>
        <p:spPr>
          <a:xfrm>
            <a:off x="795528" y="1344168"/>
            <a:ext cx="3118104" cy="310896"/>
          </a:xfrm>
          <a:prstGeom prst="rect">
            <a:avLst/>
          </a:prstGeom>
          <a:noFill/>
          <a:ln/>
        </p:spPr>
        <p:txBody>
          <a:bodyPr wrap="square" lIns="0" tIns="0" rIns="0" bIns="0" rtlCol="0" anchor="ctr"/>
          <a:lstStyle/>
          <a:p>
            <a:pPr marL="0" indent="0">
              <a:buNone/>
            </a:pPr>
            <a:r>
              <a:rPr lang="en-US" sz="1300" b="1" dirty="0">
                <a:solidFill>
                  <a:srgbClr val="3D5A80"/>
                </a:solidFill>
              </a:rPr>
              <a:t>THE MODEL IS FINE</a:t>
            </a:r>
            <a:endParaRPr lang="en-US" sz="1300" dirty="0"/>
          </a:p>
        </p:txBody>
      </p:sp>
      <p:sp>
        <p:nvSpPr>
          <p:cNvPr id="5" name="Text 3"/>
          <p:cNvSpPr txBox="1"/>
          <p:nvPr/>
        </p:nvSpPr>
        <p:spPr>
          <a:xfrm>
            <a:off x="795528" y="1700784"/>
            <a:ext cx="3118104" cy="1508760"/>
          </a:xfrm>
          <a:prstGeom prst="rect">
            <a:avLst/>
          </a:prstGeom>
          <a:noFill/>
          <a:ln/>
        </p:spPr>
        <p:txBody>
          <a:bodyPr wrap="square" lIns="0" tIns="0" rIns="0" bIns="0" rtlCol="0" anchor="t"/>
          <a:lstStyle/>
          <a:p>
            <a:pPr marL="0" indent="0">
              <a:buNone/>
            </a:pPr>
            <a:r>
              <a:rPr lang="en-US" sz="1100" dirty="0">
                <a:solidFill>
                  <a:schemeClr val="tx1"/>
                </a:solidFill>
              </a:rPr>
              <a:t>66% accuracy and 4% calibration error match published NBA research.</a:t>
            </a:r>
            <a:endParaRPr lang="en-US" sz="1100" dirty="0"/>
          </a:p>
          <a:p>
            <a:pPr marL="0" indent="0">
              <a:buNone/>
            </a:pPr>
            <a:endParaRPr lang="en-US" sz="1100" dirty="0"/>
          </a:p>
          <a:p>
            <a:pPr marL="0" indent="0">
              <a:buNone/>
            </a:pPr>
            <a:r>
              <a:rPr lang="en-US" sz="1100" dirty="0">
                <a:solidFill>
                  <a:schemeClr val="tx1"/>
                </a:solidFill>
              </a:rPr>
              <a:t>The failure is not in the modelling.</a:t>
            </a:r>
            <a:endParaRPr lang="en-US" sz="1100" dirty="0"/>
          </a:p>
        </p:txBody>
      </p:sp>
      <p:sp>
        <p:nvSpPr>
          <p:cNvPr id="6" name="Shape 4"/>
          <p:cNvSpPr/>
          <p:nvPr/>
        </p:nvSpPr>
        <p:spPr>
          <a:xfrm>
            <a:off x="4325112" y="1188720"/>
            <a:ext cx="3520440" cy="2194560"/>
          </a:xfrm>
          <a:prstGeom prst="roundRect">
            <a:avLst>
              <a:gd name="adj" fmla="val 2500"/>
            </a:avLst>
          </a:prstGeom>
          <a:solidFill>
            <a:schemeClr val="bg2"/>
          </a:solidFill>
          <a:ln w="20320">
            <a:solidFill>
              <a:srgbClr val="C1440E"/>
            </a:solidFill>
            <a:prstDash val="solid"/>
          </a:ln>
        </p:spPr>
        <p:txBody>
          <a:bodyPr/>
          <a:lstStyle/>
          <a:p>
            <a:endParaRPr lang="en-US"/>
          </a:p>
        </p:txBody>
      </p:sp>
      <p:sp>
        <p:nvSpPr>
          <p:cNvPr id="7" name="Text 5"/>
          <p:cNvSpPr txBox="1"/>
          <p:nvPr/>
        </p:nvSpPr>
        <p:spPr>
          <a:xfrm>
            <a:off x="4526280" y="1344168"/>
            <a:ext cx="3118104" cy="310896"/>
          </a:xfrm>
          <a:prstGeom prst="rect">
            <a:avLst/>
          </a:prstGeom>
          <a:noFill/>
          <a:ln/>
        </p:spPr>
        <p:txBody>
          <a:bodyPr wrap="square" lIns="0" tIns="0" rIns="0" bIns="0" rtlCol="0" anchor="ctr"/>
          <a:lstStyle/>
          <a:p>
            <a:pPr marL="0" indent="0">
              <a:buNone/>
            </a:pPr>
            <a:r>
              <a:rPr lang="en-US" sz="1300" b="1" dirty="0">
                <a:solidFill>
                  <a:srgbClr val="C1440E"/>
                </a:solidFill>
              </a:rPr>
              <a:t>THE MARKET IS SHARPER</a:t>
            </a:r>
            <a:endParaRPr lang="en-US" sz="1300" dirty="0"/>
          </a:p>
        </p:txBody>
      </p:sp>
      <p:sp>
        <p:nvSpPr>
          <p:cNvPr id="8" name="Text 6"/>
          <p:cNvSpPr txBox="1"/>
          <p:nvPr/>
        </p:nvSpPr>
        <p:spPr>
          <a:xfrm>
            <a:off x="4526280" y="1700784"/>
            <a:ext cx="3118104" cy="1508760"/>
          </a:xfrm>
          <a:prstGeom prst="rect">
            <a:avLst/>
          </a:prstGeom>
          <a:noFill/>
          <a:ln/>
        </p:spPr>
        <p:txBody>
          <a:bodyPr wrap="square" lIns="0" tIns="0" rIns="0" bIns="0" rtlCol="0" anchor="t"/>
          <a:lstStyle/>
          <a:p>
            <a:pPr marL="0" indent="0">
              <a:buNone/>
            </a:pPr>
            <a:r>
              <a:rPr lang="en-US" sz="1100" dirty="0">
                <a:solidFill>
                  <a:schemeClr val="tx1"/>
                </a:solidFill>
              </a:rPr>
              <a:t>Vegas beats our model on every metric in every season.</a:t>
            </a:r>
            <a:endParaRPr lang="en-US" sz="1100" dirty="0"/>
          </a:p>
          <a:p>
            <a:pPr marL="0" indent="0">
              <a:buNone/>
            </a:pPr>
            <a:endParaRPr lang="en-US" sz="1100" dirty="0"/>
          </a:p>
          <a:p>
            <a:pPr marL="0" indent="0">
              <a:buNone/>
            </a:pPr>
            <a:r>
              <a:rPr lang="en-US" sz="1100" dirty="0">
                <a:solidFill>
                  <a:schemeClr val="tx1"/>
                </a:solidFill>
              </a:rPr>
              <a:t>Box scores are public, so the price already reflects them.</a:t>
            </a:r>
            <a:endParaRPr lang="en-US" sz="1100" dirty="0"/>
          </a:p>
        </p:txBody>
      </p:sp>
      <p:sp>
        <p:nvSpPr>
          <p:cNvPr id="9" name="Shape 7"/>
          <p:cNvSpPr/>
          <p:nvPr/>
        </p:nvSpPr>
        <p:spPr>
          <a:xfrm>
            <a:off x="8055864" y="1188720"/>
            <a:ext cx="3520440" cy="2194560"/>
          </a:xfrm>
          <a:prstGeom prst="roundRect">
            <a:avLst>
              <a:gd name="adj" fmla="val 2500"/>
            </a:avLst>
          </a:prstGeom>
          <a:solidFill>
            <a:schemeClr val="bg2"/>
          </a:solidFill>
          <a:ln w="20320">
            <a:solidFill>
              <a:srgbClr val="9C6644"/>
            </a:solidFill>
            <a:prstDash val="solid"/>
          </a:ln>
        </p:spPr>
        <p:txBody>
          <a:bodyPr/>
          <a:lstStyle/>
          <a:p>
            <a:endParaRPr lang="en-US"/>
          </a:p>
        </p:txBody>
      </p:sp>
      <p:sp>
        <p:nvSpPr>
          <p:cNvPr id="10" name="Text 8"/>
          <p:cNvSpPr txBox="1"/>
          <p:nvPr/>
        </p:nvSpPr>
        <p:spPr>
          <a:xfrm>
            <a:off x="8257032" y="1344168"/>
            <a:ext cx="3118104" cy="310896"/>
          </a:xfrm>
          <a:prstGeom prst="rect">
            <a:avLst/>
          </a:prstGeom>
          <a:noFill/>
          <a:ln/>
        </p:spPr>
        <p:txBody>
          <a:bodyPr wrap="square" lIns="0" tIns="0" rIns="0" bIns="0" rtlCol="0" anchor="ctr"/>
          <a:lstStyle/>
          <a:p>
            <a:pPr marL="0" indent="0">
              <a:buNone/>
            </a:pPr>
            <a:r>
              <a:rPr lang="en-US" sz="1300" b="1" dirty="0">
                <a:solidFill>
                  <a:srgbClr val="9C6644"/>
                </a:solidFill>
              </a:rPr>
              <a:t>ONE SEASON PROVES NOTHING</a:t>
            </a:r>
            <a:endParaRPr lang="en-US" sz="1300" dirty="0"/>
          </a:p>
        </p:txBody>
      </p:sp>
      <p:sp>
        <p:nvSpPr>
          <p:cNvPr id="11" name="Text 9"/>
          <p:cNvSpPr txBox="1"/>
          <p:nvPr/>
        </p:nvSpPr>
        <p:spPr>
          <a:xfrm>
            <a:off x="8257032" y="1700784"/>
            <a:ext cx="3118104" cy="1508760"/>
          </a:xfrm>
          <a:prstGeom prst="rect">
            <a:avLst/>
          </a:prstGeom>
          <a:noFill/>
          <a:ln/>
        </p:spPr>
        <p:txBody>
          <a:bodyPr wrap="square" lIns="0" tIns="0" rIns="0" bIns="0" rtlCol="0" anchor="t"/>
          <a:lstStyle/>
          <a:p>
            <a:pPr marL="0" indent="0">
              <a:buNone/>
            </a:pPr>
            <a:r>
              <a:rPr lang="en-US" sz="1100" dirty="0">
                <a:solidFill>
                  <a:schemeClr val="tx1"/>
                </a:solidFill>
              </a:rPr>
              <a:t>Returns swing 180 points across seasons.</a:t>
            </a:r>
            <a:endParaRPr lang="en-US" sz="1100" dirty="0"/>
          </a:p>
          <a:p>
            <a:pPr marL="0" indent="0">
              <a:buNone/>
            </a:pPr>
            <a:endParaRPr lang="en-US" sz="1100" dirty="0"/>
          </a:p>
          <a:p>
            <a:pPr marL="0" indent="0">
              <a:buNone/>
            </a:pPr>
            <a:r>
              <a:rPr lang="en-US" sz="1100" dirty="0">
                <a:solidFill>
                  <a:schemeClr val="tx1"/>
                </a:solidFill>
              </a:rPr>
              <a:t>Any backtest on a single season is measuring luck.</a:t>
            </a:r>
            <a:endParaRPr lang="en-US" sz="1100" dirty="0"/>
          </a:p>
        </p:txBody>
      </p:sp>
      <p:sp>
        <p:nvSpPr>
          <p:cNvPr id="12" name="Text 10"/>
          <p:cNvSpPr txBox="1"/>
          <p:nvPr/>
        </p:nvSpPr>
        <p:spPr>
          <a:xfrm>
            <a:off x="594360" y="3657600"/>
            <a:ext cx="11018520" cy="457200"/>
          </a:xfrm>
          <a:prstGeom prst="rect">
            <a:avLst/>
          </a:prstGeom>
          <a:noFill/>
          <a:ln/>
        </p:spPr>
        <p:txBody>
          <a:bodyPr wrap="square" rtlCol="0" anchor="ctr"/>
          <a:lstStyle/>
          <a:p>
            <a:pPr marL="0" indent="0" algn="ctr">
              <a:buNone/>
            </a:pPr>
            <a:r>
              <a:rPr lang="en-US" sz="1500" b="1" dirty="0">
                <a:solidFill>
                  <a:schemeClr val="tx1"/>
                </a:solidFill>
              </a:rPr>
              <a:t>Beating a market requires information it does not have, not a better model of information it already has.</a:t>
            </a:r>
            <a:endParaRPr lang="en-US" sz="1500" dirty="0"/>
          </a:p>
        </p:txBody>
      </p:sp>
      <p:sp>
        <p:nvSpPr>
          <p:cNvPr id="13" name="Shape 11"/>
          <p:cNvSpPr/>
          <p:nvPr/>
        </p:nvSpPr>
        <p:spPr>
          <a:xfrm>
            <a:off x="594360" y="4343400"/>
            <a:ext cx="11018520" cy="1554480"/>
          </a:xfrm>
          <a:prstGeom prst="roundRect">
            <a:avLst>
              <a:gd name="adj" fmla="val 3529"/>
            </a:avLst>
          </a:prstGeom>
          <a:solidFill>
            <a:schemeClr val="bg2"/>
          </a:solidFill>
          <a:ln w="20320">
            <a:solidFill>
              <a:srgbClr val="4F6D7A"/>
            </a:solidFill>
            <a:prstDash val="solid"/>
          </a:ln>
        </p:spPr>
        <p:txBody>
          <a:bodyPr/>
          <a:lstStyle/>
          <a:p>
            <a:endParaRPr lang="en-US"/>
          </a:p>
        </p:txBody>
      </p:sp>
      <p:sp>
        <p:nvSpPr>
          <p:cNvPr id="14" name="Text 12"/>
          <p:cNvSpPr txBox="1"/>
          <p:nvPr/>
        </p:nvSpPr>
        <p:spPr>
          <a:xfrm>
            <a:off x="795528" y="4498848"/>
            <a:ext cx="10616184" cy="310896"/>
          </a:xfrm>
          <a:prstGeom prst="rect">
            <a:avLst/>
          </a:prstGeom>
          <a:noFill/>
          <a:ln/>
        </p:spPr>
        <p:txBody>
          <a:bodyPr wrap="square" lIns="0" tIns="0" rIns="0" bIns="0" rtlCol="0" anchor="ctr"/>
          <a:lstStyle/>
          <a:p>
            <a:pPr marL="0" indent="0">
              <a:buNone/>
            </a:pPr>
            <a:r>
              <a:rPr lang="en-US" sz="1300" b="1" dirty="0">
                <a:solidFill>
                  <a:srgbClr val="4F6D7A"/>
                </a:solidFill>
              </a:rPr>
              <a:t>WHERE AN EDGE COULD STILL EXIST</a:t>
            </a:r>
            <a:endParaRPr lang="en-US" sz="1300" dirty="0"/>
          </a:p>
        </p:txBody>
      </p:sp>
      <p:sp>
        <p:nvSpPr>
          <p:cNvPr id="15" name="Text 13"/>
          <p:cNvSpPr txBox="1"/>
          <p:nvPr/>
        </p:nvSpPr>
        <p:spPr>
          <a:xfrm>
            <a:off x="795528" y="4855464"/>
            <a:ext cx="10616184" cy="868680"/>
          </a:xfrm>
          <a:prstGeom prst="rect">
            <a:avLst/>
          </a:prstGeom>
          <a:noFill/>
          <a:ln/>
        </p:spPr>
        <p:txBody>
          <a:bodyPr wrap="square" lIns="0" tIns="0" rIns="0" bIns="0" rtlCol="0" anchor="t"/>
          <a:lstStyle/>
          <a:p>
            <a:pPr marL="0" indent="0">
              <a:buNone/>
            </a:pPr>
            <a:r>
              <a:rPr lang="en-US" sz="1100" dirty="0">
                <a:solidFill>
                  <a:schemeClr val="tx1"/>
                </a:solidFill>
              </a:rPr>
              <a:t>Injury news, rest patterns and confirmed starting lineups reach the market late, so a model that reacts faster could in principle find value. The honest test is whether forecasts beat the closing line, because realised returns need decades of data to resolve an edge this small.</a:t>
            </a:r>
            <a:endParaRPr lang="en-US" sz="1100" dirty="0"/>
          </a:p>
        </p:txBody>
      </p:sp>
    </p:spTree>
  </p:cSld>
  <p:clrMapOvr>
    <a:masterClrMapping/>
  </p:clrMapOvr>
</p:sld>
</file>

<file path=ppt/theme/theme1.xml><?xml version="1.0" encoding="utf-8"?>
<a:theme xmlns:a="http://schemas.openxmlformats.org/drawingml/2006/main" name="NBAAnalysis">
  <a:themeElements>
    <a:clrScheme name="NBAAnalysis">
      <a:dk1>
        <a:srgbClr val="14213D"/>
      </a:dk1>
      <a:lt1>
        <a:srgbClr val="FFFFFF"/>
      </a:lt1>
      <a:dk2>
        <a:srgbClr val="3D5A80"/>
      </a:dk2>
      <a:lt2>
        <a:srgbClr val="F4F1EC"/>
      </a:lt2>
      <a:accent1>
        <a:srgbClr val="C1440E"/>
      </a:accent1>
      <a:accent2>
        <a:srgbClr val="3D5A80"/>
      </a:accent2>
      <a:accent3>
        <a:srgbClr val="7A8B99"/>
      </a:accent3>
      <a:accent4>
        <a:srgbClr val="9C6644"/>
      </a:accent4>
      <a:accent5>
        <a:srgbClr val="4F6D7A"/>
      </a:accent5>
      <a:accent6>
        <a:srgbClr val="B08968"/>
      </a:accent6>
      <a:hlink>
        <a:srgbClr val="C1440E"/>
      </a:hlink>
      <a:folHlink>
        <a:srgbClr val="7A8B99"/>
      </a:folHlink>
    </a:clrScheme>
    <a:fontScheme name="NBAAnalysis">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Verdan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1509</Words>
  <Application>Microsoft Macintosh PowerPoint</Application>
  <PresentationFormat>Widescreen</PresentationFormat>
  <Paragraphs>188</Paragraphs>
  <Slides>9</Slides>
  <Notes>9</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9</vt:i4>
      </vt:variant>
    </vt:vector>
  </HeadingPairs>
  <TitlesOfParts>
    <vt:vector size="11" baseType="lpstr">
      <vt:lpstr>Arial</vt:lpstr>
      <vt:lpstr>NBAAnalysis</vt:lpstr>
      <vt:lpstr>Can Box Score Data Predict NBA Games Better Than Vegas?</vt:lpstr>
      <vt:lpstr>What we are working with</vt:lpstr>
      <vt:lpstr>Where the data comes from</vt:lpstr>
      <vt:lpstr>From prediction to decision</vt:lpstr>
      <vt:lpstr>The model works, by the usual standards</vt:lpstr>
      <vt:lpstr>Nine seasons tell a different story</vt:lpstr>
      <vt:lpstr>Over 9,400 games, the money drains away</vt:lpstr>
      <vt:lpstr>Why: the market already knows everything</vt:lpstr>
      <vt:lpstr>What we learned</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NBA Game Prediction and Market Efficiency</dc:title>
  <dc:subject>PptxGenJS Presentation</dc:subject>
  <dc:creator>Panagiotis, Aman</dc:creator>
  <cp:lastModifiedBy>Aman Dhillon</cp:lastModifiedBy>
  <cp:revision>2</cp:revision>
  <dcterms:created xsi:type="dcterms:W3CDTF">2026-10-22T02:43:21Z</dcterms:created>
  <dcterms:modified xsi:type="dcterms:W3CDTF">2026-10-22T02:46:03Z</dcterms:modified>
</cp:coreProperties>
</file>