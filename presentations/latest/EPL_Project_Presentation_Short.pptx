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data, outcome prediction, archived-price backtesting, metrics, charts and forecasts. No original-proposal material is included.</a:t>
            </a:r>
          </a:p>
          <a:p/>
          <a:p>
            <a:r>
              <a:t>Exact source paths:</a:t>
            </a:r>
          </a:p>
          <a:p>
            <a:r>
              <a:t>epl_player_models\results\20261020_player_models_review\study_status.json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116 strategy curves are shown, including overlapping cash accounts. The graph uses the one common season for all 116; only 88 strategies have comparable continuous four-year records. The four featured model pages use the saved four-year statistics, explicitly labeled. The graph is copied exactly from the previous audited presentation.</a:t>
            </a:r>
          </a:p>
          <a:p/>
          <a:p>
            <a:r>
              <a:t>Exact source paths:</a:t>
            </a:r>
          </a:p>
          <a:p>
            <a:r>
              <a:t>epl_player_models\results\20261020_player_models_review\graph_equity_2025_all.csv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 with bookmaker probabilities, then adjusts them using earlier team results and player form.</a:t>
            </a:r>
          </a:p>
          <a:p>
            <a:r>
              <a:t>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how often home wins, draws and away wins happened in the training data. Uses those fractions for every game.</a:t>
            </a:r>
          </a:p>
          <a:p>
            <a:r>
              <a:t>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goals, shots on target, corners, points, rest days and previous-season results to estimate home/draw/away chances.</a:t>
            </a:r>
          </a:p>
          <a:p>
            <a:r>
              <a:t>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FPL points, goals and assists.</a:t>
            </a:r>
          </a:p>
          <a:p>
            <a:r>
              <a:t>Adds minutes and other player statistics.</a:t>
            </a:r>
          </a:p>
          <a:p>
            <a:r>
              <a:t>Looks back over five and ten games.</a:t>
            </a:r>
          </a:p>
          <a:p>
            <a:r>
              <a:t>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Exact source paths:</a:t>
            </a:r>
          </a:p>
          <a:p>
            <a:r>
              <a:t>epl_player_models/results/20261020_player_models_review/model_metrics_pooled.csv</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Kelly multiplier is one quarter, one half, full Kelly or another explicitly listed fraction. B is cash at the start of the date. Formula B*min(max_bet_fraction,kelly_fraction*(p*O-1)/(O-1)); eligibility ensures positive edges where relevant. At most one bet per match. Same-date winnings are not used to fund another same-date bet. Fixed stakes do not automatically shrink to 1% as the account falls; only cash/date-budget allocation can scale them. Prices: Best odds means the highest saved individual-book quote for the chosen outcome; Bet365 means its saved reference quote. These are archived prices with unverified execution clocks.</a:t>
            </a:r>
          </a:p>
          <a:p/>
          <a:p>
            <a:r>
              <a:t>Exact source paths:</a:t>
            </a:r>
          </a:p>
          <a:p>
            <a:r>
              <a:t>epl_strategy_lab/engine.py</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S001: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flat 1,000", "odds_mode": "best", "origin": "legacy", "policy_family": "locked primary cash", "selection_rule": "max_edge", "staking": "fixed", "strategy_id": "S001", "study_status": "exploratory_replay_of_already_examined_2025_26_no_new_holdout"}</a:t>
            </a:r>
          </a:p>
          <a:p/>
          <a:p>
            <a:r>
              <a:t>S002: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0.25 Kelly, per-bet cap 2%", "odds_mode": "best", "origin": "legacy", "policy_family": "locked primary cash", "selection_rule": "max_edge", "staking": "kelly", "strategy_id": "S002", "study_status": "exploratory_replay_of_already_examined_2025_26_no_new_holdout"}</a:t>
            </a:r>
          </a:p>
          <a:p/>
          <a:p>
            <a:r>
              <a:t>S003: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flat 1,000", "odds_mode": "reference", "origin": "legacy", "policy_family": "locked primary cash", "selection_rule": "max_edge", "staking": "fixed", "strategy_id": "S003", "study_status": "exploratory_replay_of_already_examined_2025_26_no_new_holdout"}</a:t>
            </a:r>
          </a:p>
          <a:p/>
          <a:p>
            <a:r>
              <a:t>S004: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0.25 Kelly, per-bet cap 2%", "odds_mode": "reference", "origin": "legacy", "policy_family": "locked primary cash", "selection_rule": "max_edge", "staking": "kelly", "strategy_id": "S004", "study_status": "exploratory_replay_of_already_examined_2025_26_no_new_holdout"}</a:t>
            </a:r>
          </a:p>
          <a:p/>
          <a:p>
            <a:r>
              <a:t>S005: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best individual-book quotes | flat 1,000", "odds_mode": "best", "origin": "legacy", "policy_family": "predeclared 5% edge", "selection_rule": "max_edge", "staking": "fixed", "strategy_id": "S005", "study_status": "exploratory_replay_of_already_examined_2025_26_no_new_holdout"}</a:t>
            </a:r>
          </a:p>
          <a:p/>
          <a:p>
            <a:r>
              <a:t>S006: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best individual-book quotes | 0.25 Kelly, per-bet cap 2%", "odds_mode": "best", "origin": "legacy", "policy_family": "predeclared 5% edge", "selection_rule": "max_edge", "staking": "kelly", "strategy_id": "S006", "study_status": "exploratory_replay_of_already_examined_2025_26_no_new_holdout"}</a:t>
            </a:r>
          </a:p>
          <a:p/>
          <a:p>
            <a:r>
              <a:t>S007: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Bet365 reference quotes | flat 1,000", "odds_mode": "reference", "origin": "legacy", "policy_family": "predeclared 5% edge", "selection_rule": "max_edge", "staking": "fixed", "strategy_id": "S007", "study_status": "exploratory_replay_of_already_examined_2025_26_no_new_holdout"}</a:t>
            </a:r>
          </a:p>
          <a:p/>
          <a:p>
            <a:r>
              <a:t>S008: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Bet365 reference quotes | 0.25 Kelly, per-bet cap 2%", "odds_mode": "reference", "origin": "legacy", "policy_family": "predeclared 5% edge", "selection_rule": "max_edge", "staking": "kelly", "strategy_id": "S008", "study_status": "exploratory_replay_of_already_examined_2025_26_no_new_holdout"}</a:t>
            </a:r>
          </a:p>
          <a:p/>
          <a:p>
            <a:r>
              <a:t>S009: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flat 1,000", "odds_mode": "best", "origin": "legacy", "policy_family": "locked primary cash", "selection_rule": "max_edge", "staking": "fixed", "strategy_id": "S009", "study_status": "exploratory_replay_of_already_examined_2025_26_no_new_holdout"}</a:t>
            </a:r>
          </a:p>
          <a:p/>
          <a:p>
            <a:r>
              <a:t>S010: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0.25 Kelly, per-bet cap 2%", "odds_mode": "best", "origin": "legacy", "policy_family": "locked primary cash", "selection_rule": "max_edge", "staking": "kelly", "strategy_id": "S010", "study_status": "exploratory_replay_of_already_examined_2025_26_no_new_holdout"}</a:t>
            </a:r>
          </a:p>
          <a:p/>
          <a:p>
            <a:r>
              <a:t>S011: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flat 1,000", "odds_mode": "reference", "origin": "legacy", "policy_family": "locked primary cash", "selection_rule": "max_edge", "staking": "fixed", "strategy_id": "S011", "study_status": "exploratory_replay_of_already_examined_2025_26_no_new_holdout"}</a:t>
            </a:r>
          </a:p>
          <a:p/>
          <a:p>
            <a:r>
              <a:t>S012: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0.25 Kelly, per-bet cap 2%", "odds_mode": "reference", "origin": "legacy", "policy_family": "locked primary cash", "selection_rule": "max_edge", "staking": "kelly", "strategy_id": "S012", "study_status": "exploratory_replay_of_already_examined_2025_26_no_new_holdout"}</a:t>
            </a:r>
          </a:p>
          <a:p/>
          <a:p>
            <a:r>
              <a:t>S013: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flat 1,000", "odds_mode": "best", "origin": "legacy", "policy_family": "predeclared 5% edge", "selection_rule": "max_edge", "staking": "fixed", "strategy_id": "S013", "study_status": "exploratory_replay_of_already_examined_2025_26_no_new_holdout"}</a:t>
            </a:r>
          </a:p>
          <a:p/>
          <a:p>
            <a:r>
              <a:t>S014: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0.25 Kelly, per-bet cap 2%", "odds_mode": "best", "origin": "legacy", "policy_family": "predeclared 5% edge", "selection_rule": "max_edge", "staking": "kelly", "strategy_id": "S014", "study_status": "exploratory_replay_of_already_examined_2025_26_no_new_holdout"}</a:t>
            </a:r>
          </a:p>
          <a:p/>
          <a:p>
            <a:r>
              <a:t>S015: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Bet365 reference quotes | flat 1,000", "odds_mode": "reference", "origin": "legacy", "policy_family": "predeclared 5% edge", "selection_rule": "max_edge", "staking": "fixed", "strategy_id": "S015", "study_status": "exploratory_replay_of_already_examined_2025_26_no_new_holdout"}</a:t>
            </a:r>
          </a:p>
          <a:p/>
          <a:p>
            <a:r>
              <a:t>S016: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Bet365 reference quotes | 0.25 Kelly, per-bet cap 2%", "odds_mode": "reference", "origin": "legacy", "policy_family": "predeclared 5% edge", "selection_rule": "max_edge", "staking": "kelly", "strategy_id": "S016", "study_status": "exploratory_replay_of_already_examined_2025_26_no_new_holdout"}</a:t>
            </a:r>
          </a:p>
          <a:p/>
          <a:p>
            <a:r>
              <a:t>S017: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S018: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"logit_team_only", "model_label": "Rolling logistic: team", "name": "Rolling logistic: team | predeclared 5% edge | best individual-book quotes | 0.25 Kelly, per-bet cap 2%", "odds_mode": "best", "origin": "legacy", "policy_family": "predeclared 5% edge", "selection_rule": "max_edge", "staking": "kelly", "strategy_id": "S018", "study_status": "exploratory_replay_of_already_examined_2025_26_no_new_holdout"}</a:t>
            </a:r>
          </a:p>
          <a:p/>
          <a:p>
            <a:r>
              <a:t>S019: Team form + 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"logit_team_xg", "model_label": "Rolling logistic: team + xG", "name": "Rolling logistic: team + xG | predeclared 5% edge | best individual-book quotes | flat 1,000", "odds_mode": "best", "origin": "legacy", "policy_family": "predeclared 5% edge", "selection_rule": "max_edge", "staking": "fixed", "strategy_id": "S019", "study_status": "exploratory_replay_of_already_examined_2025_26_no_new_holdout"}</a:t>
            </a:r>
          </a:p>
          <a:p/>
          <a:p>
            <a:r>
              <a:t>S020: Team form + 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"logit_team_xg", "model_label": "Rolling logistic: team + xG", "name": "Rolling logistic: team + xG | predeclared 5% edge | best individual-book quotes | 0.25 Kelly, per-bet cap 2%", "odds_mode": "best", "origin": "legacy", "policy_family": "predeclared 5% edge", "selection_rule": "max_edge", "staking": "kelly", "strategy_id": "S020", "study_status": "exploratory_replay_of_already_examined_2025_26_no_new_holdout"}</a:t>
            </a:r>
          </a:p>
          <a:p/>
          <a:p>
            <a:r>
              <a:t>S021: Team form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"logit_team_players", "model_label": "Rolling logistic: team + player", "name": "Rolling logistic: team + player | predeclared 5% edge | best individual-book quotes | flat 1,000", "odds_mode": "best", "origin": "legacy", "policy_family": "predeclared 5% edge", "selection_rule": "max_edge", "staking": "fixed", "strategy_id": "S021", "study_status": "exploratory_replay_of_already_examined_2025_26_no_new_holdout"}</a:t>
            </a:r>
          </a:p>
          <a:p/>
          <a:p>
            <a:r>
              <a:t>S022: Team form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"logit_team_players", "model_label": "Rolling logistic: team + player", "name": "Rolling logistic: team + player | predeclared 5% edge | best individual-book quotes | 0.25 Kelly, per-bet cap 2%", "odds_mode": "best", "origin": "legacy", "policy_family": "predeclared 5% edge", "selection_rule": "max_edge", "staking": "kelly", "strategy_id": "S022",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S023: Team + chance quality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"logit_combined", "model_label": "Rolling logistic: combined", "name": "Rolling logistic: combined | predeclared 5% edge | best individual-book quotes | flat 1,000", "odds_mode": "best", "origin": "legacy", "policy_family": "predeclared 5% edge", "selection_rule": "max_edge", "staking": "fixed", "strategy_id": "S023", "study_status": "exploratory_replay_of_already_examined_2025_26_no_new_holdout"}</a:t>
            </a:r>
          </a:p>
          <a:p/>
          <a:p>
            <a:r>
              <a:t>S024: Team + chance quality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"logit_combined", "model_label": "Rolling logistic: combined", "name": "Rolling logistic: combined | predeclared 5% edge | best individual-book quotes | 0.25 Kelly, per-bet cap 2%", "odds_mode": "best", "origin": "legacy", "policy_family": "predeclared 5% edge", "selection_rule": "max_edge", "staking": "kelly", "strategy_id": "S024", "study_status": "exploratory_replay_of_already_examined_2025_26_no_new_holdout"}</a:t>
            </a:r>
          </a:p>
          <a:p/>
          <a:p>
            <a:r>
              <a:t>S052: Team + chance quality + 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"logit_combined", "model_label": "Rolling logistic: combined", "name": "Rolling logistic: combined | dynamic 1% stake | best individual-book quotes | dynamic 1% of date-start capital", "odds_mode": "best", "origin": "new", "policy_family": "dynamic 1% stake", "selection_rule": "max_edge", "staking": "dynamic_fraction", "strategy_id": "S052", "study_status": "exploratory_replay_of_already_examined_2025_26_no_new_holdout"}</a:t>
            </a:r>
          </a:p>
          <a:p/>
          <a:p>
            <a:r>
              <a:t>S055: Team + chance quality + 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"logit_combined", "model_label": "Rolling logistic: combined", "name": "Rolling logistic: combined | eighth Kelly, cap 1% | best individual-book quotes | 0.125 Kelly, per-bet cap 1%", "odds_mode": "best", "origin": "new", "policy_family": "eighth Kelly, cap 1%", "selection_rule": "max_edge", "staking": "kelly", "strategy_id": "S055", "study_status": "exploratory_replay_of_already_examined_2025_26_no_new_holdout"}</a:t>
            </a:r>
          </a:p>
          <a:p/>
          <a:p>
            <a:r>
              <a:t>S056: Team + chance quality + 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"logit_combined", "model_label": "Rolling logistic: combined", "name": "Rolling logistic: combined | half Kelly, cap 2% | best individual-book quotes | 0.5 Kelly, per-bet cap 2%", "odds_mode": "best", "origin": "new", "policy_family": "half Kelly, cap 2%", "selection_rule": "max_edge", "staking": "kelly", "strategy_id": "S056", "study_status": "exploratory_replay_of_already_examined_2025_26_no_new_holdout"}</a:t>
            </a:r>
          </a:p>
          <a:p/>
          <a:p>
            <a:r>
              <a:t>S025: Bookmaker odds +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"residual_team_only", "model_label": "Rolling market residual: team", "name": "Rolling market residual: team | predeclared 5% edge | best individual-book quotes | flat 1,000", "odds_mode": "best", "origin": "legacy", "policy_family": "predeclared 5% edge", "selection_rule": "max_edge", "staking": "fixed", "strategy_id": "S025", "study_status": "exploratory_replay_of_already_examined_2025_26_no_new_holdout"}</a:t>
            </a:r>
          </a:p>
          <a:p/>
          <a:p>
            <a:r>
              <a:t>S026: Bookmaker odds +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"residual_team_only", "model_label": "Rolling market residual: team", "name": "Rolling market residual: team | predeclared 5% edge | best individual-book quotes | 0.25 Kelly, per-bet cap 2%", "odds_mode": "best", "origin": "legacy", "policy_family": "predeclared 5% edge", "selection_rule": "max_edge", "staking": "kelly", "strategy_id": "S026", "study_status": "exploratory_replay_of_already_examined_2025_26_no_new_holdout"}</a:t>
            </a:r>
          </a:p>
          <a:p/>
          <a:p>
            <a:r>
              <a:t>S027: Bookmaker odds + team/chance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"residual_team_xg", "model_label": "Rolling market residual: team + xG", "name": "Rolling market residual: team + xG | predeclared 5% edge | best individual-book quotes | flat 1,000", "odds_mode": "best", "origin": "legacy", "policy_family": "predeclared 5% edge", "selection_rule": "max_edge", "staking": "fixed", "strategy_id": "S027", "study_status": "exploratory_replay_of_already_examined_2025_26_no_new_holdout"}</a:t>
            </a:r>
          </a:p>
          <a:p/>
          <a:p>
            <a:r>
              <a:t>S028: Bookmaker odds + team/chance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"residual_team_xg", "model_label": "Rolling market residual: team + xG", "name": "Rolling market residual: team + xG | predeclared 5% edge | best individual-book quotes | 0.25 Kelly, per-bet cap 2%", "odds_mode": "best", "origin": "legacy", "policy_family": "predeclared 5% edge", "selection_rule": "max_edge", "staking": "kelly", "strategy_id": "S028", "study_status": "exploratory_replay_of_already_examined_2025_26_no_new_holdout"}</a:t>
            </a:r>
          </a:p>
          <a:p/>
          <a:p>
            <a:r>
              <a:t>S029: 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S030: Bookmaker odds + team/player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0.25 Kelly, per-bet cap 2%", "odds_mode": "best", "origin": "legacy", "policy_family": "predeclared 5% edge", "selection_rule": "max_edge", "staking": "kelly", "strategy_id": "S030", "study_status": "exploratory_replay_of_already_examined_2025_26_no_new_holdout"}</a:t>
            </a:r>
          </a:p>
          <a:p/>
          <a:p>
            <a:r>
              <a:t>S031: Bookmaker odds + team/chance/player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"residual_combined", "model_label": "Rolling market residual: combined", "name": "Rolling market residual: combined | predeclared 5% edge | best individual-book quotes | flat 1,000", "odds_mode": "best", "origin": "legacy", "policy_family": "predeclared 5% edge", "selection_rule": "max_edge", "staking": "fixed", "strategy_id": "S031", "study_status": "exploratory_replay_of_already_examined_2025_26_no_new_holdout"}</a:t>
            </a:r>
          </a:p>
          <a:p/>
          <a:p>
            <a:r>
              <a:t>S032: Bookmaker odds + team/chance/player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"residual_combined", "model_label": "Rolling market residual: combined", "name": "Rolling market residual: combined | predeclared 5% edge | best individual-book quotes | 0.25 Kelly, per-bet cap 2%", "odds_mode": "best", "origin": "legacy", "policy_family": "predeclared 5% edge", "selection_rule": "max_edge", "staking": "kelly", "strategy_id": "S032", "study_status": "exploratory_replay_of_already_examined_2025_26_no_new_holdout"}</a:t>
            </a:r>
          </a:p>
          <a:p/>
          <a:p>
            <a:r>
              <a:t>S053: Bookmaker odds + team/chance/player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"residual_combined", "model_label": "Rolling market residual: combined", "name": "Rolling market residual: combined | dynamic 1% stake | best individual-book quotes | dynamic 1% of date-start capital", "odds_mode": "best", "origin": "new", "policy_family": "dynamic 1% stake", "selection_rule": "max_edge", "staking": "dynamic_fraction", "strategy_id": "S053", "study_status": "exploratory_replay_of_already_examined_2025_26_no_new_holdout"}</a:t>
            </a:r>
          </a:p>
          <a:p/>
          <a:p>
            <a:r>
              <a:t>S057: Bookmaker odds + team/chance/player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"residual_combined", "model_label": "Rolling market residual: combined", "name": "Rolling market residual: combined | eighth Kelly, cap 1% | best individual-book quotes | 0.125 Kelly, per-bet cap 1%", "odds_mode": "best", "origin": "new", "policy_family": "eighth Kelly, cap 1%", "selection_rule": "max_edge", "staking": "kelly", "strategy_id": "S057",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S058: Bookmaker odds + team/chance/player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"residual_combined", "model_label": "Rolling market residual: combined", "name": "Rolling market residual: combined | half Kelly, cap 2% | best individual-book quotes | 0.5 Kelly, per-bet cap 2%", "odds_mode": "best", "origin": "new", "policy_family": "half Kelly, cap 2%", "selection_rule": "max_edge", "staking": "kelly", "strategy_id": "S058", "study_status": "exploratory_replay_of_already_examined_2025_26_no_new_holdout"}</a:t>
            </a:r>
          </a:p>
          <a:p/>
          <a:p>
            <a:r>
              <a:t>S033: 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S034: Past home/draw/away frequencies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0.25 Kelly, per-bet cap 2%", "odds_mode": "best", "origin": "legacy", "policy_family": "predeclared 5% edge", "selection_rule": "max_edge", "staking": "kelly", "strategy_id": "S034", "study_status": "exploratory_replay_of_already_examined_2025_26_no_new_holdout"}</a:t>
            </a:r>
          </a:p>
          <a:p/>
          <a:p>
            <a:r>
              <a:t>S035: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"baseline_market_only", "model_label": "Raw de-vigged Bet365 market", "name": "Raw de-vigged Bet365 market | predeclared 5% edge | best individual-book quotes | flat 1,000", "odds_mode": "best", "origin": "legacy", "policy_family": "predeclared 5% edge", "selection_rule": "max_edge", "staking": "fixed", "strategy_id": "S035", "study_status": "exploratory_replay_of_already_examined_2025_26_no_new_holdout"}</a:t>
            </a:r>
          </a:p>
          <a:p/>
          <a:p>
            <a:r>
              <a:t>S036: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"baseline_market_only", "model_label": "Raw de-vigged Bet365 market", "name": "Raw de-vigged Bet365 market | predeclared 5% edge | best individual-book quotes | 0.25 Kelly, per-bet cap 2%", "odds_mode": "best", "origin": "legacy", "policy_family": "predeclared 5% edge", "selection_rule": "max_edge", "staking": "kelly", "strategy_id": "S036", "study_status": "exploratory_replay_of_already_examined_2025_26_no_new_holdout"}</a:t>
            </a:r>
          </a:p>
          <a:p/>
          <a:p>
            <a:r>
              <a:t>S037: Calibrated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flat 1,000", "odds_mode": "best", "origin": "legacy", "policy_family": "predeclared 5% edge", "selection_rule": "max_edge", "staking": "fixed", "strategy_id": "S037", "study_status": "exploratory_replay_of_already_examined_2025_26_no_new_holdout"}</a:t>
            </a:r>
          </a:p>
          <a:p/>
          <a:p>
            <a:r>
              <a:t>S038: Calibrated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0.25 Kelly, per-bet cap 2%", "odds_mode": "best", "origin": "legacy", "policy_family": "predeclared 5% edge", "selection_rule": "max_edge", "staking": "kelly", "strategy_id": "S038", "study_status": "exploratory_replay_of_already_examined_2025_26_no_new_holdout"}</a:t>
            </a:r>
          </a:p>
          <a:p/>
          <a:p>
            <a:r>
              <a:t>S039: Bookmaker probabilities Bet on home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"Back H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H | best quotes | flat 1,000", "odds_mode": "best", "origin": "new", "policy_family": "unconditional class benchmark", "selection_rule": "fixed_outcome", "staking": "fixed", "strategy_id": "S039", "study_status": "exploratory_replay_of_already_examined_2025_26_no_new_holdout"}</a:t>
            </a:r>
          </a:p>
          <a:p/>
          <a:p>
            <a:r>
              <a:t>S040: Bookmaker probabilities Bet on draw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"Back D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D | best quotes | flat 1,000", "odds_mode": "best", "origin": "new", "policy_family": "unconditional class benchmark", "selection_rule": "fixed_outcome", "staking": "fixed", "strategy_id": "S040", "study_status": "exploratory_replay_of_already_examined_2025_26_no_new_holdout"}</a:t>
            </a:r>
          </a:p>
          <a:p/>
          <a:p>
            <a:r>
              <a:t>S041: Bookmaker probabilities Bet on away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"Back A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A | best quotes | flat 1,000", "odds_mode": "best", "origin": "new", "policy_family": "unconditional class benchmark", "selection_rule": "fixed_outcome", "staking": "fixed", "strategy_id": "S041", "study_status": "exploratory_replay_of_already_examined_2025_26_no_new_holdout"}</a:t>
            </a:r>
          </a:p>
          <a:p/>
          <a:p>
            <a:r>
              <a:t>S042: Bookmaker probabilities Back the home/draw/away result with the highest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highest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favorite | best quotes | flat 1,000", "odds_mode": "best", "origin": "new", "policy_family": "unconditional market benchmark", "selection_rule": "market_favorite", "staking": "fixed", "strategy_id": "S042",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S043: Bookmaker probabilities Back the home/draw/away result with the lowest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lowest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underdog | best quotes | flat 1,000", "odds_mode": "best", "origin": "new", "policy_family": "unconditional market benchmark", "selection_rule": "market_underdog", "staking": "fixed", "strategy_id": "S043", "study_status": "exploratory_replay_of_already_examined_2025_26_no_new_holdout"}</a:t>
            </a:r>
          </a:p>
          <a:p/>
          <a:p>
            <a:r>
              <a:t>S044: Team + chance quality + 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logistic: combined's highest-probability outcome at its best archived quote; flat stake 1,000 with no edge filter.", "diagnostic": false, "fixed_stake": 1000.0, "kelly_fraction": 0.25, "max_bet_fraction": 0.02, "max_odds": null, "min_edge": null, "min_odds": null, "model_key": "logit_combined", "model_label": "Rolling logistic: combined", "name": "Rolling logistic: combined | unconditional model favorite | best individual-book quotes | flat 1,000", "odds_mode": "best", "origin": "new", "policy_family": "unconditional model favorite", "selection_rule": "model_favorite", "staking": "fixed", "strategy_id": "S044", "study_status": "exploratory_replay_of_already_examined_2025_26_no_new_holdout"}</a:t>
            </a:r>
          </a:p>
          <a:p/>
          <a:p>
            <a:r>
              <a:t>S045: Bookmaker odds + team/chance/player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market residual: combined's highest-probability outcome at its best archived quote; flat stake 1,000 with no edge filter.", "diagnostic": false, "fixed_stake": 1000.0, "kelly_fraction": 0.25, "max_bet_fraction": 0.02, "max_odds": null, "min_edge": null, "min_odds": null, "model_key": "residual_combined", "model_label": "Rolling market residual: combined", "name": "Rolling market residual: combined | unconditional model favorite | best individual-book quotes | flat 1,000", "odds_mode": "best", "origin": "new", "policy_family": "unconditional model favorite", "selection_rule": "model_favorite", "staking": "fixed", "strategy_id": "S045", "study_status": "exploratory_replay_of_already_examined_2025_26_no_new_holdout"}</a:t>
            </a:r>
          </a:p>
          <a:p/>
          <a:p>
            <a:r>
              <a:t>S046: Average of four team/player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flat 1,000", "odds_mode": "best", "origin": "new", "policy_family": "ensemble 5% edge", "selection_rule": "max_edge", "staking": "fixed", "strategy_id": "S046", "study_status": "exploratory_replay_of_already_examined_2025_26_no_new_holdout"}</a:t>
            </a:r>
          </a:p>
          <a:p/>
          <a:p>
            <a:r>
              <a:t>S047: Average of four team/player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0.25 Kelly, per-bet cap 2%", "odds_mode": "best", "origin": "new", "policy_family": "ensemble 5% edge", "selection_rule": "max_edge", "staking": "kelly", "strategy_id": "S047", "study_status": "exploratory_replay_of_already_examined_2025_26_no_new_holdout"}</a:t>
            </a:r>
          </a:p>
          <a:p/>
          <a:p>
            <a:r>
              <a:t>S048: Average of eight learned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flat 1,000", "odds_mode": "best", "origin": "new", "policy_family": "ensemble 5% edge", "selection_rule": "max_edge", "staking": "fixed", "strategy_id": "S048", "study_status": "exploratory_replay_of_already_examined_2025_26_no_new_holdout"}</a:t>
            </a:r>
          </a:p>
          <a:p/>
          <a:p>
            <a:r>
              <a:t>S049: Average of eight learned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0.25 Kelly, per-bet cap 2%", "odds_mode": "best", "origin": "new", "policy_family": "ensemble 5% edge", "selection_rule": "max_edge", "staking": "kelly", "strategy_id": "S049", "study_status": "exploratory_replay_of_already_examined_2025_26_no_new_holdout"}</a:t>
            </a:r>
          </a:p>
          <a:p/>
          <a:p>
            <a:r>
              <a:t>S054: Average of eight learned forecasts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dynamic 1% stake | best individual-book quotes | dynamic 1% of date-start capital", "odds_mode": "best", "origin": "new", "policy_family": "dynamic 1% stake", "selection_rule": "max_edge", "staking": "dynamic_fraction", "strategy_id": "S054", "study_status": "exploratory_replay_of_already_examined_2025_26_no_new_holdout"}</a:t>
            </a:r>
          </a:p>
          <a:p/>
          <a:p>
            <a:r>
              <a:t>S050: Half combined forecast, half bookmaker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flat 1,000", "odds_mode": "best", "origin": "new", "policy_family": "ensemble 5% edge", "selection_rule": "max_edge", "staking": "fixed", "strategy_id": "S050", "study_status": "exploratory_replay_of_already_examined_2025_26_no_new_holdout"}</a:t>
            </a:r>
          </a:p>
          <a:p/>
          <a:p>
            <a:r>
              <a:t>S051: Half combined forecast, half bookmaker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0.25 Kelly, per-bet cap 2%", "odds_mode": "best", "origin": "new", "policy_family": "ensemble 5% edge", "selection_rule": "max_edge", "staking": "kelly", "strategy_id": "S051", "study_status": "exploratory_replay_of_already_examined_2025_26_no_new_holdout"}</a:t>
            </a:r>
          </a:p>
          <a:p/>
          <a:p>
            <a:r>
              <a:t>S059: Team + chance quality + 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logistic: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"logit_combined", "model_label": "Rolling logistic: combined", "name": "Rolling logistic: combined | quarter Kelly, 10% date budget | best individual-book quotes | 0.25 Kelly, per-bet cap 2%", "odds_mode": "best", "origin": "new", "policy_family": "quarter Kelly, 10% date budget", "selection_rule": "max_edge", "staking": "kelly", "strategy_id": "S059",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S060: Bookmaker odds + team/chance/player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market residual: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"residual_combined", "model_label": "Rolling market residual: combined", "name": "Rolling market residual: combined | quarter Kelly, 10% date budget | best individual-book quotes | 0.25 Kelly, per-bet cap 2%", "odds_mode": "best", "origin": "new", "policy_family": "quarter Kelly, 10% date budget", "selection_rule": "max_edge", "staking": "kelly", "strategy_id": "S060", "study_status": "exploratory_replay_of_already_examined_2025_26_no_new_holdout"}</a:t>
            </a:r>
          </a:p>
          <a:p/>
          <a:p>
            <a:r>
              <a:t>S061: Average of eight learned forecasts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Equal-weight mean of all eight rolling learned probabilities's maximum edge strictly above 5%. Use quarter Kelly capped at 2% per bet, then uniformly scale all same-date requests to at most 10%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quarter Kelly, 10% date budget | best individual-book quotes | 0.25 Kelly, per-bet cap 2%", "odds_mode": "best", "origin": "new", "policy_family": "quarter Kelly, 10% date budget", "selection_rule": "max_edge", "staking": "kelly", "strategy_id": "S061", "study_status": "exploratory_replay_of_already_examined_2025_26_no_new_holdout"}</a:t>
            </a:r>
          </a:p>
          <a:p/>
          <a:p>
            <a:r>
              <a:t>S062: Average of eight learned forecasts Among home win, draw, away win, pick the largest estimated return p×O−1; bet only above 5%. 1,000 per bet: 1% of INITIAL 100,000; the amount stays fixed as cash changes.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flat 1,000", "odds_mode": "best", "origin": "new", "policy_family": "six-of-eight consensus", "selection_rule": "max_edge", "staking": "fixed", "strategy_id": "S062", "study_status": "exploratory_replay_of_already_examined_2025_26_no_new_holdout"}</a:t>
            </a:r>
          </a:p>
          <a:p/>
          <a:p>
            <a:r>
              <a:t>S063: Average of eight learned forecasts Among home win, draw, away win, pick the largest estimated return p×O−1; bet only above 5%. Quarter Kelly: B × min(2%, 0.25 × max(0, p×O−1)/(O−1)); B = date-start cash.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0.25 Kelly, per-bet cap 2%", "odds_mode": "best", "origin": "new", "policy_family": "six-of-eight consensus", "selection_rule": "max_edge", "staking": "kelly", "strategy_id": "S063", "study_status": "exploratory_replay_of_already_examined_2025_26_no_new_holdout"}</a:t>
            </a:r>
          </a:p>
          <a:p/>
          <a:p>
            <a:r>
              <a:t>S064: Average of eight learned forecasts Among home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"Restrict candidates to outcome H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H only | best individual-book quotes | flat 1,000", "odds_mode": "best", "origin": "new", "policy_family": "5% edge, H only", "selection_rule": "max_edge", "staking": "fixed", "strategy_id": "S064", "study_status": "exploratory_replay_of_already_examined_2025_26_no_new_holdout"}</a:t>
            </a:r>
          </a:p>
          <a:p/>
          <a:p>
            <a:r>
              <a:t>S065: Average of eight learned forecasts Among draw,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"Restrict candidates to outcome D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D only | best individual-book quotes | flat 1,000", "odds_mode": "best", "origin": "new", "policy_family": "5% edge, D only", "selection_rule": "max_edge", "staking": "fixed", "strategy_id": "S065", "study_status": "exploratory_replay_of_already_examined_2025_26_no_new_holdout"}</a:t>
            </a:r>
          </a:p>
          <a:p/>
          <a:p>
            <a:r>
              <a:t>S066: Average of eight learned forecasts Among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"Restrict candidates to outcome A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A only | best individual-book quotes | flat 1,000", "odds_mode": "best", "origin": "new", "policy_family": "5% edge, A only", "selection_rule": "max_edge", "staking": "fixed", "strategy_id": "S066", "study_status": "exploratory_replay_of_already_examined_2025_26_no_new_holdout"}</a:t>
            </a:r>
          </a:p>
          <a:p/>
          <a:p>
            <a:r>
              <a:t>S067: Team + chance quality + 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"logit_combined", "model_label": "Rolling logistic: combined", "name": "Rolling logistic: combined | 10% edge | best individual-book quotes | flat 1,000", "odds_mode": "best", "origin": "new", "policy_family": "10% edge", "selection_rule": "max_edge", "staking": "fixed", "strategy_id": "S067", "study_status": "exploratory_replay_of_already_examined_2025_26_no_new_holdout"}</a:t>
            </a:r>
          </a:p>
          <a:p/>
          <a:p>
            <a:r>
              <a:t>S068: Bookmaker odds + team/chance/player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"residual_combined", "model_label": "Rolling market residual: combined", "name": "Rolling market residual: combined | 10% edge | best individual-book quotes | flat 1,000", "odds_mode": "best", "origin": "new", "policy_family": "10% edge", "selection_rule": "max_edge", "staking": "fixed", "strategy_id": "S068",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S069: Average of eight learned forecasts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10%; stake flat 1,000.", "diagnostic": false, "fixed_stake": 1000.0, "kelly_fraction": 0.25, "max_bet_fraction": 0.02, "max_odds": null, "min_edge": 0.1, "min_odds": null, "model_key": "ensemble_learned8", "model_label": "Equal-weight mean of all eight rolling learned probabilities", "name": "Equal-weight mean of all eight rolling learned probabilities | 10% edge | best individual-book quotes | flat 1,000", "odds_mode": "best", "origin": "new", "policy_family": "10% edge", "selection_rule": "max_edge", "staking": "fixed", "strategy_id": "S069", "study_status": "exploratory_replay_of_already_examined_2025_26_no_new_holdout"}</a:t>
            </a:r>
          </a:p>
          <a:p/>
          <a:p>
            <a:r>
              <a:t>S070: Team + chance quality + 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logistic: combined's edge. Require selected edge strictly above 5%; flat stake 1,000.", "diagnostic": false, "fixed_stake": 1000.0, "kelly_fraction": 0.25, "max_bet_fraction": 0.02, "max_odds": 5.0, "min_edge": 0.05, "min_odds": 1.5, "model_key": "logit_combined", "model_label": "Rolling logistic: combined", "name": "Rolling logistic: combined | 5% edge, odds 1.5–5 | best individual-book quotes | flat 1,000", "odds_mode": "best", "origin": "new", "policy_family": "5% edge, odds 1.5–5", "selection_rule": "max_edge", "staking": "fixed", "strategy_id": "S070", "study_status": "exploratory_replay_of_already_examined_2025_26_no_new_holdout"}</a:t>
            </a:r>
          </a:p>
          <a:p/>
          <a:p>
            <a:r>
              <a:t>S071: Bookmaker odds + team/chance/player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market residual: combined's edge. Require selected edge strictly above 5%; flat stake 1,000.", "diagnostic": false, "fixed_stake": 1000.0, "kelly_fraction": 0.25, "max_bet_fraction": 0.02, "max_odds": 5.0, "min_edge": 0.05, "min_odds": 1.5, "model_key": "residual_combined", "model_label": "Rolling market residual: combined", "name": "Rolling market residual: combined | 5% edge, odds 1.5–5 | best individual-book quotes | flat 1,000", "odds_mode": "best", "origin": "new", "policy_family": "5% edge, odds 1.5–5", "selection_rule": "max_edge", "staking": "fixed", "strategy_id": "S071", "study_status": "exploratory_replay_of_already_examined_2025_26_no_new_holdout"}</a:t>
            </a:r>
          </a:p>
          <a:p/>
          <a:p>
            <a:r>
              <a:t>S072: Average of eight learned forecasts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Equal-weight mean of all eight rolling learned probabilities's edge. Require selected edge strictly above 5%; flat stake 1,000.", "diagnostic": false, "fixed_stake": 1000.0, "kelly_fraction": 0.25, "max_bet_fraction": 0.02, "max_odds": 5.0, "min_edge": 0.05, "min_odds": 1.5, "model_key": "ensemble_learned8", "model_label": "Equal-weight mean of all eight rolling learned probabilities", "name": "Equal-weight mean of all eight rolling learned probabilities | 5% edge, odds 1.5–5 | best individual-book quotes | flat 1,000", "odds_mode": "best", "origin": "new", "policy_family": "5% edge, odds 1.5–5", "selection_rule": "max_edge", "staking": "fixed", "strategy_id": "S072", "study_status": "exploratory_replay_of_already_examined_2025_26_no_new_holdout"}</a:t>
            </a:r>
          </a:p>
          <a:p/>
          <a:p>
            <a:r>
              <a:t>S073: Original SVM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"first_accuracy", "model_label": "First-study accuracy-selected SVM", "name": "First-study accuracy-selected SVM | historical threshold diagnostic 0% | best individual-book quotes | flat 1,000", "odds_mode": "best", "origin": "legacy_diagnostic", "policy_family": "historical threshold diagnostic 0%", "selection_rule": "max_edge", "staking": "fixed", "strategy_id": "S073", "study_status": "exploratory_replay_of_already_examined_2025_26_no_new_holdout"}</a:t>
            </a:r>
          </a:p>
          <a:p/>
          <a:p>
            <a:r>
              <a:t>S074: Original SVM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"first_accuracy", "model_label": "First-study accuracy-selected SVM", "name": "First-study accuracy-selected SVM | historical threshold diagnostic 2.5% | best individual-book quotes | flat 1,000", "odds_mode": "best", "origin": "legacy_diagnostic", "policy_family": "historical threshold diagnostic 2.5%", "selection_rule": "max_edge", "staking": "fixed", "strategy_id": "S074", "study_status": "exploratory_replay_of_already_examined_2025_26_no_new_holdout"}</a:t>
            </a:r>
          </a:p>
          <a:p/>
          <a:p>
            <a:r>
              <a:t>S075: Original SVM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"first_accuracy", "model_label": "First-study accuracy-selected SVM", "name": "First-study accuracy-selected SVM | historical threshold diagnostic 7.5% | best individual-book quotes | flat 1,000", "odds_mode": "best", "origin": "legacy_diagnostic", "policy_family": "historical threshold diagnostic 7.5%", "selection_rule": "max_edge", "staking": "fixed", "strategy_id": "S075", "study_status": "exploratory_replay_of_already_examined_2025_26_no_new_holdout"}</a:t>
            </a:r>
          </a:p>
          <a:p/>
          <a:p>
            <a:r>
              <a:t>S076: Original SVM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"first_accuracy", "model_label": "First-study accuracy-selected SVM", "name": "First-study accuracy-selected SVM | historical threshold diagnostic 10% | best individual-book quotes | flat 1,000", "odds_mode": "best", "origin": "legacy_diagnostic", "policy_family": "historical threshold diagnostic 10%", "selection_rule": "max_edge", "staking": "fixed", "strategy_id": "S076",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S077: Original SVM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"first_accuracy", "model_label": "First-study accuracy-selected SVM", "name": "First-study accuracy-selected SVM | historical threshold diagnostic 15% | best individual-book quotes | flat 1,000", "odds_mode": "best", "origin": "legacy_diagnostic", "policy_family": "historical threshold diagnostic 15%", "selection_rule": "max_edge", "staking": "fixed", "strategy_id": "S077", "study_status": "exploratory_replay_of_already_examined_2025_26_no_new_holdout"}</a:t>
            </a:r>
          </a:p>
          <a:p/>
          <a:p>
            <a:r>
              <a:t>S078: Original SVM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"first_accuracy", "model_label": "First-study accuracy-selected SVM", "name": "First-study accuracy-selected SVM | historical threshold diagnostic 20% | best individual-book quotes | flat 1,000", "odds_mode": "best", "origin": "legacy_diagnostic", "policy_family": "historical threshold diagnostic 20%", "selection_rule": "max_edge", "staking": "fixed", "strategy_id": "S078", "study_status": "exploratory_replay_of_already_examined_2025_26_no_new_holdout"}</a:t>
            </a:r>
          </a:p>
          <a:p/>
          <a:p>
            <a:r>
              <a:t>S079: Original neural-network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"first_calibration", "model_label": "First-study calibration-selected MLP", "name": "First-study calibration-selected MLP | historical threshold diagnostic 0% | best individual-book quotes | flat 1,000", "odds_mode": "best", "origin": "legacy_diagnostic", "policy_family": "historical threshold diagnostic 0%", "selection_rule": "max_edge", "staking": "fixed", "strategy_id": "S079", "study_status": "exploratory_replay_of_already_examined_2025_26_no_new_holdout"}</a:t>
            </a:r>
          </a:p>
          <a:p/>
          <a:p>
            <a:r>
              <a:t>S080: Original neural-network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"first_calibration", "model_label": "First-study calibration-selected MLP", "name": "First-study calibration-selected MLP | historical threshold diagnostic 2.5% | best individual-book quotes | flat 1,000", "odds_mode": "best", "origin": "legacy_diagnostic", "policy_family": "historical threshold diagnostic 2.5%", "selection_rule": "max_edge", "staking": "fixed", "strategy_id": "S080", "study_status": "exploratory_replay_of_already_examined_2025_26_no_new_holdout"}</a:t>
            </a:r>
          </a:p>
          <a:p/>
          <a:p>
            <a:r>
              <a:t>S081: Original neural-network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"first_calibration", "model_label": "First-study calibration-selected MLP", "name": "First-study calibration-selected MLP | historical threshold diagnostic 7.5% | best individual-book quotes | flat 1,000", "odds_mode": "best", "origin": "legacy_diagnostic", "policy_family": "historical threshold diagnostic 7.5%", "selection_rule": "max_edge", "staking": "fixed", "strategy_id": "S081", "study_status": "exploratory_replay_of_already_examined_2025_26_no_new_holdout"}</a:t>
            </a:r>
          </a:p>
          <a:p/>
          <a:p>
            <a:r>
              <a:t>S082: Original neural-network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"first_calibration", "model_label": "First-study calibration-selected MLP", "name": "First-study calibration-selected MLP | historical threshold diagnostic 10% | best individual-book quotes | flat 1,000", "odds_mode": "best", "origin": "legacy_diagnostic", "policy_family": "historical threshold diagnostic 10%", "selection_rule": "max_edge", "staking": "fixed", "strategy_id": "S082", "study_status": "exploratory_replay_of_already_examined_2025_26_no_new_holdout"}</a:t>
            </a:r>
          </a:p>
          <a:p/>
          <a:p>
            <a:r>
              <a:t>S083: Original neural-network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"first_calibration", "model_label": "First-study calibration-selected MLP", "name": "First-study calibration-selected MLP | historical threshold diagnostic 15% | best individual-book quotes | flat 1,000", "odds_mode": "best", "origin": "legacy_diagnostic", "policy_family": "historical threshold diagnostic 15%", "selection_rule": "max_edge", "staking": "fixed", "strategy_id": "S083", "study_status": "exploratory_replay_of_already_examined_2025_26_no_new_holdout"}</a:t>
            </a:r>
          </a:p>
          <a:p/>
          <a:p>
            <a:r>
              <a:t>S084: Original neural-network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"first_calibration", "model_label": "First-study calibration-selected MLP", "name": "First-study calibration-selected MLP | historical threshold diagnostic 20% | best individual-book quotes | flat 1,000", "odds_mode": "best", "origin": "legacy_diagnostic", "policy_family": "historical threshold diagnostic 20%", "selection_rule": "max_edge", "staking": "fixed", "strategy_id": "S084",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P001: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flat 1,000", "odds_mode": "best", "origin": "new_player_model_study", "policy_family": "frozen 5% player-study diagnostic", "selection_rule": "max_edge", "staking": "fixed", "strategy_id": "P001", "study_status": "exploratory_previously_inspected_history_not_new_holdout_or_selected_live_betting_policy"}</a:t>
            </a:r>
          </a:p>
          <a:p/>
          <a:p>
            <a:r>
              <a:t>P002: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quarter Kelly capped at 2% of date-start cash per bet", "odds_mode": "best", "origin": "new_player_model_study", "policy_family": "frozen 5% player-study diagnostic", "selection_rule": "max_edge", "staking": "kelly", "strategy_id": "P002", "study_status": "exploratory_previously_inspected_history_not_new_holdout_or_selected_live_betting_policy"}</a:t>
            </a:r>
          </a:p>
          <a:p/>
          <a:p>
            <a:r>
              <a:t>P003: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flat 1,000", "odds_mode": "reference", "origin": "new_player_model_study", "policy_family": "frozen 5% player-study diagnostic", "selection_rule": "max_edge", "staking": "fixed", "strategy_id": "P003", "study_status": "exploratory_previously_inspected_history_not_new_holdout_or_selected_live_betting_policy"}</a:t>
            </a:r>
          </a:p>
          <a:p/>
          <a:p>
            <a:r>
              <a:t>P004: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quarter Kelly capped at 2% of date-start cash per bet", "odds_mode": "reference", "origin": "new_player_model_study", "policy_family": "frozen 5% player-study diagnostic", "selection_rule": "max_edge", "staking": "kelly", "strategy_id": "P004", "study_status": "exploratory_previously_inspected_history_not_new_holdout_or_selected_live_betting_policy"}</a:t>
            </a:r>
          </a:p>
          <a:p/>
          <a:p>
            <a:r>
              <a:t>P005: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flat 1,000", "odds_mode": "best", "origin": "new_player_model_study", "policy_family": "frozen 5% player-study diagnostic", "selection_rule": "max_edge", "staking": "fixed", "strategy_id": "P005", "study_status": "exploratory_previously_inspected_history_not_new_holdout_or_selected_live_betting_policy"}</a:t>
            </a:r>
          </a:p>
          <a:p/>
          <a:p>
            <a:r>
              <a:t>P006: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quarter Kelly capped at 2% of date-start cash per bet", "odds_mode": "best", "origin": "new_player_model_study", "policy_family": "frozen 5% player-study diagnostic", "selection_rule": "max_edge", "staking": "kelly", "strategy_id": "P006", "study_status": "exploratory_previously_inspected_history_not_new_holdout_or_selected_live_betting_policy"}</a:t>
            </a:r>
          </a:p>
          <a:p/>
          <a:p>
            <a:r>
              <a:t>P007: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flat 1,000", "odds_mode": "reference", "origin": "new_player_model_study", "policy_family": "frozen 5% player-study diagnostic", "selection_rule": "max_edge", "staking": "fixed", "strategy_id": "P007", "study_status": "exploratory_previously_inspected_history_not_new_holdout_or_selected_live_betting_policy"}</a:t>
            </a:r>
          </a:p>
          <a:p/>
          <a:p>
            <a:r>
              <a:t>P008: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quarter Kelly capped at 2% of date-start cash per bet", "odds_mode": "reference", "origin": "new_player_model_study", "policy_family": "frozen 5% player-study diagnostic", "selection_rule": "max_edge", "staking": "kelly", "strategy_id": "P008", "study_status": "exploratory_previously_inspected_history_not_new_holdout_or_selected_live_betting_policy"}</a:t>
            </a:r>
          </a:p>
          <a:p/>
          <a:p>
            <a:r>
              <a:t>P009: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P010: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quarter Kelly capped at 2% of date-start cash per bet", "odds_mode": "best", "origin": "new_player_model_study", "policy_family": "frozen 5% player-study diagnostic", "selection_rule": "max_edge", "staking": "kelly", "strategy_id": "P010", "study_status": "exploratory_previously_inspected_history_not_new_holdout_or_selected_live_betting_policy"}</a:t>
            </a:r>
          </a:p>
          <a:p/>
          <a:p>
            <a:r>
              <a:t>P011: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flat 1,000", "odds_mode": "reference", "origin": "new_player_model_study", "policy_family": "frozen 5% player-study diagnostic", "selection_rule": "max_edge", "staking": "fixed", "strategy_id": "P011", "study_status": "exploratory_previously_inspected_history_not_new_holdout_or_selected_live_betting_policy"}</a:t>
            </a:r>
          </a:p>
          <a:p/>
          <a:p>
            <a:r>
              <a:t>P012: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quarter Kelly capped at 2% of date-start cash per bet", "odds_mode": "reference", "origin": "new_player_model_study", "policy_family": "frozen 5% player-study diagnostic", "selection_rule": "max_edge", "staking": "kelly", "strategy_id": "P012", "study_status": "exploratory_previously_inspected_history_not_new_holdout_or_selected_live_betting_policy"}</a:t>
            </a:r>
          </a:p>
          <a:p/>
          <a:p>
            <a:r>
              <a:t>P013: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flat 1,000", "odds_mode": "best", "origin": "new_player_model_study", "policy_family": "frozen 5% player-study diagnostic", "selection_rule": "max_edge", "staking": "fixed", "strategy_id": "P013", "study_status": "exploratory_previously_inspected_history_not_new_holdout_or_selected_live_betting_policy"}</a:t>
            </a:r>
          </a:p>
          <a:p/>
          <a:p>
            <a:r>
              <a:t>P014: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quarter Kelly capped at 2% of date-start cash per bet", "odds_mode": "best", "origin": "new_player_model_study", "policy_family": "frozen 5% player-study diagnostic", "selection_rule": "max_edge", "staking": "kelly", "strategy_id": "P014", "study_status": "exploratory_previously_inspected_history_not_new_holdout_or_selected_live_betting_policy"}</a:t>
            </a:r>
          </a:p>
          <a:p/>
          <a:p>
            <a:r>
              <a:t>P015: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flat 1,000", "odds_mode": "reference", "origin": "new_player_model_study", "policy_family": "frozen 5% player-study diagnostic", "selection_rule": "max_edge", "staking": "fixed", "strategy_id": "P015", "study_status": "exploratory_previously_inspected_history_not_new_holdout_or_selected_live_betting_policy"}</a:t>
            </a:r>
          </a:p>
          <a:p/>
          <a:p>
            <a:r>
              <a:t>P016: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quarter Kelly capped at 2% of date-start cash per bet", "odds_mode": "reference", "origin": "new_player_model_study", "policy_family": "frozen 5% player-study diagnostic", "selection_rule": "max_edge", "staking": "kelly", "strategy_id": "P016",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P017: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flat 1,000", "odds_mode": "best", "origin": "new_player_model_study", "policy_family": "frozen 5% player-study diagnostic", "selection_rule": "max_edge", "staking": "fixed", "strategy_id": "P017", "study_status": "exploratory_previously_inspected_history_not_new_holdout_or_selected_live_betting_policy"}</a:t>
            </a:r>
          </a:p>
          <a:p/>
          <a:p>
            <a:r>
              <a:t>P018: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quarter Kelly capped at 2% of date-start cash per bet", "odds_mode": "best", "origin": "new_player_model_study", "policy_family": "frozen 5% player-study diagnostic", "selection_rule": "max_edge", "staking": "kelly", "strategy_id": "P018", "study_status": "exploratory_previously_inspected_history_not_new_holdout_or_selected_live_betting_policy"}</a:t>
            </a:r>
          </a:p>
          <a:p/>
          <a:p>
            <a:r>
              <a:t>P019: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flat 1,000", "odds_mode": "reference", "origin": "new_player_model_study", "policy_family": "frozen 5% player-study diagnostic", "selection_rule": "max_edge", "staking": "fixed", "strategy_id": "P019", "study_status": "exploratory_previously_inspected_history_not_new_holdout_or_selected_live_betting_policy"}</a:t>
            </a:r>
          </a:p>
          <a:p/>
          <a:p>
            <a:r>
              <a:t>P020: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quarter Kelly capped at 2% of date-start cash per bet", "odds_mode": "reference", "origin": "new_player_model_study", "policy_family": "frozen 5% player-study diagnostic", "selection_rule": "max_edge", "staking": "kelly", "strategy_id": "P020", "study_status": "exploratory_previously_inspected_history_not_new_holdout_or_selected_live_betting_policy"}</a:t>
            </a:r>
          </a:p>
          <a:p/>
          <a:p>
            <a:r>
              <a:t>P021: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flat 1,000", "odds_mode": "best", "origin": "new_player_model_study", "policy_family": "frozen 5% player-study diagnostic", "selection_rule": "max_edge", "staking": "fixed", "strategy_id": "P021", "study_status": "exploratory_previously_inspected_history_not_new_holdout_or_selected_live_betting_policy"}</a:t>
            </a:r>
          </a:p>
          <a:p/>
          <a:p>
            <a:r>
              <a:t>P022: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quarter Kelly capped at 2% of date-start cash per bet", "odds_mode": "best", "origin": "new_player_model_study", "policy_family": "frozen 5% player-study diagnostic", "selection_rule": "max_edge", "staking": "kelly", "strategy_id": "P022", "study_status": "exploratory_previously_inspected_history_not_new_holdout_or_selected_live_betting_policy"}</a:t>
            </a:r>
          </a:p>
          <a:p/>
          <a:p>
            <a:r>
              <a:t>P023: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flat 1,000", "odds_mode": "reference", "origin": "new_player_model_study", "policy_family": "frozen 5% player-study diagnostic", "selection_rule": "max_edge", "staking": "fixed", "strategy_id": "P023", "study_status": "exploratory_previously_inspected_history_not_new_holdout_or_selected_live_betting_policy"}</a:t>
            </a:r>
          </a:p>
          <a:p/>
          <a:p>
            <a:r>
              <a:t>P024: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quarter Kelly capped at 2% of date-start cash per bet", "odds_mode": "reference", "origin": "new_player_model_study", "policy_family": "frozen 5% player-study diagnostic", "selection_rule": "max_edge", "staking": "kelly", "strategy_id": "P024", "study_status": "exploratory_previously_inspected_history_not_new_holdout_or_selected_live_betting_policy"}</a:t>
            </a:r>
          </a:p>
          <a:p/>
          <a:p>
            <a:r>
              <a:t>P025: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flat 1,000", "odds_mode": "best", "origin": "new_player_model_study", "policy_family": "frozen 5% player-study diagnostic", "selection_rule": "max_edge", "staking": "fixed", "strategy_id": "P025", "study_status": "exploratory_previously_inspected_history_not_new_holdout_or_selected_live_betting_policy"}</a:t>
            </a:r>
          </a:p>
          <a:p/>
          <a:p>
            <a:r>
              <a:t>P026: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quarter Kelly capped at 2% of date-start cash per bet", "odds_mode": "best", "origin": "new_player_model_study", "policy_family": "frozen 5% player-study diagnostic", "selection_rule": "max_edge", "staking": "kelly", "strategy_id": "P026", "study_status": "exploratory_previously_inspected_history_not_new_holdout_or_selected_live_betting_policy"}</a:t>
            </a:r>
          </a:p>
          <a:p/>
          <a:p>
            <a:r>
              <a:t>P027: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flat 1,000", "odds_mode": "reference", "origin": "new_player_model_study", "policy_family": "frozen 5% player-study diagnostic", "selection_rule": "max_edge", "staking": "fixed", "strategy_id": "P027", "study_status": "exploratory_previously_inspected_history_not_new_holdout_or_selected_live_betting_policy"}</a:t>
            </a:r>
          </a:p>
          <a:p/>
          <a:p>
            <a:r>
              <a:t>P028: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quarter Kelly capped at 2% of date-start cash per bet", "odds_mode": "reference", "origin": "new_player_model_study", "policy_family": "frozen 5% player-study diagnostic", "selection_rule": "max_edge", "staking": "kelly", "strategy_id": "P028", "study_status": "exploratory_previously_inspected_history_not_new_holdout_or_selected_live_betting_policy"}</a:t>
            </a:r>
          </a:p>
          <a:p/>
          <a:p>
            <a:r>
              <a:t>P029: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flat 1,000", "odds_mode": "best", "origin": "new_player_model_study", "policy_family": "frozen 5% player-study diagnostic", "selection_rule": "max_edge", "staking": "fixed", "strategy_id": "P029", "study_status": "exploratory_previously_inspected_history_not_new_holdout_or_selected_live_betting_policy"}</a:t>
            </a:r>
          </a:p>
          <a:p/>
          <a:p>
            <a:r>
              <a:t>P030: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quarter Kelly capped at 2% of date-start cash per bet", "odds_mode": "best", "origin": "new_player_model_study", "policy_family": "frozen 5% player-study diagnostic", "selection_rule": "max_edge", "staking": "kelly", "strategy_id": "P030", "study_status": "exploratory_previously_inspected_history_not_new_holdout_or_selected_live_betting_policy"}</a:t>
            </a:r>
          </a:p>
          <a:p/>
          <a:p>
            <a:r>
              <a:t>P031: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flat 1,000", "odds_mode": "reference", "origin": "new_player_model_study", "policy_family": "frozen 5% player-study diagnostic", "selection_rule": "max_edge", "staking": "fixed", "strategy_id": "P031", "study_status": "exploratory_previously_inspected_history_not_new_holdout_or_selected_live_betting_policy"}</a:t>
            </a:r>
          </a:p>
          <a:p/>
          <a:p>
            <a:r>
              <a:t>P032: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quarter Kelly capped at 2% of date-start cash per bet", "odds_mode": "reference", "origin": "new_player_model_study", "policy_family": "frozen 5% player-study diagnostic", "selection_rule": "max_edge", "staking": "kelly", "strategy_id": "P032",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What we have implemented</a:t>
            </a:r>
          </a:p>
        </p:txBody>
      </p:sp>
      <p:sp>
        <p:nvSpPr>
          <p:cNvPr id="4" name="slide00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Premier League models and their trading strategies.</a:t>
            </a:r>
          </a:p>
        </p:txBody>
      </p:sp>
      <p:sp>
        <p:nvSpPr>
          <p:cNvPr id="5" name="slide001-element000-card-background"/>
          <p:cNvSpPr/>
          <p:nvPr/>
        </p:nvSpPr>
        <p:spPr>
          <a:xfrm>
            <a:off x="594360" y="1874519"/>
            <a:ext cx="4251960" cy="146304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1-element000-card-accent"/>
          <p:cNvSpPr/>
          <p:nvPr/>
        </p:nvSpPr>
        <p:spPr>
          <a:xfrm>
            <a:off x="594360" y="1874519"/>
            <a:ext cx="50292" cy="146304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1-element000-card-label"/>
          <p:cNvSpPr txBox="1"/>
          <p:nvPr/>
        </p:nvSpPr>
        <p:spPr>
          <a:xfrm>
            <a:off x="749808"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DATA</a:t>
            </a:r>
          </a:p>
        </p:txBody>
      </p:sp>
      <p:sp>
        <p:nvSpPr>
          <p:cNvPr id="8" name="slide001-element000-card-value"/>
          <p:cNvSpPr txBox="1"/>
          <p:nvPr/>
        </p:nvSpPr>
        <p:spPr>
          <a:xfrm>
            <a:off x="749808"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20 current clubs</a:t>
            </a:r>
          </a:p>
        </p:txBody>
      </p:sp>
      <p:sp>
        <p:nvSpPr>
          <p:cNvPr id="9" name="slide001-element000-card-detail"/>
          <p:cNvSpPr txBox="1"/>
          <p:nvPr/>
        </p:nvSpPr>
        <p:spPr>
          <a:xfrm>
            <a:off x="749808" y="2770632"/>
            <a:ext cx="3941064" cy="53035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Team and player histories</a:t>
            </a:r>
          </a:p>
        </p:txBody>
      </p:sp>
      <p:sp>
        <p:nvSpPr>
          <p:cNvPr id="10" name="slide001-element001-card-background"/>
          <p:cNvSpPr/>
          <p:nvPr/>
        </p:nvSpPr>
        <p:spPr>
          <a:xfrm>
            <a:off x="5175504" y="1874519"/>
            <a:ext cx="4251960" cy="146304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1-element001-card-accent"/>
          <p:cNvSpPr/>
          <p:nvPr/>
        </p:nvSpPr>
        <p:spPr>
          <a:xfrm>
            <a:off x="5175504" y="1874519"/>
            <a:ext cx="50292" cy="146304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1-element001-card-label"/>
          <p:cNvSpPr txBox="1"/>
          <p:nvPr/>
        </p:nvSpPr>
        <p:spPr>
          <a:xfrm>
            <a:off x="5330952"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TRADING RULES</a:t>
            </a:r>
          </a:p>
        </p:txBody>
      </p:sp>
      <p:sp>
        <p:nvSpPr>
          <p:cNvPr id="13" name="slide001-element001-card-value"/>
          <p:cNvSpPr txBox="1"/>
          <p:nvPr/>
        </p:nvSpPr>
        <p:spPr>
          <a:xfrm>
            <a:off x="5330952"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116 strategies</a:t>
            </a:r>
          </a:p>
        </p:txBody>
      </p:sp>
      <p:sp>
        <p:nvSpPr>
          <p:cNvPr id="14" name="slide001-element001-card-detail"/>
          <p:cNvSpPr txBox="1"/>
          <p:nvPr/>
        </p:nvSpPr>
        <p:spPr>
          <a:xfrm>
            <a:off x="5330952" y="2770632"/>
            <a:ext cx="3941064" cy="53035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Models combined with betting rules</a:t>
            </a:r>
          </a:p>
        </p:txBody>
      </p:sp>
      <p:sp>
        <p:nvSpPr>
          <p:cNvPr id="15" name="slide001-element002-card-background"/>
          <p:cNvSpPr/>
          <p:nvPr/>
        </p:nvSpPr>
        <p:spPr>
          <a:xfrm>
            <a:off x="9756648" y="1874519"/>
            <a:ext cx="4251960" cy="146304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1-element002-card-accent"/>
          <p:cNvSpPr/>
          <p:nvPr/>
        </p:nvSpPr>
        <p:spPr>
          <a:xfrm>
            <a:off x="9756648" y="1874519"/>
            <a:ext cx="50292" cy="146304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1-element002-card-label"/>
          <p:cNvSpPr txBox="1"/>
          <p:nvPr/>
        </p:nvSpPr>
        <p:spPr>
          <a:xfrm>
            <a:off x="9912096" y="198424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STARTING CAPITAL</a:t>
            </a:r>
          </a:p>
        </p:txBody>
      </p:sp>
      <p:sp>
        <p:nvSpPr>
          <p:cNvPr id="18" name="slide001-element002-card-value"/>
          <p:cNvSpPr txBox="1"/>
          <p:nvPr/>
        </p:nvSpPr>
        <p:spPr>
          <a:xfrm>
            <a:off x="9912096" y="2240279"/>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100,000 each</a:t>
            </a:r>
          </a:p>
        </p:txBody>
      </p:sp>
      <p:sp>
        <p:nvSpPr>
          <p:cNvPr id="19" name="slide001-element002-card-detail"/>
          <p:cNvSpPr txBox="1"/>
          <p:nvPr/>
        </p:nvSpPr>
        <p:spPr>
          <a:xfrm>
            <a:off x="9912096" y="2770632"/>
            <a:ext cx="3941064" cy="53035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Separate account for every strategy</a:t>
            </a:r>
          </a:p>
        </p:txBody>
      </p:sp>
      <p:sp>
        <p:nvSpPr>
          <p:cNvPr id="20" name="slide001-element003-text"/>
          <p:cNvSpPr txBox="1"/>
          <p:nvPr/>
        </p:nvSpPr>
        <p:spPr>
          <a:xfrm>
            <a:off x="594360" y="3931920"/>
            <a:ext cx="13350240" cy="2377440"/>
          </a:xfrm>
          <a:prstGeom prst="rect">
            <a:avLst/>
          </a:prstGeom>
          <a:noFill/>
        </p:spPr>
        <p:txBody>
          <a:bodyPr wrap="square" lIns="0" rIns="0" tIns="0" bIns="0" anchor="t">
            <a:noAutofit/>
          </a:bodyPr>
          <a:lstStyle/>
          <a:p>
            <a:pPr algn="l">
              <a:lnSpc>
                <a:spcPct val="100000"/>
              </a:lnSpc>
              <a:spcBef>
                <a:spcPts val="0"/>
              </a:spcBef>
              <a:spcAft>
                <a:spcPts val="0"/>
              </a:spcAft>
            </a:pPr>
            <a:r>
              <a:rPr sz="2500" b="0">
                <a:solidFill>
                  <a:srgbClr val="11243A"/>
                </a:solidFill>
                <a:latin typeface="Arial"/>
              </a:rPr>
              <a:t>Collected and checked team and player data.</a:t>
            </a:r>
          </a:p>
          <a:p>
            <a:pPr algn="l">
              <a:lnSpc>
                <a:spcPct val="100000"/>
              </a:lnSpc>
              <a:spcBef>
                <a:spcPts val="0"/>
              </a:spcBef>
              <a:spcAft>
                <a:spcPts val="0"/>
              </a:spcAft>
            </a:pPr>
            <a:r>
              <a:rPr sz="2500" b="0">
                <a:solidFill>
                  <a:srgbClr val="11243A"/>
                </a:solidFill>
                <a:latin typeface="Arial"/>
              </a:rPr>
              <a:t>Built models for home wins, draws and away wins.</a:t>
            </a:r>
          </a:p>
          <a:p>
            <a:pPr algn="l">
              <a:lnSpc>
                <a:spcPct val="100000"/>
              </a:lnSpc>
              <a:spcBef>
                <a:spcPts val="0"/>
              </a:spcBef>
              <a:spcAft>
                <a:spcPts val="0"/>
              </a:spcAft>
            </a:pPr>
            <a:r>
              <a:rPr sz="2500" b="0">
                <a:solidFill>
                  <a:srgbClr val="11243A"/>
                </a:solidFill>
                <a:latin typeface="Arial"/>
              </a:rPr>
              <a:t>Tested betting rules and recorded profits, losses and risk.</a:t>
            </a:r>
          </a:p>
          <a:p>
            <a:pPr algn="l">
              <a:lnSpc>
                <a:spcPct val="100000"/>
              </a:lnSpc>
              <a:spcBef>
                <a:spcPts val="0"/>
              </a:spcBef>
              <a:spcAft>
                <a:spcPts val="0"/>
              </a:spcAft>
            </a:pPr>
            <a:r>
              <a:rPr sz="2500" b="0">
                <a:solidFill>
                  <a:srgbClr val="11243A"/>
                </a:solidFill>
                <a:latin typeface="Arial"/>
              </a:rPr>
              <a:t>Produced money-progression graphs and timestamped forecasts.</a:t>
            </a:r>
          </a:p>
        </p:txBody>
      </p:sp>
      <p:sp>
        <p:nvSpPr>
          <p:cNvPr id="21" name="slide001-element004-text"/>
          <p:cNvSpPr txBox="1"/>
          <p:nvPr/>
        </p:nvSpPr>
        <p:spPr>
          <a:xfrm>
            <a:off x="594360" y="6931152"/>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Only completed work is shown. Historical backtests are not verified real-money trading results.</a:t>
            </a:r>
          </a:p>
        </p:txBody>
      </p:sp>
      <p:cxnSp>
        <p:nvCxnSpPr>
          <p:cNvPr id="22" name="slide00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3" name="slide00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study_status.json | Full paths in notes</a:t>
            </a:r>
          </a:p>
        </p:txBody>
      </p:sp>
      <p:sp>
        <p:nvSpPr>
          <p:cNvPr id="24" name="slide00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Money progression of all 116 strategies</a:t>
            </a:r>
          </a:p>
        </p:txBody>
      </p:sp>
      <p:sp>
        <p:nvSpPr>
          <p:cNvPr id="4" name="slide00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2025/26: the common season available for every strategy. Every line starts at 100,000.</a:t>
            </a:r>
          </a:p>
        </p:txBody>
      </p:sp>
      <p:pic>
        <p:nvPicPr>
          <p:cNvPr id="5" name="slide002-element000-image-image" descr="all_accounts_2025.png"/>
          <p:cNvPicPr>
            <a:picLocks noChangeAspect="1"/>
          </p:cNvPicPr>
          <p:nvPr/>
        </p:nvPicPr>
        <p:blipFill>
          <a:blip r:embed="rId2"/>
          <a:stretch>
            <a:fillRect/>
          </a:stretch>
        </p:blipFill>
        <p:spPr>
          <a:xfrm>
            <a:off x="594360" y="2103120"/>
            <a:ext cx="13441680" cy="4526279"/>
          </a:xfrm>
          <a:prstGeom prst="rect">
            <a:avLst/>
          </a:prstGeom>
        </p:spPr>
      </p:pic>
      <p:sp>
        <p:nvSpPr>
          <p:cNvPr id="6" name="slide002-element001-text"/>
          <p:cNvSpPr txBox="1"/>
          <p:nvPr/>
        </p:nvSpPr>
        <p:spPr>
          <a:xfrm>
            <a:off x="594360" y="705916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Each line is one model + betting rule + stake size. The following model statistics use the full four-year evaluation.</a:t>
            </a:r>
          </a:p>
        </p:txBody>
      </p:sp>
      <p:cxnSp>
        <p:nvCxnSpPr>
          <p:cNvPr id="7" name="slide00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8" name="slide00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graph_equity_2025_all.csv | Full paths in notes</a:t>
            </a:r>
          </a:p>
        </p:txBody>
      </p:sp>
      <p:sp>
        <p:nvSpPr>
          <p:cNvPr id="9" name="slide00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AND ITS TRADING RULE | S029</a:t>
            </a:r>
          </a:p>
        </p:txBody>
      </p:sp>
      <p:sp>
        <p:nvSpPr>
          <p:cNvPr id="3" name="slide00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Best prediction model: odds + team/player form</a:t>
            </a:r>
          </a:p>
        </p:txBody>
      </p:sp>
      <p:sp>
        <p:nvSpPr>
          <p:cNvPr id="4" name="slide00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Lowest prediction error among the learned models on the same four-year sample. Trading statistics: 2022/23–2025/26, 1,470 matches.</a:t>
            </a:r>
          </a:p>
        </p:txBody>
      </p:sp>
      <p:sp>
        <p:nvSpPr>
          <p:cNvPr id="5" name="slide003-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03-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Starts with bookmaker probabilities, then adjusts them using earlier team results and player form.</a:t>
            </a:r>
          </a:p>
        </p:txBody>
      </p:sp>
      <p:sp>
        <p:nvSpPr>
          <p:cNvPr id="7" name="slide003-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03-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03-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54.15%  |  Prediction loss: 0.9693</a:t>
            </a:r>
          </a:p>
        </p:txBody>
      </p:sp>
      <p:sp>
        <p:nvSpPr>
          <p:cNvPr id="10" name="slide003-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3-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3-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03-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123,340</a:t>
            </a:r>
          </a:p>
        </p:txBody>
      </p:sp>
      <p:sp>
        <p:nvSpPr>
          <p:cNvPr id="14" name="slide003-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03-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3-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3-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03-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23.34%</a:t>
            </a:r>
          </a:p>
        </p:txBody>
      </p:sp>
      <p:sp>
        <p:nvSpPr>
          <p:cNvPr id="19" name="slide003-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03-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3-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03-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3-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03-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3-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03-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3-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1,147 / 78.03%</a:t>
            </a:r>
          </a:p>
        </p:txBody>
      </p:sp>
      <p:sp>
        <p:nvSpPr>
          <p:cNvPr id="28" name="slide003-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3-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03-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3-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31.04%</a:t>
            </a:r>
          </a:p>
        </p:txBody>
      </p:sp>
      <p:sp>
        <p:nvSpPr>
          <p:cNvPr id="32" name="slide003-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3-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03-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3-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852.95</a:t>
            </a:r>
          </a:p>
        </p:txBody>
      </p:sp>
      <p:sp>
        <p:nvSpPr>
          <p:cNvPr id="36" name="slide003-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3-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03-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3-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663.70</a:t>
            </a:r>
          </a:p>
        </p:txBody>
      </p:sp>
      <p:sp>
        <p:nvSpPr>
          <p:cNvPr id="40" name="slide003-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3-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03-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3-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23,340 / 2.03%</a:t>
            </a:r>
          </a:p>
        </p:txBody>
      </p:sp>
      <p:sp>
        <p:nvSpPr>
          <p:cNvPr id="44" name="slide003-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3-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03-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3-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31.88%</a:t>
            </a:r>
          </a:p>
        </p:txBody>
      </p:sp>
      <p:sp>
        <p:nvSpPr>
          <p:cNvPr id="48" name="slide003-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0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0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0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AND ITS TRADING RULE | S033</a:t>
            </a:r>
          </a:p>
        </p:txBody>
      </p:sp>
      <p:sp>
        <p:nvSpPr>
          <p:cNvPr id="3" name="slide00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Simplest model: past result frequencies</a:t>
            </a:r>
          </a:p>
        </p:txBody>
      </p:sp>
      <p:sp>
        <p:nvSpPr>
          <p:cNvPr id="4" name="slide00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No match-specific inputs: every game in a season gets the same three probabilities. Trading statistics: 2022/23–2025/26, 1,470 matches.</a:t>
            </a:r>
          </a:p>
        </p:txBody>
      </p:sp>
      <p:sp>
        <p:nvSpPr>
          <p:cNvPr id="5" name="slide004-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04-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Counts how often home wins, draws and away wins happened in the training data. Uses those fractions for every game.</a:t>
            </a:r>
          </a:p>
        </p:txBody>
      </p:sp>
      <p:sp>
        <p:nvSpPr>
          <p:cNvPr id="7" name="slide004-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04-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04-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44.29%  |  Prediction loss: 1.0700</a:t>
            </a:r>
          </a:p>
        </p:txBody>
      </p:sp>
      <p:sp>
        <p:nvSpPr>
          <p:cNvPr id="10" name="slide004-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4-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4-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04-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29,760</a:t>
            </a:r>
          </a:p>
        </p:txBody>
      </p:sp>
      <p:sp>
        <p:nvSpPr>
          <p:cNvPr id="14" name="slide004-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04-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4-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4-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04-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-70.24%</a:t>
            </a:r>
          </a:p>
        </p:txBody>
      </p:sp>
      <p:sp>
        <p:nvSpPr>
          <p:cNvPr id="19" name="slide004-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04-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4-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04-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4-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04-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4-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04-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4-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1,447 / 98.44%</a:t>
            </a:r>
          </a:p>
        </p:txBody>
      </p:sp>
      <p:sp>
        <p:nvSpPr>
          <p:cNvPr id="28" name="slide004-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4-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04-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4-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23.01%</a:t>
            </a:r>
          </a:p>
        </p:txBody>
      </p:sp>
      <p:sp>
        <p:nvSpPr>
          <p:cNvPr id="32" name="slide004-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4-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04-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4-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1739.52</a:t>
            </a:r>
          </a:p>
        </p:txBody>
      </p:sp>
      <p:sp>
        <p:nvSpPr>
          <p:cNvPr id="36" name="slide004-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4-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04-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4-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611.96</a:t>
            </a:r>
          </a:p>
        </p:txBody>
      </p:sp>
      <p:sp>
        <p:nvSpPr>
          <p:cNvPr id="40" name="slide004-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4-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04-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4-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-70,240 / -4.85%</a:t>
            </a:r>
          </a:p>
        </p:txBody>
      </p:sp>
      <p:sp>
        <p:nvSpPr>
          <p:cNvPr id="44" name="slide004-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4-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04-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4-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89.49%</a:t>
            </a:r>
          </a:p>
        </p:txBody>
      </p:sp>
      <p:sp>
        <p:nvSpPr>
          <p:cNvPr id="48" name="slide004-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0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0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0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AND ITS TRADING RULE | S017</a:t>
            </a:r>
          </a:p>
        </p:txBody>
      </p:sp>
      <p:sp>
        <p:nvSpPr>
          <p:cNvPr id="3" name="slide00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Team model: earlier team performance</a:t>
            </a:r>
          </a:p>
        </p:txBody>
      </p:sp>
      <p:sp>
        <p:nvSpPr>
          <p:cNvPr id="4" name="slide00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team performance and data-coverage controls; no player-performance or odds predictors. Trading statistics: 2022/23–2025/26, 1,470 matches.</a:t>
            </a:r>
          </a:p>
        </p:txBody>
      </p:sp>
      <p:sp>
        <p:nvSpPr>
          <p:cNvPr id="5" name="slide005-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05-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goals, shots on target, corners, points, rest days and previous-season results to estimate home/draw/away chances.</a:t>
            </a:r>
          </a:p>
        </p:txBody>
      </p:sp>
      <p:sp>
        <p:nvSpPr>
          <p:cNvPr id="7" name="slide005-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05-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05-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52.93%  |  Prediction loss: 0.9876</a:t>
            </a:r>
          </a:p>
        </p:txBody>
      </p:sp>
      <p:sp>
        <p:nvSpPr>
          <p:cNvPr id="10" name="slide005-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5-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5-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05-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119,790</a:t>
            </a:r>
          </a:p>
        </p:txBody>
      </p:sp>
      <p:sp>
        <p:nvSpPr>
          <p:cNvPr id="14" name="slide005-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05-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5-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5-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05-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19.79%</a:t>
            </a:r>
          </a:p>
        </p:txBody>
      </p:sp>
      <p:sp>
        <p:nvSpPr>
          <p:cNvPr id="19" name="slide005-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05-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5-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05-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5-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05-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5-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05-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5-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1,241 / 84.42%</a:t>
            </a:r>
          </a:p>
        </p:txBody>
      </p:sp>
      <p:sp>
        <p:nvSpPr>
          <p:cNvPr id="28" name="slide005-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5-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05-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5-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29.57%</a:t>
            </a:r>
          </a:p>
        </p:txBody>
      </p:sp>
      <p:sp>
        <p:nvSpPr>
          <p:cNvPr id="32" name="slide005-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5-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05-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5-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962.54</a:t>
            </a:r>
          </a:p>
        </p:txBody>
      </p:sp>
      <p:sp>
        <p:nvSpPr>
          <p:cNvPr id="36" name="slide005-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5-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05-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5-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648.43</a:t>
            </a:r>
          </a:p>
        </p:txBody>
      </p:sp>
      <p:sp>
        <p:nvSpPr>
          <p:cNvPr id="40" name="slide005-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5-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05-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5-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19,790 / 1.59%</a:t>
            </a:r>
          </a:p>
        </p:txBody>
      </p:sp>
      <p:sp>
        <p:nvSpPr>
          <p:cNvPr id="44" name="slide005-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5-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05-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5-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40.35%</a:t>
            </a:r>
          </a:p>
        </p:txBody>
      </p:sp>
      <p:sp>
        <p:nvSpPr>
          <p:cNvPr id="48" name="slide005-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0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0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0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MODEL AND ITS TRADING RULE | P009</a:t>
            </a:r>
          </a:p>
        </p:txBody>
      </p:sp>
      <p:sp>
        <p:nvSpPr>
          <p:cNvPr id="3" name="slide00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Player model: earlier Fantasy Premier League form</a:t>
            </a:r>
          </a:p>
        </p:txBody>
      </p:sp>
      <p:sp>
        <p:nvSpPr>
          <p:cNvPr id="4" name="slide00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previous player records; no team-strength or bookmaker-odds predictors. Trading statistics: 2022/23–2025/26, 1,470 matches.</a:t>
            </a:r>
          </a:p>
        </p:txBody>
      </p:sp>
      <p:sp>
        <p:nvSpPr>
          <p:cNvPr id="5" name="slide006-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06-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FPL points, goals and assists.</a:t>
            </a:r>
          </a:p>
          <a:p>
            <a:pPr algn="l">
              <a:lnSpc>
                <a:spcPct val="100000"/>
              </a:lnSpc>
              <a:spcBef>
                <a:spcPts val="0"/>
              </a:spcBef>
              <a:spcAft>
                <a:spcPts val="0"/>
              </a:spcAft>
            </a:pPr>
            <a:r>
              <a:rPr sz="2200" b="0">
                <a:solidFill>
                  <a:srgbClr val="11243A"/>
                </a:solidFill>
                <a:latin typeface="Arial"/>
              </a:rPr>
              <a:t>Adds minutes and other player statistics.</a:t>
            </a:r>
          </a:p>
          <a:p>
            <a:pPr algn="l">
              <a:lnSpc>
                <a:spcPct val="100000"/>
              </a:lnSpc>
              <a:spcBef>
                <a:spcPts val="0"/>
              </a:spcBef>
              <a:spcAft>
                <a:spcPts val="0"/>
              </a:spcAft>
            </a:pPr>
            <a:r>
              <a:rPr sz="2200" b="0">
                <a:solidFill>
                  <a:srgbClr val="11243A"/>
                </a:solidFill>
                <a:latin typeface="Arial"/>
              </a:rPr>
              <a:t>Looks back over five and ten games.</a:t>
            </a:r>
          </a:p>
        </p:txBody>
      </p:sp>
      <p:sp>
        <p:nvSpPr>
          <p:cNvPr id="7" name="slide006-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06-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06-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50.07%  |  Prediction loss: 1.0218</a:t>
            </a:r>
          </a:p>
        </p:txBody>
      </p:sp>
      <p:sp>
        <p:nvSpPr>
          <p:cNvPr id="10" name="slide006-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6-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6-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06-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a:t>
            </a:r>
          </a:p>
        </p:txBody>
      </p:sp>
      <p:sp>
        <p:nvSpPr>
          <p:cNvPr id="14" name="slide006-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06-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6-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6-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06-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-100.00%</a:t>
            </a:r>
          </a:p>
        </p:txBody>
      </p:sp>
      <p:sp>
        <p:nvSpPr>
          <p:cNvPr id="19" name="slide006-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06-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6-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06-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6-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06-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6-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06-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6-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944 / 64.22%</a:t>
            </a:r>
          </a:p>
        </p:txBody>
      </p:sp>
      <p:sp>
        <p:nvSpPr>
          <p:cNvPr id="28" name="slide006-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6-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06-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6-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25.00%</a:t>
            </a:r>
          </a:p>
        </p:txBody>
      </p:sp>
      <p:sp>
        <p:nvSpPr>
          <p:cNvPr id="32" name="slide006-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6-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06-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6-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1098.04</a:t>
            </a:r>
          </a:p>
        </p:txBody>
      </p:sp>
      <p:sp>
        <p:nvSpPr>
          <p:cNvPr id="36" name="slide006-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6-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06-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6-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618.22</a:t>
            </a:r>
          </a:p>
        </p:txBody>
      </p:sp>
      <p:sp>
        <p:nvSpPr>
          <p:cNvPr id="40" name="slide006-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6-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06-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6-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-100,000 / -10.87%</a:t>
            </a:r>
          </a:p>
        </p:txBody>
      </p:sp>
      <p:sp>
        <p:nvSpPr>
          <p:cNvPr id="44" name="slide006-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06-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06-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06-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48" name="slide006-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0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0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model_metrics_pooled.csv; metrics_continuous.parquet | Full paths in notes</a:t>
            </a:r>
          </a:p>
        </p:txBody>
      </p:sp>
      <p:sp>
        <p:nvSpPr>
          <p:cNvPr id="51" name="slide00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how much capital each rule uses</a:t>
            </a:r>
          </a:p>
        </p:txBody>
      </p:sp>
      <p:sp>
        <p:nvSpPr>
          <p:cNvPr id="4" name="slide00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Stake means the amount requested for one bet. The next pages state the setting for every strategy.</a:t>
            </a:r>
          </a:p>
        </p:txBody>
      </p:sp>
      <p:sp>
        <p:nvSpPr>
          <p:cNvPr id="5" name="slide007-element000-table-r00-c00-cell"/>
          <p:cNvSpPr/>
          <p:nvPr/>
        </p:nvSpPr>
        <p:spPr>
          <a:xfrm>
            <a:off x="594360" y="1874519"/>
            <a:ext cx="2548707"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7-element000-table-r00-c00-text"/>
          <p:cNvSpPr txBox="1"/>
          <p:nvPr/>
        </p:nvSpPr>
        <p:spPr>
          <a:xfrm>
            <a:off x="685800" y="194767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type</a:t>
            </a:r>
          </a:p>
        </p:txBody>
      </p:sp>
      <p:sp>
        <p:nvSpPr>
          <p:cNvPr id="7" name="slide007-element000-table-r00-c01-cell"/>
          <p:cNvSpPr/>
          <p:nvPr/>
        </p:nvSpPr>
        <p:spPr>
          <a:xfrm>
            <a:off x="3143067" y="1874519"/>
            <a:ext cx="6170554"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7-element000-table-r00-c01-text"/>
          <p:cNvSpPr txBox="1"/>
          <p:nvPr/>
        </p:nvSpPr>
        <p:spPr>
          <a:xfrm>
            <a:off x="3234507" y="194767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Plain meaning</a:t>
            </a:r>
          </a:p>
        </p:txBody>
      </p:sp>
      <p:sp>
        <p:nvSpPr>
          <p:cNvPr id="9" name="slide007-element000-table-r00-c02-cell"/>
          <p:cNvSpPr/>
          <p:nvPr/>
        </p:nvSpPr>
        <p:spPr>
          <a:xfrm>
            <a:off x="9313621" y="1874519"/>
            <a:ext cx="4694986"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7-element000-table-r00-c02-text"/>
          <p:cNvSpPr txBox="1"/>
          <p:nvPr/>
        </p:nvSpPr>
        <p:spPr>
          <a:xfrm>
            <a:off x="9405061" y="194767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Example</a:t>
            </a:r>
          </a:p>
        </p:txBody>
      </p:sp>
      <p:sp>
        <p:nvSpPr>
          <p:cNvPr id="11" name="slide007-element000-table-r01-c00-cell"/>
          <p:cNvSpPr/>
          <p:nvPr/>
        </p:nvSpPr>
        <p:spPr>
          <a:xfrm>
            <a:off x="594360" y="2686050"/>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7-element000-table-r01-c00-text"/>
          <p:cNvSpPr txBox="1"/>
          <p:nvPr/>
        </p:nvSpPr>
        <p:spPr>
          <a:xfrm>
            <a:off x="685800" y="275920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Fixed 1,000</a:t>
            </a:r>
          </a:p>
        </p:txBody>
      </p:sp>
      <p:sp>
        <p:nvSpPr>
          <p:cNvPr id="13" name="slide007-element000-table-r01-c01-cell"/>
          <p:cNvSpPr/>
          <p:nvPr/>
        </p:nvSpPr>
        <p:spPr>
          <a:xfrm>
            <a:off x="3143067" y="2686050"/>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7-element000-table-r01-c01-text"/>
          <p:cNvSpPr txBox="1"/>
          <p:nvPr/>
        </p:nvSpPr>
        <p:spPr>
          <a:xfrm>
            <a:off x="3234507" y="275920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Same requested amount each bet: 1% of INITIAL 100,000</a:t>
            </a:r>
          </a:p>
        </p:txBody>
      </p:sp>
      <p:sp>
        <p:nvSpPr>
          <p:cNvPr id="15" name="slide007-element000-table-r01-c02-cell"/>
          <p:cNvSpPr/>
          <p:nvPr/>
        </p:nvSpPr>
        <p:spPr>
          <a:xfrm>
            <a:off x="9313621" y="2686050"/>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7-element000-table-r01-c02-text"/>
          <p:cNvSpPr txBox="1"/>
          <p:nvPr/>
        </p:nvSpPr>
        <p:spPr>
          <a:xfrm>
            <a:off x="9405061" y="275920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still request 1,000</a:t>
            </a:r>
          </a:p>
        </p:txBody>
      </p:sp>
      <p:sp>
        <p:nvSpPr>
          <p:cNvPr id="17" name="slide007-element000-table-r02-c00-cell"/>
          <p:cNvSpPr/>
          <p:nvPr/>
        </p:nvSpPr>
        <p:spPr>
          <a:xfrm>
            <a:off x="594360" y="3497579"/>
            <a:ext cx="2548707"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7-element000-table-r02-c00-text"/>
          <p:cNvSpPr txBox="1"/>
          <p:nvPr/>
        </p:nvSpPr>
        <p:spPr>
          <a:xfrm>
            <a:off x="685800" y="357073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 of current cash</a:t>
            </a:r>
          </a:p>
        </p:txBody>
      </p:sp>
      <p:sp>
        <p:nvSpPr>
          <p:cNvPr id="19" name="slide007-element000-table-r02-c01-cell"/>
          <p:cNvSpPr/>
          <p:nvPr/>
        </p:nvSpPr>
        <p:spPr>
          <a:xfrm>
            <a:off x="3143067" y="3497579"/>
            <a:ext cx="6170554"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7-element000-table-r02-c01-text"/>
          <p:cNvSpPr txBox="1"/>
          <p:nvPr/>
        </p:nvSpPr>
        <p:spPr>
          <a:xfrm>
            <a:off x="3234507" y="357073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One percent of cash at the start of the match date</a:t>
            </a:r>
          </a:p>
        </p:txBody>
      </p:sp>
      <p:sp>
        <p:nvSpPr>
          <p:cNvPr id="21" name="slide007-element000-table-r02-c02-cell"/>
          <p:cNvSpPr/>
          <p:nvPr/>
        </p:nvSpPr>
        <p:spPr>
          <a:xfrm>
            <a:off x="9313621" y="3497579"/>
            <a:ext cx="4694986"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7-element000-table-r02-c02-text"/>
          <p:cNvSpPr txBox="1"/>
          <p:nvPr/>
        </p:nvSpPr>
        <p:spPr>
          <a:xfrm>
            <a:off x="9405061" y="357073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request 800</a:t>
            </a:r>
          </a:p>
        </p:txBody>
      </p:sp>
      <p:sp>
        <p:nvSpPr>
          <p:cNvPr id="23" name="slide007-element000-table-r03-c00-cell"/>
          <p:cNvSpPr/>
          <p:nvPr/>
        </p:nvSpPr>
        <p:spPr>
          <a:xfrm>
            <a:off x="594360" y="4309109"/>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7-element000-table-r03-c00-text"/>
          <p:cNvSpPr txBox="1"/>
          <p:nvPr/>
        </p:nvSpPr>
        <p:spPr>
          <a:xfrm>
            <a:off x="685800" y="438226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Kelly sizing</a:t>
            </a:r>
          </a:p>
        </p:txBody>
      </p:sp>
      <p:sp>
        <p:nvSpPr>
          <p:cNvPr id="25" name="slide007-element000-table-r03-c01-cell"/>
          <p:cNvSpPr/>
          <p:nvPr/>
        </p:nvSpPr>
        <p:spPr>
          <a:xfrm>
            <a:off x="3143067" y="4309109"/>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7-element000-table-r03-c01-text"/>
          <p:cNvSpPr txBox="1"/>
          <p:nvPr/>
        </p:nvSpPr>
        <p:spPr>
          <a:xfrm>
            <a:off x="3234507" y="438226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Amount varies with estimated advantage and odds; the listed % is a ceiling</a:t>
            </a:r>
          </a:p>
        </p:txBody>
      </p:sp>
      <p:sp>
        <p:nvSpPr>
          <p:cNvPr id="27" name="slide007-element000-table-r03-c02-cell"/>
          <p:cNvSpPr/>
          <p:nvPr/>
        </p:nvSpPr>
        <p:spPr>
          <a:xfrm>
            <a:off x="9313621" y="4309109"/>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7-element000-table-r03-c02-text"/>
          <p:cNvSpPr txBox="1"/>
          <p:nvPr/>
        </p:nvSpPr>
        <p:spPr>
          <a:xfrm>
            <a:off x="9405061" y="438226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 2% cap means at most 2,000 when cash is 100,000</a:t>
            </a:r>
          </a:p>
        </p:txBody>
      </p:sp>
      <p:sp>
        <p:nvSpPr>
          <p:cNvPr id="29" name="slide007-element001-text"/>
          <p:cNvSpPr txBox="1"/>
          <p:nvPr/>
        </p:nvSpPr>
        <p:spPr>
          <a:xfrm>
            <a:off x="594360" y="5468112"/>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Kelly example: 100,000 cash, a 40% chance and odds of 3.</a:t>
            </a:r>
          </a:p>
          <a:p>
            <a:pPr algn="l">
              <a:lnSpc>
                <a:spcPct val="100000"/>
              </a:lnSpc>
              <a:spcBef>
                <a:spcPts val="0"/>
              </a:spcBef>
              <a:spcAft>
                <a:spcPts val="0"/>
              </a:spcAft>
            </a:pPr>
            <a:r>
              <a:rPr sz="2000" b="0">
                <a:solidFill>
                  <a:srgbClr val="11243A"/>
                </a:solidFill>
                <a:latin typeface="Arial"/>
              </a:rPr>
              <a:t>Quarter Kelly requests 2,500; a 2% cap reduces the bet to 2,000.</a:t>
            </a:r>
          </a:p>
        </p:txBody>
      </p:sp>
      <p:sp>
        <p:nvSpPr>
          <p:cNvPr id="30" name="slide007-element002-text"/>
          <p:cNvSpPr txBox="1"/>
          <p:nvPr/>
        </p:nvSpPr>
        <p:spPr>
          <a:xfrm>
            <a:off x="594360" y="6318504"/>
            <a:ext cx="13350240" cy="50292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Kelly stake = opening cash × min(cap, Kelly fraction × (probability × odds − 1) / (odds − 1)).</a:t>
            </a:r>
          </a:p>
        </p:txBody>
      </p:sp>
      <p:sp>
        <p:nvSpPr>
          <p:cNvPr id="31" name="slide007-element003-text"/>
          <p:cNvSpPr txBox="1"/>
          <p:nvPr/>
        </p:nvSpPr>
        <p:spPr>
          <a:xfrm>
            <a:off x="594360" y="6940296"/>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bets on a date share opening cash. Date caps apply to their combined stakes. Reduce all requests proportionally when needed; never borrow.</a:t>
            </a:r>
          </a:p>
        </p:txBody>
      </p:sp>
      <p:cxnSp>
        <p:nvCxnSpPr>
          <p:cNvPr id="32" name="slide00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3" name="slide00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engine.py; all_strategy_catalog.json | Full paths in notes</a:t>
            </a:r>
          </a:p>
        </p:txBody>
      </p:sp>
      <p:sp>
        <p:nvSpPr>
          <p:cNvPr id="34" name="slide00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(1/9)</a:t>
            </a:r>
          </a:p>
        </p:txBody>
      </p:sp>
      <p:sp>
        <p:nvSpPr>
          <p:cNvPr id="4" name="slide00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08-element000-table-r00-c00-cell"/>
          <p:cNvSpPr/>
          <p:nvPr/>
        </p:nvSpPr>
        <p:spPr>
          <a:xfrm>
            <a:off x="594360" y="1847088"/>
            <a:ext cx="160970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8-element000-table-r00-c00-text"/>
          <p:cNvSpPr txBox="1"/>
          <p:nvPr/>
        </p:nvSpPr>
        <p:spPr>
          <a:xfrm>
            <a:off x="685800" y="19202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08-element000-table-r00-c01-cell"/>
          <p:cNvSpPr/>
          <p:nvPr/>
        </p:nvSpPr>
        <p:spPr>
          <a:xfrm>
            <a:off x="2204069"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8-element000-table-r00-c01-text"/>
          <p:cNvSpPr txBox="1"/>
          <p:nvPr/>
        </p:nvSpPr>
        <p:spPr>
          <a:xfrm>
            <a:off x="2295509"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08-element000-table-r00-c02-cell"/>
          <p:cNvSpPr/>
          <p:nvPr/>
        </p:nvSpPr>
        <p:spPr>
          <a:xfrm>
            <a:off x="5557631"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8-element000-table-r00-c02-text"/>
          <p:cNvSpPr txBox="1"/>
          <p:nvPr/>
        </p:nvSpPr>
        <p:spPr>
          <a:xfrm>
            <a:off x="5649071"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08-element000-table-r00-c03-cell"/>
          <p:cNvSpPr/>
          <p:nvPr/>
        </p:nvSpPr>
        <p:spPr>
          <a:xfrm>
            <a:off x="8911193" y="1847088"/>
            <a:ext cx="321941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8-element000-table-r00-c03-text"/>
          <p:cNvSpPr txBox="1"/>
          <p:nvPr/>
        </p:nvSpPr>
        <p:spPr>
          <a:xfrm>
            <a:off x="9002633" y="19202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08-element000-table-r00-c04-cell"/>
          <p:cNvSpPr/>
          <p:nvPr/>
        </p:nvSpPr>
        <p:spPr>
          <a:xfrm>
            <a:off x="12130613" y="1847088"/>
            <a:ext cx="187799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8-element000-table-r00-c04-text"/>
          <p:cNvSpPr txBox="1"/>
          <p:nvPr/>
        </p:nvSpPr>
        <p:spPr>
          <a:xfrm>
            <a:off x="12222053" y="19202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08-element000-table-r01-c00-cell"/>
          <p:cNvSpPr/>
          <p:nvPr/>
        </p:nvSpPr>
        <p:spPr>
          <a:xfrm>
            <a:off x="594360" y="239572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8-element000-table-r01-c00-text"/>
          <p:cNvSpPr txBox="1"/>
          <p:nvPr/>
        </p:nvSpPr>
        <p:spPr>
          <a:xfrm>
            <a:off x="685800" y="246888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S001–S004</a:t>
            </a:r>
          </a:p>
        </p:txBody>
      </p:sp>
      <p:sp>
        <p:nvSpPr>
          <p:cNvPr id="17" name="slide008-element000-table-r01-c01-cell"/>
          <p:cNvSpPr/>
          <p:nvPr/>
        </p:nvSpPr>
        <p:spPr>
          <a:xfrm>
            <a:off x="2204069"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8-element000-table-r01-c01-text"/>
          <p:cNvSpPr txBox="1"/>
          <p:nvPr/>
        </p:nvSpPr>
        <p:spPr>
          <a:xfrm>
            <a:off x="2295509"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08-element000-table-r01-c02-cell"/>
          <p:cNvSpPr/>
          <p:nvPr/>
        </p:nvSpPr>
        <p:spPr>
          <a:xfrm>
            <a:off x="5557631"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8-element000-table-r01-c02-text"/>
          <p:cNvSpPr txBox="1"/>
          <p:nvPr/>
        </p:nvSpPr>
        <p:spPr>
          <a:xfrm>
            <a:off x="5649071"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21" name="slide008-element000-table-r01-c03-cell"/>
          <p:cNvSpPr/>
          <p:nvPr/>
        </p:nvSpPr>
        <p:spPr>
          <a:xfrm>
            <a:off x="8911193" y="239572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8-element000-table-r01-c03-text"/>
          <p:cNvSpPr txBox="1"/>
          <p:nvPr/>
        </p:nvSpPr>
        <p:spPr>
          <a:xfrm>
            <a:off x="9002633" y="246888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23" name="slide008-element000-table-r01-c04-cell"/>
          <p:cNvSpPr/>
          <p:nvPr/>
        </p:nvSpPr>
        <p:spPr>
          <a:xfrm>
            <a:off x="12130613" y="239572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8-element000-table-r01-c04-text"/>
          <p:cNvSpPr txBox="1"/>
          <p:nvPr/>
        </p:nvSpPr>
        <p:spPr>
          <a:xfrm>
            <a:off x="12222053" y="246888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25" name="slide008-element000-table-r02-c00-cell"/>
          <p:cNvSpPr/>
          <p:nvPr/>
        </p:nvSpPr>
        <p:spPr>
          <a:xfrm>
            <a:off x="594360" y="294436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8-element000-table-r02-c00-text"/>
          <p:cNvSpPr txBox="1"/>
          <p:nvPr/>
        </p:nvSpPr>
        <p:spPr>
          <a:xfrm>
            <a:off x="685800" y="30175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 S006</a:t>
            </a:r>
          </a:p>
        </p:txBody>
      </p:sp>
      <p:sp>
        <p:nvSpPr>
          <p:cNvPr id="27" name="slide008-element000-table-r02-c01-cell"/>
          <p:cNvSpPr/>
          <p:nvPr/>
        </p:nvSpPr>
        <p:spPr>
          <a:xfrm>
            <a:off x="2204069"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8-element000-table-r02-c01-text"/>
          <p:cNvSpPr txBox="1"/>
          <p:nvPr/>
        </p:nvSpPr>
        <p:spPr>
          <a:xfrm>
            <a:off x="2295509"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08-element000-table-r02-c02-cell"/>
          <p:cNvSpPr/>
          <p:nvPr/>
        </p:nvSpPr>
        <p:spPr>
          <a:xfrm>
            <a:off x="5557631"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8-element000-table-r02-c02-text"/>
          <p:cNvSpPr txBox="1"/>
          <p:nvPr/>
        </p:nvSpPr>
        <p:spPr>
          <a:xfrm>
            <a:off x="5649071"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08-element000-table-r02-c03-cell"/>
          <p:cNvSpPr/>
          <p:nvPr/>
        </p:nvSpPr>
        <p:spPr>
          <a:xfrm>
            <a:off x="8911193" y="294436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8-element000-table-r02-c03-text"/>
          <p:cNvSpPr txBox="1"/>
          <p:nvPr/>
        </p:nvSpPr>
        <p:spPr>
          <a:xfrm>
            <a:off x="9002633" y="30175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1,000</a:t>
            </a:r>
          </a:p>
          <a:p>
            <a:pPr algn="l">
              <a:lnSpc>
                <a:spcPct val="100000"/>
              </a:lnSpc>
              <a:spcBef>
                <a:spcPts val="0"/>
              </a:spcBef>
              <a:spcAft>
                <a:spcPts val="0"/>
              </a:spcAft>
            </a:pPr>
            <a:r>
              <a:rPr sz="1300" b="0">
                <a:solidFill>
                  <a:srgbClr val="11243A"/>
                </a:solidFill>
                <a:latin typeface="Arial"/>
              </a:rPr>
              <a:t>S006: 1/4 Kelly; ≤2% cash</a:t>
            </a:r>
          </a:p>
        </p:txBody>
      </p:sp>
      <p:sp>
        <p:nvSpPr>
          <p:cNvPr id="33" name="slide008-element000-table-r02-c04-cell"/>
          <p:cNvSpPr/>
          <p:nvPr/>
        </p:nvSpPr>
        <p:spPr>
          <a:xfrm>
            <a:off x="12130613" y="294436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8-element000-table-r02-c04-text"/>
          <p:cNvSpPr txBox="1"/>
          <p:nvPr/>
        </p:nvSpPr>
        <p:spPr>
          <a:xfrm>
            <a:off x="12222053" y="30175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08-element000-table-r03-c00-cell"/>
          <p:cNvSpPr/>
          <p:nvPr/>
        </p:nvSpPr>
        <p:spPr>
          <a:xfrm>
            <a:off x="594360" y="349300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8-element000-table-r03-c00-text"/>
          <p:cNvSpPr txBox="1"/>
          <p:nvPr/>
        </p:nvSpPr>
        <p:spPr>
          <a:xfrm>
            <a:off x="685800" y="35661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 S008</a:t>
            </a:r>
          </a:p>
        </p:txBody>
      </p:sp>
      <p:sp>
        <p:nvSpPr>
          <p:cNvPr id="37" name="slide008-element000-table-r03-c01-cell"/>
          <p:cNvSpPr/>
          <p:nvPr/>
        </p:nvSpPr>
        <p:spPr>
          <a:xfrm>
            <a:off x="2204069"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8-element000-table-r03-c01-text"/>
          <p:cNvSpPr txBox="1"/>
          <p:nvPr/>
        </p:nvSpPr>
        <p:spPr>
          <a:xfrm>
            <a:off x="2295509"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39" name="slide008-element000-table-r03-c02-cell"/>
          <p:cNvSpPr/>
          <p:nvPr/>
        </p:nvSpPr>
        <p:spPr>
          <a:xfrm>
            <a:off x="5557631"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8-element000-table-r03-c02-text"/>
          <p:cNvSpPr txBox="1"/>
          <p:nvPr/>
        </p:nvSpPr>
        <p:spPr>
          <a:xfrm>
            <a:off x="5649071"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08-element000-table-r03-c03-cell"/>
          <p:cNvSpPr/>
          <p:nvPr/>
        </p:nvSpPr>
        <p:spPr>
          <a:xfrm>
            <a:off x="8911193" y="349300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8-element000-table-r03-c03-text"/>
          <p:cNvSpPr txBox="1"/>
          <p:nvPr/>
        </p:nvSpPr>
        <p:spPr>
          <a:xfrm>
            <a:off x="9002633" y="35661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1,000</a:t>
            </a:r>
          </a:p>
          <a:p>
            <a:pPr algn="l">
              <a:lnSpc>
                <a:spcPct val="100000"/>
              </a:lnSpc>
              <a:spcBef>
                <a:spcPts val="0"/>
              </a:spcBef>
              <a:spcAft>
                <a:spcPts val="0"/>
              </a:spcAft>
            </a:pPr>
            <a:r>
              <a:rPr sz="1300" b="0">
                <a:solidFill>
                  <a:srgbClr val="11243A"/>
                </a:solidFill>
                <a:latin typeface="Arial"/>
              </a:rPr>
              <a:t>S008: 1/4 Kelly; ≤2% cash</a:t>
            </a:r>
          </a:p>
        </p:txBody>
      </p:sp>
      <p:sp>
        <p:nvSpPr>
          <p:cNvPr id="43" name="slide008-element000-table-r03-c04-cell"/>
          <p:cNvSpPr/>
          <p:nvPr/>
        </p:nvSpPr>
        <p:spPr>
          <a:xfrm>
            <a:off x="12130613" y="349300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8-element000-table-r03-c04-text"/>
          <p:cNvSpPr txBox="1"/>
          <p:nvPr/>
        </p:nvSpPr>
        <p:spPr>
          <a:xfrm>
            <a:off x="12222053" y="35661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45" name="slide008-element000-table-r04-c00-cell"/>
          <p:cNvSpPr/>
          <p:nvPr/>
        </p:nvSpPr>
        <p:spPr>
          <a:xfrm>
            <a:off x="594360" y="404164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8-element000-table-r04-c00-text"/>
          <p:cNvSpPr txBox="1"/>
          <p:nvPr/>
        </p:nvSpPr>
        <p:spPr>
          <a:xfrm>
            <a:off x="685800" y="41148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S009–S012</a:t>
            </a:r>
          </a:p>
        </p:txBody>
      </p:sp>
      <p:sp>
        <p:nvSpPr>
          <p:cNvPr id="47" name="slide008-element000-table-r04-c01-cell"/>
          <p:cNvSpPr/>
          <p:nvPr/>
        </p:nvSpPr>
        <p:spPr>
          <a:xfrm>
            <a:off x="2204069"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8-element000-table-r04-c01-text"/>
          <p:cNvSpPr txBox="1"/>
          <p:nvPr/>
        </p:nvSpPr>
        <p:spPr>
          <a:xfrm>
            <a:off x="2295509"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08-element000-table-r04-c02-cell"/>
          <p:cNvSpPr/>
          <p:nvPr/>
        </p:nvSpPr>
        <p:spPr>
          <a:xfrm>
            <a:off x="5557631"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8-element000-table-r04-c02-text"/>
          <p:cNvSpPr txBox="1"/>
          <p:nvPr/>
        </p:nvSpPr>
        <p:spPr>
          <a:xfrm>
            <a:off x="5649071"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51" name="slide008-element000-table-r04-c03-cell"/>
          <p:cNvSpPr/>
          <p:nvPr/>
        </p:nvSpPr>
        <p:spPr>
          <a:xfrm>
            <a:off x="8911193" y="404164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8-element000-table-r04-c03-text"/>
          <p:cNvSpPr txBox="1"/>
          <p:nvPr/>
        </p:nvSpPr>
        <p:spPr>
          <a:xfrm>
            <a:off x="9002633" y="41148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53" name="slide008-element000-table-r04-c04-cell"/>
          <p:cNvSpPr/>
          <p:nvPr/>
        </p:nvSpPr>
        <p:spPr>
          <a:xfrm>
            <a:off x="12130613" y="404164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8-element000-table-r04-c04-text"/>
          <p:cNvSpPr txBox="1"/>
          <p:nvPr/>
        </p:nvSpPr>
        <p:spPr>
          <a:xfrm>
            <a:off x="12222053" y="41148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55" name="slide008-element000-table-r05-c00-cell"/>
          <p:cNvSpPr/>
          <p:nvPr/>
        </p:nvSpPr>
        <p:spPr>
          <a:xfrm>
            <a:off x="594360" y="459028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8-element000-table-r05-c00-text"/>
          <p:cNvSpPr txBox="1"/>
          <p:nvPr/>
        </p:nvSpPr>
        <p:spPr>
          <a:xfrm>
            <a:off x="685800" y="46634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 S014</a:t>
            </a:r>
          </a:p>
        </p:txBody>
      </p:sp>
      <p:sp>
        <p:nvSpPr>
          <p:cNvPr id="57" name="slide008-element000-table-r05-c01-cell"/>
          <p:cNvSpPr/>
          <p:nvPr/>
        </p:nvSpPr>
        <p:spPr>
          <a:xfrm>
            <a:off x="2204069"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8-element000-table-r05-c01-text"/>
          <p:cNvSpPr txBox="1"/>
          <p:nvPr/>
        </p:nvSpPr>
        <p:spPr>
          <a:xfrm>
            <a:off x="2295509"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08-element000-table-r05-c02-cell"/>
          <p:cNvSpPr/>
          <p:nvPr/>
        </p:nvSpPr>
        <p:spPr>
          <a:xfrm>
            <a:off x="5557631"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8-element000-table-r05-c02-text"/>
          <p:cNvSpPr txBox="1"/>
          <p:nvPr/>
        </p:nvSpPr>
        <p:spPr>
          <a:xfrm>
            <a:off x="5649071"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08-element000-table-r05-c03-cell"/>
          <p:cNvSpPr/>
          <p:nvPr/>
        </p:nvSpPr>
        <p:spPr>
          <a:xfrm>
            <a:off x="8911193" y="459028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8-element000-table-r05-c03-text"/>
          <p:cNvSpPr txBox="1"/>
          <p:nvPr/>
        </p:nvSpPr>
        <p:spPr>
          <a:xfrm>
            <a:off x="9002633" y="46634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1,000</a:t>
            </a:r>
          </a:p>
          <a:p>
            <a:pPr algn="l">
              <a:lnSpc>
                <a:spcPct val="100000"/>
              </a:lnSpc>
              <a:spcBef>
                <a:spcPts val="0"/>
              </a:spcBef>
              <a:spcAft>
                <a:spcPts val="0"/>
              </a:spcAft>
            </a:pPr>
            <a:r>
              <a:rPr sz="1300" b="0">
                <a:solidFill>
                  <a:srgbClr val="11243A"/>
                </a:solidFill>
                <a:latin typeface="Arial"/>
              </a:rPr>
              <a:t>S014: 1/4 Kelly; ≤2% cash</a:t>
            </a:r>
          </a:p>
        </p:txBody>
      </p:sp>
      <p:sp>
        <p:nvSpPr>
          <p:cNvPr id="63" name="slide008-element000-table-r05-c04-cell"/>
          <p:cNvSpPr/>
          <p:nvPr/>
        </p:nvSpPr>
        <p:spPr>
          <a:xfrm>
            <a:off x="12130613" y="459028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8-element000-table-r05-c04-text"/>
          <p:cNvSpPr txBox="1"/>
          <p:nvPr/>
        </p:nvSpPr>
        <p:spPr>
          <a:xfrm>
            <a:off x="12222053" y="46634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08-element000-table-r06-c00-cell"/>
          <p:cNvSpPr/>
          <p:nvPr/>
        </p:nvSpPr>
        <p:spPr>
          <a:xfrm>
            <a:off x="594360" y="5138927"/>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08-element000-table-r06-c00-text"/>
          <p:cNvSpPr txBox="1"/>
          <p:nvPr/>
        </p:nvSpPr>
        <p:spPr>
          <a:xfrm>
            <a:off x="685800" y="5212079"/>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 S016</a:t>
            </a:r>
          </a:p>
        </p:txBody>
      </p:sp>
      <p:sp>
        <p:nvSpPr>
          <p:cNvPr id="67" name="slide008-element000-table-r06-c01-cell"/>
          <p:cNvSpPr/>
          <p:nvPr/>
        </p:nvSpPr>
        <p:spPr>
          <a:xfrm>
            <a:off x="2204069"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08-element000-table-r06-c01-text"/>
          <p:cNvSpPr txBox="1"/>
          <p:nvPr/>
        </p:nvSpPr>
        <p:spPr>
          <a:xfrm>
            <a:off x="2295509"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08-element000-table-r06-c02-cell"/>
          <p:cNvSpPr/>
          <p:nvPr/>
        </p:nvSpPr>
        <p:spPr>
          <a:xfrm>
            <a:off x="5557631"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08-element000-table-r06-c02-text"/>
          <p:cNvSpPr txBox="1"/>
          <p:nvPr/>
        </p:nvSpPr>
        <p:spPr>
          <a:xfrm>
            <a:off x="5649071"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08-element000-table-r06-c03-cell"/>
          <p:cNvSpPr/>
          <p:nvPr/>
        </p:nvSpPr>
        <p:spPr>
          <a:xfrm>
            <a:off x="8911193" y="5138927"/>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08-element000-table-r06-c03-text"/>
          <p:cNvSpPr txBox="1"/>
          <p:nvPr/>
        </p:nvSpPr>
        <p:spPr>
          <a:xfrm>
            <a:off x="9002633" y="5212079"/>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1,000</a:t>
            </a:r>
          </a:p>
          <a:p>
            <a:pPr algn="l">
              <a:lnSpc>
                <a:spcPct val="100000"/>
              </a:lnSpc>
              <a:spcBef>
                <a:spcPts val="0"/>
              </a:spcBef>
              <a:spcAft>
                <a:spcPts val="0"/>
              </a:spcAft>
            </a:pPr>
            <a:r>
              <a:rPr sz="1300" b="0">
                <a:solidFill>
                  <a:srgbClr val="11243A"/>
                </a:solidFill>
                <a:latin typeface="Arial"/>
              </a:rPr>
              <a:t>S016: 1/4 Kelly; ≤2% cash</a:t>
            </a:r>
          </a:p>
        </p:txBody>
      </p:sp>
      <p:sp>
        <p:nvSpPr>
          <p:cNvPr id="73" name="slide008-element000-table-r06-c04-cell"/>
          <p:cNvSpPr/>
          <p:nvPr/>
        </p:nvSpPr>
        <p:spPr>
          <a:xfrm>
            <a:off x="12130613" y="5138927"/>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08-element000-table-r06-c04-text"/>
          <p:cNvSpPr txBox="1"/>
          <p:nvPr/>
        </p:nvSpPr>
        <p:spPr>
          <a:xfrm>
            <a:off x="12222053" y="5212079"/>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08-element000-table-r07-c00-cell"/>
          <p:cNvSpPr/>
          <p:nvPr/>
        </p:nvSpPr>
        <p:spPr>
          <a:xfrm>
            <a:off x="594360" y="568756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08-element000-table-r07-c00-text"/>
          <p:cNvSpPr txBox="1"/>
          <p:nvPr/>
        </p:nvSpPr>
        <p:spPr>
          <a:xfrm>
            <a:off x="685800" y="57607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 S018</a:t>
            </a:r>
          </a:p>
        </p:txBody>
      </p:sp>
      <p:sp>
        <p:nvSpPr>
          <p:cNvPr id="77" name="slide008-element000-table-r07-c01-cell"/>
          <p:cNvSpPr/>
          <p:nvPr/>
        </p:nvSpPr>
        <p:spPr>
          <a:xfrm>
            <a:off x="2204069"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08-element000-table-r07-c01-text"/>
          <p:cNvSpPr txBox="1"/>
          <p:nvPr/>
        </p:nvSpPr>
        <p:spPr>
          <a:xfrm>
            <a:off x="2295509"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a:t>
            </a:r>
          </a:p>
        </p:txBody>
      </p:sp>
      <p:sp>
        <p:nvSpPr>
          <p:cNvPr id="79" name="slide008-element000-table-r07-c02-cell"/>
          <p:cNvSpPr/>
          <p:nvPr/>
        </p:nvSpPr>
        <p:spPr>
          <a:xfrm>
            <a:off x="5557631"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08-element000-table-r07-c02-text"/>
          <p:cNvSpPr txBox="1"/>
          <p:nvPr/>
        </p:nvSpPr>
        <p:spPr>
          <a:xfrm>
            <a:off x="5649071"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08-element000-table-r07-c03-cell"/>
          <p:cNvSpPr/>
          <p:nvPr/>
        </p:nvSpPr>
        <p:spPr>
          <a:xfrm>
            <a:off x="8911193" y="568756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08-element000-table-r07-c03-text"/>
          <p:cNvSpPr txBox="1"/>
          <p:nvPr/>
        </p:nvSpPr>
        <p:spPr>
          <a:xfrm>
            <a:off x="9002633" y="57607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1,000</a:t>
            </a:r>
          </a:p>
          <a:p>
            <a:pPr algn="l">
              <a:lnSpc>
                <a:spcPct val="100000"/>
              </a:lnSpc>
              <a:spcBef>
                <a:spcPts val="0"/>
              </a:spcBef>
              <a:spcAft>
                <a:spcPts val="0"/>
              </a:spcAft>
            </a:pPr>
            <a:r>
              <a:rPr sz="1300" b="0">
                <a:solidFill>
                  <a:srgbClr val="11243A"/>
                </a:solidFill>
                <a:latin typeface="Arial"/>
              </a:rPr>
              <a:t>S018: 1/4 Kelly; ≤2% cash</a:t>
            </a:r>
          </a:p>
        </p:txBody>
      </p:sp>
      <p:sp>
        <p:nvSpPr>
          <p:cNvPr id="83" name="slide008-element000-table-r07-c04-cell"/>
          <p:cNvSpPr/>
          <p:nvPr/>
        </p:nvSpPr>
        <p:spPr>
          <a:xfrm>
            <a:off x="12130613" y="568756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08-element000-table-r07-c04-text"/>
          <p:cNvSpPr txBox="1"/>
          <p:nvPr/>
        </p:nvSpPr>
        <p:spPr>
          <a:xfrm>
            <a:off x="12222053" y="57607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08-element000-table-r08-c00-cell"/>
          <p:cNvSpPr/>
          <p:nvPr/>
        </p:nvSpPr>
        <p:spPr>
          <a:xfrm>
            <a:off x="594360" y="623620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08-element000-table-r08-c00-text"/>
          <p:cNvSpPr txBox="1"/>
          <p:nvPr/>
        </p:nvSpPr>
        <p:spPr>
          <a:xfrm>
            <a:off x="685800" y="63093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 S020</a:t>
            </a:r>
          </a:p>
        </p:txBody>
      </p:sp>
      <p:sp>
        <p:nvSpPr>
          <p:cNvPr id="87" name="slide008-element000-table-r08-c01-cell"/>
          <p:cNvSpPr/>
          <p:nvPr/>
        </p:nvSpPr>
        <p:spPr>
          <a:xfrm>
            <a:off x="2204069"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08-element000-table-r08-c01-text"/>
          <p:cNvSpPr txBox="1"/>
          <p:nvPr/>
        </p:nvSpPr>
        <p:spPr>
          <a:xfrm>
            <a:off x="2295509"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chance quality</a:t>
            </a:r>
          </a:p>
        </p:txBody>
      </p:sp>
      <p:sp>
        <p:nvSpPr>
          <p:cNvPr id="89" name="slide008-element000-table-r08-c02-cell"/>
          <p:cNvSpPr/>
          <p:nvPr/>
        </p:nvSpPr>
        <p:spPr>
          <a:xfrm>
            <a:off x="5557631"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08-element000-table-r08-c02-text"/>
          <p:cNvSpPr txBox="1"/>
          <p:nvPr/>
        </p:nvSpPr>
        <p:spPr>
          <a:xfrm>
            <a:off x="5649071"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08-element000-table-r08-c03-cell"/>
          <p:cNvSpPr/>
          <p:nvPr/>
        </p:nvSpPr>
        <p:spPr>
          <a:xfrm>
            <a:off x="8911193" y="623620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08-element000-table-r08-c03-text"/>
          <p:cNvSpPr txBox="1"/>
          <p:nvPr/>
        </p:nvSpPr>
        <p:spPr>
          <a:xfrm>
            <a:off x="9002633" y="63093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1,000</a:t>
            </a:r>
          </a:p>
          <a:p>
            <a:pPr algn="l">
              <a:lnSpc>
                <a:spcPct val="100000"/>
              </a:lnSpc>
              <a:spcBef>
                <a:spcPts val="0"/>
              </a:spcBef>
              <a:spcAft>
                <a:spcPts val="0"/>
              </a:spcAft>
            </a:pPr>
            <a:r>
              <a:rPr sz="1300" b="0">
                <a:solidFill>
                  <a:srgbClr val="11243A"/>
                </a:solidFill>
                <a:latin typeface="Arial"/>
              </a:rPr>
              <a:t>S020: 1/4 Kelly; ≤2% cash</a:t>
            </a:r>
          </a:p>
        </p:txBody>
      </p:sp>
      <p:sp>
        <p:nvSpPr>
          <p:cNvPr id="93" name="slide008-element000-table-r08-c04-cell"/>
          <p:cNvSpPr/>
          <p:nvPr/>
        </p:nvSpPr>
        <p:spPr>
          <a:xfrm>
            <a:off x="12130613" y="623620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08-element000-table-r08-c04-text"/>
          <p:cNvSpPr txBox="1"/>
          <p:nvPr/>
        </p:nvSpPr>
        <p:spPr>
          <a:xfrm>
            <a:off x="12222053" y="63093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95" name="slide008-element000-table-r09-c00-cell"/>
          <p:cNvSpPr/>
          <p:nvPr/>
        </p:nvSpPr>
        <p:spPr>
          <a:xfrm>
            <a:off x="594360" y="678484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08-element000-table-r09-c00-text"/>
          <p:cNvSpPr txBox="1"/>
          <p:nvPr/>
        </p:nvSpPr>
        <p:spPr>
          <a:xfrm>
            <a:off x="685800" y="68580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 S022</a:t>
            </a:r>
          </a:p>
        </p:txBody>
      </p:sp>
      <p:sp>
        <p:nvSpPr>
          <p:cNvPr id="97" name="slide008-element000-table-r09-c01-cell"/>
          <p:cNvSpPr/>
          <p:nvPr/>
        </p:nvSpPr>
        <p:spPr>
          <a:xfrm>
            <a:off x="2204069"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08-element000-table-r09-c01-text"/>
          <p:cNvSpPr txBox="1"/>
          <p:nvPr/>
        </p:nvSpPr>
        <p:spPr>
          <a:xfrm>
            <a:off x="2295509"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player form</a:t>
            </a:r>
          </a:p>
        </p:txBody>
      </p:sp>
      <p:sp>
        <p:nvSpPr>
          <p:cNvPr id="99" name="slide008-element000-table-r09-c02-cell"/>
          <p:cNvSpPr/>
          <p:nvPr/>
        </p:nvSpPr>
        <p:spPr>
          <a:xfrm>
            <a:off x="5557631"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08-element000-table-r09-c02-text"/>
          <p:cNvSpPr txBox="1"/>
          <p:nvPr/>
        </p:nvSpPr>
        <p:spPr>
          <a:xfrm>
            <a:off x="5649071"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101" name="slide008-element000-table-r09-c03-cell"/>
          <p:cNvSpPr/>
          <p:nvPr/>
        </p:nvSpPr>
        <p:spPr>
          <a:xfrm>
            <a:off x="8911193" y="678484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08-element000-table-r09-c03-text"/>
          <p:cNvSpPr txBox="1"/>
          <p:nvPr/>
        </p:nvSpPr>
        <p:spPr>
          <a:xfrm>
            <a:off x="9002633" y="68580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1,000</a:t>
            </a:r>
          </a:p>
          <a:p>
            <a:pPr algn="l">
              <a:lnSpc>
                <a:spcPct val="100000"/>
              </a:lnSpc>
              <a:spcBef>
                <a:spcPts val="0"/>
              </a:spcBef>
              <a:spcAft>
                <a:spcPts val="0"/>
              </a:spcAft>
            </a:pPr>
            <a:r>
              <a:rPr sz="1300" b="0">
                <a:solidFill>
                  <a:srgbClr val="11243A"/>
                </a:solidFill>
                <a:latin typeface="Arial"/>
              </a:rPr>
              <a:t>S022: 1/4 Kelly; ≤2% cash</a:t>
            </a:r>
          </a:p>
        </p:txBody>
      </p:sp>
      <p:sp>
        <p:nvSpPr>
          <p:cNvPr id="103" name="slide008-element000-table-r09-c04-cell"/>
          <p:cNvSpPr/>
          <p:nvPr/>
        </p:nvSpPr>
        <p:spPr>
          <a:xfrm>
            <a:off x="12130613" y="678484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08-element000-table-r09-c04-text"/>
          <p:cNvSpPr txBox="1"/>
          <p:nvPr/>
        </p:nvSpPr>
        <p:spPr>
          <a:xfrm>
            <a:off x="12222053" y="68580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105" name="slide00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06" name="slide00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107" name="slide00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0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(2/9)</a:t>
            </a:r>
          </a:p>
        </p:txBody>
      </p:sp>
      <p:sp>
        <p:nvSpPr>
          <p:cNvPr id="4" name="slide00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09-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9-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09-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9-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09-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9-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09-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9-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09-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9-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09-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9-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 S024</a:t>
            </a:r>
          </a:p>
        </p:txBody>
      </p:sp>
      <p:sp>
        <p:nvSpPr>
          <p:cNvPr id="17" name="slide009-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9-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19" name="slide009-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9-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09-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9-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1,000</a:t>
            </a:r>
          </a:p>
          <a:p>
            <a:pPr algn="l">
              <a:lnSpc>
                <a:spcPct val="100000"/>
              </a:lnSpc>
              <a:spcBef>
                <a:spcPts val="0"/>
              </a:spcBef>
              <a:spcAft>
                <a:spcPts val="0"/>
              </a:spcAft>
            </a:pPr>
            <a:r>
              <a:rPr sz="1300" b="0">
                <a:solidFill>
                  <a:srgbClr val="11243A"/>
                </a:solidFill>
                <a:latin typeface="Arial"/>
              </a:rPr>
              <a:t>S024: 1/4 Kelly; ≤2% cash</a:t>
            </a:r>
          </a:p>
        </p:txBody>
      </p:sp>
      <p:sp>
        <p:nvSpPr>
          <p:cNvPr id="23" name="slide009-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9-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09-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9-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 S055</a:t>
            </a:r>
          </a:p>
        </p:txBody>
      </p:sp>
      <p:sp>
        <p:nvSpPr>
          <p:cNvPr id="27" name="slide009-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9-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09-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9-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09-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9-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1% of current cash</a:t>
            </a:r>
          </a:p>
          <a:p>
            <a:pPr algn="l">
              <a:lnSpc>
                <a:spcPct val="100000"/>
              </a:lnSpc>
              <a:spcBef>
                <a:spcPts val="0"/>
              </a:spcBef>
              <a:spcAft>
                <a:spcPts val="0"/>
              </a:spcAft>
            </a:pPr>
            <a:r>
              <a:rPr sz="1300" b="0">
                <a:solidFill>
                  <a:srgbClr val="11243A"/>
                </a:solidFill>
                <a:latin typeface="Arial"/>
              </a:rPr>
              <a:t>S055: 1/8 Kelly; ≤1% cash</a:t>
            </a:r>
          </a:p>
        </p:txBody>
      </p:sp>
      <p:sp>
        <p:nvSpPr>
          <p:cNvPr id="33" name="slide009-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9-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09-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9-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a:t>
            </a:r>
          </a:p>
        </p:txBody>
      </p:sp>
      <p:sp>
        <p:nvSpPr>
          <p:cNvPr id="37" name="slide009-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9-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39" name="slide009-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9-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09-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9-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 1/2 Kelly; ≤2% cash</a:t>
            </a:r>
          </a:p>
        </p:txBody>
      </p:sp>
      <p:sp>
        <p:nvSpPr>
          <p:cNvPr id="43" name="slide009-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9-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09-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9-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 S026</a:t>
            </a:r>
          </a:p>
        </p:txBody>
      </p:sp>
      <p:sp>
        <p:nvSpPr>
          <p:cNvPr id="47" name="slide009-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9-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 form</a:t>
            </a:r>
          </a:p>
        </p:txBody>
      </p:sp>
      <p:sp>
        <p:nvSpPr>
          <p:cNvPr id="49" name="slide009-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9-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09-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9-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1,000</a:t>
            </a:r>
          </a:p>
          <a:p>
            <a:pPr algn="l">
              <a:lnSpc>
                <a:spcPct val="100000"/>
              </a:lnSpc>
              <a:spcBef>
                <a:spcPts val="0"/>
              </a:spcBef>
              <a:spcAft>
                <a:spcPts val="0"/>
              </a:spcAft>
            </a:pPr>
            <a:r>
              <a:rPr sz="1300" b="0">
                <a:solidFill>
                  <a:srgbClr val="11243A"/>
                </a:solidFill>
                <a:latin typeface="Arial"/>
              </a:rPr>
              <a:t>S026: 1/4 Kelly; ≤2% cash</a:t>
            </a:r>
          </a:p>
        </p:txBody>
      </p:sp>
      <p:sp>
        <p:nvSpPr>
          <p:cNvPr id="53" name="slide009-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9-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09-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9-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 S028</a:t>
            </a:r>
          </a:p>
        </p:txBody>
      </p:sp>
      <p:sp>
        <p:nvSpPr>
          <p:cNvPr id="57" name="slide009-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9-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 quality</a:t>
            </a:r>
          </a:p>
        </p:txBody>
      </p:sp>
      <p:sp>
        <p:nvSpPr>
          <p:cNvPr id="59" name="slide009-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9-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09-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9-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1,000</a:t>
            </a:r>
          </a:p>
          <a:p>
            <a:pPr algn="l">
              <a:lnSpc>
                <a:spcPct val="100000"/>
              </a:lnSpc>
              <a:spcBef>
                <a:spcPts val="0"/>
              </a:spcBef>
              <a:spcAft>
                <a:spcPts val="0"/>
              </a:spcAft>
            </a:pPr>
            <a:r>
              <a:rPr sz="1300" b="0">
                <a:solidFill>
                  <a:srgbClr val="11243A"/>
                </a:solidFill>
                <a:latin typeface="Arial"/>
              </a:rPr>
              <a:t>S028: 1/4 Kelly; ≤2% cash</a:t>
            </a:r>
          </a:p>
        </p:txBody>
      </p:sp>
      <p:sp>
        <p:nvSpPr>
          <p:cNvPr id="63" name="slide009-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9-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09-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09-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 S030</a:t>
            </a:r>
          </a:p>
        </p:txBody>
      </p:sp>
      <p:sp>
        <p:nvSpPr>
          <p:cNvPr id="67" name="slide009-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09-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team/player form</a:t>
            </a:r>
          </a:p>
        </p:txBody>
      </p:sp>
      <p:sp>
        <p:nvSpPr>
          <p:cNvPr id="69" name="slide009-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09-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09-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09-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1,000</a:t>
            </a:r>
          </a:p>
          <a:p>
            <a:pPr algn="l">
              <a:lnSpc>
                <a:spcPct val="100000"/>
              </a:lnSpc>
              <a:spcBef>
                <a:spcPts val="0"/>
              </a:spcBef>
              <a:spcAft>
                <a:spcPts val="0"/>
              </a:spcAft>
            </a:pPr>
            <a:r>
              <a:rPr sz="1300" b="0">
                <a:solidFill>
                  <a:srgbClr val="11243A"/>
                </a:solidFill>
                <a:latin typeface="Arial"/>
              </a:rPr>
              <a:t>S030: 1/4 Kelly; ≤2% cash</a:t>
            </a:r>
          </a:p>
        </p:txBody>
      </p:sp>
      <p:sp>
        <p:nvSpPr>
          <p:cNvPr id="73" name="slide009-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09-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09-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09-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 S032</a:t>
            </a:r>
          </a:p>
        </p:txBody>
      </p:sp>
      <p:sp>
        <p:nvSpPr>
          <p:cNvPr id="77" name="slide009-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09-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79" name="slide009-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09-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09-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09-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1,000</a:t>
            </a:r>
          </a:p>
          <a:p>
            <a:pPr algn="l">
              <a:lnSpc>
                <a:spcPct val="100000"/>
              </a:lnSpc>
              <a:spcBef>
                <a:spcPts val="0"/>
              </a:spcBef>
              <a:spcAft>
                <a:spcPts val="0"/>
              </a:spcAft>
            </a:pPr>
            <a:r>
              <a:rPr sz="1300" b="0">
                <a:solidFill>
                  <a:srgbClr val="11243A"/>
                </a:solidFill>
                <a:latin typeface="Arial"/>
              </a:rPr>
              <a:t>S032: 1/4 Kelly; ≤2% cash</a:t>
            </a:r>
          </a:p>
        </p:txBody>
      </p:sp>
      <p:sp>
        <p:nvSpPr>
          <p:cNvPr id="83" name="slide009-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09-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09-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09-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 S057</a:t>
            </a:r>
          </a:p>
        </p:txBody>
      </p:sp>
      <p:sp>
        <p:nvSpPr>
          <p:cNvPr id="87" name="slide009-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09-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09-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09-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09-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09-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1% of current cash</a:t>
            </a:r>
          </a:p>
          <a:p>
            <a:pPr algn="l">
              <a:lnSpc>
                <a:spcPct val="100000"/>
              </a:lnSpc>
              <a:spcBef>
                <a:spcPts val="0"/>
              </a:spcBef>
              <a:spcAft>
                <a:spcPts val="0"/>
              </a:spcAft>
            </a:pPr>
            <a:r>
              <a:rPr sz="1300" b="0">
                <a:solidFill>
                  <a:srgbClr val="11243A"/>
                </a:solidFill>
                <a:latin typeface="Arial"/>
              </a:rPr>
              <a:t>S057: 1/8 Kelly; ≤1% cash</a:t>
            </a:r>
          </a:p>
        </p:txBody>
      </p:sp>
      <p:sp>
        <p:nvSpPr>
          <p:cNvPr id="93" name="slide009-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09-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0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0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0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(3/9)</a:t>
            </a:r>
          </a:p>
        </p:txBody>
      </p:sp>
      <p:sp>
        <p:nvSpPr>
          <p:cNvPr id="4" name="slide01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0-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0-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0-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0-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0-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0-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0-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0-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0-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0-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0-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0-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a:t>
            </a:r>
          </a:p>
        </p:txBody>
      </p:sp>
      <p:sp>
        <p:nvSpPr>
          <p:cNvPr id="17" name="slide010-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0-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10-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0-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0-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0-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 1/2 Kelly; ≤2% cash</a:t>
            </a:r>
          </a:p>
        </p:txBody>
      </p:sp>
      <p:sp>
        <p:nvSpPr>
          <p:cNvPr id="23" name="slide010-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0-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0-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0-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 S034</a:t>
            </a:r>
          </a:p>
        </p:txBody>
      </p:sp>
      <p:sp>
        <p:nvSpPr>
          <p:cNvPr id="27" name="slide010-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0-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Past home/draw/away frequencies</a:t>
            </a:r>
          </a:p>
        </p:txBody>
      </p:sp>
      <p:sp>
        <p:nvSpPr>
          <p:cNvPr id="29" name="slide010-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0-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0-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0-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1,000</a:t>
            </a:r>
          </a:p>
          <a:p>
            <a:pPr algn="l">
              <a:lnSpc>
                <a:spcPct val="100000"/>
              </a:lnSpc>
              <a:spcBef>
                <a:spcPts val="0"/>
              </a:spcBef>
              <a:spcAft>
                <a:spcPts val="0"/>
              </a:spcAft>
            </a:pPr>
            <a:r>
              <a:rPr sz="1300" b="0">
                <a:solidFill>
                  <a:srgbClr val="11243A"/>
                </a:solidFill>
                <a:latin typeface="Arial"/>
              </a:rPr>
              <a:t>S034: 1/4 Kelly; ≤2% cash</a:t>
            </a:r>
          </a:p>
        </p:txBody>
      </p:sp>
      <p:sp>
        <p:nvSpPr>
          <p:cNvPr id="33" name="slide010-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0-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0-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0-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 S036</a:t>
            </a:r>
          </a:p>
        </p:txBody>
      </p:sp>
      <p:sp>
        <p:nvSpPr>
          <p:cNvPr id="37" name="slide010-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0-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39" name="slide010-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0-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0-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0-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1,000</a:t>
            </a:r>
          </a:p>
          <a:p>
            <a:pPr algn="l">
              <a:lnSpc>
                <a:spcPct val="100000"/>
              </a:lnSpc>
              <a:spcBef>
                <a:spcPts val="0"/>
              </a:spcBef>
              <a:spcAft>
                <a:spcPts val="0"/>
              </a:spcAft>
            </a:pPr>
            <a:r>
              <a:rPr sz="1300" b="0">
                <a:solidFill>
                  <a:srgbClr val="11243A"/>
                </a:solidFill>
                <a:latin typeface="Arial"/>
              </a:rPr>
              <a:t>S036: 1/4 Kelly; ≤2% cash</a:t>
            </a:r>
          </a:p>
        </p:txBody>
      </p:sp>
      <p:sp>
        <p:nvSpPr>
          <p:cNvPr id="43" name="slide010-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0-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0-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0-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 S038</a:t>
            </a:r>
          </a:p>
        </p:txBody>
      </p:sp>
      <p:sp>
        <p:nvSpPr>
          <p:cNvPr id="47" name="slide010-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0-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Calibrated bookmaker probabilities</a:t>
            </a:r>
          </a:p>
        </p:txBody>
      </p:sp>
      <p:sp>
        <p:nvSpPr>
          <p:cNvPr id="49" name="slide010-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0-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0-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0-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1,000</a:t>
            </a:r>
          </a:p>
          <a:p>
            <a:pPr algn="l">
              <a:lnSpc>
                <a:spcPct val="100000"/>
              </a:lnSpc>
              <a:spcBef>
                <a:spcPts val="0"/>
              </a:spcBef>
              <a:spcAft>
                <a:spcPts val="0"/>
              </a:spcAft>
            </a:pPr>
            <a:r>
              <a:rPr sz="1300" b="0">
                <a:solidFill>
                  <a:srgbClr val="11243A"/>
                </a:solidFill>
                <a:latin typeface="Arial"/>
              </a:rPr>
              <a:t>S038: 1/4 Kelly; ≤2% cash</a:t>
            </a:r>
          </a:p>
        </p:txBody>
      </p:sp>
      <p:sp>
        <p:nvSpPr>
          <p:cNvPr id="53" name="slide010-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0-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0-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0-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a:t>
            </a:r>
          </a:p>
        </p:txBody>
      </p:sp>
      <p:sp>
        <p:nvSpPr>
          <p:cNvPr id="57" name="slide010-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0-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59" name="slide010-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0-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home win</a:t>
            </a:r>
          </a:p>
          <a:p>
            <a:pPr algn="l">
              <a:lnSpc>
                <a:spcPct val="100000"/>
              </a:lnSpc>
              <a:spcBef>
                <a:spcPts val="0"/>
              </a:spcBef>
              <a:spcAft>
                <a:spcPts val="0"/>
              </a:spcAft>
            </a:pPr>
            <a:r>
              <a:rPr sz="1300" b="0">
                <a:solidFill>
                  <a:srgbClr val="11243A"/>
                </a:solidFill>
                <a:latin typeface="Arial"/>
              </a:rPr>
              <a:t>No return filter</a:t>
            </a:r>
          </a:p>
        </p:txBody>
      </p:sp>
      <p:sp>
        <p:nvSpPr>
          <p:cNvPr id="61" name="slide010-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0-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 1,000</a:t>
            </a:r>
          </a:p>
        </p:txBody>
      </p:sp>
      <p:sp>
        <p:nvSpPr>
          <p:cNvPr id="63" name="slide010-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0-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0-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0-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a:t>
            </a:r>
          </a:p>
        </p:txBody>
      </p:sp>
      <p:sp>
        <p:nvSpPr>
          <p:cNvPr id="67" name="slide010-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0-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69" name="slide010-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0-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draw</a:t>
            </a:r>
          </a:p>
          <a:p>
            <a:pPr algn="l">
              <a:lnSpc>
                <a:spcPct val="100000"/>
              </a:lnSpc>
              <a:spcBef>
                <a:spcPts val="0"/>
              </a:spcBef>
              <a:spcAft>
                <a:spcPts val="0"/>
              </a:spcAft>
            </a:pPr>
            <a:r>
              <a:rPr sz="1300" b="0">
                <a:solidFill>
                  <a:srgbClr val="11243A"/>
                </a:solidFill>
                <a:latin typeface="Arial"/>
              </a:rPr>
              <a:t>No return filter</a:t>
            </a:r>
          </a:p>
        </p:txBody>
      </p:sp>
      <p:sp>
        <p:nvSpPr>
          <p:cNvPr id="71" name="slide010-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0-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 1,000</a:t>
            </a:r>
          </a:p>
        </p:txBody>
      </p:sp>
      <p:sp>
        <p:nvSpPr>
          <p:cNvPr id="73" name="slide010-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0-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0-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0-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a:t>
            </a:r>
          </a:p>
        </p:txBody>
      </p:sp>
      <p:sp>
        <p:nvSpPr>
          <p:cNvPr id="77" name="slide010-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0-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79" name="slide010-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0-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away win</a:t>
            </a:r>
          </a:p>
          <a:p>
            <a:pPr algn="l">
              <a:lnSpc>
                <a:spcPct val="100000"/>
              </a:lnSpc>
              <a:spcBef>
                <a:spcPts val="0"/>
              </a:spcBef>
              <a:spcAft>
                <a:spcPts val="0"/>
              </a:spcAft>
            </a:pPr>
            <a:r>
              <a:rPr sz="1300" b="0">
                <a:solidFill>
                  <a:srgbClr val="11243A"/>
                </a:solidFill>
                <a:latin typeface="Arial"/>
              </a:rPr>
              <a:t>No return filter</a:t>
            </a:r>
          </a:p>
        </p:txBody>
      </p:sp>
      <p:sp>
        <p:nvSpPr>
          <p:cNvPr id="81" name="slide010-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0-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1,000</a:t>
            </a:r>
          </a:p>
        </p:txBody>
      </p:sp>
      <p:sp>
        <p:nvSpPr>
          <p:cNvPr id="83" name="slide010-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0-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0-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0-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a:t>
            </a:r>
          </a:p>
        </p:txBody>
      </p:sp>
      <p:sp>
        <p:nvSpPr>
          <p:cNvPr id="87" name="slide010-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0-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89" name="slide010-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0-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91" name="slide010-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0-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 1,000</a:t>
            </a:r>
          </a:p>
        </p:txBody>
      </p:sp>
      <p:sp>
        <p:nvSpPr>
          <p:cNvPr id="93" name="slide010-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0-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(4/9)</a:t>
            </a:r>
          </a:p>
        </p:txBody>
      </p:sp>
      <p:sp>
        <p:nvSpPr>
          <p:cNvPr id="4" name="slide01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1-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1-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1-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1-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1-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1-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1-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1-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1-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1-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1-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1-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a:t>
            </a:r>
          </a:p>
        </p:txBody>
      </p:sp>
      <p:sp>
        <p:nvSpPr>
          <p:cNvPr id="17" name="slide011-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1-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19" name="slide011-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1-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least likely result</a:t>
            </a:r>
          </a:p>
          <a:p>
            <a:pPr algn="l">
              <a:lnSpc>
                <a:spcPct val="100000"/>
              </a:lnSpc>
              <a:spcBef>
                <a:spcPts val="0"/>
              </a:spcBef>
              <a:spcAft>
                <a:spcPts val="0"/>
              </a:spcAft>
            </a:pPr>
            <a:r>
              <a:rPr sz="1300" b="0">
                <a:solidFill>
                  <a:srgbClr val="11243A"/>
                </a:solidFill>
                <a:latin typeface="Arial"/>
              </a:rPr>
              <a:t>No return filter</a:t>
            </a:r>
          </a:p>
        </p:txBody>
      </p:sp>
      <p:sp>
        <p:nvSpPr>
          <p:cNvPr id="21" name="slide011-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1-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1,000</a:t>
            </a:r>
          </a:p>
        </p:txBody>
      </p:sp>
      <p:sp>
        <p:nvSpPr>
          <p:cNvPr id="23" name="slide011-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1-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1-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1-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a:t>
            </a:r>
          </a:p>
        </p:txBody>
      </p:sp>
      <p:sp>
        <p:nvSpPr>
          <p:cNvPr id="27" name="slide011-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1-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11-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1-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31" name="slide011-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1-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 1,000</a:t>
            </a:r>
          </a:p>
        </p:txBody>
      </p:sp>
      <p:sp>
        <p:nvSpPr>
          <p:cNvPr id="33" name="slide011-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1-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1-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1-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a:t>
            </a:r>
          </a:p>
        </p:txBody>
      </p:sp>
      <p:sp>
        <p:nvSpPr>
          <p:cNvPr id="37" name="slide011-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1-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11-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1-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41" name="slide011-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1-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 1,000</a:t>
            </a:r>
          </a:p>
        </p:txBody>
      </p:sp>
      <p:sp>
        <p:nvSpPr>
          <p:cNvPr id="43" name="slide011-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1-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1-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1-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 S047</a:t>
            </a:r>
          </a:p>
        </p:txBody>
      </p:sp>
      <p:sp>
        <p:nvSpPr>
          <p:cNvPr id="47" name="slide011-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1-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four team/player forecasts</a:t>
            </a:r>
          </a:p>
        </p:txBody>
      </p:sp>
      <p:sp>
        <p:nvSpPr>
          <p:cNvPr id="49" name="slide011-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1-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1-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1-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1,000</a:t>
            </a:r>
          </a:p>
          <a:p>
            <a:pPr algn="l">
              <a:lnSpc>
                <a:spcPct val="100000"/>
              </a:lnSpc>
              <a:spcBef>
                <a:spcPts val="0"/>
              </a:spcBef>
              <a:spcAft>
                <a:spcPts val="0"/>
              </a:spcAft>
            </a:pPr>
            <a:r>
              <a:rPr sz="1300" b="0">
                <a:solidFill>
                  <a:srgbClr val="11243A"/>
                </a:solidFill>
                <a:latin typeface="Arial"/>
              </a:rPr>
              <a:t>S047: 1/4 Kelly; ≤2% cash</a:t>
            </a:r>
          </a:p>
        </p:txBody>
      </p:sp>
      <p:sp>
        <p:nvSpPr>
          <p:cNvPr id="53" name="slide011-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1-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1-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1-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 S049</a:t>
            </a:r>
          </a:p>
        </p:txBody>
      </p:sp>
      <p:sp>
        <p:nvSpPr>
          <p:cNvPr id="57" name="slide011-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1-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11-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1-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1-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1-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1,000</a:t>
            </a:r>
          </a:p>
          <a:p>
            <a:pPr algn="l">
              <a:lnSpc>
                <a:spcPct val="100000"/>
              </a:lnSpc>
              <a:spcBef>
                <a:spcPts val="0"/>
              </a:spcBef>
              <a:spcAft>
                <a:spcPts val="0"/>
              </a:spcAft>
            </a:pPr>
            <a:r>
              <a:rPr sz="1300" b="0">
                <a:solidFill>
                  <a:srgbClr val="11243A"/>
                </a:solidFill>
                <a:latin typeface="Arial"/>
              </a:rPr>
              <a:t>S049: 1/4 Kelly; ≤2% cash</a:t>
            </a:r>
          </a:p>
        </p:txBody>
      </p:sp>
      <p:sp>
        <p:nvSpPr>
          <p:cNvPr id="63" name="slide011-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1-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1-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1-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a:t>
            </a:r>
          </a:p>
        </p:txBody>
      </p:sp>
      <p:sp>
        <p:nvSpPr>
          <p:cNvPr id="67" name="slide011-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1-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11-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1-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1-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1-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 1% of current cash</a:t>
            </a:r>
          </a:p>
        </p:txBody>
      </p:sp>
      <p:sp>
        <p:nvSpPr>
          <p:cNvPr id="73" name="slide011-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1-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1-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1-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 S051</a:t>
            </a:r>
          </a:p>
        </p:txBody>
      </p:sp>
      <p:sp>
        <p:nvSpPr>
          <p:cNvPr id="77" name="slide011-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1-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Half combined forecast, half bookmaker</a:t>
            </a:r>
          </a:p>
        </p:txBody>
      </p:sp>
      <p:sp>
        <p:nvSpPr>
          <p:cNvPr id="79" name="slide011-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1-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1-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1-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1,000</a:t>
            </a:r>
          </a:p>
          <a:p>
            <a:pPr algn="l">
              <a:lnSpc>
                <a:spcPct val="100000"/>
              </a:lnSpc>
              <a:spcBef>
                <a:spcPts val="0"/>
              </a:spcBef>
              <a:spcAft>
                <a:spcPts val="0"/>
              </a:spcAft>
            </a:pPr>
            <a:r>
              <a:rPr sz="1300" b="0">
                <a:solidFill>
                  <a:srgbClr val="11243A"/>
                </a:solidFill>
                <a:latin typeface="Arial"/>
              </a:rPr>
              <a:t>S051: 1/4 Kelly; ≤2% cash</a:t>
            </a:r>
          </a:p>
        </p:txBody>
      </p:sp>
      <p:sp>
        <p:nvSpPr>
          <p:cNvPr id="83" name="slide011-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1-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1-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1-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a:t>
            </a:r>
          </a:p>
        </p:txBody>
      </p:sp>
      <p:sp>
        <p:nvSpPr>
          <p:cNvPr id="87" name="slide011-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1-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89" name="slide011-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1-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1-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1-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 1/4 Kelly; ≤2% cash</a:t>
            </a:r>
          </a:p>
        </p:txBody>
      </p:sp>
      <p:sp>
        <p:nvSpPr>
          <p:cNvPr id="93" name="slide011-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1-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cxnSp>
        <p:nvCxnSpPr>
          <p:cNvPr id="95" name="slide01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(5/9)</a:t>
            </a:r>
          </a:p>
        </p:txBody>
      </p:sp>
      <p:sp>
        <p:nvSpPr>
          <p:cNvPr id="4" name="slide01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2-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2-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2-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2-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2-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2-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2-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2-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2-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2-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2-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2-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a:t>
            </a:r>
          </a:p>
        </p:txBody>
      </p:sp>
      <p:sp>
        <p:nvSpPr>
          <p:cNvPr id="17" name="slide012-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2-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12-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2-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2-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2-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 1/4 Kelly; ≤2% cash</a:t>
            </a:r>
          </a:p>
        </p:txBody>
      </p:sp>
      <p:sp>
        <p:nvSpPr>
          <p:cNvPr id="23" name="slide012-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2-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25" name="slide012-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2-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a:t>
            </a:r>
          </a:p>
        </p:txBody>
      </p:sp>
      <p:sp>
        <p:nvSpPr>
          <p:cNvPr id="27" name="slide012-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2-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29" name="slide012-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2-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2-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2-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 1/4 Kelly; ≤2% cash</a:t>
            </a:r>
          </a:p>
        </p:txBody>
      </p:sp>
      <p:sp>
        <p:nvSpPr>
          <p:cNvPr id="33" name="slide012-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2-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35" name="slide012-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2-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 S063</a:t>
            </a:r>
          </a:p>
        </p:txBody>
      </p:sp>
      <p:sp>
        <p:nvSpPr>
          <p:cNvPr id="37" name="slide012-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2-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39" name="slide012-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2-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Positive return: 6/8 models</a:t>
            </a:r>
          </a:p>
        </p:txBody>
      </p:sp>
      <p:sp>
        <p:nvSpPr>
          <p:cNvPr id="41" name="slide012-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2-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1,000</a:t>
            </a:r>
          </a:p>
          <a:p>
            <a:pPr algn="l">
              <a:lnSpc>
                <a:spcPct val="100000"/>
              </a:lnSpc>
              <a:spcBef>
                <a:spcPts val="0"/>
              </a:spcBef>
              <a:spcAft>
                <a:spcPts val="0"/>
              </a:spcAft>
            </a:pPr>
            <a:r>
              <a:rPr sz="1300" b="0">
                <a:solidFill>
                  <a:srgbClr val="11243A"/>
                </a:solidFill>
                <a:latin typeface="Arial"/>
              </a:rPr>
              <a:t>S063: 1/4 Kelly; ≤2% cash</a:t>
            </a:r>
          </a:p>
        </p:txBody>
      </p:sp>
      <p:sp>
        <p:nvSpPr>
          <p:cNvPr id="43" name="slide012-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2-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2-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2-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a:t>
            </a:r>
          </a:p>
        </p:txBody>
      </p:sp>
      <p:sp>
        <p:nvSpPr>
          <p:cNvPr id="47" name="slide012-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2-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12-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2-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H</a:t>
            </a:r>
          </a:p>
        </p:txBody>
      </p:sp>
      <p:sp>
        <p:nvSpPr>
          <p:cNvPr id="51" name="slide012-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2-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 1,000</a:t>
            </a:r>
          </a:p>
        </p:txBody>
      </p:sp>
      <p:sp>
        <p:nvSpPr>
          <p:cNvPr id="53" name="slide012-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2-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2-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2-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a:t>
            </a:r>
          </a:p>
        </p:txBody>
      </p:sp>
      <p:sp>
        <p:nvSpPr>
          <p:cNvPr id="57" name="slide012-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2-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12-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2-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D</a:t>
            </a:r>
          </a:p>
        </p:txBody>
      </p:sp>
      <p:sp>
        <p:nvSpPr>
          <p:cNvPr id="61" name="slide012-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2-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 1,000</a:t>
            </a:r>
          </a:p>
        </p:txBody>
      </p:sp>
      <p:sp>
        <p:nvSpPr>
          <p:cNvPr id="63" name="slide012-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2-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2-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2-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a:t>
            </a:r>
          </a:p>
        </p:txBody>
      </p:sp>
      <p:sp>
        <p:nvSpPr>
          <p:cNvPr id="67" name="slide012-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2-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12-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2-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A</a:t>
            </a:r>
          </a:p>
        </p:txBody>
      </p:sp>
      <p:sp>
        <p:nvSpPr>
          <p:cNvPr id="71" name="slide012-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2-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 1,000</a:t>
            </a:r>
          </a:p>
        </p:txBody>
      </p:sp>
      <p:sp>
        <p:nvSpPr>
          <p:cNvPr id="73" name="slide012-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2-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2-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2-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a:t>
            </a:r>
          </a:p>
        </p:txBody>
      </p:sp>
      <p:sp>
        <p:nvSpPr>
          <p:cNvPr id="77" name="slide012-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2-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79" name="slide012-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2-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81" name="slide012-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2-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 1,000</a:t>
            </a:r>
          </a:p>
        </p:txBody>
      </p:sp>
      <p:sp>
        <p:nvSpPr>
          <p:cNvPr id="83" name="slide012-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2-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2-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2-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a:t>
            </a:r>
          </a:p>
        </p:txBody>
      </p:sp>
      <p:sp>
        <p:nvSpPr>
          <p:cNvPr id="87" name="slide012-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2-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12-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2-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12-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2-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 1,000</a:t>
            </a:r>
          </a:p>
        </p:txBody>
      </p:sp>
      <p:sp>
        <p:nvSpPr>
          <p:cNvPr id="93" name="slide012-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2-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(6/9)</a:t>
            </a:r>
          </a:p>
        </p:txBody>
      </p:sp>
      <p:sp>
        <p:nvSpPr>
          <p:cNvPr id="4" name="slide01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3-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3-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3-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3-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3-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3-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3-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3-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3-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3-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3-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3-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a:t>
            </a:r>
          </a:p>
        </p:txBody>
      </p:sp>
      <p:sp>
        <p:nvSpPr>
          <p:cNvPr id="17" name="slide013-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3-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19" name="slide013-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3-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21" name="slide013-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3-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 1,000</a:t>
            </a:r>
          </a:p>
        </p:txBody>
      </p:sp>
      <p:sp>
        <p:nvSpPr>
          <p:cNvPr id="23" name="slide013-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3-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3-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3-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a:t>
            </a:r>
          </a:p>
        </p:txBody>
      </p:sp>
      <p:sp>
        <p:nvSpPr>
          <p:cNvPr id="27" name="slide013-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3-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13-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3-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31" name="slide013-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3-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 1,000</a:t>
            </a:r>
          </a:p>
        </p:txBody>
      </p:sp>
      <p:sp>
        <p:nvSpPr>
          <p:cNvPr id="33" name="slide013-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3-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3-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3-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a:t>
            </a:r>
          </a:p>
        </p:txBody>
      </p:sp>
      <p:sp>
        <p:nvSpPr>
          <p:cNvPr id="37" name="slide013-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3-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13-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3-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41" name="slide013-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3-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 1,000</a:t>
            </a:r>
          </a:p>
        </p:txBody>
      </p:sp>
      <p:sp>
        <p:nvSpPr>
          <p:cNvPr id="43" name="slide013-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3-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3-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3-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a:t>
            </a:r>
          </a:p>
        </p:txBody>
      </p:sp>
      <p:sp>
        <p:nvSpPr>
          <p:cNvPr id="47" name="slide013-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3-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13-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3-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51" name="slide013-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3-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 1,000</a:t>
            </a:r>
          </a:p>
        </p:txBody>
      </p:sp>
      <p:sp>
        <p:nvSpPr>
          <p:cNvPr id="53" name="slide013-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3-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3-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3-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a:t>
            </a:r>
          </a:p>
        </p:txBody>
      </p:sp>
      <p:sp>
        <p:nvSpPr>
          <p:cNvPr id="57" name="slide013-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3-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59" name="slide013-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3-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61" name="slide013-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3-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 1,000</a:t>
            </a:r>
          </a:p>
        </p:txBody>
      </p:sp>
      <p:sp>
        <p:nvSpPr>
          <p:cNvPr id="63" name="slide013-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3-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3-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3-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a:t>
            </a:r>
          </a:p>
        </p:txBody>
      </p:sp>
      <p:sp>
        <p:nvSpPr>
          <p:cNvPr id="67" name="slide013-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3-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69" name="slide013-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3-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71" name="slide013-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3-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 1,000</a:t>
            </a:r>
          </a:p>
        </p:txBody>
      </p:sp>
      <p:sp>
        <p:nvSpPr>
          <p:cNvPr id="73" name="slide013-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3-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3-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3-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a:t>
            </a:r>
          </a:p>
        </p:txBody>
      </p:sp>
      <p:sp>
        <p:nvSpPr>
          <p:cNvPr id="77" name="slide013-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3-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79" name="slide013-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3-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81" name="slide013-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3-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 1,000</a:t>
            </a:r>
          </a:p>
        </p:txBody>
      </p:sp>
      <p:sp>
        <p:nvSpPr>
          <p:cNvPr id="83" name="slide013-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3-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3-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3-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a:t>
            </a:r>
          </a:p>
        </p:txBody>
      </p:sp>
      <p:sp>
        <p:nvSpPr>
          <p:cNvPr id="87" name="slide013-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3-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89" name="slide013-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3-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13-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3-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 1,000</a:t>
            </a:r>
          </a:p>
        </p:txBody>
      </p:sp>
      <p:sp>
        <p:nvSpPr>
          <p:cNvPr id="93" name="slide013-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3-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(7/9)</a:t>
            </a:r>
          </a:p>
        </p:txBody>
      </p:sp>
      <p:sp>
        <p:nvSpPr>
          <p:cNvPr id="4" name="slide01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4-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4-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4-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4-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4-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4-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4-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4-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4-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4-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4-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4-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a:t>
            </a:r>
          </a:p>
        </p:txBody>
      </p:sp>
      <p:sp>
        <p:nvSpPr>
          <p:cNvPr id="17" name="slide014-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4-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14-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4-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21" name="slide014-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4-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 1,000</a:t>
            </a:r>
          </a:p>
        </p:txBody>
      </p:sp>
      <p:sp>
        <p:nvSpPr>
          <p:cNvPr id="23" name="slide014-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4-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4-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4-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a:t>
            </a:r>
          </a:p>
        </p:txBody>
      </p:sp>
      <p:sp>
        <p:nvSpPr>
          <p:cNvPr id="27" name="slide014-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4-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14-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4-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31" name="slide014-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4-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 1,000</a:t>
            </a:r>
          </a:p>
        </p:txBody>
      </p:sp>
      <p:sp>
        <p:nvSpPr>
          <p:cNvPr id="33" name="slide014-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4-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4-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4-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a:t>
            </a:r>
          </a:p>
        </p:txBody>
      </p:sp>
      <p:sp>
        <p:nvSpPr>
          <p:cNvPr id="37" name="slide014-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4-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39" name="slide014-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4-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41" name="slide014-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4-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 1,000</a:t>
            </a:r>
          </a:p>
        </p:txBody>
      </p:sp>
      <p:sp>
        <p:nvSpPr>
          <p:cNvPr id="43" name="slide014-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4-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4-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4-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a:t>
            </a:r>
          </a:p>
        </p:txBody>
      </p:sp>
      <p:sp>
        <p:nvSpPr>
          <p:cNvPr id="47" name="slide014-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4-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14-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4-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51" name="slide014-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4-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 1,000</a:t>
            </a:r>
          </a:p>
        </p:txBody>
      </p:sp>
      <p:sp>
        <p:nvSpPr>
          <p:cNvPr id="53" name="slide014-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4-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4-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4-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a:t>
            </a:r>
          </a:p>
        </p:txBody>
      </p:sp>
      <p:sp>
        <p:nvSpPr>
          <p:cNvPr id="57" name="slide014-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4-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14-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4-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61" name="slide014-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4-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 1,000</a:t>
            </a:r>
          </a:p>
        </p:txBody>
      </p:sp>
      <p:sp>
        <p:nvSpPr>
          <p:cNvPr id="63" name="slide014-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4-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4-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4-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a:t>
            </a:r>
          </a:p>
        </p:txBody>
      </p:sp>
      <p:sp>
        <p:nvSpPr>
          <p:cNvPr id="67" name="slide014-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4-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14-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4-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71" name="slide014-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4-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 1,000</a:t>
            </a:r>
          </a:p>
        </p:txBody>
      </p:sp>
      <p:sp>
        <p:nvSpPr>
          <p:cNvPr id="73" name="slide014-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4-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4-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4-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a:t>
            </a:r>
          </a:p>
        </p:txBody>
      </p:sp>
      <p:sp>
        <p:nvSpPr>
          <p:cNvPr id="77" name="slide014-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4-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79" name="slide014-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4-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81" name="slide014-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4-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 1,000</a:t>
            </a:r>
          </a:p>
        </p:txBody>
      </p:sp>
      <p:sp>
        <p:nvSpPr>
          <p:cNvPr id="83" name="slide014-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4-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4-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4-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a:t>
            </a:r>
          </a:p>
        </p:txBody>
      </p:sp>
      <p:sp>
        <p:nvSpPr>
          <p:cNvPr id="87" name="slide014-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4-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89" name="slide014-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4-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91" name="slide014-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4-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 1,000</a:t>
            </a:r>
          </a:p>
        </p:txBody>
      </p:sp>
      <p:sp>
        <p:nvSpPr>
          <p:cNvPr id="93" name="slide014-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4-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(8/9)</a:t>
            </a:r>
          </a:p>
        </p:txBody>
      </p:sp>
      <p:sp>
        <p:nvSpPr>
          <p:cNvPr id="4" name="slide01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5-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5-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5-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5-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5-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5-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5-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5-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5-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5-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5-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5-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 P002</a:t>
            </a:r>
          </a:p>
        </p:txBody>
      </p:sp>
      <p:sp>
        <p:nvSpPr>
          <p:cNvPr id="17" name="slide015-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5-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19" name="slide015-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5-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5-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5-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1,000</a:t>
            </a:r>
          </a:p>
          <a:p>
            <a:pPr algn="l">
              <a:lnSpc>
                <a:spcPct val="100000"/>
              </a:lnSpc>
              <a:spcBef>
                <a:spcPts val="0"/>
              </a:spcBef>
              <a:spcAft>
                <a:spcPts val="0"/>
              </a:spcAft>
            </a:pPr>
            <a:r>
              <a:rPr sz="1300" b="0">
                <a:solidFill>
                  <a:srgbClr val="11243A"/>
                </a:solidFill>
                <a:latin typeface="Arial"/>
              </a:rPr>
              <a:t>P002: 1/4 Kelly; ≤2% cash</a:t>
            </a:r>
          </a:p>
        </p:txBody>
      </p:sp>
      <p:sp>
        <p:nvSpPr>
          <p:cNvPr id="23" name="slide015-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5-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5-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5-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 P004</a:t>
            </a:r>
          </a:p>
        </p:txBody>
      </p:sp>
      <p:sp>
        <p:nvSpPr>
          <p:cNvPr id="27" name="slide015-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5-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29" name="slide015-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5-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5-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5-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1,000</a:t>
            </a:r>
          </a:p>
          <a:p>
            <a:pPr algn="l">
              <a:lnSpc>
                <a:spcPct val="100000"/>
              </a:lnSpc>
              <a:spcBef>
                <a:spcPts val="0"/>
              </a:spcBef>
              <a:spcAft>
                <a:spcPts val="0"/>
              </a:spcAft>
            </a:pPr>
            <a:r>
              <a:rPr sz="1300" b="0">
                <a:solidFill>
                  <a:srgbClr val="11243A"/>
                </a:solidFill>
                <a:latin typeface="Arial"/>
              </a:rPr>
              <a:t>P004: 1/4 Kelly; ≤2% cash</a:t>
            </a:r>
          </a:p>
        </p:txBody>
      </p:sp>
      <p:sp>
        <p:nvSpPr>
          <p:cNvPr id="33" name="slide015-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5-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15-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5-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 P006</a:t>
            </a:r>
          </a:p>
        </p:txBody>
      </p:sp>
      <p:sp>
        <p:nvSpPr>
          <p:cNvPr id="37" name="slide015-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5-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39" name="slide015-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5-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5-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5-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1,000</a:t>
            </a:r>
          </a:p>
          <a:p>
            <a:pPr algn="l">
              <a:lnSpc>
                <a:spcPct val="100000"/>
              </a:lnSpc>
              <a:spcBef>
                <a:spcPts val="0"/>
              </a:spcBef>
              <a:spcAft>
                <a:spcPts val="0"/>
              </a:spcAft>
            </a:pPr>
            <a:r>
              <a:rPr sz="1300" b="0">
                <a:solidFill>
                  <a:srgbClr val="11243A"/>
                </a:solidFill>
                <a:latin typeface="Arial"/>
              </a:rPr>
              <a:t>P006: 1/4 Kelly; ≤2% cash</a:t>
            </a:r>
          </a:p>
        </p:txBody>
      </p:sp>
      <p:sp>
        <p:nvSpPr>
          <p:cNvPr id="43" name="slide015-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5-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5-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5-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 P008</a:t>
            </a:r>
          </a:p>
        </p:txBody>
      </p:sp>
      <p:sp>
        <p:nvSpPr>
          <p:cNvPr id="47" name="slide015-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5-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49" name="slide015-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5-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5-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5-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1,000</a:t>
            </a:r>
          </a:p>
          <a:p>
            <a:pPr algn="l">
              <a:lnSpc>
                <a:spcPct val="100000"/>
              </a:lnSpc>
              <a:spcBef>
                <a:spcPts val="0"/>
              </a:spcBef>
              <a:spcAft>
                <a:spcPts val="0"/>
              </a:spcAft>
            </a:pPr>
            <a:r>
              <a:rPr sz="1300" b="0">
                <a:solidFill>
                  <a:srgbClr val="11243A"/>
                </a:solidFill>
                <a:latin typeface="Arial"/>
              </a:rPr>
              <a:t>P008: 1/4 Kelly; ≤2% cash</a:t>
            </a:r>
          </a:p>
        </p:txBody>
      </p:sp>
      <p:sp>
        <p:nvSpPr>
          <p:cNvPr id="53" name="slide015-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5-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15-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5-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 P010</a:t>
            </a:r>
          </a:p>
        </p:txBody>
      </p:sp>
      <p:sp>
        <p:nvSpPr>
          <p:cNvPr id="57" name="slide015-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5-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59" name="slide015-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5-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5-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5-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1,000</a:t>
            </a:r>
          </a:p>
          <a:p>
            <a:pPr algn="l">
              <a:lnSpc>
                <a:spcPct val="100000"/>
              </a:lnSpc>
              <a:spcBef>
                <a:spcPts val="0"/>
              </a:spcBef>
              <a:spcAft>
                <a:spcPts val="0"/>
              </a:spcAft>
            </a:pPr>
            <a:r>
              <a:rPr sz="1300" b="0">
                <a:solidFill>
                  <a:srgbClr val="11243A"/>
                </a:solidFill>
                <a:latin typeface="Arial"/>
              </a:rPr>
              <a:t>P010: 1/4 Kelly; ≤2% cash</a:t>
            </a:r>
          </a:p>
        </p:txBody>
      </p:sp>
      <p:sp>
        <p:nvSpPr>
          <p:cNvPr id="63" name="slide015-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5-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5-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5-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 P012</a:t>
            </a:r>
          </a:p>
        </p:txBody>
      </p:sp>
      <p:sp>
        <p:nvSpPr>
          <p:cNvPr id="67" name="slide015-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5-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69" name="slide015-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5-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5-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5-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1,000</a:t>
            </a:r>
          </a:p>
          <a:p>
            <a:pPr algn="l">
              <a:lnSpc>
                <a:spcPct val="100000"/>
              </a:lnSpc>
              <a:spcBef>
                <a:spcPts val="0"/>
              </a:spcBef>
              <a:spcAft>
                <a:spcPts val="0"/>
              </a:spcAft>
            </a:pPr>
            <a:r>
              <a:rPr sz="1300" b="0">
                <a:solidFill>
                  <a:srgbClr val="11243A"/>
                </a:solidFill>
                <a:latin typeface="Arial"/>
              </a:rPr>
              <a:t>P012: 1/4 Kelly; ≤2% cash</a:t>
            </a:r>
          </a:p>
        </p:txBody>
      </p:sp>
      <p:sp>
        <p:nvSpPr>
          <p:cNvPr id="73" name="slide015-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5-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15-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5-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 P014</a:t>
            </a:r>
          </a:p>
        </p:txBody>
      </p:sp>
      <p:sp>
        <p:nvSpPr>
          <p:cNvPr id="77" name="slide015-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5-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79" name="slide015-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5-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5-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5-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1,000</a:t>
            </a:r>
          </a:p>
          <a:p>
            <a:pPr algn="l">
              <a:lnSpc>
                <a:spcPct val="100000"/>
              </a:lnSpc>
              <a:spcBef>
                <a:spcPts val="0"/>
              </a:spcBef>
              <a:spcAft>
                <a:spcPts val="0"/>
              </a:spcAft>
            </a:pPr>
            <a:r>
              <a:rPr sz="1300" b="0">
                <a:solidFill>
                  <a:srgbClr val="11243A"/>
                </a:solidFill>
                <a:latin typeface="Arial"/>
              </a:rPr>
              <a:t>P014: 1/4 Kelly; ≤2% cash</a:t>
            </a:r>
          </a:p>
        </p:txBody>
      </p:sp>
      <p:sp>
        <p:nvSpPr>
          <p:cNvPr id="83" name="slide015-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5-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5-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5-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 P016</a:t>
            </a:r>
          </a:p>
        </p:txBody>
      </p:sp>
      <p:sp>
        <p:nvSpPr>
          <p:cNvPr id="87" name="slide015-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5-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89" name="slide015-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5-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5-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5-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1,000</a:t>
            </a:r>
          </a:p>
          <a:p>
            <a:pPr algn="l">
              <a:lnSpc>
                <a:spcPct val="100000"/>
              </a:lnSpc>
              <a:spcBef>
                <a:spcPts val="0"/>
              </a:spcBef>
              <a:spcAft>
                <a:spcPts val="0"/>
              </a:spcAft>
            </a:pPr>
            <a:r>
              <a:rPr sz="1300" b="0">
                <a:solidFill>
                  <a:srgbClr val="11243A"/>
                </a:solidFill>
                <a:latin typeface="Arial"/>
              </a:rPr>
              <a:t>P016: 1/4 Kelly; ≤2% cash</a:t>
            </a:r>
          </a:p>
        </p:txBody>
      </p:sp>
      <p:sp>
        <p:nvSpPr>
          <p:cNvPr id="93" name="slide015-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5-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 IMPLEMENTED RESULTS</a:t>
            </a:r>
          </a:p>
        </p:txBody>
      </p:sp>
      <p:sp>
        <p:nvSpPr>
          <p:cNvPr id="3" name="slide01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strategy rules (9/9)</a:t>
            </a:r>
          </a:p>
        </p:txBody>
      </p:sp>
      <p:sp>
        <p:nvSpPr>
          <p:cNvPr id="4" name="slide01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6-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6-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6-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6-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6-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6-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6-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6-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6-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6-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6-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6-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 P018</a:t>
            </a:r>
          </a:p>
        </p:txBody>
      </p:sp>
      <p:sp>
        <p:nvSpPr>
          <p:cNvPr id="17" name="slide016-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6-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19" name="slide016-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6-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6-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6-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1,000</a:t>
            </a:r>
          </a:p>
          <a:p>
            <a:pPr algn="l">
              <a:lnSpc>
                <a:spcPct val="100000"/>
              </a:lnSpc>
              <a:spcBef>
                <a:spcPts val="0"/>
              </a:spcBef>
              <a:spcAft>
                <a:spcPts val="0"/>
              </a:spcAft>
            </a:pPr>
            <a:r>
              <a:rPr sz="1300" b="0">
                <a:solidFill>
                  <a:srgbClr val="11243A"/>
                </a:solidFill>
                <a:latin typeface="Arial"/>
              </a:rPr>
              <a:t>P018: 1/4 Kelly; ≤2% cash</a:t>
            </a:r>
          </a:p>
        </p:txBody>
      </p:sp>
      <p:sp>
        <p:nvSpPr>
          <p:cNvPr id="23" name="slide016-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6-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6-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6-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 P020</a:t>
            </a:r>
          </a:p>
        </p:txBody>
      </p:sp>
      <p:sp>
        <p:nvSpPr>
          <p:cNvPr id="27" name="slide016-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6-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29" name="slide016-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6-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6-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6-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1,000</a:t>
            </a:r>
          </a:p>
          <a:p>
            <a:pPr algn="l">
              <a:lnSpc>
                <a:spcPct val="100000"/>
              </a:lnSpc>
              <a:spcBef>
                <a:spcPts val="0"/>
              </a:spcBef>
              <a:spcAft>
                <a:spcPts val="0"/>
              </a:spcAft>
            </a:pPr>
            <a:r>
              <a:rPr sz="1300" b="0">
                <a:solidFill>
                  <a:srgbClr val="11243A"/>
                </a:solidFill>
                <a:latin typeface="Arial"/>
              </a:rPr>
              <a:t>P020: 1/4 Kelly; ≤2% cash</a:t>
            </a:r>
          </a:p>
        </p:txBody>
      </p:sp>
      <p:sp>
        <p:nvSpPr>
          <p:cNvPr id="33" name="slide016-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6-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16-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6-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 P022</a:t>
            </a:r>
          </a:p>
        </p:txBody>
      </p:sp>
      <p:sp>
        <p:nvSpPr>
          <p:cNvPr id="37" name="slide016-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6-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39" name="slide016-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6-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6-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6-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1,000</a:t>
            </a:r>
          </a:p>
          <a:p>
            <a:pPr algn="l">
              <a:lnSpc>
                <a:spcPct val="100000"/>
              </a:lnSpc>
              <a:spcBef>
                <a:spcPts val="0"/>
              </a:spcBef>
              <a:spcAft>
                <a:spcPts val="0"/>
              </a:spcAft>
            </a:pPr>
            <a:r>
              <a:rPr sz="1300" b="0">
                <a:solidFill>
                  <a:srgbClr val="11243A"/>
                </a:solidFill>
                <a:latin typeface="Arial"/>
              </a:rPr>
              <a:t>P022: 1/4 Kelly; ≤2% cash</a:t>
            </a:r>
          </a:p>
        </p:txBody>
      </p:sp>
      <p:sp>
        <p:nvSpPr>
          <p:cNvPr id="43" name="slide016-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6-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6-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6-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 P024</a:t>
            </a:r>
          </a:p>
        </p:txBody>
      </p:sp>
      <p:sp>
        <p:nvSpPr>
          <p:cNvPr id="47" name="slide016-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6-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49" name="slide016-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6-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6-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6-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1,000</a:t>
            </a:r>
          </a:p>
          <a:p>
            <a:pPr algn="l">
              <a:lnSpc>
                <a:spcPct val="100000"/>
              </a:lnSpc>
              <a:spcBef>
                <a:spcPts val="0"/>
              </a:spcBef>
              <a:spcAft>
                <a:spcPts val="0"/>
              </a:spcAft>
            </a:pPr>
            <a:r>
              <a:rPr sz="1300" b="0">
                <a:solidFill>
                  <a:srgbClr val="11243A"/>
                </a:solidFill>
                <a:latin typeface="Arial"/>
              </a:rPr>
              <a:t>P024: 1/4 Kelly; ≤2% cash</a:t>
            </a:r>
          </a:p>
        </p:txBody>
      </p:sp>
      <p:sp>
        <p:nvSpPr>
          <p:cNvPr id="53" name="slide016-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6-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16-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6-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 P026</a:t>
            </a:r>
          </a:p>
        </p:txBody>
      </p:sp>
      <p:sp>
        <p:nvSpPr>
          <p:cNvPr id="57" name="slide016-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6-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59" name="slide016-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6-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6-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6-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1,000</a:t>
            </a:r>
          </a:p>
          <a:p>
            <a:pPr algn="l">
              <a:lnSpc>
                <a:spcPct val="100000"/>
              </a:lnSpc>
              <a:spcBef>
                <a:spcPts val="0"/>
              </a:spcBef>
              <a:spcAft>
                <a:spcPts val="0"/>
              </a:spcAft>
            </a:pPr>
            <a:r>
              <a:rPr sz="1300" b="0">
                <a:solidFill>
                  <a:srgbClr val="11243A"/>
                </a:solidFill>
                <a:latin typeface="Arial"/>
              </a:rPr>
              <a:t>P026: 1/4 Kelly; ≤2% cash</a:t>
            </a:r>
          </a:p>
        </p:txBody>
      </p:sp>
      <p:sp>
        <p:nvSpPr>
          <p:cNvPr id="63" name="slide016-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6-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6-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6-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 P028</a:t>
            </a:r>
          </a:p>
        </p:txBody>
      </p:sp>
      <p:sp>
        <p:nvSpPr>
          <p:cNvPr id="67" name="slide016-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6-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69" name="slide016-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6-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6-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6-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1,000</a:t>
            </a:r>
          </a:p>
          <a:p>
            <a:pPr algn="l">
              <a:lnSpc>
                <a:spcPct val="100000"/>
              </a:lnSpc>
              <a:spcBef>
                <a:spcPts val="0"/>
              </a:spcBef>
              <a:spcAft>
                <a:spcPts val="0"/>
              </a:spcAft>
            </a:pPr>
            <a:r>
              <a:rPr sz="1300" b="0">
                <a:solidFill>
                  <a:srgbClr val="11243A"/>
                </a:solidFill>
                <a:latin typeface="Arial"/>
              </a:rPr>
              <a:t>P028: 1/4 Kelly; ≤2% cash</a:t>
            </a:r>
          </a:p>
        </p:txBody>
      </p:sp>
      <p:sp>
        <p:nvSpPr>
          <p:cNvPr id="73" name="slide016-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6-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16-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6-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 P030</a:t>
            </a:r>
          </a:p>
        </p:txBody>
      </p:sp>
      <p:sp>
        <p:nvSpPr>
          <p:cNvPr id="77" name="slide016-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6-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79" name="slide016-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6-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6-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6-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1,000</a:t>
            </a:r>
          </a:p>
          <a:p>
            <a:pPr algn="l">
              <a:lnSpc>
                <a:spcPct val="100000"/>
              </a:lnSpc>
              <a:spcBef>
                <a:spcPts val="0"/>
              </a:spcBef>
              <a:spcAft>
                <a:spcPts val="0"/>
              </a:spcAft>
            </a:pPr>
            <a:r>
              <a:rPr sz="1300" b="0">
                <a:solidFill>
                  <a:srgbClr val="11243A"/>
                </a:solidFill>
                <a:latin typeface="Arial"/>
              </a:rPr>
              <a:t>P030: 1/4 Kelly; ≤2% cash</a:t>
            </a:r>
          </a:p>
        </p:txBody>
      </p:sp>
      <p:sp>
        <p:nvSpPr>
          <p:cNvPr id="83" name="slide016-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6-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6-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6-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 P032</a:t>
            </a:r>
          </a:p>
        </p:txBody>
      </p:sp>
      <p:sp>
        <p:nvSpPr>
          <p:cNvPr id="87" name="slide016-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6-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89" name="slide016-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6-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6-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6-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1,000</a:t>
            </a:r>
          </a:p>
          <a:p>
            <a:pPr algn="l">
              <a:lnSpc>
                <a:spcPct val="100000"/>
              </a:lnSpc>
              <a:spcBef>
                <a:spcPts val="0"/>
              </a:spcBef>
              <a:spcAft>
                <a:spcPts val="0"/>
              </a:spcAft>
            </a:pPr>
            <a:r>
              <a:rPr sz="1300" b="0">
                <a:solidFill>
                  <a:srgbClr val="11243A"/>
                </a:solidFill>
                <a:latin typeface="Arial"/>
              </a:rPr>
              <a:t>P032: 1/4 Kelly; ≤2% cash</a:t>
            </a:r>
          </a:p>
        </p:txBody>
      </p:sp>
      <p:sp>
        <p:nvSpPr>
          <p:cNvPr id="93" name="slide016-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6-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Premier League | Implemented Results</dc:title>
  <dc:subject>Player and team models, frozen strategies and capital progression</dc:subject>
  <dc:creator>Panagiotis</dc:creator>
  <cp:keywords>EPL; statistical arbitrage; implemented results; exploratory backtests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