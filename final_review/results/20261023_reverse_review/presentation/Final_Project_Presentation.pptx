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Authors are confirmed by the September 30 joint project proposal. The supervisor name is supplied directly by the user: Daniel Totouom-Tangho. The requested order is common methodology first, NBA results second, Premier League results last. This presentation combines the implemented studies; it does not replace the separate league records with a new pooled investment experiment.</a:t>
            </a:r>
          </a:p>
          <a:p/>
          <a:p>
            <a:r>
              <a:t>Exact source paths:</a:t>
            </a:r>
          </a:p>
          <a:p>
            <a:r>
              <a:t>ML_Sports_Betting_Project_Proposal.pdf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initial studies consider logistic regression, random forests, SVM and MLP, with feature screening and forward selection before TPE hyperparameter search. NBA uses 30 trials per family/branch; the first EPL experiment uses 12. NBA season-to-date performance is lagged using shift(1).expanding() within team-season, and both teams' first ten games are excluded as target rows. EPL adds explicit missing-history controls and later player/xG comparisons. Walsh and Joshi's original numerical claims are superseded by their 2025 corrigendum; calibration-driven profitability remains a question, not a guarantee.</a:t>
            </a:r>
          </a:p>
          <a:p/>
          <a:p>
            <a:r>
              <a:t>Exact source paths:</a:t>
            </a:r>
          </a:p>
          <a:p>
            <a:r>
              <a:t>ML Sports/Data.ipynb</a:t>
            </a:r>
          </a:p>
          <a:p>
            <a:r>
              <a:t>epl_modeling/METHODOLOGY.md</a:t>
            </a:r>
          </a:p>
          <a:p>
            <a:r>
              <a:t>ML_Sports_Betting_Project_Proposal.pdf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NBA occupancy rule produces an optimisation penalty sentinel; a value of 1 is not literal 100 percent empirical calibration error. EPL ECE is the mean of three one-versus-rest calibration errors. NBA binary Brier and EPL unscaled three-class Brier have different scales and should not be directly ranked. NBA value selection tests the home side first and otherwise the away side; most EPL value rules maximize p*odds-1 over allowed H/D/A outcomes. NBA eighth Kelly has no extra 2 percent cap, only available-cash clamping. EPL date-start allocation cannot use one same-date result to fund another. Quote availability and execution are unverified in these historical simulations.</a:t>
            </a:r>
          </a:p>
          <a:p/>
          <a:p>
            <a:r>
              <a:t>Exact source paths:</a:t>
            </a:r>
          </a:p>
          <a:p>
            <a:r>
              <a:t>ML Sports/Data.ipynb</a:t>
            </a:r>
          </a:p>
          <a:p>
            <a:r>
              <a:t>epl_modeling/metrics.py</a:t>
            </a:r>
          </a:p>
          <a:p>
            <a:r>
              <a:t>epl_strategy/METHODOLOGY.md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cells 1-16. There are 25 box-score measures plus previous-season win percentage before screening. KS train-versus-validation screening drops OREB; absolute Spearman redundancy threshold is 0.7. Calibration SFS selects ORTG and FG3M; accuracy SFS selects ORTG, PREV_SEASON_WP, FG3M and TOV. TPE uses 30 trials for each family and branch, then ten seed-refit predictions are averaged for model-family selection. The notebook calls 2017/18 a test set, but it chooses LR for the calibration branch and SVM for the accuracy branch, so here it is labeled family selection. It is earlier than the separate 2018/19 betting season.</a:t>
            </a:r>
          </a:p>
          <a:p/>
          <a:p>
            <a:r>
              <a:t>Exact source paths:</a:t>
            </a:r>
          </a:p>
          <a:p>
            <a:r>
              <a:t>ML Sports/Data.ipynb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preserves the saved notebook's four final amounts and rounded rates; these are not replaced by new SVM replay values. Source code refits selected models on 2014/15-2017/18 before betting 2018/19. The fixed-parameter audit reproduced both LR financial outcomes to cents but could not reproduce SVM; its ten fits reached the iteration limit. The source-recorded SVM final balances remain reported evidence with this explicit limitation. Source prediction accuracy is 65.27 percent for LR and 64.80 percent for SVM on 2018/19. LR guarded ECE is 4.27 percent; the SVM value of 1 means the bin-occupancy penalty fired, not literal 100 percent calibration error. The bar chart uses saved finals rather than an unverified reconstructed SVM wealth path.</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source-recorded seasons cover 2014/15 through 2022/23 and 9,344 betting fixtures. Both annual models are logistic regressions using different objective-selected feature subsets. The source means are minus 17.34 and minus 9.49 percent; calibration outperforms accuracy in three of nine seasons. Both paths exhaust their annual cash in 2017/18. The source notebook adds profits from independently reset accounts to draw a cumulative line; this deck deliberately uses annual-return bars so it does not imply continued funding after bankruptcy. Source annual figures are retained at their printed precision. The supplied PDF also reports stronger market log-loss results in additional analyses, but their full event-level supporting outputs are not in the provided notebook; those claims should not be treated as independently reproduced here.</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zero inventory: 36 annual accounts across nine seasons, two LR feature-selection branches and fixed/eighth-Kelly sizing. Only the two 2017/18 fixed accounts have zero terminal capital. All 18 saved annual fixed returns and feature counts reconcile. Annual event probabilities were reconstructed using the unchanged source algorithm; the notebook did not preserve saved annual fitted weights or event-level probabilities. This is source-method reconstruction, not proof of byte-identical original predictions. The core unreconciled SVM refit is not used. The original home-first value eligibility and exact probability filter are retained. At most one bet per game; source game-sequential settlement, no borrowing. The full inverse has 915 calibration bets and 884 accuracy bets. Full-season capital returns are 11.48% and -12.15%. Matched recorded-prefix results retain the original positive-stake fixtures and stakes; both lose. The 9,999 whole-match-date percentile bootstrap fixes selected models, signals and stakes: calibration: [-4.82%, 7.33%]; accuracy: [-7.36%, 4.53%]. It does not adjust for fitting, strategy search or selecting failures after seeing outcomes. Quotes and execution timestamps remain unverified. Financial hit ratio counts positive-profit bets; expected components are model-implied, not realised average win/loss. The inverse does not receive a new positive-edge gate under the original forecast.</a:t>
            </a:r>
          </a:p>
          <a:p/>
          <a:p>
            <a:r>
              <a:t>Exact source paths:</a:t>
            </a:r>
          </a:p>
          <a:p>
            <a:r>
              <a:t>C:\Users\melin\OneDrive\Desktop\nyu\fall 2026\Stat Arb\final_project\final_review\nba_results\inverse_metrics.csv</a:t>
            </a:r>
          </a:p>
          <a:p>
            <a:r>
              <a:t>C:\Users\melin\OneDrive\Desktop\nyu\fall 2026\Stat Arb\final_project\final_review\nba_results\audit_summary.json</a:t>
            </a:r>
          </a:p>
          <a:p>
            <a:r>
              <a:t>C:\Users\melin\OneDrive\Desktop\nyu\fall 2026\Stat Arb\final_project\final_review\nba_results\conditional_uncertainty.csv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most directly aligned with the joint proposal: accuracy selects SVM, calibration selects MLP. Both branches receive the same disjoint temperature calibration. Neither primary validation policy found a threshold with at least thirty bets and strictly positive validation stake ROI, so both hold cash in test; no-trade ROI is undefined. The secondary 5 percent policy was separately declared and is not a substitute chosen from test returns. The displayed 100K accounts are rescaled counterpart strategies from the saved laboratory. SVM loses 8,330 on 371 bets and MLP gains 1,370 on 333 bets, with stake ROIs minus 2.2453 and plus 0.4114 percent. Their conditional intervals both include zero. The raw market has stronger proper probability scores than either learned branch. Later rolling/player studies revisit already inspected outcomes and are exploratory.</a:t>
            </a:r>
          </a:p>
          <a:p/>
          <a:p>
            <a:r>
              <a:t>Exact source paths:</a:t>
            </a:r>
          </a:p>
          <a:p>
            <a:r>
              <a:t>epl_modeling/results/RESULTS.md</a:t>
            </a:r>
          </a:p>
          <a:p>
            <a:r>
              <a:t>epl_modeling/results/classification_scores.csv</a:t>
            </a:r>
          </a:p>
          <a:p>
            <a:r>
              <a:t>epl_strategy_lab/results/20261015T040052Z_100k84/metrics.csv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graph has 116 distinct strategy IDs and 13,224 points, including 114 dates per curve with the 100K anchor. The strategies combine model, outcome selection, prices and sizing rather than representing 116 independent fitted algorithms. Only 88 have comparable continuous four-year records. No earlier records are invented for 28 first-study configurations. New player-study accounts all lose over four continuous years, even when one 2025 slice profited. The graph is an archived-price replay, not verified executed betting.</a:t>
            </a:r>
          </a:p>
          <a:p/>
          <a:p>
            <a:r>
              <a:t>Exact source paths:</a:t>
            </a:r>
          </a:p>
          <a:p>
            <a:r>
              <a:t>epl_player_models/results/20261020_player_models_review/graph_equity_2025_all.csv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with bookmaker probabilities, then adjusts them using earlier team results and player form.</a:t>
            </a:r>
          </a:p>
          <a:p>
            <a:r>
              <a:t>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how often home wins, draws and away wins happened in the training data. Uses those fractions for every game.</a:t>
            </a:r>
          </a:p>
          <a:p>
            <a:r>
              <a:t>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goals, shots on target, corners, points, rest days and previous-season results to estimate home/draw/away chances.</a:t>
            </a:r>
          </a:p>
          <a:p>
            <a:r>
              <a:t>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FPL points, goals and assists.</a:t>
            </a:r>
          </a:p>
          <a:p>
            <a:r>
              <a:t>Adds minutes and other player statistics.</a:t>
            </a:r>
          </a:p>
          <a:p>
            <a:r>
              <a:t>Looks back over five and ten games.</a:t>
            </a:r>
          </a:p>
          <a:p>
            <a:r>
              <a:t>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Exact source paths:</a:t>
            </a:r>
          </a:p>
          <a:p>
            <a:r>
              <a:t>epl_player_models/results/20261020_player_models_review/model_metrics_pooled.csv</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Football has three outcomes. The opposite of home is draw OR away, rather than away alone. For original pick k and other outcomes j, let S=sum(1/O_j). With requested total bundle risk R=1,000, each leg stake is R(1/O_j)/S. Either other result returns R/S gross. The original pick produces loss R; the complementary event produces net R(1/S-1). When S is at least one, even the complementary event can have nonpositive profit, so event hit and profitable-bundle hit are separate fields. The original full-horizon signal is retained; no new positive-edge requirement is imposed on the inverse. All 1,470 opportunities in 2022/23–2025/26 remain eligible for signal reconstruction, including dates after the original account stops. Uniform same-date scaling reserves total bundle risk from opening cash and any original date cap; no borrowing or reuse of same-date wins. Thirteen contexts are in the principal comparison, plus four bankrupt Bet365 reference-price policy replays. S041 and S043 occur at both price modes. Best quotes and Bet365 are retained per context. No unobserved double-chance quote or exchange lay quote is invented for the priced-complement results. Three costs (0%, 2%, 5%) are applied to positive NET portfolio profit per fixture, not gross payout or per-leg wins; these are illustrative haircuts. The full study includes 51 contexts, 153 funded priced complements, 51 hypothetical risk-matched lays, 17 prefix complements and 17 recorded-exposure identity diagnostics. The 34 controls are the other original fixed-stake accounts, not an untouched holdout. Intervals resample whole match dates within season while holding realised funded cashflows fixed; no re-fitting, re-sizing or strategy-search adjustment. 9 of 17 primary intervals include zero, including 2 of 2 profitable accounts. Observed bankruptcy selected the cohort after outcomes; positive returns are unconfirmed hypotheses. The arithmetic mirror of original recorded loss is only an identity, with 0 contexts requiring extra opening collateral for the exact recorded exposures. Archived quotes have unverified simultaneous availability and execution.</a:t>
            </a:r>
          </a:p>
          <a:p/>
          <a:p>
            <a:r>
              <a:t>Exact source paths:</a:t>
            </a:r>
          </a:p>
          <a:p>
            <a:r>
              <a:t>C:\Users\melin\OneDrive\Desktop\nyu\fall 2026\Stat Arb\final_project\final_review\epl_results\metrics.csv</a:t>
            </a:r>
          </a:p>
          <a:p>
            <a:r>
              <a:t>C:\Users\melin\OneDrive\Desktop\nyu\fall 2026\Stat Arb\final_project\final_review\epl_results\summary.json</a:t>
            </a:r>
          </a:p>
          <a:p>
            <a:r>
              <a:t>final_review/inverse_protocol.md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September 30 project proposal using completed work, not the initial ambition. NBA annual mean capital returns are -17.34% (calibration-selected LR features) and -9.49% (accuracy-selected LR features), with independent annual resets. The core 2018/19 SVM results remain explicitly source-reported and unreproduced. EPL primary validation found no admissible threshold with at least 30 bets and positive validation stake ROI, so both test policies hold cash. The predeclared EPL secondary calibration branch has +0.4114% stake ROI versus -2.2453% for accuracy; both conditional intervals include zero. Six new player-feature/model combinations have worse pooled log loss than their matched same-family team controls; this does not rule out every possible use of player information. The four arbitrage flags use archived best quotes; no simultaneous accepted fills or complete quote clocks are verified. Opposite-policy counts refer to the two NBA full-season cases and 17 EPL previously bankrupt strategy/price contexts at zero hypothetical cost, not 17 independent newly fitted models. Selection by observed bankruptcy is retrospective. Existing multiple-comparison adjustments do not cover the new inverses. A grade cannot be guaranteed; clarity, correct financial accounting and reproducibility support the academic argument.</a:t>
            </a:r>
          </a:p>
          <a:p/>
          <a:p>
            <a:r>
              <a:t>Exact source paths:</a:t>
            </a:r>
          </a:p>
          <a:p>
            <a:r>
              <a:t>final_review/project_review.md</a:t>
            </a:r>
          </a:p>
          <a:p>
            <a:r>
              <a:t>final_review/review_checks.json</a:t>
            </a:r>
          </a:p>
          <a:p>
            <a:r>
              <a:t>final_deliverables/epl_evidence.json</a:t>
            </a:r>
          </a:p>
          <a:p>
            <a:r>
              <a:t>final_review/epl_results/metrics.csv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simulator tests ph&gt;1/oh first, otherwise pa&gt;1/oa, and excludes a selected probability exactly 0.5 with its default margin-zero filter. Fixed requests are 100 and Kelly requests use one eighth of the full Kelly fraction. Both are clamped to available current cash. The source may use settlement from an earlier processed game to fund another game on the same date, unlike EPL. All four records start at 10,000 independently. Financial results in the core table remain source-recorded; LR only was reproduced to cents in the fixed-parameter audit.</a:t>
            </a:r>
          </a:p>
          <a:p/>
          <a:p>
            <a:r>
              <a:t>Exact source paths:</a:t>
            </a:r>
          </a:p>
          <a:p>
            <a:r>
              <a:t>ML Sports/Data.ipynb</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Kelly multiplier is one quarter, one half, full Kelly or another explicitly listed fraction. B is cash at the start of the date. Formula B*min(max_bet_fraction,kelly_fraction*(p*O-1)/(O-1)); eligibility ensures positive edges where relevant. At most one bet per match. Same-date winnings are not used to fund another same-date bet. Fixed stakes do not automatically shrink to 1% as the account falls; only cash/date-budget allocation can scale them. Prices: Best odds means the highest saved individual-book quote for the chosen outcome; Bet365 means its saved reference quote. These are archived prices with unverified execution clocks.</a:t>
            </a:r>
          </a:p>
          <a:p/>
          <a:p>
            <a:r>
              <a:t>Exact source paths:</a:t>
            </a:r>
          </a:p>
          <a:p>
            <a:r>
              <a:t>epl_strategy_lab/engine.py</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S001: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flat 1,000", "odds_mode": "best", "origin": "legacy", "policy_family": "locked primary cash", "selection_rule": "max_edge", "staking": "fixed", "strategy_id": "S001", "study_status": "exploratory_replay_of_already_examined_2025_26_no_new_holdout"}</a:t>
            </a:r>
          </a:p>
          <a:p/>
          <a:p>
            <a:r>
              <a:t>S002: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0.25 Kelly, per-bet cap 2%", "odds_mode": "best", "origin": "legacy", "policy_family": "locked primary cash", "selection_rule": "max_edge", "staking": "kelly", "strategy_id": "S002", "study_status": "exploratory_replay_of_already_examined_2025_26_no_new_holdout"}</a:t>
            </a:r>
          </a:p>
          <a:p/>
          <a:p>
            <a:r>
              <a:t>S003: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flat 1,000", "odds_mode": "reference", "origin": "legacy", "policy_family": "locked primary cash", "selection_rule": "max_edge", "staking": "fixed", "strategy_id": "S003", "study_status": "exploratory_replay_of_already_examined_2025_26_no_new_holdout"}</a:t>
            </a:r>
          </a:p>
          <a:p/>
          <a:p>
            <a:r>
              <a:t>S004: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0.25 Kelly, per-bet cap 2%", "odds_mode": "reference", "origin": "legacy", "policy_family": "locked primary cash", "selection_rule": "max_edge", "staking": "kelly", "strategy_id": "S004", "study_status": "exploratory_replay_of_already_examined_2025_26_no_new_holdout"}</a:t>
            </a:r>
          </a:p>
          <a:p/>
          <a:p>
            <a:r>
              <a:t>S005: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best individual-book quotes | flat 1,000", "odds_mode": "best", "origin": "legacy", "policy_family": "predeclared 5% edge", "selection_rule": "max_edge", "staking": "fixed", "strategy_id": "S005", "study_status": "exploratory_replay_of_already_examined_2025_26_no_new_holdout"}</a:t>
            </a:r>
          </a:p>
          <a:p/>
          <a:p>
            <a:r>
              <a:t>S006: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best individual-book quotes | 0.25 Kelly, per-bet cap 2%", "odds_mode": "best", "origin": "legacy", "policy_family": "predeclared 5% edge", "selection_rule": "max_edge", "staking": "kelly", "strategy_id": "S006", "study_status": "exploratory_replay_of_already_examined_2025_26_no_new_holdout"}</a:t>
            </a:r>
          </a:p>
          <a:p/>
          <a:p>
            <a:r>
              <a:t>S007: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Bet365 reference quotes | flat 1,000", "odds_mode": "reference", "origin": "legacy", "policy_family": "predeclared 5% edge", "selection_rule": "max_edge", "staking": "fixed", "strategy_id": "S007", "study_status": "exploratory_replay_of_already_examined_2025_26_no_new_holdout"}</a:t>
            </a:r>
          </a:p>
          <a:p/>
          <a:p>
            <a:r>
              <a:t>S008: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Bet365 reference quotes | 0.25 Kelly, per-bet cap 2%", "odds_mode": "reference", "origin": "legacy", "policy_family": "predeclared 5% edge", "selection_rule": "max_edge", "staking": "kelly", "strategy_id": "S008", "study_status": "exploratory_replay_of_already_examined_2025_26_no_new_holdout"}</a:t>
            </a:r>
          </a:p>
          <a:p/>
          <a:p>
            <a:r>
              <a:t>S009: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flat 1,000", "odds_mode": "best", "origin": "legacy", "policy_family": "locked primary cash", "selection_rule": "max_edge", "staking": "fixed", "strategy_id": "S009", "study_status": "exploratory_replay_of_already_examined_2025_26_no_new_holdout"}</a:t>
            </a:r>
          </a:p>
          <a:p/>
          <a:p>
            <a:r>
              <a:t>S010: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0.25 Kelly, per-bet cap 2%", "odds_mode": "best", "origin": "legacy", "policy_family": "locked primary cash", "selection_rule": "max_edge", "staking": "kelly", "strategy_id": "S010", "study_status": "exploratory_replay_of_already_examined_2025_26_no_new_holdout"}</a:t>
            </a:r>
          </a:p>
          <a:p/>
          <a:p>
            <a:r>
              <a:t>S011: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flat 1,000", "odds_mode": "reference", "origin": "legacy", "policy_family": "locked primary cash", "selection_rule": "max_edge", "staking": "fixed", "strategy_id": "S011", "study_status": "exploratory_replay_of_already_examined_2025_26_no_new_holdout"}</a:t>
            </a:r>
          </a:p>
          <a:p/>
          <a:p>
            <a:r>
              <a:t>S012: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0.25 Kelly, per-bet cap 2%", "odds_mode": "reference", "origin": "legacy", "policy_family": "locked primary cash", "selection_rule": "max_edge", "staking": "kelly", "strategy_id": "S012", "study_status": "exploratory_replay_of_already_examined_2025_26_no_new_holdout"}</a:t>
            </a:r>
          </a:p>
          <a:p/>
          <a:p>
            <a:r>
              <a:t>S013: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flat 1,000", "odds_mode": "best", "origin": "legacy", "policy_family": "predeclared 5% edge", "selection_rule": "max_edge", "staking": "fixed", "strategy_id": "S013", "study_status": "exploratory_replay_of_already_examined_2025_26_no_new_holdout"}</a:t>
            </a:r>
          </a:p>
          <a:p/>
          <a:p>
            <a:r>
              <a:t>S014: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0.25 Kelly, per-bet cap 2%", "odds_mode": "best", "origin": "legacy", "policy_family": "predeclared 5% edge", "selection_rule": "max_edge", "staking": "kelly", "strategy_id": "S014", "study_status": "exploratory_replay_of_already_examined_2025_26_no_new_holdout"}</a:t>
            </a:r>
          </a:p>
          <a:p/>
          <a:p>
            <a:r>
              <a:t>S015: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Bet365 reference quotes | flat 1,000", "odds_mode": "reference", "origin": "legacy", "policy_family": "predeclared 5% edge", "selection_rule": "max_edge", "staking": "fixed", "strategy_id": "S015", "study_status": "exploratory_replay_of_already_examined_2025_26_no_new_holdout"}</a:t>
            </a:r>
          </a:p>
          <a:p/>
          <a:p>
            <a:r>
              <a:t>S016: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Bet365 reference quotes | 0.25 Kelly, per-bet cap 2%", "odds_mode": "reference", "origin": "legacy", "policy_family": "predeclared 5% edge", "selection_rule": "max_edge", "staking": "kelly", "strategy_id": "S016", "study_status": "exploratory_replay_of_already_examined_2025_26_no_new_holdout"}</a:t>
            </a:r>
          </a:p>
          <a:p/>
          <a:p>
            <a:r>
              <a:t>S017: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S018: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"logit_team_only", "model_label": "Rolling logistic: team", "name": "Rolling logistic: team | predeclared 5% edge | best individual-book quotes | 0.25 Kelly, per-bet cap 2%", "odds_mode": "best", "origin": "legacy", "policy_family": "predeclared 5% edge", "selection_rule": "max_edge", "staking": "kelly", "strategy_id": "S018", "study_status": "exploratory_replay_of_already_examined_2025_26_no_new_holdout"}</a:t>
            </a:r>
          </a:p>
          <a:p/>
          <a:p>
            <a:r>
              <a:t>S019: Team form + 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"logit_team_xg", "model_label": "Rolling logistic: team + xG", "name": "Rolling logistic: team + xG | predeclared 5% edge | best individual-book quotes | flat 1,000", "odds_mode": "best", "origin": "legacy", "policy_family": "predeclared 5% edge", "selection_rule": "max_edge", "staking": "fixed", "strategy_id": "S019", "study_status": "exploratory_replay_of_already_examined_2025_26_no_new_holdout"}</a:t>
            </a:r>
          </a:p>
          <a:p/>
          <a:p>
            <a:r>
              <a:t>S020: Team form + 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"logit_team_xg", "model_label": "Rolling logistic: team + xG", "name": "Rolling logistic: team + xG | predeclared 5% edge | best individual-book quotes | 0.25 Kelly, per-bet cap 2%", "odds_mode": "best", "origin": "legacy", "policy_family": "predeclared 5% edge", "selection_rule": "max_edge", "staking": "kelly", "strategy_id": "S020", "study_status": "exploratory_replay_of_already_examined_2025_26_no_new_holdout"}</a:t>
            </a:r>
          </a:p>
          <a:p/>
          <a:p>
            <a:r>
              <a:t>S021: Team form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"logit_team_players", "model_label": "Rolling logistic: team + player", "name": "Rolling logistic: team + player | predeclared 5% edge | best individual-book quotes | flat 1,000", "odds_mode": "best", "origin": "legacy", "policy_family": "predeclared 5% edge", "selection_rule": "max_edge", "staking": "fixed", "strategy_id": "S021", "study_status": "exploratory_replay_of_already_examined_2025_26_no_new_holdout"}</a:t>
            </a:r>
          </a:p>
          <a:p/>
          <a:p>
            <a:r>
              <a:t>S022: Team form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"logit_team_players", "model_label": "Rolling logistic: team + player", "name": "Rolling logistic: team + player | predeclared 5% edge | best individual-book quotes | 0.25 Kelly, per-bet cap 2%", "odds_mode": "best", "origin": "legacy", "policy_family": "predeclared 5% edge", "selection_rule": "max_edge", "staking": "kelly", "strategy_id": "S022",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S023: Team + chance quality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"logit_combined", "model_label": "Rolling logistic: combined", "name": "Rolling logistic: combined | predeclared 5% edge | best individual-book quotes | flat 1,000", "odds_mode": "best", "origin": "legacy", "policy_family": "predeclared 5% edge", "selection_rule": "max_edge", "staking": "fixed", "strategy_id": "S023", "study_status": "exploratory_replay_of_already_examined_2025_26_no_new_holdout"}</a:t>
            </a:r>
          </a:p>
          <a:p/>
          <a:p>
            <a:r>
              <a:t>S024: Team + chance quality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"logit_combined", "model_label": "Rolling logistic: combined", "name": "Rolling logistic: combined | predeclared 5% edge | best individual-book quotes | 0.25 Kelly, per-bet cap 2%", "odds_mode": "best", "origin": "legacy", "policy_family": "predeclared 5% edge", "selection_rule": "max_edge", "staking": "kelly", "strategy_id": "S024", "study_status": "exploratory_replay_of_already_examined_2025_26_no_new_holdout"}</a:t>
            </a:r>
          </a:p>
          <a:p/>
          <a:p>
            <a:r>
              <a:t>S052: Team + chance quality + 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"logit_combined", "model_label": "Rolling logistic: combined", "name": "Rolling logistic: combined | dynamic 1% stake | best individual-book quotes | dynamic 1% of date-start capital", "odds_mode": "best", "origin": "new", "policy_family": "dynamic 1% stake", "selection_rule": "max_edge", "staking": "dynamic_fraction", "strategy_id": "S052", "study_status": "exploratory_replay_of_already_examined_2025_26_no_new_holdout"}</a:t>
            </a:r>
          </a:p>
          <a:p/>
          <a:p>
            <a:r>
              <a:t>S055: Team + chance quality + 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"logit_combined", "model_label": "Rolling logistic: combined", "name": "Rolling logistic: combined | eighth Kelly, cap 1% | best individual-book quotes | 0.125 Kelly, per-bet cap 1%", "odds_mode": "best", "origin": "new", "policy_family": "eighth Kelly, cap 1%", "selection_rule": "max_edge", "staking": "kelly", "strategy_id": "S055", "study_status": "exploratory_replay_of_already_examined_2025_26_no_new_holdout"}</a:t>
            </a:r>
          </a:p>
          <a:p/>
          <a:p>
            <a:r>
              <a:t>S056: Team + chance quality + 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"logit_combined", "model_label": "Rolling logistic: combined", "name": "Rolling logistic: combined | half Kelly, cap 2% | best individual-book quotes | 0.5 Kelly, per-bet cap 2%", "odds_mode": "best", "origin": "new", "policy_family": "half Kelly, cap 2%", "selection_rule": "max_edge", "staking": "kelly", "strategy_id": "S056", "study_status": "exploratory_replay_of_already_examined_2025_26_no_new_holdout"}</a:t>
            </a:r>
          </a:p>
          <a:p/>
          <a:p>
            <a:r>
              <a:t>S025: Bookmaker odds +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"residual_team_only", "model_label": "Rolling market residual: team", "name": "Rolling market residual: team | predeclared 5% edge | best individual-book quotes | flat 1,000", "odds_mode": "best", "origin": "legacy", "policy_family": "predeclared 5% edge", "selection_rule": "max_edge", "staking": "fixed", "strategy_id": "S025", "study_status": "exploratory_replay_of_already_examined_2025_26_no_new_holdout"}</a:t>
            </a:r>
          </a:p>
          <a:p/>
          <a:p>
            <a:r>
              <a:t>S026: Bookmaker odds +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"residual_team_only", "model_label": "Rolling market residual: team", "name": "Rolling market residual: team | predeclared 5% edge | best individual-book quotes | 0.25 Kelly, per-bet cap 2%", "odds_mode": "best", "origin": "legacy", "policy_family": "predeclared 5% edge", "selection_rule": "max_edge", "staking": "kelly", "strategy_id": "S026", "study_status": "exploratory_replay_of_already_examined_2025_26_no_new_holdout"}</a:t>
            </a:r>
          </a:p>
          <a:p/>
          <a:p>
            <a:r>
              <a:t>S027: Bookmaker odds + team/chance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"residual_team_xg", "model_label": "Rolling market residual: team + xG", "name": "Rolling market residual: team + xG | predeclared 5% edge | best individual-book quotes | flat 1,000", "odds_mode": "best", "origin": "legacy", "policy_family": "predeclared 5% edge", "selection_rule": "max_edge", "staking": "fixed", "strategy_id": "S027", "study_status": "exploratory_replay_of_already_examined_2025_26_no_new_holdout"}</a:t>
            </a:r>
          </a:p>
          <a:p/>
          <a:p>
            <a:r>
              <a:t>S028: Bookmaker odds + team/chance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"residual_team_xg", "model_label": "Rolling market residual: team + xG", "name": "Rolling market residual: team + xG | predeclared 5% edge | best individual-book quotes | 0.25 Kelly, per-bet cap 2%", "odds_mode": "best", "origin": "legacy", "policy_family": "predeclared 5% edge", "selection_rule": "max_edge", "staking": "kelly", "strategy_id": "S028", "study_status": "exploratory_replay_of_already_examined_2025_26_no_new_holdout"}</a:t>
            </a:r>
          </a:p>
          <a:p/>
          <a:p>
            <a:r>
              <a:t>S029: 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S030: Bookmaker odds + team/player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0.25 Kelly, per-bet cap 2%", "odds_mode": "best", "origin": "legacy", "policy_family": "predeclared 5% edge", "selection_rule": "max_edge", "staking": "kelly", "strategy_id": "S030", "study_status": "exploratory_replay_of_already_examined_2025_26_no_new_holdout"}</a:t>
            </a:r>
          </a:p>
          <a:p/>
          <a:p>
            <a:r>
              <a:t>S031: Bookmaker odds + team/chance/player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"residual_combined", "model_label": "Rolling market residual: combined", "name": "Rolling market residual: combined | predeclared 5% edge | best individual-book quotes | flat 1,000", "odds_mode": "best", "origin": "legacy", "policy_family": "predeclared 5% edge", "selection_rule": "max_edge", "staking": "fixed", "strategy_id": "S031", "study_status": "exploratory_replay_of_already_examined_2025_26_no_new_holdout"}</a:t>
            </a:r>
          </a:p>
          <a:p/>
          <a:p>
            <a:r>
              <a:t>S032: Bookmaker odds + team/chance/player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"residual_combined", "model_label": "Rolling market residual: combined", "name": "Rolling market residual: combined | predeclared 5% edge | best individual-book quotes | 0.25 Kelly, per-bet cap 2%", "odds_mode": "best", "origin": "legacy", "policy_family": "predeclared 5% edge", "selection_rule": "max_edge", "staking": "kelly", "strategy_id": "S032", "study_status": "exploratory_replay_of_already_examined_2025_26_no_new_holdout"}</a:t>
            </a:r>
          </a:p>
          <a:p/>
          <a:p>
            <a:r>
              <a:t>S053: Bookmaker odds + team/chance/player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"residual_combined", "model_label": "Rolling market residual: combined", "name": "Rolling market residual: combined | dynamic 1% stake | best individual-book quotes | dynamic 1% of date-start capital", "odds_mode": "best", "origin": "new", "policy_family": "dynamic 1% stake", "selection_rule": "max_edge", "staking": "dynamic_fraction", "strategy_id": "S053", "study_status": "exploratory_replay_of_already_examined_2025_26_no_new_holdout"}</a:t>
            </a:r>
          </a:p>
          <a:p/>
          <a:p>
            <a:r>
              <a:t>S057: Bookmaker odds + team/chance/player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"residual_combined", "model_label": "Rolling market residual: combined", "name": "Rolling market residual: combined | eighth Kelly, cap 1% | best individual-book quotes | 0.125 Kelly, per-bet cap 1%", "odds_mode": "best", "origin": "new", "policy_family": "eighth Kelly, cap 1%", "selection_rule": "max_edge", "staking": "kelly", "strategy_id": "S057",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S058: Bookmaker odds + team/chance/player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"residual_combined", "model_label": "Rolling market residual: combined", "name": "Rolling market residual: combined | half Kelly, cap 2% | best individual-book quotes | 0.5 Kelly, per-bet cap 2%", "odds_mode": "best", "origin": "new", "policy_family": "half Kelly, cap 2%", "selection_rule": "max_edge", "staking": "kelly", "strategy_id": "S058", "study_status": "exploratory_replay_of_already_examined_2025_26_no_new_holdout"}</a:t>
            </a:r>
          </a:p>
          <a:p/>
          <a:p>
            <a:r>
              <a:t>S033: 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S034: Past home/draw/away frequencies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0.25 Kelly, per-bet cap 2%", "odds_mode": "best", "origin": "legacy", "policy_family": "predeclared 5% edge", "selection_rule": "max_edge", "staking": "kelly", "strategy_id": "S034", "study_status": "exploratory_replay_of_already_examined_2025_26_no_new_holdout"}</a:t>
            </a:r>
          </a:p>
          <a:p/>
          <a:p>
            <a:r>
              <a:t>S035: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"baseline_market_only", "model_label": "Raw de-vigged Bet365 market", "name": "Raw de-vigged Bet365 market | predeclared 5% edge | best individual-book quotes | flat 1,000", "odds_mode": "best", "origin": "legacy", "policy_family": "predeclared 5% edge", "selection_rule": "max_edge", "staking": "fixed", "strategy_id": "S035", "study_status": "exploratory_replay_of_already_examined_2025_26_no_new_holdout"}</a:t>
            </a:r>
          </a:p>
          <a:p/>
          <a:p>
            <a:r>
              <a:t>S036: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"baseline_market_only", "model_label": "Raw de-vigged Bet365 market", "name": "Raw de-vigged Bet365 market | predeclared 5% edge | best individual-book quotes | 0.25 Kelly, per-bet cap 2%", "odds_mode": "best", "origin": "legacy", "policy_family": "predeclared 5% edge", "selection_rule": "max_edge", "staking": "kelly", "strategy_id": "S036", "study_status": "exploratory_replay_of_already_examined_2025_26_no_new_holdout"}</a:t>
            </a:r>
          </a:p>
          <a:p/>
          <a:p>
            <a:r>
              <a:t>S037: Calibrated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flat 1,000", "odds_mode": "best", "origin": "legacy", "policy_family": "predeclared 5% edge", "selection_rule": "max_edge", "staking": "fixed", "strategy_id": "S037", "study_status": "exploratory_replay_of_already_examined_2025_26_no_new_holdout"}</a:t>
            </a:r>
          </a:p>
          <a:p/>
          <a:p>
            <a:r>
              <a:t>S038: Calibrated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0.25 Kelly, per-bet cap 2%", "odds_mode": "best", "origin": "legacy", "policy_family": "predeclared 5% edge", "selection_rule": "max_edge", "staking": "kelly", "strategy_id": "S038", "study_status": "exploratory_replay_of_already_examined_2025_26_no_new_holdout"}</a:t>
            </a:r>
          </a:p>
          <a:p/>
          <a:p>
            <a:r>
              <a:t>S039: Bookmaker probabilities Bet on home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"Back H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H | best quotes | flat 1,000", "odds_mode": "best", "origin": "new", "policy_family": "unconditional class benchmark", "selection_rule": "fixed_outcome", "staking": "fixed", "strategy_id": "S039", "study_status": "exploratory_replay_of_already_examined_2025_26_no_new_holdout"}</a:t>
            </a:r>
          </a:p>
          <a:p/>
          <a:p>
            <a:r>
              <a:t>S040: Bookmaker probabilities Bet on draw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"Back D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D | best quotes | flat 1,000", "odds_mode": "best", "origin": "new", "policy_family": "unconditional class benchmark", "selection_rule": "fixed_outcome", "staking": "fixed", "strategy_id": "S040", "study_status": "exploratory_replay_of_already_examined_2025_26_no_new_holdout"}</a:t>
            </a:r>
          </a:p>
          <a:p/>
          <a:p>
            <a:r>
              <a:t>S041: Bookmaker probabilities Bet on away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"Back A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A | best quotes | flat 1,000", "odds_mode": "best", "origin": "new", "policy_family": "unconditional class benchmark", "selection_rule": "fixed_outcome", "staking": "fixed", "strategy_id": "S041", "study_status": "exploratory_replay_of_already_examined_2025_26_no_new_holdout"}</a:t>
            </a:r>
          </a:p>
          <a:p/>
          <a:p>
            <a:r>
              <a:t>S042: Bookmaker probabilities Back the home/draw/away result with the highest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highest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favorite | best quotes | flat 1,000", "odds_mode": "best", "origin": "new", "policy_family": "unconditional market benchmark", "selection_rule": "market_favorite", "staking": "fixed", "strategy_id": "S042",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S043: Bookmaker probabilities Back the home/draw/away result with the lowest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lowest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underdog | best quotes | flat 1,000", "odds_mode": "best", "origin": "new", "policy_family": "unconditional market benchmark", "selection_rule": "market_underdog", "staking": "fixed", "strategy_id": "S043", "study_status": "exploratory_replay_of_already_examined_2025_26_no_new_holdout"}</a:t>
            </a:r>
          </a:p>
          <a:p/>
          <a:p>
            <a:r>
              <a:t>S044: Team + chance quality + 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logistic: combined's highest-probability outcome at its best archived quote; flat stake 1,000 with no edge filter.", "diagnostic": false, "fixed_stake": 1000.0, "kelly_fraction": 0.25, "max_bet_fraction": 0.02, "max_odds": null, "min_edge": null, "min_odds": null, "model_key": "logit_combined", "model_label": "Rolling logistic: combined", "name": "Rolling logistic: combined | unconditional model favorite | best individual-book quotes | flat 1,000", "odds_mode": "best", "origin": "new", "policy_family": "unconditional model favorite", "selection_rule": "model_favorite", "staking": "fixed", "strategy_id": "S044", "study_status": "exploratory_replay_of_already_examined_2025_26_no_new_holdout"}</a:t>
            </a:r>
          </a:p>
          <a:p/>
          <a:p>
            <a:r>
              <a:t>S045: Bookmaker odds + team/chance/player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market residual: combined's highest-probability outcome at its best archived quote; flat stake 1,000 with no edge filter.", "diagnostic": false, "fixed_stake": 1000.0, "kelly_fraction": 0.25, "max_bet_fraction": 0.02, "max_odds": null, "min_edge": null, "min_odds": null, "model_key": "residual_combined", "model_label": "Rolling market residual: combined", "name": "Rolling market residual: combined | unconditional model favorite | best individual-book quotes | flat 1,000", "odds_mode": "best", "origin": "new", "policy_family": "unconditional model favorite", "selection_rule": "model_favorite", "staking": "fixed", "strategy_id": "S045", "study_status": "exploratory_replay_of_already_examined_2025_26_no_new_holdout"}</a:t>
            </a:r>
          </a:p>
          <a:p/>
          <a:p>
            <a:r>
              <a:t>S046: Average of four team/player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flat 1,000", "odds_mode": "best", "origin": "new", "policy_family": "ensemble 5% edge", "selection_rule": "max_edge", "staking": "fixed", "strategy_id": "S046", "study_status": "exploratory_replay_of_already_examined_2025_26_no_new_holdout"}</a:t>
            </a:r>
          </a:p>
          <a:p/>
          <a:p>
            <a:r>
              <a:t>S047: Average of four team/player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0.25 Kelly, per-bet cap 2%", "odds_mode": "best", "origin": "new", "policy_family": "ensemble 5% edge", "selection_rule": "max_edge", "staking": "kelly", "strategy_id": "S047", "study_status": "exploratory_replay_of_already_examined_2025_26_no_new_holdout"}</a:t>
            </a:r>
          </a:p>
          <a:p/>
          <a:p>
            <a:r>
              <a:t>S048: Average of eight learned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flat 1,000", "odds_mode": "best", "origin": "new", "policy_family": "ensemble 5% edge", "selection_rule": "max_edge", "staking": "fixed", "strategy_id": "S048", "study_status": "exploratory_replay_of_already_examined_2025_26_no_new_holdout"}</a:t>
            </a:r>
          </a:p>
          <a:p/>
          <a:p>
            <a:r>
              <a:t>S049: Average of eight learned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0.25 Kelly, per-bet cap 2%", "odds_mode": "best", "origin": "new", "policy_family": "ensemble 5% edge", "selection_rule": "max_edge", "staking": "kelly", "strategy_id": "S049", "study_status": "exploratory_replay_of_already_examined_2025_26_no_new_holdout"}</a:t>
            </a:r>
          </a:p>
          <a:p/>
          <a:p>
            <a:r>
              <a:t>S054: Average of eight learned forecasts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dynamic 1% stake | best individual-book quotes | dynamic 1% of date-start capital", "odds_mode": "best", "origin": "new", "policy_family": "dynamic 1% stake", "selection_rule": "max_edge", "staking": "dynamic_fraction", "strategy_id": "S054", "study_status": "exploratory_replay_of_already_examined_2025_26_no_new_holdout"}</a:t>
            </a:r>
          </a:p>
          <a:p/>
          <a:p>
            <a:r>
              <a:t>S050: Half combined forecast, half bookmaker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flat 1,000", "odds_mode": "best", "origin": "new", "policy_family": "ensemble 5% edge", "selection_rule": "max_edge", "staking": "fixed", "strategy_id": "S050", "study_status": "exploratory_replay_of_already_examined_2025_26_no_new_holdout"}</a:t>
            </a:r>
          </a:p>
          <a:p/>
          <a:p>
            <a:r>
              <a:t>S051: Half combined forecast, half bookmaker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0.25 Kelly, per-bet cap 2%", "odds_mode": "best", "origin": "new", "policy_family": "ensemble 5% edge", "selection_rule": "max_edge", "staking": "kelly", "strategy_id": "S051", "study_status": "exploratory_replay_of_already_examined_2025_26_no_new_holdout"}</a:t>
            </a:r>
          </a:p>
          <a:p/>
          <a:p>
            <a:r>
              <a:t>S059: Team + chance quality + 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logistic: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"logit_combined", "model_label": "Rolling logistic: combined", "name": "Rolling logistic: combined | quarter Kelly, 10% date budget | best individual-book quotes | 0.25 Kelly, per-bet cap 2%", "odds_mode": "best", "origin": "new", "policy_family": "quarter Kelly, 10% date budget", "selection_rule": "max_edge", "staking": "kelly", "strategy_id": "S059",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S060: Bookmaker odds + team/chance/player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market residual: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"residual_combined", "model_label": "Rolling market residual: combined", "name": "Rolling market residual: combined | quarter Kelly, 10% date budget | best individual-book quotes | 0.25 Kelly, per-bet cap 2%", "odds_mode": "best", "origin": "new", "policy_family": "quarter Kelly, 10% date budget", "selection_rule": "max_edge", "staking": "kelly", "strategy_id": "S060", "study_status": "exploratory_replay_of_already_examined_2025_26_no_new_holdout"}</a:t>
            </a:r>
          </a:p>
          <a:p/>
          <a:p>
            <a:r>
              <a:t>S061: Average of eight learned forecasts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Equal-weight mean of all eight rolling learned probabilities's maximum edge strictly above 5%. Use quarter Kelly capped at 2% per bet, then uniformly scale all same-date requests to at most 10%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quarter Kelly, 10% date budget | best individual-book quotes | 0.25 Kelly, per-bet cap 2%", "odds_mode": "best", "origin": "new", "policy_family": "quarter Kelly, 10% date budget", "selection_rule": "max_edge", "staking": "kelly", "strategy_id": "S061", "study_status": "exploratory_replay_of_already_examined_2025_26_no_new_holdout"}</a:t>
            </a:r>
          </a:p>
          <a:p/>
          <a:p>
            <a:r>
              <a:t>S062: Average of eight learned forecasts Among home win, draw, away win, pick the largest estimated return p×O−1; bet only above 5%. 1,000 per bet: 1% of INITIAL 100,000; the amount stays fixed as cash changes.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flat 1,000", "odds_mode": "best", "origin": "new", "policy_family": "six-of-eight consensus", "selection_rule": "max_edge", "staking": "fixed", "strategy_id": "S062", "study_status": "exploratory_replay_of_already_examined_2025_26_no_new_holdout"}</a:t>
            </a:r>
          </a:p>
          <a:p/>
          <a:p>
            <a:r>
              <a:t>S063: Average of eight learned forecasts Among home win, draw, away win, pick the largest estimated return p×O−1; bet only above 5%. Quarter Kelly: B × min(2%, 0.25 × max(0, p×O−1)/(O−1)); B = date-start cash.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0.25 Kelly, per-bet cap 2%", "odds_mode": "best", "origin": "new", "policy_family": "six-of-eight consensus", "selection_rule": "max_edge", "staking": "kelly", "strategy_id": "S063", "study_status": "exploratory_replay_of_already_examined_2025_26_no_new_holdout"}</a:t>
            </a:r>
          </a:p>
          <a:p/>
          <a:p>
            <a:r>
              <a:t>S064: Average of eight learned forecasts Among home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"Restrict candidates to outcome H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H only | best individual-book quotes | flat 1,000", "odds_mode": "best", "origin": "new", "policy_family": "5% edge, H only", "selection_rule": "max_edge", "staking": "fixed", "strategy_id": "S064", "study_status": "exploratory_replay_of_already_examined_2025_26_no_new_holdout"}</a:t>
            </a:r>
          </a:p>
          <a:p/>
          <a:p>
            <a:r>
              <a:t>S065: Average of eight learned forecasts Among draw,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"Restrict candidates to outcome D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D only | best individual-book quotes | flat 1,000", "odds_mode": "best", "origin": "new", "policy_family": "5% edge, D only", "selection_rule": "max_edge", "staking": "fixed", "strategy_id": "S065", "study_status": "exploratory_replay_of_already_examined_2025_26_no_new_holdout"}</a:t>
            </a:r>
          </a:p>
          <a:p/>
          <a:p>
            <a:r>
              <a:t>S066: Average of eight learned forecasts Among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"Restrict candidates to outcome A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A only | best individual-book quotes | flat 1,000", "odds_mode": "best", "origin": "new", "policy_family": "5% edge, A only", "selection_rule": "max_edge", "staking": "fixed", "strategy_id": "S066", "study_status": "exploratory_replay_of_already_examined_2025_26_no_new_holdout"}</a:t>
            </a:r>
          </a:p>
          <a:p/>
          <a:p>
            <a:r>
              <a:t>S067: Team + chance quality + 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"logit_combined", "model_label": "Rolling logistic: combined", "name": "Rolling logistic: combined | 10% edge | best individual-book quotes | flat 1,000", "odds_mode": "best", "origin": "new", "policy_family": "10% edge", "selection_rule": "max_edge", "staking": "fixed", "strategy_id": "S067", "study_status": "exploratory_replay_of_already_examined_2025_26_no_new_holdout"}</a:t>
            </a:r>
          </a:p>
          <a:p/>
          <a:p>
            <a:r>
              <a:t>S068: Bookmaker odds + team/chance/player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"residual_combined", "model_label": "Rolling market residual: combined", "name": "Rolling market residual: combined | 10% edge | best individual-book quotes | flat 1,000", "odds_mode": "best", "origin": "new", "policy_family": "10% edge", "selection_rule": "max_edge", "staking": "fixed", "strategy_id": "S068",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S069: Average of eight learned forecasts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10%; stake flat 1,000.", "diagnostic": false, "fixed_stake": 1000.0, "kelly_fraction": 0.25, "max_bet_fraction": 0.02, "max_odds": null, "min_edge": 0.1, "min_odds": null, "model_key": "ensemble_learned8", "model_label": "Equal-weight mean of all eight rolling learned probabilities", "name": "Equal-weight mean of all eight rolling learned probabilities | 10% edge | best individual-book quotes | flat 1,000", "odds_mode": "best", "origin": "new", "policy_family": "10% edge", "selection_rule": "max_edge", "staking": "fixed", "strategy_id": "S069", "study_status": "exploratory_replay_of_already_examined_2025_26_no_new_holdout"}</a:t>
            </a:r>
          </a:p>
          <a:p/>
          <a:p>
            <a:r>
              <a:t>S070: Team + chance quality + 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logistic: combined's edge. Require selected edge strictly above 5%; flat stake 1,000.", "diagnostic": false, "fixed_stake": 1000.0, "kelly_fraction": 0.25, "max_bet_fraction": 0.02, "max_odds": 5.0, "min_edge": 0.05, "min_odds": 1.5, "model_key": "logit_combined", "model_label": "Rolling logistic: combined", "name": "Rolling logistic: combined | 5% edge, odds 1.5–5 | best individual-book quotes | flat 1,000", "odds_mode": "best", "origin": "new", "policy_family": "5% edge, odds 1.5–5", "selection_rule": "max_edge", "staking": "fixed", "strategy_id": "S070", "study_status": "exploratory_replay_of_already_examined_2025_26_no_new_holdout"}</a:t>
            </a:r>
          </a:p>
          <a:p/>
          <a:p>
            <a:r>
              <a:t>S071: Bookmaker odds + team/chance/player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market residual: combined's edge. Require selected edge strictly above 5%; flat stake 1,000.", "diagnostic": false, "fixed_stake": 1000.0, "kelly_fraction": 0.25, "max_bet_fraction": 0.02, "max_odds": 5.0, "min_edge": 0.05, "min_odds": 1.5, "model_key": "residual_combined", "model_label": "Rolling market residual: combined", "name": "Rolling market residual: combined | 5% edge, odds 1.5–5 | best individual-book quotes | flat 1,000", "odds_mode": "best", "origin": "new", "policy_family": "5% edge, odds 1.5–5", "selection_rule": "max_edge", "staking": "fixed", "strategy_id": "S071", "study_status": "exploratory_replay_of_already_examined_2025_26_no_new_holdout"}</a:t>
            </a:r>
          </a:p>
          <a:p/>
          <a:p>
            <a:r>
              <a:t>S072: Average of eight learned forecasts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Equal-weight mean of all eight rolling learned probabilities's edge. Require selected edge strictly above 5%; flat stake 1,000.", "diagnostic": false, "fixed_stake": 1000.0, "kelly_fraction": 0.25, "max_bet_fraction": 0.02, "max_odds": 5.0, "min_edge": 0.05, "min_odds": 1.5, "model_key": "ensemble_learned8", "model_label": "Equal-weight mean of all eight rolling learned probabilities", "name": "Equal-weight mean of all eight rolling learned probabilities | 5% edge, odds 1.5–5 | best individual-book quotes | flat 1,000", "odds_mode": "best", "origin": "new", "policy_family": "5% edge, odds 1.5–5", "selection_rule": "max_edge", "staking": "fixed", "strategy_id": "S072", "study_status": "exploratory_replay_of_already_examined_2025_26_no_new_holdout"}</a:t>
            </a:r>
          </a:p>
          <a:p/>
          <a:p>
            <a:r>
              <a:t>S073: Original SVM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"first_accuracy", "model_label": "First-study accuracy-selected SVM", "name": "First-study accuracy-selected SVM | historical threshold diagnostic 0% | best individual-book quotes | flat 1,000", "odds_mode": "best", "origin": "legacy_diagnostic", "policy_family": "historical threshold diagnostic 0%", "selection_rule": "max_edge", "staking": "fixed", "strategy_id": "S073", "study_status": "exploratory_replay_of_already_examined_2025_26_no_new_holdout"}</a:t>
            </a:r>
          </a:p>
          <a:p/>
          <a:p>
            <a:r>
              <a:t>S074: Original SVM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"first_accuracy", "model_label": "First-study accuracy-selected SVM", "name": "First-study accuracy-selected SVM | historical threshold diagnostic 2.5% | best individual-book quotes | flat 1,000", "odds_mode": "best", "origin": "legacy_diagnostic", "policy_family": "historical threshold diagnostic 2.5%", "selection_rule": "max_edge", "staking": "fixed", "strategy_id": "S074", "study_status": "exploratory_replay_of_already_examined_2025_26_no_new_holdout"}</a:t>
            </a:r>
          </a:p>
          <a:p/>
          <a:p>
            <a:r>
              <a:t>S075: Original SVM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"first_accuracy", "model_label": "First-study accuracy-selected SVM", "name": "First-study accuracy-selected SVM | historical threshold diagnostic 7.5% | best individual-book quotes | flat 1,000", "odds_mode": "best", "origin": "legacy_diagnostic", "policy_family": "historical threshold diagnostic 7.5%", "selection_rule": "max_edge", "staking": "fixed", "strategy_id": "S075", "study_status": "exploratory_replay_of_already_examined_2025_26_no_new_holdout"}</a:t>
            </a:r>
          </a:p>
          <a:p/>
          <a:p>
            <a:r>
              <a:t>S076: Original SVM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"first_accuracy", "model_label": "First-study accuracy-selected SVM", "name": "First-study accuracy-selected SVM | historical threshold diagnostic 10% | best individual-book quotes | flat 1,000", "odds_mode": "best", "origin": "legacy_diagnostic", "policy_family": "historical threshold diagnostic 10%", "selection_rule": "max_edge", "staking": "fixed", "strategy_id": "S076",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S077: Original SVM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"first_accuracy", "model_label": "First-study accuracy-selected SVM", "name": "First-study accuracy-selected SVM | historical threshold diagnostic 15% | best individual-book quotes | flat 1,000", "odds_mode": "best", "origin": "legacy_diagnostic", "policy_family": "historical threshold diagnostic 15%", "selection_rule": "max_edge", "staking": "fixed", "strategy_id": "S077", "study_status": "exploratory_replay_of_already_examined_2025_26_no_new_holdout"}</a:t>
            </a:r>
          </a:p>
          <a:p/>
          <a:p>
            <a:r>
              <a:t>S078: Original SVM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"first_accuracy", "model_label": "First-study accuracy-selected SVM", "name": "First-study accuracy-selected SVM | historical threshold diagnostic 20% | best individual-book quotes | flat 1,000", "odds_mode": "best", "origin": "legacy_diagnostic", "policy_family": "historical threshold diagnostic 20%", "selection_rule": "max_edge", "staking": "fixed", "strategy_id": "S078", "study_status": "exploratory_replay_of_already_examined_2025_26_no_new_holdout"}</a:t>
            </a:r>
          </a:p>
          <a:p/>
          <a:p>
            <a:r>
              <a:t>S079: Original neural-network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"first_calibration", "model_label": "First-study calibration-selected MLP", "name": "First-study calibration-selected MLP | historical threshold diagnostic 0% | best individual-book quotes | flat 1,000", "odds_mode": "best", "origin": "legacy_diagnostic", "policy_family": "historical threshold diagnostic 0%", "selection_rule": "max_edge", "staking": "fixed", "strategy_id": "S079", "study_status": "exploratory_replay_of_already_examined_2025_26_no_new_holdout"}</a:t>
            </a:r>
          </a:p>
          <a:p/>
          <a:p>
            <a:r>
              <a:t>S080: Original neural-network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"first_calibration", "model_label": "First-study calibration-selected MLP", "name": "First-study calibration-selected MLP | historical threshold diagnostic 2.5% | best individual-book quotes | flat 1,000", "odds_mode": "best", "origin": "legacy_diagnostic", "policy_family": "historical threshold diagnostic 2.5%", "selection_rule": "max_edge", "staking": "fixed", "strategy_id": "S080", "study_status": "exploratory_replay_of_already_examined_2025_26_no_new_holdout"}</a:t>
            </a:r>
          </a:p>
          <a:p/>
          <a:p>
            <a:r>
              <a:t>S081: Original neural-network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"first_calibration", "model_label": "First-study calibration-selected MLP", "name": "First-study calibration-selected MLP | historical threshold diagnostic 7.5% | best individual-book quotes | flat 1,000", "odds_mode": "best", "origin": "legacy_diagnostic", "policy_family": "historical threshold diagnostic 7.5%", "selection_rule": "max_edge", "staking": "fixed", "strategy_id": "S081", "study_status": "exploratory_replay_of_already_examined_2025_26_no_new_holdout"}</a:t>
            </a:r>
          </a:p>
          <a:p/>
          <a:p>
            <a:r>
              <a:t>S082: Original neural-network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"first_calibration", "model_label": "First-study calibration-selected MLP", "name": "First-study calibration-selected MLP | historical threshold diagnostic 10% | best individual-book quotes | flat 1,000", "odds_mode": "best", "origin": "legacy_diagnostic", "policy_family": "historical threshold diagnostic 10%", "selection_rule": "max_edge", "staking": "fixed", "strategy_id": "S082", "study_status": "exploratory_replay_of_already_examined_2025_26_no_new_holdout"}</a:t>
            </a:r>
          </a:p>
          <a:p/>
          <a:p>
            <a:r>
              <a:t>S083: Original neural-network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"first_calibration", "model_label": "First-study calibration-selected MLP", "name": "First-study calibration-selected MLP | historical threshold diagnostic 15% | best individual-book quotes | flat 1,000", "odds_mode": "best", "origin": "legacy_diagnostic", "policy_family": "historical threshold diagnostic 15%", "selection_rule": "max_edge", "staking": "fixed", "strategy_id": "S083", "study_status": "exploratory_replay_of_already_examined_2025_26_no_new_holdout"}</a:t>
            </a:r>
          </a:p>
          <a:p/>
          <a:p>
            <a:r>
              <a:t>S084: Original neural-network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"first_calibration", "model_label": "First-study calibration-selected MLP", "name": "First-study calibration-selected MLP | historical threshold diagnostic 20% | best individual-book quotes | flat 1,000", "odds_mode": "best", "origin": "legacy_diagnostic", "policy_family": "historical threshold diagnostic 20%", "selection_rule": "max_edge", "staking": "fixed", "strategy_id": "S084",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P001: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flat 1,000", "odds_mode": "best", "origin": "new_player_model_study", "policy_family": "frozen 5% player-study diagnostic", "selection_rule": "max_edge", "staking": "fixed", "strategy_id": "P001", "study_status": "exploratory_previously_inspected_history_not_new_holdout_or_selected_live_betting_policy"}</a:t>
            </a:r>
          </a:p>
          <a:p/>
          <a:p>
            <a:r>
              <a:t>P002: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quarter Kelly capped at 2% of date-start cash per bet", "odds_mode": "best", "origin": "new_player_model_study", "policy_family": "frozen 5% player-study diagnostic", "selection_rule": "max_edge", "staking": "kelly", "strategy_id": "P002", "study_status": "exploratory_previously_inspected_history_not_new_holdout_or_selected_live_betting_policy"}</a:t>
            </a:r>
          </a:p>
          <a:p/>
          <a:p>
            <a:r>
              <a:t>P003: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flat 1,000", "odds_mode": "reference", "origin": "new_player_model_study", "policy_family": "frozen 5% player-study diagnostic", "selection_rule": "max_edge", "staking": "fixed", "strategy_id": "P003", "study_status": "exploratory_previously_inspected_history_not_new_holdout_or_selected_live_betting_policy"}</a:t>
            </a:r>
          </a:p>
          <a:p/>
          <a:p>
            <a:r>
              <a:t>P004: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quarter Kelly capped at 2% of date-start cash per bet", "odds_mode": "reference", "origin": "new_player_model_study", "policy_family": "frozen 5% player-study diagnostic", "selection_rule": "max_edge", "staking": "kelly", "strategy_id": "P004", "study_status": "exploratory_previously_inspected_history_not_new_holdout_or_selected_live_betting_policy"}</a:t>
            </a:r>
          </a:p>
          <a:p/>
          <a:p>
            <a:r>
              <a:t>P005: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flat 1,000", "odds_mode": "best", "origin": "new_player_model_study", "policy_family": "frozen 5% player-study diagnostic", "selection_rule": "max_edge", "staking": "fixed", "strategy_id": "P005", "study_status": "exploratory_previously_inspected_history_not_new_holdout_or_selected_live_betting_policy"}</a:t>
            </a:r>
          </a:p>
          <a:p/>
          <a:p>
            <a:r>
              <a:t>P006: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quarter Kelly capped at 2% of date-start cash per bet", "odds_mode": "best", "origin": "new_player_model_study", "policy_family": "frozen 5% player-study diagnostic", "selection_rule": "max_edge", "staking": "kelly", "strategy_id": "P006", "study_status": "exploratory_previously_inspected_history_not_new_holdout_or_selected_live_betting_policy"}</a:t>
            </a:r>
          </a:p>
          <a:p/>
          <a:p>
            <a:r>
              <a:t>P007: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flat 1,000", "odds_mode": "reference", "origin": "new_player_model_study", "policy_family": "frozen 5% player-study diagnostic", "selection_rule": "max_edge", "staking": "fixed", "strategy_id": "P007", "study_status": "exploratory_previously_inspected_history_not_new_holdout_or_selected_live_betting_policy"}</a:t>
            </a:r>
          </a:p>
          <a:p/>
          <a:p>
            <a:r>
              <a:t>P008: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quarter Kelly capped at 2% of date-start cash per bet", "odds_mode": "reference", "origin": "new_player_model_study", "policy_family": "frozen 5% player-study diagnostic", "selection_rule": "max_edge", "staking": "kelly", "strategy_id": "P008", "study_status": "exploratory_previously_inspected_history_not_new_holdout_or_selected_live_betting_policy"}</a:t>
            </a:r>
          </a:p>
          <a:p/>
          <a:p>
            <a:r>
              <a:t>P009: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P010: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quarter Kelly capped at 2% of date-start cash per bet", "odds_mode": "best", "origin": "new_player_model_study", "policy_family": "frozen 5% player-study diagnostic", "selection_rule": "max_edge", "staking": "kelly", "strategy_id": "P010", "study_status": "exploratory_previously_inspected_history_not_new_holdout_or_selected_live_betting_policy"}</a:t>
            </a:r>
          </a:p>
          <a:p/>
          <a:p>
            <a:r>
              <a:t>P011: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flat 1,000", "odds_mode": "reference", "origin": "new_player_model_study", "policy_family": "frozen 5% player-study diagnostic", "selection_rule": "max_edge", "staking": "fixed", "strategy_id": "P011", "study_status": "exploratory_previously_inspected_history_not_new_holdout_or_selected_live_betting_policy"}</a:t>
            </a:r>
          </a:p>
          <a:p/>
          <a:p>
            <a:r>
              <a:t>P012: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quarter Kelly capped at 2% of date-start cash per bet", "odds_mode": "reference", "origin": "new_player_model_study", "policy_family": "frozen 5% player-study diagnostic", "selection_rule": "max_edge", "staking": "kelly", "strategy_id": "P012", "study_status": "exploratory_previously_inspected_history_not_new_holdout_or_selected_live_betting_policy"}</a:t>
            </a:r>
          </a:p>
          <a:p/>
          <a:p>
            <a:r>
              <a:t>P013: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flat 1,000", "odds_mode": "best", "origin": "new_player_model_study", "policy_family": "frozen 5% player-study diagnostic", "selection_rule": "max_edge", "staking": "fixed", "strategy_id": "P013", "study_status": "exploratory_previously_inspected_history_not_new_holdout_or_selected_live_betting_policy"}</a:t>
            </a:r>
          </a:p>
          <a:p/>
          <a:p>
            <a:r>
              <a:t>P014: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quarter Kelly capped at 2% of date-start cash per bet", "odds_mode": "best", "origin": "new_player_model_study", "policy_family": "frozen 5% player-study diagnostic", "selection_rule": "max_edge", "staking": "kelly", "strategy_id": "P014", "study_status": "exploratory_previously_inspected_history_not_new_holdout_or_selected_live_betting_policy"}</a:t>
            </a:r>
          </a:p>
          <a:p/>
          <a:p>
            <a:r>
              <a:t>P015: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flat 1,000", "odds_mode": "reference", "origin": "new_player_model_study", "policy_family": "frozen 5% player-study diagnostic", "selection_rule": "max_edge", "staking": "fixed", "strategy_id": "P015", "study_status": "exploratory_previously_inspected_history_not_new_holdout_or_selected_live_betting_policy"}</a:t>
            </a:r>
          </a:p>
          <a:p/>
          <a:p>
            <a:r>
              <a:t>P016: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quarter Kelly capped at 2% of date-start cash per bet", "odds_mode": "reference", "origin": "new_player_model_study", "policy_family": "frozen 5% player-study diagnostic", "selection_rule": "max_edge", "staking": "kelly", "strategy_id": "P016",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P017: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flat 1,000", "odds_mode": "best", "origin": "new_player_model_study", "policy_family": "frozen 5% player-study diagnostic", "selection_rule": "max_edge", "staking": "fixed", "strategy_id": "P017", "study_status": "exploratory_previously_inspected_history_not_new_holdout_or_selected_live_betting_policy"}</a:t>
            </a:r>
          </a:p>
          <a:p/>
          <a:p>
            <a:r>
              <a:t>P018: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quarter Kelly capped at 2% of date-start cash per bet", "odds_mode": "best", "origin": "new_player_model_study", "policy_family": "frozen 5% player-study diagnostic", "selection_rule": "max_edge", "staking": "kelly", "strategy_id": "P018", "study_status": "exploratory_previously_inspected_history_not_new_holdout_or_selected_live_betting_policy"}</a:t>
            </a:r>
          </a:p>
          <a:p/>
          <a:p>
            <a:r>
              <a:t>P019: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flat 1,000", "odds_mode": "reference", "origin": "new_player_model_study", "policy_family": "frozen 5% player-study diagnostic", "selection_rule": "max_edge", "staking": "fixed", "strategy_id": "P019", "study_status": "exploratory_previously_inspected_history_not_new_holdout_or_selected_live_betting_policy"}</a:t>
            </a:r>
          </a:p>
          <a:p/>
          <a:p>
            <a:r>
              <a:t>P020: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quarter Kelly capped at 2% of date-start cash per bet", "odds_mode": "reference", "origin": "new_player_model_study", "policy_family": "frozen 5% player-study diagnostic", "selection_rule": "max_edge", "staking": "kelly", "strategy_id": "P020", "study_status": "exploratory_previously_inspected_history_not_new_holdout_or_selected_live_betting_policy"}</a:t>
            </a:r>
          </a:p>
          <a:p/>
          <a:p>
            <a:r>
              <a:t>P021: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flat 1,000", "odds_mode": "best", "origin": "new_player_model_study", "policy_family": "frozen 5% player-study diagnostic", "selection_rule": "max_edge", "staking": "fixed", "strategy_id": "P021", "study_status": "exploratory_previously_inspected_history_not_new_holdout_or_selected_live_betting_policy"}</a:t>
            </a:r>
          </a:p>
          <a:p/>
          <a:p>
            <a:r>
              <a:t>P022: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quarter Kelly capped at 2% of date-start cash per bet", "odds_mode": "best", "origin": "new_player_model_study", "policy_family": "frozen 5% player-study diagnostic", "selection_rule": "max_edge", "staking": "kelly", "strategy_id": "P022", "study_status": "exploratory_previously_inspected_history_not_new_holdout_or_selected_live_betting_policy"}</a:t>
            </a:r>
          </a:p>
          <a:p/>
          <a:p>
            <a:r>
              <a:t>P023: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flat 1,000", "odds_mode": "reference", "origin": "new_player_model_study", "policy_family": "frozen 5% player-study diagnostic", "selection_rule": "max_edge", "staking": "fixed", "strategy_id": "P023", "study_status": "exploratory_previously_inspected_history_not_new_holdout_or_selected_live_betting_policy"}</a:t>
            </a:r>
          </a:p>
          <a:p/>
          <a:p>
            <a:r>
              <a:t>P024: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quarter Kelly capped at 2% of date-start cash per bet", "odds_mode": "reference", "origin": "new_player_model_study", "policy_family": "frozen 5% player-study diagnostic", "selection_rule": "max_edge", "staking": "kelly", "strategy_id": "P024", "study_status": "exploratory_previously_inspected_history_not_new_holdout_or_selected_live_betting_policy"}</a:t>
            </a:r>
          </a:p>
          <a:p/>
          <a:p>
            <a:r>
              <a:t>P025: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flat 1,000", "odds_mode": "best", "origin": "new_player_model_study", "policy_family": "frozen 5% player-study diagnostic", "selection_rule": "max_edge", "staking": "fixed", "strategy_id": "P025", "study_status": "exploratory_previously_inspected_history_not_new_holdout_or_selected_live_betting_policy"}</a:t>
            </a:r>
          </a:p>
          <a:p/>
          <a:p>
            <a:r>
              <a:t>P026: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quarter Kelly capped at 2% of date-start cash per bet", "odds_mode": "best", "origin": "new_player_model_study", "policy_family": "frozen 5% player-study diagnostic", "selection_rule": "max_edge", "staking": "kelly", "strategy_id": "P026", "study_status": "exploratory_previously_inspected_history_not_new_holdout_or_selected_live_betting_policy"}</a:t>
            </a:r>
          </a:p>
          <a:p/>
          <a:p>
            <a:r>
              <a:t>P027: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flat 1,000", "odds_mode": "reference", "origin": "new_player_model_study", "policy_family": "frozen 5% player-study diagnostic", "selection_rule": "max_edge", "staking": "fixed", "strategy_id": "P027", "study_status": "exploratory_previously_inspected_history_not_new_holdout_or_selected_live_betting_policy"}</a:t>
            </a:r>
          </a:p>
          <a:p/>
          <a:p>
            <a:r>
              <a:t>P028: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quarter Kelly capped at 2% of date-start cash per bet", "odds_mode": "reference", "origin": "new_player_model_study", "policy_family": "frozen 5% player-study diagnostic", "selection_rule": "max_edge", "staking": "kelly", "strategy_id": "P028", "study_status": "exploratory_previously_inspected_history_not_new_holdout_or_selected_live_betting_policy"}</a:t>
            </a:r>
          </a:p>
          <a:p/>
          <a:p>
            <a:r>
              <a:t>P029: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flat 1,000", "odds_mode": "best", "origin": "new_player_model_study", "policy_family": "frozen 5% player-study diagnostic", "selection_rule": "max_edge", "staking": "fixed", "strategy_id": "P029", "study_status": "exploratory_previously_inspected_history_not_new_holdout_or_selected_live_betting_policy"}</a:t>
            </a:r>
          </a:p>
          <a:p/>
          <a:p>
            <a:r>
              <a:t>P030: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quarter Kelly capped at 2% of date-start cash per bet", "odds_mode": "best", "origin": "new_player_model_study", "policy_family": "frozen 5% player-study diagnostic", "selection_rule": "max_edge", "staking": "kelly", "strategy_id": "P030", "study_status": "exploratory_previously_inspected_history_not_new_holdout_or_selected_live_betting_policy"}</a:t>
            </a:r>
          </a:p>
          <a:p/>
          <a:p>
            <a:r>
              <a:t>P031: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flat 1,000", "odds_mode": "reference", "origin": "new_player_model_study", "policy_family": "frozen 5% player-study diagnostic", "selection_rule": "max_edge", "staking": "fixed", "strategy_id": "P031", "study_status": "exploratory_previously_inspected_history_not_new_holdout_or_selected_live_betting_policy"}</a:t>
            </a:r>
          </a:p>
          <a:p/>
          <a:p>
            <a:r>
              <a:t>P032: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quarter Kelly capped at 2% of date-start cash per bet", "odds_mode": "reference", "origin": "new_player_model_study", "policy_family": "frozen 5% player-study diagnostic", "selection_rule": "max_edge", "staking": "kelly", "strategy_id": "P032",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original strategy is explained in the preceding catalogue. Its original qualification is retained on the entire 1,470-fixture horizon, including after bankruptcy. Context is strategy ID plus quote mode; the 17 contexts cover 15 distinct IDs. Best denotes archived highest individual-book quotes; Bet365 denotes a reference-policy replay with its own original selection under those prices. Complement rule: back both other outcomes, splitting total risk R=1,000 by reciprocal quote weights so both gross payouts are R/S, S=sum(1/O_other). Retain any original date cap. All same-date commitments share opening cash; scale uniformly and never borrow or reuse same-date wins. A zero inverse remains zero. Frequency denominator is 1,470 opportunities. Bets are funded fixture bundles; there are two back legs per bundle. Signals include unfunded qualifying fixtures. Stake ROI is profit divided by allocated bundle stakes. Expected gain and loss are nonnegative probability-weighted components under the original model, not realised average wins and losses. Price-supported costs haircut positive net bundle profit at 2% and 5%, without rebating negative profit. Synthetic lay uses fixed maximum liability 1,000, counterstake 1,000/(original odds-1), at the original back price; real lay quotes and fills are not supplied. The recorded-exposure mirror is the negative of existing realised cashflow. Its arithmetic endpoint is an identity, not a newly earned strategy result; exact liability may require extra opening cash. Every full metric, conditional ROI interval and identity funding diagnostic for these rows follows:</a:t>
            </a:r>
          </a:p>
          <a:p>
            <a:r>
              <a:t>[</a:t>
            </a:r>
          </a:p>
          <a:p>
            <a:r>
              <a:t>  {</a:t>
            </a:r>
          </a:p>
          <a:p>
            <a:r>
              <a:t>    "context": "S033__reference",</a:t>
            </a:r>
          </a:p>
          <a:p>
            <a:r>
              <a:t>    "model": "Rolling training-class frequency",</a:t>
            </a:r>
          </a:p>
          <a:p>
            <a:r>
              <a:t>    "entry_rule": "max_edge",</a:t>
            </a:r>
          </a:p>
          <a:p>
            <a:r>
              <a:t>    "primary": {</a:t>
            </a:r>
          </a:p>
          <a:p>
            <a:r>
              <a:t>      "Index": 249,</a:t>
            </a:r>
          </a:p>
          <a:p>
            <a:r>
              <a:t>      "context_id": "S033__reference",</a:t>
            </a:r>
          </a:p>
          <a:p>
            <a:r>
              <a:t>      "strategy_id": "S033",</a:t>
            </a:r>
          </a:p>
          <a:p>
            <a:r>
              <a:t>      "model_key": "baseline_class_frequency",</a:t>
            </a:r>
          </a:p>
          <a:p>
            <a:r>
              <a:t>      "model_label": "Rolling training-class frequency",</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24426.20052788943,</a:t>
            </a:r>
          </a:p>
          <a:p>
            <a:r>
              <a:t>      "profit": -75573.79947211058,</a:t>
            </a:r>
          </a:p>
          <a:p>
            <a:r>
              <a:t>      "return_on_initial_capital": -0.7557379947211058,</a:t>
            </a:r>
          </a:p>
          <a:p>
            <a:r>
              <a:t>      "risk_turnover": 1409000.0,</a:t>
            </a:r>
          </a:p>
          <a:p>
            <a:r>
              <a:t>      "turnover": 1409000.0,</a:t>
            </a:r>
          </a:p>
          <a:p>
            <a:r>
              <a:t>      "risk_roi": -0.0536364793982332,</a:t>
            </a:r>
          </a:p>
          <a:p>
            <a:r>
              <a:t>      "roi": -0.0536364793982332,</a:t>
            </a:r>
          </a:p>
          <a:p>
            <a:r>
              <a:t>      "bet_count": 1409,</a:t>
            </a:r>
          </a:p>
          <a:p>
            <a:r>
              <a:t>      "leg_count": 2818,</a:t>
            </a:r>
          </a:p>
          <a:p>
            <a:r>
              <a:t>      "qualifying_signals": 1409,</a:t>
            </a:r>
          </a:p>
          <a:p>
            <a:r>
              <a:t>      "trading_frequency": 0.9585034013605442,</a:t>
            </a:r>
          </a:p>
          <a:p>
            <a:r>
              <a:t>      "event_hit_ratio": 0.7764371894960965,</a:t>
            </a:r>
          </a:p>
          <a:p>
            <a:r>
              <a:t>      "positive_profit_hit_ratio": 0.7601135557132718,</a:t>
            </a:r>
          </a:p>
          <a:p>
            <a:r>
              <a:t>      "expected_gain_per_trade": 142.30241374465822,</a:t>
            </a:r>
          </a:p>
          <a:p>
            <a:r>
              <a:t>      "expected_loss_per_trade": 387.446621025456,</a:t>
            </a:r>
          </a:p>
          <a:p>
            <a:r>
              <a:t>      "avg_winning_gain": 223.7171765487201,</a:t>
            </a:r>
          </a:p>
          <a:p>
            <a:r>
              <a:t>      "avg_losing_loss": 938.0205224874692,</a:t>
            </a:r>
          </a:p>
          <a:p>
            <a:r>
              <a:t>      "fees": 0.0,</a:t>
            </a:r>
          </a:p>
          <a:p>
            <a:r>
              <a:t>      "max_drawdown": 0.7562790998388946,</a:t>
            </a:r>
          </a:p>
          <a:p>
            <a:r>
              <a:t>      "active_dates": 450,</a:t>
            </a:r>
          </a:p>
          <a:p>
            <a:r>
              <a:t>      "scaled_dates": 0,</a:t>
            </a:r>
          </a:p>
          <a:p>
            <a:r>
              <a:t>      "max_date_exposure": 0.3321895976569706,</a:t>
            </a:r>
          </a:p>
          <a:p>
            <a:r>
              <a:t>      "nonpositive_complement_payout_bundles": 24,</a:t>
            </a:r>
          </a:p>
          <a:p>
            <a:r>
              <a:t>      "roi_ci_low": -0.0817515339164416,</a:t>
            </a:r>
          </a:p>
          <a:p>
            <a:r>
              <a:t>      "roi_ci_high": -0.0249233503079763</a:t>
            </a:r>
          </a:p>
          <a:p>
            <a:r>
              <a:t>    },</a:t>
            </a:r>
          </a:p>
          <a:p>
            <a:r>
              <a:t>    "cost_2_final": 19634.178606215904,</a:t>
            </a:r>
          </a:p>
          <a:p>
            <a:r>
              <a:t>    "cost_5_final": 12446.145723705393,</a:t>
            </a:r>
          </a:p>
          <a:p>
            <a:r>
              <a:t>    "synthetic_lay_final": 120882.26300782234,</a:t>
            </a:r>
          </a:p>
          <a:p>
            <a:r>
              <a:t>    "identity_diagnostic": {</a:t>
            </a:r>
          </a:p>
          <a:p>
            <a:r>
              <a:t>      "original_final_capital": 0.0,</a:t>
            </a:r>
          </a:p>
          <a:p>
            <a:r>
              <a:t>      "arithmetic_mirror_final": 200000.0,</a:t>
            </a:r>
          </a:p>
          <a:p>
            <a:r>
              <a:t>      "arithmetic_mirror_minimum": 81990.0,</a:t>
            </a:r>
          </a:p>
          <a:p>
            <a:r>
              <a:t>      "original_peak_capital": 118010.0,</a:t>
            </a:r>
          </a:p>
          <a:p>
            <a:r>
              <a:t>      "max_same_date_liability": 64400.0,</a:t>
            </a:r>
          </a:p>
          <a:p>
            <a:r>
              <a:t>      "minimum_additional_opening_cash": 0.0,</a:t>
            </a:r>
          </a:p>
          <a:p>
            <a:r>
              <a:t>      "funding_shortfall_dates": 0,</a:t>
            </a:r>
          </a:p>
          <a:p>
            <a:r>
              <a:t>      "mirror_funding_feasible": true,</a:t>
            </a:r>
          </a:p>
          <a:p>
            <a:r>
              <a:t>      "original_bet_count": 781</a:t>
            </a:r>
          </a:p>
          <a:p>
            <a:r>
              <a:t>    }</a:t>
            </a:r>
          </a:p>
          <a:p>
            <a:r>
              <a:t>  },</a:t>
            </a:r>
          </a:p>
          <a:p>
            <a:r>
              <a:t>  {</a:t>
            </a:r>
          </a:p>
          <a:p>
            <a:r>
              <a:t>    "context": "S039__reference",</a:t>
            </a:r>
          </a:p>
          <a:p>
            <a:r>
              <a:t>    "model": "Raw de-vigged Bet365 market",</a:t>
            </a:r>
          </a:p>
          <a:p>
            <a:r>
              <a:t>    "entry_rule": "fixed_outcome",</a:t>
            </a:r>
          </a:p>
          <a:p>
            <a:r>
              <a:t>    "primary": {</a:t>
            </a:r>
          </a:p>
          <a:p>
            <a:r>
              <a:t>      "Index": 255,</a:t>
            </a:r>
          </a:p>
          <a:p>
            <a:r>
              <a:t>      "context_id": "S039__reference",</a:t>
            </a:r>
          </a:p>
          <a:p>
            <a:r>
              <a:t>      "strategy_id": "S039",</a:t>
            </a:r>
          </a:p>
          <a:p>
            <a:r>
              <a:t>      "model_key": "baseline_market_only",</a:t>
            </a:r>
          </a:p>
          <a:p>
            <a:r>
              <a:t>      "model_label": "Raw de-vigged Bet365 market",</a:t>
            </a:r>
          </a:p>
          <a:p>
            <a:r>
              <a:t>      "price_mode": "reference",</a:t>
            </a:r>
          </a:p>
          <a:p>
            <a:r>
              <a:t>      "selection_rule": "fixed_outcome",</a:t>
            </a:r>
          </a:p>
          <a:p>
            <a:r>
              <a:t>      "original_zero": true,</a:t>
            </a:r>
          </a:p>
          <a:p>
            <a:r>
              <a:t>      "variant": "dutch_cost_0",</a:t>
            </a:r>
          </a:p>
          <a:p>
            <a:r>
              <a:t>      "kind": "dutch",</a:t>
            </a:r>
          </a:p>
          <a:p>
            <a:r>
              <a:t>      "cost_rate": 0.0,</a:t>
            </a:r>
          </a:p>
          <a:p>
            <a:r>
              <a:t>      "initial_capital": 100000.0,</a:t>
            </a:r>
          </a:p>
          <a:p>
            <a:r>
              <a:t>      "final_capital": 0.0,</a:t>
            </a:r>
          </a:p>
          <a:p>
            <a:r>
              <a:t>      "profit": -100000.0,</a:t>
            </a:r>
          </a:p>
          <a:p>
            <a:r>
              <a:t>      "return_on_initial_capital": -1.0,</a:t>
            </a:r>
          </a:p>
          <a:p>
            <a:r>
              <a:t>      "risk_turnover": 1121830.9735631864,</a:t>
            </a:r>
          </a:p>
          <a:p>
            <a:r>
              <a:t>      "turnover": 1121830.9735631864,</a:t>
            </a:r>
          </a:p>
          <a:p>
            <a:r>
              <a:t>      "risk_roi": -0.0891399884265787,</a:t>
            </a:r>
          </a:p>
          <a:p>
            <a:r>
              <a:t>      "roi": -0.0891399884265787,</a:t>
            </a:r>
          </a:p>
          <a:p>
            <a:r>
              <a:t>      "bet_count": 1194,</a:t>
            </a:r>
          </a:p>
          <a:p>
            <a:r>
              <a:t>      "leg_count": 2388,</a:t>
            </a:r>
          </a:p>
          <a:p>
            <a:r>
              <a:t>      "qualifying_signals": 1470,</a:t>
            </a:r>
          </a:p>
          <a:p>
            <a:r>
              <a:t>      "trading_frequency": 0.8122448979591836,</a:t>
            </a:r>
          </a:p>
          <a:p>
            <a:r>
              <a:t>      "event_hit_ratio": 0.5452261306532663,</a:t>
            </a:r>
          </a:p>
          <a:p>
            <a:r>
              <a:t>      "positive_profit_hit_ratio": 0.5443886097152428,</a:t>
            </a:r>
          </a:p>
          <a:p>
            <a:r>
              <a:t>      "expected_gain_per_trade": 368.2894856570305,</a:t>
            </a:r>
          </a:p>
          <a:p>
            <a:r>
              <a:t>      "expected_loss_per_trade": 416.71377579187583,</a:t>
            </a:r>
          </a:p>
          <a:p>
            <a:r>
              <a:t>      "avg_winning_gain": 632.544250367342,</a:t>
            </a:r>
          </a:p>
          <a:p>
            <a:r>
              <a:t>      "avg_losing_loss": 939.620887387449,</a:t>
            </a:r>
          </a:p>
          <a:p>
            <a:r>
              <a:t>      "fees": 0.0,</a:t>
            </a:r>
          </a:p>
          <a:p>
            <a:r>
              <a:t>      "max_drawdown": 1.0,</a:t>
            </a:r>
          </a:p>
          <a:p>
            <a:r>
              <a:t>      "active_dates": 368,</a:t>
            </a:r>
          </a:p>
          <a:p>
            <a:r>
              <a:t>      "scaled_dates": 25,</a:t>
            </a:r>
          </a:p>
          <a:p>
            <a:r>
              <a:t>      "max_date_exposure": 1.0,</a:t>
            </a:r>
          </a:p>
          <a:p>
            <a:r>
              <a:t>      "nonpositive_complement_payout_bundles": 1,</a:t>
            </a:r>
          </a:p>
          <a:p>
            <a:r>
              <a:t>      "roi_ci_low": -0.1469187427561068,</a:t>
            </a:r>
          </a:p>
          <a:p>
            <a:r>
              <a:t>      "roi_ci_high": -0.0301944894486122</a:t>
            </a:r>
          </a:p>
          <a:p>
            <a:r>
              <a:t>    },</a:t>
            </a:r>
          </a:p>
          <a:p>
            <a:r>
              <a:t>    "cost_2_final": 0.0,</a:t>
            </a:r>
          </a:p>
          <a:p>
            <a:r>
              <a:t>    "cost_5_final": 0.0,</a:t>
            </a:r>
          </a:p>
          <a:p>
            <a:r>
              <a:t>    "synthetic_lay_final": 176439.95248527723,</a:t>
            </a:r>
          </a:p>
          <a:p>
            <a:r>
              <a:t>    "identity_diagnostic": {</a:t>
            </a:r>
          </a:p>
          <a:p>
            <a:r>
              <a:t>      "original_final_capital": 0.0,</a:t>
            </a:r>
          </a:p>
          <a:p>
            <a:r>
              <a:t>      "arithmetic_mirror_final": 200000.0,</a:t>
            </a:r>
          </a:p>
          <a:p>
            <a:r>
              <a:t>      "arithmetic_mirror_minimum": 64440.0,</a:t>
            </a:r>
          </a:p>
          <a:p>
            <a:r>
              <a:t>      "original_peak_capital": 135560.0,</a:t>
            </a:r>
          </a:p>
          <a:p>
            <a:r>
              <a:t>      "max_same_date_liability": 24790.0,</a:t>
            </a:r>
          </a:p>
          <a:p>
            <a:r>
              <a:t>      "minimum_additional_opening_cash": 0.0,</a:t>
            </a:r>
          </a:p>
          <a:p>
            <a:r>
              <a:t>      "funding_shortfall_dates": 0,</a:t>
            </a:r>
          </a:p>
          <a:p>
            <a:r>
              <a:t>      "mirror_funding_feasible": true,</a:t>
            </a:r>
          </a:p>
          <a:p>
            <a:r>
              <a:t>      "original_bet_count": 1420</a:t>
            </a:r>
          </a:p>
          <a:p>
            <a:r>
              <a:t>    }</a:t>
            </a:r>
          </a:p>
          <a:p>
            <a:r>
              <a:t>  },</a:t>
            </a:r>
          </a:p>
          <a:p>
            <a:r>
              <a:t>  {</a:t>
            </a:r>
          </a:p>
          <a:p>
            <a:r>
              <a:t>    "context": "S041__best",</a:t>
            </a:r>
          </a:p>
          <a:p>
            <a:r>
              <a:t>    "model": "Raw de-vigged Bet365 market",</a:t>
            </a:r>
          </a:p>
          <a:p>
            <a:r>
              <a:t>    "entry_rule": "fixed_outcome",</a:t>
            </a:r>
          </a:p>
          <a:p>
            <a:r>
              <a:t>    "primary": {</a:t>
            </a:r>
          </a:p>
          <a:p>
            <a:r>
              <a:t>      "Index": 66,</a:t>
            </a:r>
          </a:p>
          <a:p>
            <a:r>
              <a:t>      "context_id": "S041__best",</a:t>
            </a:r>
          </a:p>
          <a:p>
            <a:r>
              <a:t>      "strategy_id": "S041",</a:t>
            </a:r>
          </a:p>
          <a:p>
            <a:r>
              <a:t>      "model_key": "baseline_market_only",</a:t>
            </a:r>
          </a:p>
          <a:p>
            <a:r>
              <a:t>      "model_label": "Raw de-vigged Bet365 market",</a:t>
            </a:r>
          </a:p>
          <a:p>
            <a:r>
              <a:t>      "price_mode": "best",</a:t>
            </a:r>
          </a:p>
          <a:p>
            <a:r>
              <a:t>      "selection_rule": "fixed_outcome",</a:t>
            </a:r>
          </a:p>
          <a:p>
            <a:r>
              <a:t>      "original_zero": true,</a:t>
            </a:r>
          </a:p>
          <a:p>
            <a:r>
              <a:t>      "variant": "dutch_cost_0",</a:t>
            </a:r>
          </a:p>
          <a:p>
            <a:r>
              <a:t>      "kind": "dutch",</a:t>
            </a:r>
          </a:p>
          <a:p>
            <a:r>
              <a:t>      "cost_rate": 0.0,</a:t>
            </a:r>
          </a:p>
          <a:p>
            <a:r>
              <a:t>      "initial_capital": 100000.0,</a:t>
            </a:r>
          </a:p>
          <a:p>
            <a:r>
              <a:t>      "final_capital": 83273.81539575412,</a:t>
            </a:r>
          </a:p>
          <a:p>
            <a:r>
              <a:t>      "profit": -16726.18460424588,</a:t>
            </a:r>
          </a:p>
          <a:p>
            <a:r>
              <a:t>      "return_on_initial_capital": -0.1672618460424587,</a:t>
            </a:r>
          </a:p>
          <a:p>
            <a:r>
              <a:t>      "risk_turnover": 1470000.0,</a:t>
            </a:r>
          </a:p>
          <a:p>
            <a:r>
              <a:t>      "turnover": 1470000.0,</a:t>
            </a:r>
          </a:p>
          <a:p>
            <a:r>
              <a:t>      "risk_roi": -0.0113783568736366,</a:t>
            </a:r>
          </a:p>
          <a:p>
            <a:r>
              <a:t>      "roi": -0.0113783568736366,</a:t>
            </a:r>
          </a:p>
          <a:p>
            <a:r>
              <a:t>      "bet_count": 1470,</a:t>
            </a:r>
          </a:p>
          <a:p>
            <a:r>
              <a:t>      "leg_count": 2940,</a:t>
            </a:r>
          </a:p>
          <a:p>
            <a:r>
              <a:t>      "qualifying_signals": 1470,</a:t>
            </a:r>
          </a:p>
          <a:p>
            <a:r>
              <a:t>      "trading_frequency": 1.0,</a:t>
            </a:r>
          </a:p>
          <a:p>
            <a:r>
              <a:t>      "event_hit_ratio": 0.6863945578231293,</a:t>
            </a:r>
          </a:p>
          <a:p>
            <a:r>
              <a:t>      "positive_profit_hit_ratio": 0.6857142857142857,</a:t>
            </a:r>
          </a:p>
          <a:p>
            <a:r>
              <a:t>      "expected_gain_per_trade": 301.20300571320377,</a:t>
            </a:r>
          </a:p>
          <a:p>
            <a:r>
              <a:t>      "expected_loss_per_trade": 323.03427074419943,</a:t>
            </a:r>
          </a:p>
          <a:p>
            <a:r>
              <a:t>      "avg_winning_gain": 440.748215611592,</a:t>
            </a:r>
          </a:p>
          <a:p>
            <a:r>
              <a:t>      "avg_losing_loss": 997.8363332050444,</a:t>
            </a:r>
          </a:p>
          <a:p>
            <a:r>
              <a:t>      "fees": 0.0,</a:t>
            </a:r>
          </a:p>
          <a:p>
            <a:r>
              <a:t>      "max_drawdown": 0.3923940452038462,</a:t>
            </a:r>
          </a:p>
          <a:p>
            <a:r>
              <a:t>      "active_dates": 453,</a:t>
            </a:r>
          </a:p>
          <a:p>
            <a:r>
              <a:t>      "scaled_dates": 0,</a:t>
            </a:r>
          </a:p>
          <a:p>
            <a:r>
              <a:t>      "max_date_exposure": 0.1204245201845918,</a:t>
            </a:r>
          </a:p>
          <a:p>
            <a:r>
              <a:t>      "nonpositive_complement_payout_bundles": 1,</a:t>
            </a:r>
          </a:p>
          <a:p>
            <a:r>
              <a:t>      "roi_ci_low": -0.051557510723285,</a:t>
            </a:r>
          </a:p>
          <a:p>
            <a:r>
              <a:t>      "roi_ci_high": 0.0294654275522586</a:t>
            </a:r>
          </a:p>
          <a:p>
            <a:r>
              <a:t>    },</a:t>
            </a:r>
          </a:p>
          <a:p>
            <a:r>
              <a:t>    "cost_2_final": 74388.33136902445,</a:t>
            </a:r>
          </a:p>
          <a:p>
            <a:r>
              <a:t>    "cost_5_final": 61060.10532892992,</a:t>
            </a:r>
          </a:p>
          <a:p>
            <a:r>
              <a:t>    "synthetic_lay_final": 140579.9459567052,</a:t>
            </a:r>
          </a:p>
          <a:p>
            <a:r>
              <a:t>    "identity_diagnostic": {</a:t>
            </a:r>
          </a:p>
          <a:p>
            <a:r>
              <a:t>      "original_final_capital": 0.0,</a:t>
            </a:r>
          </a:p>
          <a:p>
            <a:r>
              <a:t>      "arithmetic_mirror_final": 200000.0,</a:t>
            </a:r>
          </a:p>
          <a:p>
            <a:r>
              <a:t>      "arithmetic_mirror_minimum": 99110.0,</a:t>
            </a:r>
          </a:p>
          <a:p>
            <a:r>
              <a:t>      "original_peak_capital": 100890.0,</a:t>
            </a:r>
          </a:p>
          <a:p>
            <a:r>
              <a:t>      "max_same_date_liability": 66590.0,</a:t>
            </a:r>
          </a:p>
          <a:p>
            <a:r>
              <a:t>      "minimum_additional_opening_cash": 0.0,</a:t>
            </a:r>
          </a:p>
          <a:p>
            <a:r>
              <a:t>      "funding_shortfall_dates": 0,</a:t>
            </a:r>
          </a:p>
          <a:p>
            <a:r>
              <a:t>      "mirror_funding_feasible": true,</a:t>
            </a:r>
          </a:p>
          <a:p>
            <a:r>
              <a:t>      "original_bet_count": 670</a:t>
            </a:r>
          </a:p>
          <a:p>
            <a:r>
              <a:t>    }</a:t>
            </a:r>
          </a:p>
          <a:p>
            <a:r>
              <a:t>  },</a:t>
            </a:r>
          </a:p>
          <a:p>
            <a:r>
              <a:t>  {</a:t>
            </a:r>
          </a:p>
          <a:p>
            <a:r>
              <a:t>    "context": "S041__reference",</a:t>
            </a:r>
          </a:p>
          <a:p>
            <a:r>
              <a:t>    "model": "Raw de-vigged Bet365 market",</a:t>
            </a:r>
          </a:p>
          <a:p>
            <a:r>
              <a:t>    "entry_rule": "fixed_outcome",</a:t>
            </a:r>
          </a:p>
          <a:p>
            <a:r>
              <a:t>    "primary": {</a:t>
            </a:r>
          </a:p>
          <a:p>
            <a:r>
              <a:t>      "Index": 261,</a:t>
            </a:r>
          </a:p>
          <a:p>
            <a:r>
              <a:t>      "context_id": "S041__reference",</a:t>
            </a:r>
          </a:p>
          <a:p>
            <a:r>
              <a:t>      "strategy_id": "S041",</a:t>
            </a:r>
          </a:p>
          <a:p>
            <a:r>
              <a:t>      "model_key": "baseline_market_only",</a:t>
            </a:r>
          </a:p>
          <a:p>
            <a:r>
              <a:t>      "model_label": "Raw de-vigged Bet365 market",</a:t>
            </a:r>
          </a:p>
          <a:p>
            <a:r>
              <a:t>      "price_mode": "reference",</a:t>
            </a:r>
          </a:p>
          <a:p>
            <a:r>
              <a:t>      "selection_rule": "fixed_outcome",</a:t>
            </a:r>
          </a:p>
          <a:p>
            <a:r>
              <a:t>      "original_zero": true,</a:t>
            </a:r>
          </a:p>
          <a:p>
            <a:r>
              <a:t>      "variant": "dutch_cost_0",</a:t>
            </a:r>
          </a:p>
          <a:p>
            <a:r>
              <a:t>      "kind": "dutch",</a:t>
            </a:r>
          </a:p>
          <a:p>
            <a:r>
              <a:t>      "cost_rate": 0.0,</a:t>
            </a:r>
          </a:p>
          <a:p>
            <a:r>
              <a:t>      "initial_capital": 100000.0,</a:t>
            </a:r>
          </a:p>
          <a:p>
            <a:r>
              <a:t>      "final_capital": 39139.423434874974,</a:t>
            </a:r>
          </a:p>
          <a:p>
            <a:r>
              <a:t>      "profit": -60860.57656512503,</a:t>
            </a:r>
          </a:p>
          <a:p>
            <a:r>
              <a:t>      "return_on_initial_capital": -0.6086057656512502,</a:t>
            </a:r>
          </a:p>
          <a:p>
            <a:r>
              <a:t>      "risk_turnover": 1470000.0,</a:t>
            </a:r>
          </a:p>
          <a:p>
            <a:r>
              <a:t>      "turnover": 1470000.0,</a:t>
            </a:r>
          </a:p>
          <a:p>
            <a:r>
              <a:t>      "risk_roi": -0.0414017527653911,</a:t>
            </a:r>
          </a:p>
          <a:p>
            <a:r>
              <a:t>      "roi": -0.0414017527653911,</a:t>
            </a:r>
          </a:p>
          <a:p>
            <a:r>
              <a:t>      "bet_count": 1470,</a:t>
            </a:r>
          </a:p>
          <a:p>
            <a:r>
              <a:t>      "leg_count": 2940,</a:t>
            </a:r>
          </a:p>
          <a:p>
            <a:r>
              <a:t>      "qualifying_signals": 1470,</a:t>
            </a:r>
          </a:p>
          <a:p>
            <a:r>
              <a:t>      "trading_frequency": 1.0,</a:t>
            </a:r>
          </a:p>
          <a:p>
            <a:r>
              <a:t>      "event_hit_ratio": 0.6863945578231293,</a:t>
            </a:r>
          </a:p>
          <a:p>
            <a:r>
              <a:t>      "positive_profit_hit_ratio": 0.6714285714285714,</a:t>
            </a:r>
          </a:p>
          <a:p>
            <a:r>
              <a:t>      "expected_gain_per_trade": 271.47114107769164,</a:t>
            </a:r>
          </a:p>
          <a:p>
            <a:r>
              <a:t>      "expected_loss_per_trade": 323.14794808068245,</a:t>
            </a:r>
          </a:p>
          <a:p>
            <a:r>
              <a:t>      "avg_winning_gain": 405.5847323271096,</a:t>
            </a:r>
          </a:p>
          <a:p>
            <a:r>
              <a:t>      "avg_losing_loss": 958.7790174053686,</a:t>
            </a:r>
          </a:p>
          <a:p>
            <a:r>
              <a:t>      "fees": 0.0,</a:t>
            </a:r>
          </a:p>
          <a:p>
            <a:r>
              <a:t>      "max_drawdown": 0.7317936992906701,</a:t>
            </a:r>
          </a:p>
          <a:p>
            <a:r>
              <a:t>      "active_dates": 453,</a:t>
            </a:r>
          </a:p>
          <a:p>
            <a:r>
              <a:t>      "scaled_dates": 0,</a:t>
            </a:r>
          </a:p>
          <a:p>
            <a:r>
              <a:t>      "max_date_exposure": 0.2298535631078913,</a:t>
            </a:r>
          </a:p>
          <a:p>
            <a:r>
              <a:t>      "nonpositive_complement_payout_bundles": 23,</a:t>
            </a:r>
          </a:p>
          <a:p>
            <a:r>
              <a:t>      "roi_ci_low": -0.0805111646606932,</a:t>
            </a:r>
          </a:p>
          <a:p>
            <a:r>
              <a:t>      "roi_ci_high": -0.0023417627224205</a:t>
            </a:r>
          </a:p>
          <a:p>
            <a:r>
              <a:t>    },</a:t>
            </a:r>
          </a:p>
          <a:p>
            <a:r>
              <a:t>    "cost_2_final": 31133.180818737845,</a:t>
            </a:r>
          </a:p>
          <a:p>
            <a:r>
              <a:t>    "cost_5_final": 19123.816894531967,</a:t>
            </a:r>
          </a:p>
          <a:p>
            <a:r>
              <a:t>    "synthetic_lay_final": 168947.58450303628,</a:t>
            </a:r>
          </a:p>
          <a:p>
            <a:r>
              <a:t>    "identity_diagnostic": {</a:t>
            </a:r>
          </a:p>
          <a:p>
            <a:r>
              <a:t>      "original_final_capital": 0.0,</a:t>
            </a:r>
          </a:p>
          <a:p>
            <a:r>
              <a:t>      "arithmetic_mirror_final": 200000.0,</a:t>
            </a:r>
          </a:p>
          <a:p>
            <a:r>
              <a:t>      "arithmetic_mirror_minimum": 99150.0,</a:t>
            </a:r>
          </a:p>
          <a:p>
            <a:r>
              <a:t>      "original_peak_capital": 100850.0,</a:t>
            </a:r>
          </a:p>
          <a:p>
            <a:r>
              <a:t>      "max_same_date_liability": 57350.0,</a:t>
            </a:r>
          </a:p>
          <a:p>
            <a:r>
              <a:t>      "minimum_additional_opening_cash": 0.0,</a:t>
            </a:r>
          </a:p>
          <a:p>
            <a:r>
              <a:t>      "funding_shortfall_dates": 0,</a:t>
            </a:r>
          </a:p>
          <a:p>
            <a:r>
              <a:t>      "mirror_funding_feasible": true,</a:t>
            </a:r>
          </a:p>
          <a:p>
            <a:r>
              <a:t>      "original_bet_count": 644</a:t>
            </a:r>
          </a:p>
          <a:p>
            <a:r>
              <a:t>    }</a:t>
            </a:r>
          </a:p>
          <a:p>
            <a:r>
              <a:t>  },</a:t>
            </a:r>
          </a:p>
          <a:p>
            <a:r>
              <a:t>  {</a:t>
            </a:r>
          </a:p>
          <a:p>
            <a:r>
              <a:t>    "context": "S043__best",</a:t>
            </a:r>
          </a:p>
          <a:p>
            <a:r>
              <a:t>    "model": "Raw de-vigged Bet365 market",</a:t>
            </a:r>
          </a:p>
          <a:p>
            <a:r>
              <a:t>    "entry_rule": "market_underdog",</a:t>
            </a:r>
          </a:p>
          <a:p>
            <a:r>
              <a:t>    "primary": {</a:t>
            </a:r>
          </a:p>
          <a:p>
            <a:r>
              <a:t>      "Index": 77,</a:t>
            </a:r>
          </a:p>
          <a:p>
            <a:r>
              <a:t>      "context_id": "S043__best",</a:t>
            </a:r>
          </a:p>
          <a:p>
            <a:r>
              <a:t>      "strategy_id": "S043",</a:t>
            </a:r>
          </a:p>
          <a:p>
            <a:r>
              <a:t>      "model_key": "baseline_market_only",</a:t>
            </a:r>
          </a:p>
          <a:p>
            <a:r>
              <a:t>      "model_label": "Raw de-vigged Bet365 market",</a:t>
            </a:r>
          </a:p>
          <a:p>
            <a:r>
              <a:t>      "price_mode": "best",</a:t>
            </a:r>
          </a:p>
          <a:p>
            <a:r>
              <a:t>      "selection_rule": "market_underdog",</a:t>
            </a:r>
          </a:p>
          <a:p>
            <a:r>
              <a:t>      "original_zero": true,</a:t>
            </a:r>
          </a:p>
          <a:p>
            <a:r>
              <a:t>      "variant": "dutch_cost_0",</a:t>
            </a:r>
          </a:p>
          <a:p>
            <a:r>
              <a:t>      "kind": "dutch",</a:t>
            </a:r>
          </a:p>
          <a:p>
            <a:r>
              <a:t>      "cost_rate": 0.0,</a:t>
            </a:r>
          </a:p>
          <a:p>
            <a:r>
              <a:t>      "initial_capital": 100000.0,</a:t>
            </a:r>
          </a:p>
          <a:p>
            <a:r>
              <a:t>      "final_capital": 63773.70034036881,</a:t>
            </a:r>
          </a:p>
          <a:p>
            <a:r>
              <a:t>      "profit": -36226.29965963119,</a:t>
            </a:r>
          </a:p>
          <a:p>
            <a:r>
              <a:t>      "return_on_initial_capital": -0.3622629965963119,</a:t>
            </a:r>
          </a:p>
          <a:p>
            <a:r>
              <a:t>      "risk_turnover": 1470000.0,</a:t>
            </a:r>
          </a:p>
          <a:p>
            <a:r>
              <a:t>      "turnover": 1470000.0,</a:t>
            </a:r>
          </a:p>
          <a:p>
            <a:r>
              <a:t>      "risk_roi": -0.0246437412650552,</a:t>
            </a:r>
          </a:p>
          <a:p>
            <a:r>
              <a:t>      "roi": -0.0246437412650552,</a:t>
            </a:r>
          </a:p>
          <a:p>
            <a:r>
              <a:t>      "bet_count": 1470,</a:t>
            </a:r>
          </a:p>
          <a:p>
            <a:r>
              <a:t>      "leg_count": 2940,</a:t>
            </a:r>
          </a:p>
          <a:p>
            <a:r>
              <a:t>      "qualifying_signals": 1470,</a:t>
            </a:r>
          </a:p>
          <a:p>
            <a:r>
              <a:t>      "trading_frequency": 1.0,</a:t>
            </a:r>
          </a:p>
          <a:p>
            <a:r>
              <a:t>      "event_hit_ratio": 0.7952380952380952,</a:t>
            </a:r>
          </a:p>
          <a:p>
            <a:r>
              <a:t>      "positive_profit_hit_ratio": 0.7945578231292517,</a:t>
            </a:r>
          </a:p>
          <a:p>
            <a:r>
              <a:t>      "expected_gain_per_trade": 180.8332346076035,</a:t>
            </a:r>
          </a:p>
          <a:p>
            <a:r>
              <a:t>      "expected_loss_per_trade": 207.28439208139028,</a:t>
            </a:r>
          </a:p>
          <a:p>
            <a:r>
              <a:t>      "avg_winning_gain": 226.69014236395483,</a:t>
            </a:r>
          </a:p>
          <a:p>
            <a:r>
              <a:t>      "avg_losing_loss": 996.690019671293,</a:t>
            </a:r>
          </a:p>
          <a:p>
            <a:r>
              <a:t>      "fees": 0.0,</a:t>
            </a:r>
          </a:p>
          <a:p>
            <a:r>
              <a:t>      "max_drawdown": 0.3638230082268603,</a:t>
            </a:r>
          </a:p>
          <a:p>
            <a:r>
              <a:t>      "active_dates": 453,</a:t>
            </a:r>
          </a:p>
          <a:p>
            <a:r>
              <a:t>      "scaled_dates": 0,</a:t>
            </a:r>
          </a:p>
          <a:p>
            <a:r>
              <a:t>      "max_date_exposure": 0.1355023387346839,</a:t>
            </a:r>
          </a:p>
          <a:p>
            <a:r>
              <a:t>      "nonpositive_complement_payout_bundles": 1,</a:t>
            </a:r>
          </a:p>
          <a:p>
            <a:r>
              <a:t>      "roi_ci_low": -0.0507688675149691,</a:t>
            </a:r>
          </a:p>
          <a:p>
            <a:r>
              <a:t>      "roi_ci_high": 0.0011573301357374</a:t>
            </a:r>
          </a:p>
          <a:p>
            <a:r>
              <a:t>    },</a:t>
            </a:r>
          </a:p>
          <a:p>
            <a:r>
              <a:t>    "cost_2_final": 58478.21861474677,</a:t>
            </a:r>
          </a:p>
          <a:p>
            <a:r>
              <a:t>    "cost_5_final": 50534.9960263136,</a:t>
            </a:r>
          </a:p>
          <a:p>
            <a:r>
              <a:t>    "synthetic_lay_final": 107026.21910893676,</a:t>
            </a:r>
          </a:p>
          <a:p>
            <a:r>
              <a:t>    "identity_diagnostic": {</a:t>
            </a:r>
          </a:p>
          <a:p>
            <a:r>
              <a:t>      "original_final_capital": 0.0,</a:t>
            </a:r>
          </a:p>
          <a:p>
            <a:r>
              <a:t>      "arithmetic_mirror_final": 200000.0,</a:t>
            </a:r>
          </a:p>
          <a:p>
            <a:r>
              <a:t>      "arithmetic_mirror_minimum": 80590.0,</a:t>
            </a:r>
          </a:p>
          <a:p>
            <a:r>
              <a:t>      "original_peak_capital": 119410.0,</a:t>
            </a:r>
          </a:p>
          <a:p>
            <a:r>
              <a:t>      "max_same_date_liability": 76430.0,</a:t>
            </a:r>
          </a:p>
          <a:p>
            <a:r>
              <a:t>      "minimum_additional_opening_cash": 0.0,</a:t>
            </a:r>
          </a:p>
          <a:p>
            <a:r>
              <a:t>      "funding_shortfall_dates": 0,</a:t>
            </a:r>
          </a:p>
          <a:p>
            <a:r>
              <a:t>      "mirror_funding_feasible": true,</a:t>
            </a:r>
          </a:p>
          <a:p>
            <a:r>
              <a:t>      "original_bet_count": 1363</a:t>
            </a:r>
          </a:p>
          <a:p>
            <a:r>
              <a:t>    }</a:t>
            </a:r>
          </a:p>
          <a:p>
            <a:r>
              <a:t>  },</a:t>
            </a:r>
          </a:p>
          <a:p>
            <a:r>
              <a:t>  {</a:t>
            </a:r>
          </a:p>
          <a:p>
            <a:r>
              <a:t>    "context": "S043__reference",</a:t>
            </a:r>
          </a:p>
          <a:p>
            <a:r>
              <a:t>    "model": "Raw de-vigged Bet365 market",</a:t>
            </a:r>
          </a:p>
          <a:p>
            <a:r>
              <a:t>    "entry_rule": "market_underdog",</a:t>
            </a:r>
          </a:p>
          <a:p>
            <a:r>
              <a:t>    "primary": {</a:t>
            </a:r>
          </a:p>
          <a:p>
            <a:r>
              <a:t>      "Index": 267,</a:t>
            </a:r>
          </a:p>
          <a:p>
            <a:r>
              <a:t>      "context_id": "S043__reference",</a:t>
            </a:r>
          </a:p>
          <a:p>
            <a:r>
              <a:t>      "strategy_id": "S043",</a:t>
            </a:r>
          </a:p>
          <a:p>
            <a:r>
              <a:t>      "model_key": "baseline_market_only",</a:t>
            </a:r>
          </a:p>
          <a:p>
            <a:r>
              <a:t>      "model_label": "Raw de-vigged Bet365 market",</a:t>
            </a:r>
          </a:p>
          <a:p>
            <a:r>
              <a:t>      "price_mode": "reference",</a:t>
            </a:r>
          </a:p>
          <a:p>
            <a:r>
              <a:t>      "selection_rule": "market_underdog",</a:t>
            </a:r>
          </a:p>
          <a:p>
            <a:r>
              <a:t>      "original_zero": true,</a:t>
            </a:r>
          </a:p>
          <a:p>
            <a:r>
              <a:t>      "variant": "dutch_cost_0",</a:t>
            </a:r>
          </a:p>
          <a:p>
            <a:r>
              <a:t>      "kind": "dutch",</a:t>
            </a:r>
          </a:p>
          <a:p>
            <a:r>
              <a:t>      "cost_rate": 0.0,</a:t>
            </a:r>
          </a:p>
          <a:p>
            <a:r>
              <a:t>      "initial_capital": 100000.0,</a:t>
            </a:r>
          </a:p>
          <a:p>
            <a:r>
              <a:t>      "final_capital": 26653.167196931263,</a:t>
            </a:r>
          </a:p>
          <a:p>
            <a:r>
              <a:t>      "profit": -73346.83280306874,</a:t>
            </a:r>
          </a:p>
          <a:p>
            <a:r>
              <a:t>      "return_on_initial_capital": -0.7334683280306874,</a:t>
            </a:r>
          </a:p>
          <a:p>
            <a:r>
              <a:t>      "risk_turnover": 1470000.0,</a:t>
            </a:r>
          </a:p>
          <a:p>
            <a:r>
              <a:t>      "turnover": 1470000.0,</a:t>
            </a:r>
          </a:p>
          <a:p>
            <a:r>
              <a:t>      "risk_roi": -0.0498958046279379,</a:t>
            </a:r>
          </a:p>
          <a:p>
            <a:r>
              <a:t>      "roi": -0.0498958046279379,</a:t>
            </a:r>
          </a:p>
          <a:p>
            <a:r>
              <a:t>      "bet_count": 1470,</a:t>
            </a:r>
          </a:p>
          <a:p>
            <a:r>
              <a:t>      "leg_count": 2940,</a:t>
            </a:r>
          </a:p>
          <a:p>
            <a:r>
              <a:t>      "qualifying_signals": 1470,</a:t>
            </a:r>
          </a:p>
          <a:p>
            <a:r>
              <a:t>      "trading_frequency": 1.0,</a:t>
            </a:r>
          </a:p>
          <a:p>
            <a:r>
              <a:t>      "event_hit_ratio": 0.7952380952380952,</a:t>
            </a:r>
          </a:p>
          <a:p>
            <a:r>
              <a:t>      "positive_profit_hit_ratio": 0.7795918367346939,</a:t>
            </a:r>
          </a:p>
          <a:p>
            <a:r>
              <a:t>      "expected_gain_per_trade": 155.72266844842045,</a:t>
            </a:r>
          </a:p>
          <a:p>
            <a:r>
              <a:t>      "expected_loss_per_trade": 207.3994754514113,</a:t>
            </a:r>
          </a:p>
          <a:p>
            <a:r>
              <a:t>      "avg_winning_gain": 198.8028470791632,</a:t>
            </a:r>
          </a:p>
          <a:p>
            <a:r>
              <a:t>      "avg_losing_loss": 935.3257625956202,</a:t>
            </a:r>
          </a:p>
          <a:p>
            <a:r>
              <a:t>      "fees": 0.0,</a:t>
            </a:r>
          </a:p>
          <a:p>
            <a:r>
              <a:t>      "max_drawdown": 0.7340587663659117,</a:t>
            </a:r>
          </a:p>
          <a:p>
            <a:r>
              <a:t>      "active_dates": 453,</a:t>
            </a:r>
          </a:p>
          <a:p>
            <a:r>
              <a:t>      "scaled_dates": 0,</a:t>
            </a:r>
          </a:p>
          <a:p>
            <a:r>
              <a:t>      "max_date_exposure": 0.3056411058264084,</a:t>
            </a:r>
          </a:p>
          <a:p>
            <a:r>
              <a:t>      "nonpositive_complement_payout_bundles": 24,</a:t>
            </a:r>
          </a:p>
          <a:p>
            <a:r>
              <a:t>      "roi_ci_low": -0.0749754153267812,</a:t>
            </a:r>
          </a:p>
          <a:p>
            <a:r>
              <a:t>      "roi_ci_high": -0.0245448357359063</a:t>
            </a:r>
          </a:p>
          <a:p>
            <a:r>
              <a:t>    },</a:t>
            </a:r>
          </a:p>
          <a:p>
            <a:r>
              <a:t>    "cost_2_final": 22096.60594187682,</a:t>
            </a:r>
          </a:p>
          <a:p>
            <a:r>
              <a:t>    "cost_5_final": 15261.764059295156,</a:t>
            </a:r>
          </a:p>
          <a:p>
            <a:r>
              <a:t>    "synthetic_lay_final": 124837.83285595424,</a:t>
            </a:r>
          </a:p>
          <a:p>
            <a:r>
              <a:t>    "identity_diagnostic": {</a:t>
            </a:r>
          </a:p>
          <a:p>
            <a:r>
              <a:t>      "original_final_capital": 0.0,</a:t>
            </a:r>
          </a:p>
          <a:p>
            <a:r>
              <a:t>      "arithmetic_mirror_final": 200000.0,</a:t>
            </a:r>
          </a:p>
          <a:p>
            <a:r>
              <a:t>      "arithmetic_mirror_minimum": 83900.0,</a:t>
            </a:r>
          </a:p>
          <a:p>
            <a:r>
              <a:t>      "original_peak_capital": 116100.0,</a:t>
            </a:r>
          </a:p>
          <a:p>
            <a:r>
              <a:t>      "max_same_date_liability": 70630.0,</a:t>
            </a:r>
          </a:p>
          <a:p>
            <a:r>
              <a:t>      "minimum_additional_opening_cash": 0.0,</a:t>
            </a:r>
          </a:p>
          <a:p>
            <a:r>
              <a:t>      "funding_shortfall_dates": 0,</a:t>
            </a:r>
          </a:p>
          <a:p>
            <a:r>
              <a:t>      "mirror_funding_feasible": true,</a:t>
            </a:r>
          </a:p>
          <a:p>
            <a:r>
              <a:t>      "original_bet_count": 806</a:t>
            </a:r>
          </a:p>
          <a:p>
            <a:r>
              <a:t>    }</a:t>
            </a:r>
          </a:p>
          <a:p>
            <a:r>
              <a:t>  },</a:t>
            </a:r>
          </a:p>
          <a:p>
            <a:r>
              <a:t>  {</a:t>
            </a:r>
          </a:p>
          <a:p>
            <a:r>
              <a:t>    "context": "P009__best",</a:t>
            </a:r>
          </a:p>
          <a:p>
            <a:r>
              <a:t>    "model": "Player form only | Logistic regression",</a:t>
            </a:r>
          </a:p>
          <a:p>
            <a:r>
              <a:t>    "entry_rule": "max_edge",</a:t>
            </a:r>
          </a:p>
          <a:p>
            <a:r>
              <a:t>    "primary": {</a:t>
            </a:r>
          </a:p>
          <a:p>
            <a:r>
              <a:t>      "Index": 178,</a:t>
            </a:r>
          </a:p>
          <a:p>
            <a:r>
              <a:t>      "context_id": "P009__best",</a:t>
            </a:r>
          </a:p>
          <a:p>
            <a:r>
              <a:t>      "strategy_id": "P009",</a:t>
            </a:r>
          </a:p>
          <a:p>
            <a:r>
              <a:t>      "model_key": "pm_logistic_player_form",</a:t>
            </a:r>
          </a:p>
          <a:p>
            <a:r>
              <a:t>      "model_label": "Player form only | Logistic regression",</a:t>
            </a:r>
          </a:p>
          <a:p>
            <a:r>
              <a:t>      "price_mode": "best",</a:t>
            </a:r>
          </a:p>
          <a:p>
            <a:r>
              <a:t>      "selection_rule": "max_edge",</a:t>
            </a:r>
          </a:p>
          <a:p>
            <a:r>
              <a:t>      "original_zero": true,</a:t>
            </a:r>
          </a:p>
          <a:p>
            <a:r>
              <a:t>      "variant": "dutch_cost_0",</a:t>
            </a:r>
          </a:p>
          <a:p>
            <a:r>
              <a:t>      "kind": "dutch",</a:t>
            </a:r>
          </a:p>
          <a:p>
            <a:r>
              <a:t>      "cost_rate": 0.0,</a:t>
            </a:r>
          </a:p>
          <a:p>
            <a:r>
              <a:t>      "initial_capital": 100000.0,</a:t>
            </a:r>
          </a:p>
          <a:p>
            <a:r>
              <a:t>      "final_capital": 92926.75404630994,</a:t>
            </a:r>
          </a:p>
          <a:p>
            <a:r>
              <a:t>      "profit": -7073.245953690057,</a:t>
            </a:r>
          </a:p>
          <a:p>
            <a:r>
              <a:t>      "return_on_initial_capital": -0.0707324595369005,</a:t>
            </a:r>
          </a:p>
          <a:p>
            <a:r>
              <a:t>      "risk_turnover": 1384000.0,</a:t>
            </a:r>
          </a:p>
          <a:p>
            <a:r>
              <a:t>      "turnover": 1384000.0,</a:t>
            </a:r>
          </a:p>
          <a:p>
            <a:r>
              <a:t>      "risk_roi": -0.0051107268451517,</a:t>
            </a:r>
          </a:p>
          <a:p>
            <a:r>
              <a:t>      "roi": -0.0051107268451517,</a:t>
            </a:r>
          </a:p>
          <a:p>
            <a:r>
              <a:t>      "bet_count": 1384,</a:t>
            </a:r>
          </a:p>
          <a:p>
            <a:r>
              <a:t>      "leg_count": 2768,</a:t>
            </a:r>
          </a:p>
          <a:p>
            <a:r>
              <a:t>      "qualifying_signals": 1384,</a:t>
            </a:r>
          </a:p>
          <a:p>
            <a:r>
              <a:t>      "trading_frequency": 0.9414965986394558,</a:t>
            </a:r>
          </a:p>
          <a:p>
            <a:r>
              <a:t>      "event_hit_ratio": 0.7543352601156069,</a:t>
            </a:r>
          </a:p>
          <a:p>
            <a:r>
              <a:t>      "positive_profit_hit_ratio": 0.7543352601156069,</a:t>
            </a:r>
          </a:p>
          <a:p>
            <a:r>
              <a:t>      "expected_gain_per_trade": 199.23175388064777,</a:t>
            </a:r>
          </a:p>
          <a:p>
            <a:r>
              <a:t>      "expected_loss_per_trade": 354.8259624361926,</a:t>
            </a:r>
          </a:p>
          <a:p>
            <a:r>
              <a:t>      "avg_winning_gain": 318.8953582819061,</a:t>
            </a:r>
          </a:p>
          <a:p>
            <a:r>
              <a:t>      "avg_losing_loss": 1000.0,</a:t>
            </a:r>
          </a:p>
          <a:p>
            <a:r>
              <a:t>      "fees": 0.0,</a:t>
            </a:r>
          </a:p>
          <a:p>
            <a:r>
              <a:t>      "max_drawdown": 0.2963226566175935,</a:t>
            </a:r>
          </a:p>
          <a:p>
            <a:r>
              <a:t>      "active_dates": 450,</a:t>
            </a:r>
          </a:p>
          <a:p>
            <a:r>
              <a:t>      "scaled_dates": 0,</a:t>
            </a:r>
          </a:p>
          <a:p>
            <a:r>
              <a:t>      "max_date_exposure": 0.1213287247103896,</a:t>
            </a:r>
          </a:p>
          <a:p>
            <a:r>
              <a:t>      "nonpositive_complement_payout_bundles": 0,</a:t>
            </a:r>
          </a:p>
          <a:p>
            <a:r>
              <a:t>      "roi_ci_low": -0.0359667960871959,</a:t>
            </a:r>
          </a:p>
          <a:p>
            <a:r>
              <a:t>      "roi_ci_high": 0.0260014282881813</a:t>
            </a:r>
          </a:p>
          <a:p>
            <a:r>
              <a:t>    },</a:t>
            </a:r>
          </a:p>
          <a:p>
            <a:r>
              <a:t>    "cost_2_final": 86268.21896538365,</a:t>
            </a:r>
          </a:p>
          <a:p>
            <a:r>
              <a:t>    "cost_5_final": 76280.4163439945,</a:t>
            </a:r>
          </a:p>
          <a:p>
            <a:r>
              <a:t>    "synthetic_lay_final": 138377.46960545555,</a:t>
            </a:r>
          </a:p>
          <a:p>
            <a:r>
              <a:t>    "identity_diagnostic": {</a:t>
            </a:r>
          </a:p>
          <a:p>
            <a:r>
              <a:t>      "original_final_capital": 0.0,</a:t>
            </a:r>
          </a:p>
          <a:p>
            <a:r>
              <a:t>      "arithmetic_mirror_final": 200000.0,</a:t>
            </a:r>
          </a:p>
          <a:p>
            <a:r>
              <a:t>      "arithmetic_mirror_minimum": 85260.0,</a:t>
            </a:r>
          </a:p>
          <a:p>
            <a:r>
              <a:t>      "original_peak_capital": 114740.0,</a:t>
            </a:r>
          </a:p>
          <a:p>
            <a:r>
              <a:t>      "max_same_date_liability": 53870.0,</a:t>
            </a:r>
          </a:p>
          <a:p>
            <a:r>
              <a:t>      "minimum_additional_opening_cash": 0.0,</a:t>
            </a:r>
          </a:p>
          <a:p>
            <a:r>
              <a:t>      "funding_shortfall_dates": 0,</a:t>
            </a:r>
          </a:p>
          <a:p>
            <a:r>
              <a:t>      "mirror_funding_feasible": true,</a:t>
            </a:r>
          </a:p>
          <a:p>
            <a:r>
              <a:t>      "original_bet_count": 944</a:t>
            </a:r>
          </a:p>
          <a:p>
            <a:r>
              <a:t>    }</a:t>
            </a:r>
          </a:p>
          <a:p>
            <a:r>
              <a:t>  },</a:t>
            </a:r>
          </a:p>
          <a:p>
            <a:r>
              <a:t>  {</a:t>
            </a:r>
          </a:p>
          <a:p>
            <a:r>
              <a:t>    "context": "P011__reference",</a:t>
            </a:r>
          </a:p>
          <a:p>
            <a:r>
              <a:t>    "model": "Player form only | Logistic regression",</a:t>
            </a:r>
          </a:p>
          <a:p>
            <a:r>
              <a:t>    "entry_rule": "max_edge",</a:t>
            </a:r>
          </a:p>
          <a:p>
            <a:r>
              <a:t>    "primary": {</a:t>
            </a:r>
          </a:p>
          <a:p>
            <a:r>
              <a:t>      "Index": 184,</a:t>
            </a:r>
          </a:p>
          <a:p>
            <a:r>
              <a:t>      "context_id": "P011__reference",</a:t>
            </a:r>
          </a:p>
          <a:p>
            <a:r>
              <a:t>      "strategy_id": "P011",</a:t>
            </a:r>
          </a:p>
          <a:p>
            <a:r>
              <a:t>      "model_key": "pm_logistic_player_form",</a:t>
            </a:r>
          </a:p>
          <a:p>
            <a:r>
              <a:t>      "model_label": "Player form only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49177.76660434643,</a:t>
            </a:r>
          </a:p>
          <a:p>
            <a:r>
              <a:t>      "profit": -50822.23339565357,</a:t>
            </a:r>
          </a:p>
          <a:p>
            <a:r>
              <a:t>      "return_on_initial_capital": -0.5082223339565357,</a:t>
            </a:r>
          </a:p>
          <a:p>
            <a:r>
              <a:t>      "risk_turnover": 1290000.0,</a:t>
            </a:r>
          </a:p>
          <a:p>
            <a:r>
              <a:t>      "turnover": 1290000.0,</a:t>
            </a:r>
          </a:p>
          <a:p>
            <a:r>
              <a:t>      "risk_roi": -0.0393970801516694,</a:t>
            </a:r>
          </a:p>
          <a:p>
            <a:r>
              <a:t>      "roi": -0.0393970801516694,</a:t>
            </a:r>
          </a:p>
          <a:p>
            <a:r>
              <a:t>      "bet_count": 1290,</a:t>
            </a:r>
          </a:p>
          <a:p>
            <a:r>
              <a:t>      "leg_count": 2580,</a:t>
            </a:r>
          </a:p>
          <a:p>
            <a:r>
              <a:t>      "qualifying_signals": 1290,</a:t>
            </a:r>
          </a:p>
          <a:p>
            <a:r>
              <a:t>      "trading_frequency": 0.8775510204081632,</a:t>
            </a:r>
          </a:p>
          <a:p>
            <a:r>
              <a:t>      "event_hit_ratio": 0.7534883720930232,</a:t>
            </a:r>
          </a:p>
          <a:p>
            <a:r>
              <a:t>      "positive_profit_hit_ratio": 0.7472868217054264,</a:t>
            </a:r>
          </a:p>
          <a:p>
            <a:r>
              <a:t>      "expected_gain_per_trade": 170.48615045544108,</a:t>
            </a:r>
          </a:p>
          <a:p>
            <a:r>
              <a:t>      "expected_loss_per_trade": 356.14161720073,</a:t>
            </a:r>
          </a:p>
          <a:p>
            <a:r>
              <a:t>      "avg_winning_gain": 277.22395827265257,</a:t>
            </a:r>
          </a:p>
          <a:p>
            <a:r>
              <a:t>      "avg_losing_loss": 975.6629729156156,</a:t>
            </a:r>
          </a:p>
          <a:p>
            <a:r>
              <a:t>      "fees": 0.0,</a:t>
            </a:r>
          </a:p>
          <a:p>
            <a:r>
              <a:t>      "max_drawdown": 0.5093117519018546,</a:t>
            </a:r>
          </a:p>
          <a:p>
            <a:r>
              <a:t>      "active_dates": 439,</a:t>
            </a:r>
          </a:p>
          <a:p>
            <a:r>
              <a:t>      "scaled_dates": 0,</a:t>
            </a:r>
          </a:p>
          <a:p>
            <a:r>
              <a:t>      "max_date_exposure": 0.153462303783835,</a:t>
            </a:r>
          </a:p>
          <a:p>
            <a:r>
              <a:t>      "nonpositive_complement_payout_bundles": 8,</a:t>
            </a:r>
          </a:p>
          <a:p>
            <a:r>
              <a:t>      "roi_ci_low": -0.0703186906027105,</a:t>
            </a:r>
          </a:p>
          <a:p>
            <a:r>
              <a:t>      "roi_ci_high": -0.0068681893981596</a:t>
            </a:r>
          </a:p>
          <a:p>
            <a:r>
              <a:t>    },</a:t>
            </a:r>
          </a:p>
          <a:p>
            <a:r>
              <a:t>    "cost_2_final": 43832.88868884975,</a:t>
            </a:r>
          </a:p>
          <a:p>
            <a:r>
              <a:t>    "cost_5_final": 35815.57181560449,</a:t>
            </a:r>
          </a:p>
          <a:p>
            <a:r>
              <a:t>    "synthetic_lay_final": 145073.41155223537,</a:t>
            </a:r>
          </a:p>
          <a:p>
            <a:r>
              <a:t>    "identity_diagnostic": {</a:t>
            </a:r>
          </a:p>
          <a:p>
            <a:r>
              <a:t>      "original_final_capital": 0.0,</a:t>
            </a:r>
          </a:p>
          <a:p>
            <a:r>
              <a:t>      "arithmetic_mirror_final": 200000.0,</a:t>
            </a:r>
          </a:p>
          <a:p>
            <a:r>
              <a:t>      "arithmetic_mirror_minimum": 91930.0,</a:t>
            </a:r>
          </a:p>
          <a:p>
            <a:r>
              <a:t>      "original_peak_capital": 108070.0,</a:t>
            </a:r>
          </a:p>
          <a:p>
            <a:r>
              <a:t>      "max_same_date_liability": 49130.0,</a:t>
            </a:r>
          </a:p>
          <a:p>
            <a:r>
              <a:t>      "minimum_additional_opening_cash": 0.0,</a:t>
            </a:r>
          </a:p>
          <a:p>
            <a:r>
              <a:t>      "funding_shortfall_dates": 0,</a:t>
            </a:r>
          </a:p>
          <a:p>
            <a:r>
              <a:t>      "mirror_funding_feasible": true,</a:t>
            </a:r>
          </a:p>
          <a:p>
            <a:r>
              <a:t>      "original_bet_count": 681</a:t>
            </a:r>
          </a:p>
          <a:p>
            <a:r>
              <a:t>    }</a:t>
            </a:r>
          </a:p>
          <a:p>
            <a:r>
              <a:t>  },</a:t>
            </a:r>
          </a:p>
          <a:p>
            <a:r>
              <a:t>  {</a:t>
            </a:r>
          </a:p>
          <a:p>
            <a:r>
              <a:t>    "context": "P013__best",</a:t>
            </a:r>
          </a:p>
          <a:p>
            <a:r>
              <a:t>    "model": "Player form only | Histogram gradient boosting",</a:t>
            </a:r>
          </a:p>
          <a:p>
            <a:r>
              <a:t>    "entry_rule": "max_edge",</a:t>
            </a:r>
          </a:p>
          <a:p>
            <a:r>
              <a:t>    "primary": {</a:t>
            </a:r>
          </a:p>
          <a:p>
            <a:r>
              <a:t>      "Index": 190,</a:t>
            </a:r>
          </a:p>
          <a:p>
            <a:r>
              <a:t>      "context_id": "P013__best",</a:t>
            </a:r>
          </a:p>
          <a:p>
            <a:r>
              <a:t>      "strategy_id": "P013",</a:t>
            </a:r>
          </a:p>
          <a:p>
            <a:r>
              <a:t>      "model_key": "pm_hist_boost_player_form",</a:t>
            </a:r>
          </a:p>
          <a:p>
            <a:r>
              <a:t>      "model_label": "Player form only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94727.19017021284,</a:t>
            </a:r>
          </a:p>
          <a:p>
            <a:r>
              <a:t>      "profit": -5272.809829787162,</a:t>
            </a:r>
          </a:p>
          <a:p>
            <a:r>
              <a:t>      "return_on_initial_capital": -0.0527280982978716,</a:t>
            </a:r>
          </a:p>
          <a:p>
            <a:r>
              <a:t>      "risk_turnover": 1351000.0,</a:t>
            </a:r>
          </a:p>
          <a:p>
            <a:r>
              <a:t>      "turnover": 1351000.0,</a:t>
            </a:r>
          </a:p>
          <a:p>
            <a:r>
              <a:t>      "risk_roi": -0.0039028940264893,</a:t>
            </a:r>
          </a:p>
          <a:p>
            <a:r>
              <a:t>      "roi": -0.0039028940264893,</a:t>
            </a:r>
          </a:p>
          <a:p>
            <a:r>
              <a:t>      "bet_count": 1351,</a:t>
            </a:r>
          </a:p>
          <a:p>
            <a:r>
              <a:t>      "leg_count": 2702,</a:t>
            </a:r>
          </a:p>
          <a:p>
            <a:r>
              <a:t>      "qualifying_signals": 1351,</a:t>
            </a:r>
          </a:p>
          <a:p>
            <a:r>
              <a:t>      "trading_frequency": 0.919047619047619,</a:t>
            </a:r>
          </a:p>
          <a:p>
            <a:r>
              <a:t>      "event_hit_ratio": 0.769059955588453,</a:t>
            </a:r>
          </a:p>
          <a:p>
            <a:r>
              <a:t>      "positive_profit_hit_ratio": 0.768319763138416,</a:t>
            </a:r>
          </a:p>
          <a:p>
            <a:r>
              <a:t>      "expected_gain_per_trade": 188.7798164014372,</a:t>
            </a:r>
          </a:p>
          <a:p>
            <a:r>
              <a:t>      "expected_loss_per_trade": 342.0166143196193,</a:t>
            </a:r>
          </a:p>
          <a:p>
            <a:r>
              <a:t>      "avg_winning_gain": 295.49862823790306,</a:t>
            </a:r>
          </a:p>
          <a:p>
            <a:r>
              <a:t>      "avg_losing_loss": 996.806344858564,</a:t>
            </a:r>
          </a:p>
          <a:p>
            <a:r>
              <a:t>      "fees": 0.0,</a:t>
            </a:r>
          </a:p>
          <a:p>
            <a:r>
              <a:t>      "max_drawdown": 0.2194378022371294,</a:t>
            </a:r>
          </a:p>
          <a:p>
            <a:r>
              <a:t>      "active_dates": 439,</a:t>
            </a:r>
          </a:p>
          <a:p>
            <a:r>
              <a:t>      "scaled_dates": 0,</a:t>
            </a:r>
          </a:p>
          <a:p>
            <a:r>
              <a:t>      "max_date_exposure": 0.1144903568343258,</a:t>
            </a:r>
          </a:p>
          <a:p>
            <a:r>
              <a:t>      "nonpositive_complement_payout_bundles": 1,</a:t>
            </a:r>
          </a:p>
          <a:p>
            <a:r>
              <a:t>      "roi_ci_low": -0.0366632907808258,</a:t>
            </a:r>
          </a:p>
          <a:p>
            <a:r>
              <a:t>      "roi_ci_high": 0.0285638557107247</a:t>
            </a:r>
          </a:p>
          <a:p>
            <a:r>
              <a:t>    },</a:t>
            </a:r>
          </a:p>
          <a:p>
            <a:r>
              <a:t>    "cost_2_final": 88592.63864799392,</a:t>
            </a:r>
          </a:p>
          <a:p>
            <a:r>
              <a:t>    "cost_5_final": 79390.81136466563,</a:t>
            </a:r>
          </a:p>
          <a:p>
            <a:r>
              <a:t>    "synthetic_lay_final": 138138.2098214374,</a:t>
            </a:r>
          </a:p>
          <a:p>
            <a:r>
              <a:t>    "identity_diagnostic": {</a:t>
            </a:r>
          </a:p>
          <a:p>
            <a:r>
              <a:t>      "original_final_capital": 0.0,</a:t>
            </a:r>
          </a:p>
          <a:p>
            <a:r>
              <a:t>      "arithmetic_mirror_final": 200000.0,</a:t>
            </a:r>
          </a:p>
          <a:p>
            <a:r>
              <a:t>      "arithmetic_mirror_minimum": 63880.0,</a:t>
            </a:r>
          </a:p>
          <a:p>
            <a:r>
              <a:t>      "original_peak_capital": 136120.0,</a:t>
            </a:r>
          </a:p>
          <a:p>
            <a:r>
              <a:t>      "max_same_date_liability": 65970.0,</a:t>
            </a:r>
          </a:p>
          <a:p>
            <a:r>
              <a:t>      "minimum_additional_opening_cash": 0.0,</a:t>
            </a:r>
          </a:p>
          <a:p>
            <a:r>
              <a:t>      "funding_shortfall_dates": 0,</a:t>
            </a:r>
          </a:p>
          <a:p>
            <a:r>
              <a:t>      "mirror_funding_feasible": true,</a:t>
            </a:r>
          </a:p>
          <a:p>
            <a:r>
              <a:t>      "original_bet_count": 1037</a:t>
            </a:r>
          </a:p>
          <a:p>
            <a:r>
              <a:t>    }</a:t>
            </a:r>
          </a:p>
          <a:p>
            <a:r>
              <a:t>  }</a:t>
            </a:r>
          </a:p>
          <a:p>
            <a:r>
              <a:t>]</a:t>
            </a:r>
          </a:p>
          <a:p/>
          <a:p>
            <a:r>
              <a:t>Exact source paths:</a:t>
            </a:r>
          </a:p>
          <a:p>
            <a:r>
              <a:t>C:\Users\melin\OneDrive\Desktop\nyu\fall 2026\Stat Arb\final_project\final_review\epl_results\metrics.csv</a:t>
            </a:r>
          </a:p>
          <a:p>
            <a:r>
              <a:t>C:\Users\melin\OneDrive\Desktop\nyu\fall 2026\Stat Arb\final_project\final_review\epl_results\identity_diagnostics.csv</a:t>
            </a:r>
          </a:p>
          <a:p>
            <a:r>
              <a:t>final_review/inverse_protocol.md</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original strategy is explained in the preceding catalogue. Its original qualification is retained on the entire 1,470-fixture horizon, including after bankruptcy. Context is strategy ID plus quote mode; the 17 contexts cover 15 distinct IDs. Best denotes archived highest individual-book quotes; Bet365 denotes a reference-policy replay with its own original selection under those prices. Complement rule: back both other outcomes, splitting total risk R=1,000 by reciprocal quote weights so both gross payouts are R/S, S=sum(1/O_other). Retain any original date cap. All same-date commitments share opening cash; scale uniformly and never borrow or reuse same-date wins. A zero inverse remains zero. Frequency denominator is 1,470 opportunities. Bets are funded fixture bundles; there are two back legs per bundle. Signals include unfunded qualifying fixtures. Stake ROI is profit divided by allocated bundle stakes. Expected gain and loss are nonnegative probability-weighted components under the original model, not realised average wins and losses. Price-supported costs haircut positive net bundle profit at 2% and 5%, without rebating negative profit. Synthetic lay uses fixed maximum liability 1,000, counterstake 1,000/(original odds-1), at the original back price; real lay quotes and fills are not supplied. The recorded-exposure mirror is the negative of existing realised cashflow. Its arithmetic endpoint is an identity, not a newly earned strategy result; exact liability may require extra opening cash. Every full metric, conditional ROI interval and identity funding diagnostic for these rows follows:</a:t>
            </a:r>
          </a:p>
          <a:p>
            <a:r>
              <a:t>[</a:t>
            </a:r>
          </a:p>
          <a:p>
            <a:r>
              <a:t>  {</a:t>
            </a:r>
          </a:p>
          <a:p>
            <a:r>
              <a:t>    "context": "P015__reference",</a:t>
            </a:r>
          </a:p>
          <a:p>
            <a:r>
              <a:t>    "model": "Player form only | Histogram gradient boosting",</a:t>
            </a:r>
          </a:p>
          <a:p>
            <a:r>
              <a:t>    "entry_rule": "max_edge",</a:t>
            </a:r>
          </a:p>
          <a:p>
            <a:r>
              <a:t>    "primary": {</a:t>
            </a:r>
          </a:p>
          <a:p>
            <a:r>
              <a:t>      "Index": 196,</a:t>
            </a:r>
          </a:p>
          <a:p>
            <a:r>
              <a:t>      "context_id": "P015__reference",</a:t>
            </a:r>
          </a:p>
          <a:p>
            <a:r>
              <a:t>      "strategy_id": "P015",</a:t>
            </a:r>
          </a:p>
          <a:p>
            <a:r>
              <a:t>      "model_key": "pm_hist_boost_player_form",</a:t>
            </a:r>
          </a:p>
          <a:p>
            <a:r>
              <a:t>      "model_label": "Player form only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66059.4531166984,</a:t>
            </a:r>
          </a:p>
          <a:p>
            <a:r>
              <a:t>      "profit": -33940.546883301606,</a:t>
            </a:r>
          </a:p>
          <a:p>
            <a:r>
              <a:t>      "return_on_initial_capital": -0.339405468833016,</a:t>
            </a:r>
          </a:p>
          <a:p>
            <a:r>
              <a:t>      "risk_turnover": 1276000.0,</a:t>
            </a:r>
          </a:p>
          <a:p>
            <a:r>
              <a:t>      "turnover": 1276000.0,</a:t>
            </a:r>
          </a:p>
          <a:p>
            <a:r>
              <a:t>      "risk_roi": -0.0265991746734338,</a:t>
            </a:r>
          </a:p>
          <a:p>
            <a:r>
              <a:t>      "roi": -0.0265991746734338,</a:t>
            </a:r>
          </a:p>
          <a:p>
            <a:r>
              <a:t>      "bet_count": 1276,</a:t>
            </a:r>
          </a:p>
          <a:p>
            <a:r>
              <a:t>      "leg_count": 2552,</a:t>
            </a:r>
          </a:p>
          <a:p>
            <a:r>
              <a:t>      "qualifying_signals": 1276,</a:t>
            </a:r>
          </a:p>
          <a:p>
            <a:r>
              <a:t>      "trading_frequency": 0.8680272108843538,</a:t>
            </a:r>
          </a:p>
          <a:p>
            <a:r>
              <a:t>      "event_hit_ratio": 0.7750783699059561,</a:t>
            </a:r>
          </a:p>
          <a:p>
            <a:r>
              <a:t>      "positive_profit_hit_ratio": 0.7641065830721003,</a:t>
            </a:r>
          </a:p>
          <a:p>
            <a:r>
              <a:t>      "expected_gain_per_trade": 163.08552831160912,</a:t>
            </a:r>
          </a:p>
          <a:p>
            <a:r>
              <a:t>      "expected_loss_per_trade": 344.64317001782723,</a:t>
            </a:r>
          </a:p>
          <a:p>
            <a:r>
              <a:t>      "avg_winning_gain": 259.650016444758,</a:t>
            </a:r>
          </a:p>
          <a:p>
            <a:r>
              <a:t>      "avg_losing_loss": 956.9977097231356,</a:t>
            </a:r>
          </a:p>
          <a:p>
            <a:r>
              <a:t>      "fees": 0.0,</a:t>
            </a:r>
          </a:p>
          <a:p>
            <a:r>
              <a:t>      "max_drawdown": 0.3417896069113082,</a:t>
            </a:r>
          </a:p>
          <a:p>
            <a:r>
              <a:t>      "active_dates": 430,</a:t>
            </a:r>
          </a:p>
          <a:p>
            <a:r>
              <a:t>      "scaled_dates": 0,</a:t>
            </a:r>
          </a:p>
          <a:p>
            <a:r>
              <a:t>      "max_date_exposure": 0.1308664313719313,</a:t>
            </a:r>
          </a:p>
          <a:p>
            <a:r>
              <a:t>      "nonpositive_complement_payout_bundles": 15,</a:t>
            </a:r>
          </a:p>
          <a:p>
            <a:r>
              <a:t>      "roi_ci_low": -0.0586436728794564,</a:t>
            </a:r>
          </a:p>
          <a:p>
            <a:r>
              <a:t>      "roi_ci_high": 0.0051978450778305</a:t>
            </a:r>
          </a:p>
          <a:p>
            <a:r>
              <a:t>    },</a:t>
            </a:r>
          </a:p>
          <a:p>
            <a:r>
              <a:t>    "cost_2_final": 60996.277796025446,</a:t>
            </a:r>
          </a:p>
          <a:p>
            <a:r>
              <a:t>    "cost_5_final": 53401.51481501638,</a:t>
            </a:r>
          </a:p>
          <a:p>
            <a:r>
              <a:t>    "synthetic_lay_final": 159942.21182525004,</a:t>
            </a:r>
          </a:p>
          <a:p>
            <a:r>
              <a:t>    "identity_diagnostic": {</a:t>
            </a:r>
          </a:p>
          <a:p>
            <a:r>
              <a:t>      "original_final_capital": 0.0,</a:t>
            </a:r>
          </a:p>
          <a:p>
            <a:r>
              <a:t>      "arithmetic_mirror_final": 200000.0,</a:t>
            </a:r>
          </a:p>
          <a:p>
            <a:r>
              <a:t>      "arithmetic_mirror_minimum": 69440.0,</a:t>
            </a:r>
          </a:p>
          <a:p>
            <a:r>
              <a:t>      "original_peak_capital": 130560.0,</a:t>
            </a:r>
          </a:p>
          <a:p>
            <a:r>
              <a:t>      "max_same_date_liability": 52250.0,</a:t>
            </a:r>
          </a:p>
          <a:p>
            <a:r>
              <a:t>      "minimum_additional_opening_cash": 0.0,</a:t>
            </a:r>
          </a:p>
          <a:p>
            <a:r>
              <a:t>      "funding_shortfall_dates": 0,</a:t>
            </a:r>
          </a:p>
          <a:p>
            <a:r>
              <a:t>      "mirror_funding_feasible": true,</a:t>
            </a:r>
          </a:p>
          <a:p>
            <a:r>
              <a:t>      "original_bet_count": 787</a:t>
            </a:r>
          </a:p>
          <a:p>
            <a:r>
              <a:t>    }</a:t>
            </a:r>
          </a:p>
          <a:p>
            <a:r>
              <a:t>  },</a:t>
            </a:r>
          </a:p>
          <a:p>
            <a:r>
              <a:t>  {</a:t>
            </a:r>
          </a:p>
          <a:p>
            <a:r>
              <a:t>    "context": "P019__reference",</a:t>
            </a:r>
          </a:p>
          <a:p>
            <a:r>
              <a:t>    "model": "Player form + projected XI + depth | Logistic regression",</a:t>
            </a:r>
          </a:p>
          <a:p>
            <a:r>
              <a:t>    "entry_rule": "max_edge",</a:t>
            </a:r>
          </a:p>
          <a:p>
            <a:r>
              <a:t>    "primary": {</a:t>
            </a:r>
          </a:p>
          <a:p>
            <a:r>
              <a:t>      "Index": 207,</a:t>
            </a:r>
          </a:p>
          <a:p>
            <a:r>
              <a:t>      "context_id": "P019__reference",</a:t>
            </a:r>
          </a:p>
          <a:p>
            <a:r>
              <a:t>      "strategy_id": "P019",</a:t>
            </a:r>
          </a:p>
          <a:p>
            <a:r>
              <a:t>      "model_key": "pm_logistic_player_squad",</a:t>
            </a:r>
          </a:p>
          <a:p>
            <a:r>
              <a:t>      "model_label": "Player form + projected XI + depth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20120.95811880124,</a:t>
            </a:r>
          </a:p>
          <a:p>
            <a:r>
              <a:t>      "profit": -79879.04188119876,</a:t>
            </a:r>
          </a:p>
          <a:p>
            <a:r>
              <a:t>      "return_on_initial_capital": -0.7987904188119876,</a:t>
            </a:r>
          </a:p>
          <a:p>
            <a:r>
              <a:t>      "risk_turnover": 1360000.0,</a:t>
            </a:r>
          </a:p>
          <a:p>
            <a:r>
              <a:t>      "turnover": 1360000.0,</a:t>
            </a:r>
          </a:p>
          <a:p>
            <a:r>
              <a:t>      "risk_roi": -0.0587345896185285,</a:t>
            </a:r>
          </a:p>
          <a:p>
            <a:r>
              <a:t>      "roi": -0.0587345896185285,</a:t>
            </a:r>
          </a:p>
          <a:p>
            <a:r>
              <a:t>      "bet_count": 1360,</a:t>
            </a:r>
          </a:p>
          <a:p>
            <a:r>
              <a:t>      "leg_count": 2720,</a:t>
            </a:r>
          </a:p>
          <a:p>
            <a:r>
              <a:t>      "qualifying_signals": 1360,</a:t>
            </a:r>
          </a:p>
          <a:p>
            <a:r>
              <a:t>      "trading_frequency": 0.9251700680272108,</a:t>
            </a:r>
          </a:p>
          <a:p>
            <a:r>
              <a:t>      "event_hit_ratio": 0.7411764705882353,</a:t>
            </a:r>
          </a:p>
          <a:p>
            <a:r>
              <a:t>      "positive_profit_hit_ratio": 0.7330882352941176,</a:t>
            </a:r>
          </a:p>
          <a:p>
            <a:r>
              <a:t>      "expected_gain_per_trade": 167.63306074719014,</a:t>
            </a:r>
          </a:p>
          <a:p>
            <a:r>
              <a:t>      "expected_loss_per_trade": 365.5101634044209,</a:t>
            </a:r>
          </a:p>
          <a:p>
            <a:r>
              <a:t>      "avg_winning_gain": 273.037885964604,</a:t>
            </a:r>
          </a:p>
          <a:p>
            <a:r>
              <a:t>      "avg_losing_loss": 969.9664302697212,</a:t>
            </a:r>
          </a:p>
          <a:p>
            <a:r>
              <a:t>      "fees": 0.0,</a:t>
            </a:r>
          </a:p>
          <a:p>
            <a:r>
              <a:t>      "max_drawdown": 0.8037543310180307,</a:t>
            </a:r>
          </a:p>
          <a:p>
            <a:r>
              <a:t>      "active_dates": 439,</a:t>
            </a:r>
          </a:p>
          <a:p>
            <a:r>
              <a:t>      "scaled_dates": 0,</a:t>
            </a:r>
          </a:p>
          <a:p>
            <a:r>
              <a:t>      "max_date_exposure": 0.3292821245669403,</a:t>
            </a:r>
          </a:p>
          <a:p>
            <a:r>
              <a:t>      "nonpositive_complement_payout_bundles": 11,</a:t>
            </a:r>
          </a:p>
          <a:p>
            <a:r>
              <a:t>      "roi_ci_low": -0.0895823759961758,</a:t>
            </a:r>
          </a:p>
          <a:p>
            <a:r>
              <a:t>      "roi_ci_high": -0.0277626843325944</a:t>
            </a:r>
          </a:p>
          <a:p>
            <a:r>
              <a:t>    },</a:t>
            </a:r>
          </a:p>
          <a:p>
            <a:r>
              <a:t>    "cost_2_final": 14676.582672667078,</a:t>
            </a:r>
          </a:p>
          <a:p>
            <a:r>
              <a:t>    "cost_5_final": 6510.019503465721,</a:t>
            </a:r>
          </a:p>
          <a:p>
            <a:r>
              <a:t>    "synthetic_lay_final": 118747.42956039764,</a:t>
            </a:r>
          </a:p>
          <a:p>
            <a:r>
              <a:t>    "identity_diagnostic": {</a:t>
            </a:r>
          </a:p>
          <a:p>
            <a:r>
              <a:t>      "original_final_capital": 0.0,</a:t>
            </a:r>
          </a:p>
          <a:p>
            <a:r>
              <a:t>      "arithmetic_mirror_final": 200000.0,</a:t>
            </a:r>
          </a:p>
          <a:p>
            <a:r>
              <a:t>      "arithmetic_mirror_minimum": 94940.0,</a:t>
            </a:r>
          </a:p>
          <a:p>
            <a:r>
              <a:t>      "original_peak_capital": 105060.0,</a:t>
            </a:r>
          </a:p>
          <a:p>
            <a:r>
              <a:t>      "max_same_date_liability": 50130.0,</a:t>
            </a:r>
          </a:p>
          <a:p>
            <a:r>
              <a:t>      "minimum_additional_opening_cash": 0.0,</a:t>
            </a:r>
          </a:p>
          <a:p>
            <a:r>
              <a:t>      "funding_shortfall_dates": 0,</a:t>
            </a:r>
          </a:p>
          <a:p>
            <a:r>
              <a:t>      "mirror_funding_feasible": true,</a:t>
            </a:r>
          </a:p>
          <a:p>
            <a:r>
              <a:t>      "original_bet_count": 724</a:t>
            </a:r>
          </a:p>
          <a:p>
            <a:r>
              <a:t>    }</a:t>
            </a:r>
          </a:p>
          <a:p>
            <a:r>
              <a:t>  },</a:t>
            </a:r>
          </a:p>
          <a:p>
            <a:r>
              <a:t>  {</a:t>
            </a:r>
          </a:p>
          <a:p>
            <a:r>
              <a:t>    "context": "P021__best",</a:t>
            </a:r>
          </a:p>
          <a:p>
            <a:r>
              <a:t>    "model": "Player form + projected XI + depth | Histogram gradient boosting",</a:t>
            </a:r>
          </a:p>
          <a:p>
            <a:r>
              <a:t>    "entry_rule": "max_edge",</a:t>
            </a:r>
          </a:p>
          <a:p>
            <a:r>
              <a:t>    "primary": {</a:t>
            </a:r>
          </a:p>
          <a:p>
            <a:r>
              <a:t>      "Index": 213,</a:t>
            </a:r>
          </a:p>
          <a:p>
            <a:r>
              <a:t>      "context_id": "P021__best",</a:t>
            </a:r>
          </a:p>
          <a:p>
            <a:r>
              <a:t>      "strategy_id": "P021",</a:t>
            </a:r>
          </a:p>
          <a:p>
            <a:r>
              <a:t>      "model_key": "pm_hist_boost_player_squad",</a:t>
            </a:r>
          </a:p>
          <a:p>
            <a:r>
              <a:t>      "model_label": "Player form + projected XI + depth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115263.13928161246,</a:t>
            </a:r>
          </a:p>
          <a:p>
            <a:r>
              <a:t>      "profit": 15263.139281612455,</a:t>
            </a:r>
          </a:p>
          <a:p>
            <a:r>
              <a:t>      "return_on_initial_capital": 0.1526313928161245,</a:t>
            </a:r>
          </a:p>
          <a:p>
            <a:r>
              <a:t>      "risk_turnover": 1370000.0,</a:t>
            </a:r>
          </a:p>
          <a:p>
            <a:r>
              <a:t>      "turnover": 1370000.0,</a:t>
            </a:r>
          </a:p>
          <a:p>
            <a:r>
              <a:t>      "risk_roi": 0.0111409775778193,</a:t>
            </a:r>
          </a:p>
          <a:p>
            <a:r>
              <a:t>      "roi": 0.0111409775778193,</a:t>
            </a:r>
          </a:p>
          <a:p>
            <a:r>
              <a:t>      "bet_count": 1370,</a:t>
            </a:r>
          </a:p>
          <a:p>
            <a:r>
              <a:t>      "leg_count": 2740,</a:t>
            </a:r>
          </a:p>
          <a:p>
            <a:r>
              <a:t>      "qualifying_signals": 1370,</a:t>
            </a:r>
          </a:p>
          <a:p>
            <a:r>
              <a:t>      "trading_frequency": 0.9319727891156464,</a:t>
            </a:r>
          </a:p>
          <a:p>
            <a:r>
              <a:t>      "event_hit_ratio": 0.7781021897810219,</a:t>
            </a:r>
          </a:p>
          <a:p>
            <a:r>
              <a:t>      "positive_profit_hit_ratio": 0.7773722627737226,</a:t>
            </a:r>
          </a:p>
          <a:p>
            <a:r>
              <a:t>      "expected_gain_per_trade": 191.17528127009984,</a:t>
            </a:r>
          </a:p>
          <a:p>
            <a:r>
              <a:t>      "expected_loss_per_trade": 344.92886715607494,</a:t>
            </a:r>
          </a:p>
          <a:p>
            <a:r>
              <a:t>      "avg_winning_gain": 299.7779579552516,</a:t>
            </a:r>
          </a:p>
          <a:p>
            <a:r>
              <a:t>      "avg_losing_loss": 996.7225768548542,</a:t>
            </a:r>
          </a:p>
          <a:p>
            <a:r>
              <a:t>      "fees": 0.0,</a:t>
            </a:r>
          </a:p>
          <a:p>
            <a:r>
              <a:t>      "max_drawdown": 0.1619995428818291,</a:t>
            </a:r>
          </a:p>
          <a:p>
            <a:r>
              <a:t>      "active_dates": 439,</a:t>
            </a:r>
          </a:p>
          <a:p>
            <a:r>
              <a:t>      "scaled_dates": 0,</a:t>
            </a:r>
          </a:p>
          <a:p>
            <a:r>
              <a:t>      "max_date_exposure": 0.0974497983779885,</a:t>
            </a:r>
          </a:p>
          <a:p>
            <a:r>
              <a:t>      "nonpositive_complement_payout_bundles": 1,</a:t>
            </a:r>
          </a:p>
          <a:p>
            <a:r>
              <a:t>      "roi_ci_low": -0.019846478215701,</a:t>
            </a:r>
          </a:p>
          <a:p>
            <a:r>
              <a:t>      "roi_ci_high": 0.0424060377370689</a:t>
            </a:r>
          </a:p>
          <a:p>
            <a:r>
              <a:t>    },</a:t>
            </a:r>
          </a:p>
          <a:p>
            <a:r>
              <a:t>    "cost_2_final": 108877.86877716552,</a:t>
            </a:r>
          </a:p>
          <a:p>
            <a:r>
              <a:t>    "cost_5_final": 99299.96302049531,</a:t>
            </a:r>
          </a:p>
          <a:p>
            <a:r>
              <a:t>    "synthetic_lay_final": 160426.02553241458,</a:t>
            </a:r>
          </a:p>
          <a:p>
            <a:r>
              <a:t>    "identity_diagnostic": {</a:t>
            </a:r>
          </a:p>
          <a:p>
            <a:r>
              <a:t>      "original_final_capital": 0.0,</a:t>
            </a:r>
          </a:p>
          <a:p>
            <a:r>
              <a:t>      "arithmetic_mirror_final": 200000.0,</a:t>
            </a:r>
          </a:p>
          <a:p>
            <a:r>
              <a:t>      "arithmetic_mirror_minimum": 91890.0,</a:t>
            </a:r>
          </a:p>
          <a:p>
            <a:r>
              <a:t>      "original_peak_capital": 108110.0,</a:t>
            </a:r>
          </a:p>
          <a:p>
            <a:r>
              <a:t>      "max_same_date_liability": 65970.0,</a:t>
            </a:r>
          </a:p>
          <a:p>
            <a:r>
              <a:t>      "minimum_additional_opening_cash": 0.0,</a:t>
            </a:r>
          </a:p>
          <a:p>
            <a:r>
              <a:t>      "funding_shortfall_dates": 0,</a:t>
            </a:r>
          </a:p>
          <a:p>
            <a:r>
              <a:t>      "mirror_funding_feasible": true,</a:t>
            </a:r>
          </a:p>
          <a:p>
            <a:r>
              <a:t>      "original_bet_count": 859</a:t>
            </a:r>
          </a:p>
          <a:p>
            <a:r>
              <a:t>    }</a:t>
            </a:r>
          </a:p>
          <a:p>
            <a:r>
              <a:t>  },</a:t>
            </a:r>
          </a:p>
          <a:p>
            <a:r>
              <a:t>  {</a:t>
            </a:r>
          </a:p>
          <a:p>
            <a:r>
              <a:t>    "context": "P023__reference",</a:t>
            </a:r>
          </a:p>
          <a:p>
            <a:r>
              <a:t>    "model": "Player form + projected XI + depth | Histogram gradient boosting",</a:t>
            </a:r>
          </a:p>
          <a:p>
            <a:r>
              <a:t>    "entry_rule": "max_edge",</a:t>
            </a:r>
          </a:p>
          <a:p>
            <a:r>
              <a:t>    "primary": {</a:t>
            </a:r>
          </a:p>
          <a:p>
            <a:r>
              <a:t>      "Index": 219,</a:t>
            </a:r>
          </a:p>
          <a:p>
            <a:r>
              <a:t>      "context_id": "P023__reference",</a:t>
            </a:r>
          </a:p>
          <a:p>
            <a:r>
              <a:t>      "strategy_id": "P023",</a:t>
            </a:r>
          </a:p>
          <a:p>
            <a:r>
              <a:t>      "model_key": "pm_hist_boost_player_squad",</a:t>
            </a:r>
          </a:p>
          <a:p>
            <a:r>
              <a:t>      "model_label": "Player form + projected XI + depth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70365.9259052488,</a:t>
            </a:r>
          </a:p>
          <a:p>
            <a:r>
              <a:t>      "profit": -29634.074094751195,</a:t>
            </a:r>
          </a:p>
          <a:p>
            <a:r>
              <a:t>      "return_on_initial_capital": -0.2963407409475119,</a:t>
            </a:r>
          </a:p>
          <a:p>
            <a:r>
              <a:t>      "risk_turnover": 1287000.0,</a:t>
            </a:r>
          </a:p>
          <a:p>
            <a:r>
              <a:t>      "turnover": 1287000.0,</a:t>
            </a:r>
          </a:p>
          <a:p>
            <a:r>
              <a:t>      "risk_roi": -0.0230256985973202,</a:t>
            </a:r>
          </a:p>
          <a:p>
            <a:r>
              <a:t>      "roi": -0.0230256985973202,</a:t>
            </a:r>
          </a:p>
          <a:p>
            <a:r>
              <a:t>      "bet_count": 1287,</a:t>
            </a:r>
          </a:p>
          <a:p>
            <a:r>
              <a:t>      "leg_count": 2574,</a:t>
            </a:r>
          </a:p>
          <a:p>
            <a:r>
              <a:t>      "qualifying_signals": 1287,</a:t>
            </a:r>
          </a:p>
          <a:p>
            <a:r>
              <a:t>      "trading_frequency": 0.8755102040816326,</a:t>
            </a:r>
          </a:p>
          <a:p>
            <a:r>
              <a:t>      "event_hit_ratio": 0.777000777000777,</a:t>
            </a:r>
          </a:p>
          <a:p>
            <a:r>
              <a:t>      "positive_profit_hit_ratio": 0.7637917637917638,</a:t>
            </a:r>
          </a:p>
          <a:p>
            <a:r>
              <a:t>      "expected_gain_per_trade": 164.09398500043287,</a:t>
            </a:r>
          </a:p>
          <a:p>
            <a:r>
              <a:t>      "expected_loss_per_trade": 346.50074554692253,</a:t>
            </a:r>
          </a:p>
          <a:p>
            <a:r>
              <a:t>      "avg_winning_gain": 261.945672894254,</a:t>
            </a:r>
          </a:p>
          <a:p>
            <a:r>
              <a:t>      "avg_losing_loss": 947.6127740917588,</a:t>
            </a:r>
          </a:p>
          <a:p>
            <a:r>
              <a:t>      "fees": 0.0,</a:t>
            </a:r>
          </a:p>
          <a:p>
            <a:r>
              <a:t>      "max_drawdown": 0.2982425247790335,</a:t>
            </a:r>
          </a:p>
          <a:p>
            <a:r>
              <a:t>      "active_dates": 430,</a:t>
            </a:r>
          </a:p>
          <a:p>
            <a:r>
              <a:t>      "scaled_dates": 0,</a:t>
            </a:r>
          </a:p>
          <a:p>
            <a:r>
              <a:t>      "max_date_exposure": 0.1243431514681116,</a:t>
            </a:r>
          </a:p>
          <a:p>
            <a:r>
              <a:t>      "nonpositive_complement_payout_bundles": 17,</a:t>
            </a:r>
          </a:p>
          <a:p>
            <a:r>
              <a:t>      "roi_ci_low": -0.0524327877542959,</a:t>
            </a:r>
          </a:p>
          <a:p>
            <a:r>
              <a:t>      "roi_ci_high": 0.0073477258268557</a:t>
            </a:r>
          </a:p>
          <a:p>
            <a:r>
              <a:t>    },</a:t>
            </a:r>
          </a:p>
          <a:p>
            <a:r>
              <a:t>    "cost_2_final": 65216.0739761478,</a:t>
            </a:r>
          </a:p>
          <a:p>
            <a:r>
              <a:t>    "cost_5_final": 57491.29608249604,</a:t>
            </a:r>
          </a:p>
          <a:p>
            <a:r>
              <a:t>    "synthetic_lay_final": 165886.50041848913,</a:t>
            </a:r>
          </a:p>
          <a:p>
            <a:r>
              <a:t>    "identity_diagnostic": {</a:t>
            </a:r>
          </a:p>
          <a:p>
            <a:r>
              <a:t>      "original_final_capital": 0.0,</a:t>
            </a:r>
          </a:p>
          <a:p>
            <a:r>
              <a:t>      "arithmetic_mirror_final": 200000.0,</a:t>
            </a:r>
          </a:p>
          <a:p>
            <a:r>
              <a:t>      "arithmetic_mirror_minimum": 95850.0,</a:t>
            </a:r>
          </a:p>
          <a:p>
            <a:r>
              <a:t>      "original_peak_capital": 104150.0,</a:t>
            </a:r>
          </a:p>
          <a:p>
            <a:r>
              <a:t>      "max_same_date_liability": 57750.0,</a:t>
            </a:r>
          </a:p>
          <a:p>
            <a:r>
              <a:t>      "minimum_additional_opening_cash": 0.0,</a:t>
            </a:r>
          </a:p>
          <a:p>
            <a:r>
              <a:t>      "funding_shortfall_dates": 0,</a:t>
            </a:r>
          </a:p>
          <a:p>
            <a:r>
              <a:t>      "mirror_funding_feasible": true,</a:t>
            </a:r>
          </a:p>
          <a:p>
            <a:r>
              <a:t>      "original_bet_count": 543</a:t>
            </a:r>
          </a:p>
          <a:p>
            <a:r>
              <a:t>    }</a:t>
            </a:r>
          </a:p>
          <a:p>
            <a:r>
              <a:t>  },</a:t>
            </a:r>
          </a:p>
          <a:p>
            <a:r>
              <a:t>  {</a:t>
            </a:r>
          </a:p>
          <a:p>
            <a:r>
              <a:t>    "context": "P025__best",</a:t>
            </a:r>
          </a:p>
          <a:p>
            <a:r>
              <a:t>    "model": "Team + full player block | Logistic regression",</a:t>
            </a:r>
          </a:p>
          <a:p>
            <a:r>
              <a:t>    "entry_rule": "max_edge",</a:t>
            </a:r>
          </a:p>
          <a:p>
            <a:r>
              <a:t>    "primary": {</a:t>
            </a:r>
          </a:p>
          <a:p>
            <a:r>
              <a:t>      "Index": 225,</a:t>
            </a:r>
          </a:p>
          <a:p>
            <a:r>
              <a:t>      "context_id": "P025__best",</a:t>
            </a:r>
          </a:p>
          <a:p>
            <a:r>
              <a:t>      "strategy_id": "P025",</a:t>
            </a:r>
          </a:p>
          <a:p>
            <a:r>
              <a:t>      "model_key": "pm_logistic_team_player_squad",</a:t>
            </a:r>
          </a:p>
          <a:p>
            <a:r>
              <a:t>      "model_label": "Team + full player block | Logistic regression",</a:t>
            </a:r>
          </a:p>
          <a:p>
            <a:r>
              <a:t>      "price_mode": "best",</a:t>
            </a:r>
          </a:p>
          <a:p>
            <a:r>
              <a:t>      "selection_rule": "max_edge",</a:t>
            </a:r>
          </a:p>
          <a:p>
            <a:r>
              <a:t>      "original_zero": true,</a:t>
            </a:r>
          </a:p>
          <a:p>
            <a:r>
              <a:t>      "variant": "dutch_cost_0",</a:t>
            </a:r>
          </a:p>
          <a:p>
            <a:r>
              <a:t>      "kind": "dutch",</a:t>
            </a:r>
          </a:p>
          <a:p>
            <a:r>
              <a:t>      "cost_rate": 0.0,</a:t>
            </a:r>
          </a:p>
          <a:p>
            <a:r>
              <a:t>      "initial_capital": 100000.0,</a:t>
            </a:r>
          </a:p>
          <a:p>
            <a:r>
              <a:t>      "final_capital": 48757.68614571406,</a:t>
            </a:r>
          </a:p>
          <a:p>
            <a:r>
              <a:t>      "profit": -51242.31385428594,</a:t>
            </a:r>
          </a:p>
          <a:p>
            <a:r>
              <a:t>      "return_on_initial_capital": -0.5124231385428594,</a:t>
            </a:r>
          </a:p>
          <a:p>
            <a:r>
              <a:t>      "risk_turnover": 1402000.0,</a:t>
            </a:r>
          </a:p>
          <a:p>
            <a:r>
              <a:t>      "turnover": 1402000.0,</a:t>
            </a:r>
          </a:p>
          <a:p>
            <a:r>
              <a:t>      "risk_roi": -0.0365494392683922,</a:t>
            </a:r>
          </a:p>
          <a:p>
            <a:r>
              <a:t>      "roi": -0.0365494392683922,</a:t>
            </a:r>
          </a:p>
          <a:p>
            <a:r>
              <a:t>      "bet_count": 1402,</a:t>
            </a:r>
          </a:p>
          <a:p>
            <a:r>
              <a:t>      "leg_count": 2804,</a:t>
            </a:r>
          </a:p>
          <a:p>
            <a:r>
              <a:t>      "qualifying_signals": 1402,</a:t>
            </a:r>
          </a:p>
          <a:p>
            <a:r>
              <a:t>      "trading_frequency": 0.9537414965986396,</a:t>
            </a:r>
          </a:p>
          <a:p>
            <a:r>
              <a:t>      "event_hit_ratio": 0.7382310984308131,</a:t>
            </a:r>
          </a:p>
          <a:p>
            <a:r>
              <a:t>      "positive_profit_hit_ratio": 0.7375178316690443,</a:t>
            </a:r>
          </a:p>
          <a:p>
            <a:r>
              <a:t>      "expected_gain_per_trade": 194.8376087714026,</a:t>
            </a:r>
          </a:p>
          <a:p>
            <a:r>
              <a:t>      "expected_loss_per_trade": 359.4178763065813,</a:t>
            </a:r>
          </a:p>
          <a:p>
            <a:r>
              <a:t>      "avg_winning_gain": 305.3753114955944,</a:t>
            </a:r>
          </a:p>
          <a:p>
            <a:r>
              <a:t>      "avg_losing_loss": 997.2836574476372,</a:t>
            </a:r>
          </a:p>
          <a:p>
            <a:r>
              <a:t>      "fees": 0.0,</a:t>
            </a:r>
          </a:p>
          <a:p>
            <a:r>
              <a:t>      "max_drawdown": 0.5202085768014844,</a:t>
            </a:r>
          </a:p>
          <a:p>
            <a:r>
              <a:t>      "active_dates": 448,</a:t>
            </a:r>
          </a:p>
          <a:p>
            <a:r>
              <a:t>      "scaled_dates": 0,</a:t>
            </a:r>
          </a:p>
          <a:p>
            <a:r>
              <a:t>      "max_date_exposure": 0.156702508921437,</a:t>
            </a:r>
          </a:p>
          <a:p>
            <a:r>
              <a:t>      "nonpositive_complement_payout_bundles": 1,</a:t>
            </a:r>
          </a:p>
          <a:p>
            <a:r>
              <a:t>      "roi_ci_low": -0.0681912385401768,</a:t>
            </a:r>
          </a:p>
          <a:p>
            <a:r>
              <a:t>      "roi_ci_high": -0.0048839829948332</a:t>
            </a:r>
          </a:p>
          <a:p>
            <a:r>
              <a:t>    },</a:t>
            </a:r>
          </a:p>
          <a:p>
            <a:r>
              <a:t>    "cost_2_final": 42442.52470398517,</a:t>
            </a:r>
          </a:p>
          <a:p>
            <a:r>
              <a:t>    "cost_5_final": 32969.78254139188,</a:t>
            </a:r>
          </a:p>
          <a:p>
            <a:r>
              <a:t>    "synthetic_lay_final": 93064.63866926145,</a:t>
            </a:r>
          </a:p>
          <a:p>
            <a:r>
              <a:t>    "identity_diagnostic": {</a:t>
            </a:r>
          </a:p>
          <a:p>
            <a:r>
              <a:t>      "original_final_capital": 0.0,</a:t>
            </a:r>
          </a:p>
          <a:p>
            <a:r>
              <a:t>      "arithmetic_mirror_final": 200000.0,</a:t>
            </a:r>
          </a:p>
          <a:p>
            <a:r>
              <a:t>      "arithmetic_mirror_minimum": 93150.0,</a:t>
            </a:r>
          </a:p>
          <a:p>
            <a:r>
              <a:t>      "original_peak_capital": 106850.0,</a:t>
            </a:r>
          </a:p>
          <a:p>
            <a:r>
              <a:t>      "max_same_date_liability": 57720.0,</a:t>
            </a:r>
          </a:p>
          <a:p>
            <a:r>
              <a:t>      "minimum_additional_opening_cash": 0.0,</a:t>
            </a:r>
          </a:p>
          <a:p>
            <a:r>
              <a:t>      "funding_shortfall_dates": 0,</a:t>
            </a:r>
          </a:p>
          <a:p>
            <a:r>
              <a:t>      "mirror_funding_feasible": true,</a:t>
            </a:r>
          </a:p>
          <a:p>
            <a:r>
              <a:t>      "original_bet_count": 977</a:t>
            </a:r>
          </a:p>
          <a:p>
            <a:r>
              <a:t>    }</a:t>
            </a:r>
          </a:p>
          <a:p>
            <a:r>
              <a:t>  },</a:t>
            </a:r>
          </a:p>
          <a:p>
            <a:r>
              <a:t>  {</a:t>
            </a:r>
          </a:p>
          <a:p>
            <a:r>
              <a:t>    "context": "P027__reference",</a:t>
            </a:r>
          </a:p>
          <a:p>
            <a:r>
              <a:t>    "model": "Team + full player block | Logistic regression",</a:t>
            </a:r>
          </a:p>
          <a:p>
            <a:r>
              <a:t>    "entry_rule": "max_edge",</a:t>
            </a:r>
          </a:p>
          <a:p>
            <a:r>
              <a:t>    "primary": {</a:t>
            </a:r>
          </a:p>
          <a:p>
            <a:r>
              <a:t>      "Index": 231,</a:t>
            </a:r>
          </a:p>
          <a:p>
            <a:r>
              <a:t>      "context_id": "P027__reference",</a:t>
            </a:r>
          </a:p>
          <a:p>
            <a:r>
              <a:t>      "strategy_id": "P027",</a:t>
            </a:r>
          </a:p>
          <a:p>
            <a:r>
              <a:t>      "model_key": "pm_logistic_team_player_squad",</a:t>
            </a:r>
          </a:p>
          <a:p>
            <a:r>
              <a:t>      "model_label": "Team + full player block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6420.723474837168,</a:t>
            </a:r>
          </a:p>
          <a:p>
            <a:r>
              <a:t>      "profit": -93579.27652516284,</a:t>
            </a:r>
          </a:p>
          <a:p>
            <a:r>
              <a:t>      "return_on_initial_capital": -0.9357927652516282,</a:t>
            </a:r>
          </a:p>
          <a:p>
            <a:r>
              <a:t>      "risk_turnover": 1328000.0,</a:t>
            </a:r>
          </a:p>
          <a:p>
            <a:r>
              <a:t>      "turnover": 1328000.0,</a:t>
            </a:r>
          </a:p>
          <a:p>
            <a:r>
              <a:t>      "risk_roi": -0.0704663226846105,</a:t>
            </a:r>
          </a:p>
          <a:p>
            <a:r>
              <a:t>      "roi": -0.0704663226846105,</a:t>
            </a:r>
          </a:p>
          <a:p>
            <a:r>
              <a:t>      "bet_count": 1328,</a:t>
            </a:r>
          </a:p>
          <a:p>
            <a:r>
              <a:t>      "leg_count": 2656,</a:t>
            </a:r>
          </a:p>
          <a:p>
            <a:r>
              <a:t>      "qualifying_signals": 1328,</a:t>
            </a:r>
          </a:p>
          <a:p>
            <a:r>
              <a:t>      "trading_frequency": 0.9034013605442176,</a:t>
            </a:r>
          </a:p>
          <a:p>
            <a:r>
              <a:t>      "event_hit_ratio": 0.7341867469879518,</a:t>
            </a:r>
          </a:p>
          <a:p>
            <a:r>
              <a:t>      "positive_profit_hit_ratio": 0.7289156626506024,</a:t>
            </a:r>
          </a:p>
          <a:p>
            <a:r>
              <a:t>      "expected_gain_per_trade": 169.33041059037936,</a:t>
            </a:r>
          </a:p>
          <a:p>
            <a:r>
              <a:t>      "expected_loss_per_trade": 362.5629895732018,</a:t>
            </a:r>
          </a:p>
          <a:p>
            <a:r>
              <a:t>      "avg_winning_gain": 268.0554528237617,</a:t>
            </a:r>
          </a:p>
          <a:p>
            <a:r>
              <a:t>      "avg_losing_loss": 980.7137634960114,</a:t>
            </a:r>
          </a:p>
          <a:p>
            <a:r>
              <a:t>      "fees": 0.0,</a:t>
            </a:r>
          </a:p>
          <a:p>
            <a:r>
              <a:t>      "max_drawdown": 0.936142674771774,</a:t>
            </a:r>
          </a:p>
          <a:p>
            <a:r>
              <a:t>      "active_dates": 441,</a:t>
            </a:r>
          </a:p>
          <a:p>
            <a:r>
              <a:t>      "scaled_dates": 0,</a:t>
            </a:r>
          </a:p>
          <a:p>
            <a:r>
              <a:t>      "max_date_exposure": 0.7275630693854256,</a:t>
            </a:r>
          </a:p>
          <a:p>
            <a:r>
              <a:t>      "nonpositive_complement_payout_bundles": 7,</a:t>
            </a:r>
          </a:p>
          <a:p>
            <a:r>
              <a:t>      "roi_ci_low": -0.1023951494548394,</a:t>
            </a:r>
          </a:p>
          <a:p>
            <a:r>
              <a:t>      "roi_ci_high": -0.0390641570346583</a:t>
            </a:r>
          </a:p>
          <a:p>
            <a:r>
              <a:t>    },</a:t>
            </a:r>
          </a:p>
          <a:p>
            <a:r>
              <a:t>    "cost_2_final": 2419.691953966308,</a:t>
            </a:r>
          </a:p>
          <a:p>
            <a:r>
              <a:t>    "cost_5_final": 0.0,</a:t>
            </a:r>
          </a:p>
          <a:p>
            <a:r>
              <a:t>    "synthetic_lay_final": 101274.1458179076,</a:t>
            </a:r>
          </a:p>
          <a:p>
            <a:r>
              <a:t>    "identity_diagnostic": {</a:t>
            </a:r>
          </a:p>
          <a:p>
            <a:r>
              <a:t>      "original_final_capital": 0.0,</a:t>
            </a:r>
          </a:p>
          <a:p>
            <a:r>
              <a:t>      "arithmetic_mirror_final": 200000.0,</a:t>
            </a:r>
          </a:p>
          <a:p>
            <a:r>
              <a:t>      "arithmetic_mirror_minimum": 96010.0,</a:t>
            </a:r>
          </a:p>
          <a:p>
            <a:r>
              <a:t>      "original_peak_capital": 103990.0,</a:t>
            </a:r>
          </a:p>
          <a:p>
            <a:r>
              <a:t>      "max_same_date_liability": 47400.0,</a:t>
            </a:r>
          </a:p>
          <a:p>
            <a:r>
              <a:t>      "minimum_additional_opening_cash": 0.0,</a:t>
            </a:r>
          </a:p>
          <a:p>
            <a:r>
              <a:t>      "funding_shortfall_dates": 0,</a:t>
            </a:r>
          </a:p>
          <a:p>
            <a:r>
              <a:t>      "mirror_funding_feasible": true,</a:t>
            </a:r>
          </a:p>
          <a:p>
            <a:r>
              <a:t>      "original_bet_count": 780</a:t>
            </a:r>
          </a:p>
          <a:p>
            <a:r>
              <a:t>    }</a:t>
            </a:r>
          </a:p>
          <a:p>
            <a:r>
              <a:t>  },</a:t>
            </a:r>
          </a:p>
          <a:p>
            <a:r>
              <a:t>  {</a:t>
            </a:r>
          </a:p>
          <a:p>
            <a:r>
              <a:t>    "context": "P029__best",</a:t>
            </a:r>
          </a:p>
          <a:p>
            <a:r>
              <a:t>    "model": "Team + full player block | Histogram gradient boosting",</a:t>
            </a:r>
          </a:p>
          <a:p>
            <a:r>
              <a:t>    "entry_rule": "max_edge",</a:t>
            </a:r>
          </a:p>
          <a:p>
            <a:r>
              <a:t>    "primary": {</a:t>
            </a:r>
          </a:p>
          <a:p>
            <a:r>
              <a:t>      "Index": 237,</a:t>
            </a:r>
          </a:p>
          <a:p>
            <a:r>
              <a:t>      "context_id": "P029__best",</a:t>
            </a:r>
          </a:p>
          <a:p>
            <a:r>
              <a:t>      "strategy_id": "P029",</a:t>
            </a:r>
          </a:p>
          <a:p>
            <a:r>
              <a:t>      "model_key": "pm_hist_boost_team_player_squad",</a:t>
            </a:r>
          </a:p>
          <a:p>
            <a:r>
              <a:t>      "model_label": "Team + full player block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116968.37494643942,</a:t>
            </a:r>
          </a:p>
          <a:p>
            <a:r>
              <a:t>      "profit": 16968.37494643942,</a:t>
            </a:r>
          </a:p>
          <a:p>
            <a:r>
              <a:t>      "return_on_initial_capital": 0.1696837494643942,</a:t>
            </a:r>
          </a:p>
          <a:p>
            <a:r>
              <a:t>      "risk_turnover": 1346000.0,</a:t>
            </a:r>
          </a:p>
          <a:p>
            <a:r>
              <a:t>      "turnover": 1346000.0,</a:t>
            </a:r>
          </a:p>
          <a:p>
            <a:r>
              <a:t>      "risk_roi": 0.0126065192767009,</a:t>
            </a:r>
          </a:p>
          <a:p>
            <a:r>
              <a:t>      "roi": 0.0126065192767009,</a:t>
            </a:r>
          </a:p>
          <a:p>
            <a:r>
              <a:t>      "bet_count": 1346,</a:t>
            </a:r>
          </a:p>
          <a:p>
            <a:r>
              <a:t>      "leg_count": 2692,</a:t>
            </a:r>
          </a:p>
          <a:p>
            <a:r>
              <a:t>      "qualifying_signals": 1346,</a:t>
            </a:r>
          </a:p>
          <a:p>
            <a:r>
              <a:t>      "trading_frequency": 0.9156462585034012,</a:t>
            </a:r>
          </a:p>
          <a:p>
            <a:r>
              <a:t>      "event_hit_ratio": 0.763001485884101,</a:t>
            </a:r>
          </a:p>
          <a:p>
            <a:r>
              <a:t>      "positive_profit_hit_ratio": 0.7622585438335809,</a:t>
            </a:r>
          </a:p>
          <a:p>
            <a:r>
              <a:t>      "expected_gain_per_trade": 202.1601763685485,</a:t>
            </a:r>
          </a:p>
          <a:p>
            <a:r>
              <a:t>      "expected_loss_per_trade": 348.45856467934834,</a:t>
            </a:r>
          </a:p>
          <a:p>
            <a:r>
              <a:t>      "avg_winning_gain": 327.45493263856724,</a:t>
            </a:r>
          </a:p>
          <a:p>
            <a:r>
              <a:t>      "avg_losing_loss": 996.8762060647828,</a:t>
            </a:r>
          </a:p>
          <a:p>
            <a:r>
              <a:t>      "fees": 0.0,</a:t>
            </a:r>
          </a:p>
          <a:p>
            <a:r>
              <a:t>      "max_drawdown": 0.1397964710197732,</a:t>
            </a:r>
          </a:p>
          <a:p>
            <a:r>
              <a:t>      "active_dates": 444,</a:t>
            </a:r>
          </a:p>
          <a:p>
            <a:r>
              <a:t>      "scaled_dates": 0,</a:t>
            </a:r>
          </a:p>
          <a:p>
            <a:r>
              <a:t>      "max_date_exposure": 0.0956155331510953,</a:t>
            </a:r>
          </a:p>
          <a:p>
            <a:r>
              <a:t>      "nonpositive_complement_payout_bundles": 1,</a:t>
            </a:r>
          </a:p>
          <a:p>
            <a:r>
              <a:t>      "roi_ci_low": -0.0192533562510067,</a:t>
            </a:r>
          </a:p>
          <a:p>
            <a:r>
              <a:t>      "roi_ci_high": 0.0442261090920945</a:t>
            </a:r>
          </a:p>
          <a:p>
            <a:r>
              <a:t>    },</a:t>
            </a:r>
          </a:p>
          <a:p>
            <a:r>
              <a:t>    "cost_2_final": 110248.9997286958,</a:t>
            </a:r>
          </a:p>
          <a:p>
            <a:r>
              <a:t>    "cost_5_final": 100169.93690208094,</a:t>
            </a:r>
          </a:p>
          <a:p>
            <a:r>
              <a:t>    "synthetic_lay_final": 162935.99069889326,</a:t>
            </a:r>
          </a:p>
          <a:p>
            <a:r>
              <a:t>    "identity_diagnostic": {</a:t>
            </a:r>
          </a:p>
          <a:p>
            <a:r>
              <a:t>      "original_final_capital": 0.0,</a:t>
            </a:r>
          </a:p>
          <a:p>
            <a:r>
              <a:t>      "arithmetic_mirror_final": 200000.0,</a:t>
            </a:r>
          </a:p>
          <a:p>
            <a:r>
              <a:t>      "arithmetic_mirror_minimum": 83850.0,</a:t>
            </a:r>
          </a:p>
          <a:p>
            <a:r>
              <a:t>      "original_peak_capital": 116150.0,</a:t>
            </a:r>
          </a:p>
          <a:p>
            <a:r>
              <a:t>      "max_same_date_liability": 63610.0,</a:t>
            </a:r>
          </a:p>
          <a:p>
            <a:r>
              <a:t>      "minimum_additional_opening_cash": 0.0,</a:t>
            </a:r>
          </a:p>
          <a:p>
            <a:r>
              <a:t>      "funding_shortfall_dates": 0,</a:t>
            </a:r>
          </a:p>
          <a:p>
            <a:r>
              <a:t>      "mirror_funding_feasible": true,</a:t>
            </a:r>
          </a:p>
          <a:p>
            <a:r>
              <a:t>      "original_bet_count": 888</a:t>
            </a:r>
          </a:p>
          <a:p>
            <a:r>
              <a:t>    }</a:t>
            </a:r>
          </a:p>
          <a:p>
            <a:r>
              <a:t>  },</a:t>
            </a:r>
          </a:p>
          <a:p>
            <a:r>
              <a:t>  {</a:t>
            </a:r>
          </a:p>
          <a:p>
            <a:r>
              <a:t>    "context": "P031__reference",</a:t>
            </a:r>
          </a:p>
          <a:p>
            <a:r>
              <a:t>    "model": "Team + full player block | Histogram gradient boosting",</a:t>
            </a:r>
          </a:p>
          <a:p>
            <a:r>
              <a:t>    "entry_rule": "max_edge",</a:t>
            </a:r>
          </a:p>
          <a:p>
            <a:r>
              <a:t>    "primary": {</a:t>
            </a:r>
          </a:p>
          <a:p>
            <a:r>
              <a:t>      "Index": 243,</a:t>
            </a:r>
          </a:p>
          <a:p>
            <a:r>
              <a:t>      "context_id": "P031__reference",</a:t>
            </a:r>
          </a:p>
          <a:p>
            <a:r>
              <a:t>      "strategy_id": "P031",</a:t>
            </a:r>
          </a:p>
          <a:p>
            <a:r>
              <a:t>      "model_key": "pm_hist_boost_team_player_squad",</a:t>
            </a:r>
          </a:p>
          <a:p>
            <a:r>
              <a:t>      "model_label": "Team + full player block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62009.53633087672,</a:t>
            </a:r>
          </a:p>
          <a:p>
            <a:r>
              <a:t>      "profit": -37990.46366912328,</a:t>
            </a:r>
          </a:p>
          <a:p>
            <a:r>
              <a:t>      "return_on_initial_capital": -0.3799046366912328,</a:t>
            </a:r>
          </a:p>
          <a:p>
            <a:r>
              <a:t>      "risk_turnover": 1234000.0,</a:t>
            </a:r>
          </a:p>
          <a:p>
            <a:r>
              <a:t>      "turnover": 1234000.0,</a:t>
            </a:r>
          </a:p>
          <a:p>
            <a:r>
              <a:t>      "risk_roi": -0.0307864373331631,</a:t>
            </a:r>
          </a:p>
          <a:p>
            <a:r>
              <a:t>      "roi": -0.0307864373331631,</a:t>
            </a:r>
          </a:p>
          <a:p>
            <a:r>
              <a:t>      "bet_count": 1234,</a:t>
            </a:r>
          </a:p>
          <a:p>
            <a:r>
              <a:t>      "leg_count": 2468,</a:t>
            </a:r>
          </a:p>
          <a:p>
            <a:r>
              <a:t>      "qualifying_signals": 1234,</a:t>
            </a:r>
          </a:p>
          <a:p>
            <a:r>
              <a:t>      "trading_frequency": 0.8394557823129252,</a:t>
            </a:r>
          </a:p>
          <a:p>
            <a:r>
              <a:t>      "event_hit_ratio": 0.7568881685575365,</a:t>
            </a:r>
          </a:p>
          <a:p>
            <a:r>
              <a:t>      "positive_profit_hit_ratio": 0.7447325769854133,</a:t>
            </a:r>
          </a:p>
          <a:p>
            <a:r>
              <a:t>      "expected_gain_per_trade": 172.4970451971804,</a:t>
            </a:r>
          </a:p>
          <a:p>
            <a:r>
              <a:t>      "expected_loss_per_trade": 348.8711822127225,</a:t>
            </a:r>
          </a:p>
          <a:p>
            <a:r>
              <a:t>      "avg_winning_gain": 285.2300695644506,</a:t>
            </a:r>
          </a:p>
          <a:p>
            <a:r>
              <a:t>      "avg_losing_loss": 955.7862980855208,</a:t>
            </a:r>
          </a:p>
          <a:p>
            <a:r>
              <a:t>      "fees": 0.0,</a:t>
            </a:r>
          </a:p>
          <a:p>
            <a:r>
              <a:t>      "max_drawdown": 0.3846723555085916,</a:t>
            </a:r>
          </a:p>
          <a:p>
            <a:r>
              <a:t>      "active_dates": 432,</a:t>
            </a:r>
          </a:p>
          <a:p>
            <a:r>
              <a:t>      "scaled_dates": 0,</a:t>
            </a:r>
          </a:p>
          <a:p>
            <a:r>
              <a:t>      "max_date_exposure": 0.1132388382622431,</a:t>
            </a:r>
          </a:p>
          <a:p>
            <a:r>
              <a:t>      "nonpositive_complement_payout_bundles": 16,</a:t>
            </a:r>
          </a:p>
          <a:p>
            <a:r>
              <a:t>      "roi_ci_low": -0.0628953667083217,</a:t>
            </a:r>
          </a:p>
          <a:p>
            <a:r>
              <a:t>      "roi_ci_high": 0.0013226099752173</a:t>
            </a:r>
          </a:p>
          <a:p>
            <a:r>
              <a:t>    },</a:t>
            </a:r>
          </a:p>
          <a:p>
            <a:r>
              <a:t>    "cost_2_final": 56767.00765228198,</a:t>
            </a:r>
          </a:p>
          <a:p>
            <a:r>
              <a:t>    "cost_5_final": 48903.21463439004,</a:t>
            </a:r>
          </a:p>
          <a:p>
            <a:r>
              <a:t>    "synthetic_lay_final": 155769.66093192674,</a:t>
            </a:r>
          </a:p>
          <a:p>
            <a:r>
              <a:t>    "identity_diagnostic": {</a:t>
            </a:r>
          </a:p>
          <a:p>
            <a:r>
              <a:t>      "original_final_capital": 0.0,</a:t>
            </a:r>
          </a:p>
          <a:p>
            <a:r>
              <a:t>      "arithmetic_mirror_final": 200000.0,</a:t>
            </a:r>
          </a:p>
          <a:p>
            <a:r>
              <a:t>      "arithmetic_mirror_minimum": 75580.0,</a:t>
            </a:r>
          </a:p>
          <a:p>
            <a:r>
              <a:t>      "original_peak_capital": 124420.0,</a:t>
            </a:r>
          </a:p>
          <a:p>
            <a:r>
              <a:t>      "max_same_date_liability": 62130.0,</a:t>
            </a:r>
          </a:p>
          <a:p>
            <a:r>
              <a:t>      "minimum_additional_opening_cash": 0.0,</a:t>
            </a:r>
          </a:p>
          <a:p>
            <a:r>
              <a:t>      "funding_shortfall_dates": 0,</a:t>
            </a:r>
          </a:p>
          <a:p>
            <a:r>
              <a:t>      "mirror_funding_feasible": true,</a:t>
            </a:r>
          </a:p>
          <a:p>
            <a:r>
              <a:t>      "original_bet_count": 842</a:t>
            </a:r>
          </a:p>
          <a:p>
            <a:r>
              <a:t>    }</a:t>
            </a:r>
          </a:p>
          <a:p>
            <a:r>
              <a:t>  }</a:t>
            </a:r>
          </a:p>
          <a:p>
            <a:r>
              <a:t>]</a:t>
            </a:r>
          </a:p>
          <a:p/>
          <a:p>
            <a:r>
              <a:t>Exact source paths:</a:t>
            </a:r>
          </a:p>
          <a:p>
            <a:r>
              <a:t>C:\Users\melin\OneDrive\Desktop\nyu\fall 2026\Stat Arb\final_project\final_review\epl_results\metrics.csv</a:t>
            </a:r>
          </a:p>
          <a:p>
            <a:r>
              <a:t>C:\Users\melin\OneDrive\Desktop\nyu\fall 2026\Stat Arb\final_project\final_review\epl_results\identity_diagnostics.csv</a:t>
            </a:r>
          </a:p>
          <a:p>
            <a:r>
              <a:t>final_review/inverse_protocol.md</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STATISTICAL ARBITRAGE | FINAL REPORT AND PRESENTATION</a:t>
            </a:r>
          </a:p>
        </p:txBody>
      </p:sp>
      <p:sp>
        <p:nvSpPr>
          <p:cNvPr id="3" name="slide00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Machine learning for sports betting</a:t>
            </a:r>
          </a:p>
        </p:txBody>
      </p:sp>
      <p:sp>
        <p:nvSpPr>
          <p:cNvPr id="4" name="slide00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NBA and English Premier League: accuracy, calibration and archived-price returns.</a:t>
            </a:r>
          </a:p>
        </p:txBody>
      </p:sp>
      <p:sp>
        <p:nvSpPr>
          <p:cNvPr id="5" name="slide001-element000-text"/>
          <p:cNvSpPr txBox="1"/>
          <p:nvPr/>
        </p:nvSpPr>
        <p:spPr>
          <a:xfrm>
            <a:off x="594360" y="1965960"/>
            <a:ext cx="13414248" cy="685800"/>
          </a:xfrm>
          <a:prstGeom prst="rect">
            <a:avLst/>
          </a:prstGeom>
          <a:noFill/>
        </p:spPr>
        <p:txBody>
          <a:bodyPr wrap="square" lIns="0" rIns="0" tIns="0" bIns="0" anchor="t">
            <a:noAutofit/>
          </a:bodyPr>
          <a:lstStyle/>
          <a:p>
            <a:pPr algn="ctr">
              <a:lnSpc>
                <a:spcPct val="100000"/>
              </a:lnSpc>
              <a:spcBef>
                <a:spcPts val="0"/>
              </a:spcBef>
              <a:spcAft>
                <a:spcPts val="0"/>
              </a:spcAft>
            </a:pPr>
            <a:r>
              <a:rPr sz="3200" b="1">
                <a:solidFill>
                  <a:srgbClr val="11243A"/>
                </a:solidFill>
                <a:latin typeface="Arial"/>
              </a:rPr>
              <a:t>Aman Dhillon  •  Panagiotis Housos</a:t>
            </a:r>
          </a:p>
        </p:txBody>
      </p:sp>
      <p:sp>
        <p:nvSpPr>
          <p:cNvPr id="6" name="slide001-element001-text"/>
          <p:cNvSpPr txBox="1"/>
          <p:nvPr/>
        </p:nvSpPr>
        <p:spPr>
          <a:xfrm>
            <a:off x="594360" y="2926080"/>
            <a:ext cx="13414248" cy="594360"/>
          </a:xfrm>
          <a:prstGeom prst="rect">
            <a:avLst/>
          </a:prstGeom>
          <a:noFill/>
        </p:spPr>
        <p:txBody>
          <a:bodyPr wrap="square" lIns="0" rIns="0" tIns="0" bIns="0" anchor="t">
            <a:noAutofit/>
          </a:bodyPr>
          <a:lstStyle/>
          <a:p>
            <a:pPr algn="ctr">
              <a:lnSpc>
                <a:spcPct val="100000"/>
              </a:lnSpc>
              <a:spcBef>
                <a:spcPts val="0"/>
              </a:spcBef>
              <a:spcAft>
                <a:spcPts val="0"/>
              </a:spcAft>
            </a:pPr>
            <a:r>
              <a:rPr sz="2600" b="0">
                <a:solidFill>
                  <a:srgbClr val="11243A"/>
                </a:solidFill>
                <a:latin typeface="Arial"/>
              </a:rPr>
              <a:t>Supervisor: Daniel Totouom-Tangho</a:t>
            </a:r>
          </a:p>
        </p:txBody>
      </p:sp>
      <p:sp>
        <p:nvSpPr>
          <p:cNvPr id="7" name="slide001-element002-text"/>
          <p:cNvSpPr txBox="1"/>
          <p:nvPr/>
        </p:nvSpPr>
        <p:spPr>
          <a:xfrm>
            <a:off x="594360" y="4005072"/>
            <a:ext cx="13414248" cy="502920"/>
          </a:xfrm>
          <a:prstGeom prst="rect">
            <a:avLst/>
          </a:prstGeom>
          <a:noFill/>
        </p:spPr>
        <p:txBody>
          <a:bodyPr wrap="square" lIns="0" rIns="0" tIns="0" bIns="0" anchor="t">
            <a:noAutofit/>
          </a:bodyPr>
          <a:lstStyle/>
          <a:p>
            <a:pPr algn="ctr">
              <a:lnSpc>
                <a:spcPct val="100000"/>
              </a:lnSpc>
              <a:spcBef>
                <a:spcPts val="0"/>
              </a:spcBef>
              <a:spcAft>
                <a:spcPts val="0"/>
              </a:spcAft>
            </a:pPr>
            <a:r>
              <a:rPr sz="2200" b="0">
                <a:solidFill>
                  <a:srgbClr val="536578"/>
                </a:solidFill>
                <a:latin typeface="Arial"/>
              </a:rPr>
              <a:t>Statistical Arbitrage  |  Final project  |  23 October 2026</a:t>
            </a:r>
          </a:p>
        </p:txBody>
      </p:sp>
      <p:sp>
        <p:nvSpPr>
          <p:cNvPr id="8" name="slide001-element003-card-background"/>
          <p:cNvSpPr/>
          <p:nvPr/>
        </p:nvSpPr>
        <p:spPr>
          <a:xfrm>
            <a:off x="594360"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1-element003-card-accent"/>
          <p:cNvSpPr/>
          <p:nvPr/>
        </p:nvSpPr>
        <p:spPr>
          <a:xfrm>
            <a:off x="594360"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1-element003-card-label"/>
          <p:cNvSpPr txBox="1"/>
          <p:nvPr/>
        </p:nvSpPr>
        <p:spPr>
          <a:xfrm>
            <a:off x="749808"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1</a:t>
            </a:r>
          </a:p>
        </p:txBody>
      </p:sp>
      <p:sp>
        <p:nvSpPr>
          <p:cNvPr id="11" name="slide001-element003-card-value"/>
          <p:cNvSpPr txBox="1"/>
          <p:nvPr/>
        </p:nvSpPr>
        <p:spPr>
          <a:xfrm>
            <a:off x="749808"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Methodology</a:t>
            </a:r>
          </a:p>
        </p:txBody>
      </p:sp>
      <p:sp>
        <p:nvSpPr>
          <p:cNvPr id="12" name="slide001-element003-card-detail"/>
          <p:cNvSpPr txBox="1"/>
          <p:nvPr/>
        </p:nvSpPr>
        <p:spPr>
          <a:xfrm>
            <a:off x="749808"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The shared prediction-to-betting framework</a:t>
            </a:r>
          </a:p>
        </p:txBody>
      </p:sp>
      <p:sp>
        <p:nvSpPr>
          <p:cNvPr id="13" name="slide001-element004-card-background"/>
          <p:cNvSpPr/>
          <p:nvPr/>
        </p:nvSpPr>
        <p:spPr>
          <a:xfrm>
            <a:off x="5175504"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1-element004-card-accent"/>
          <p:cNvSpPr/>
          <p:nvPr/>
        </p:nvSpPr>
        <p:spPr>
          <a:xfrm>
            <a:off x="5175504"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1-element004-card-label"/>
          <p:cNvSpPr txBox="1"/>
          <p:nvPr/>
        </p:nvSpPr>
        <p:spPr>
          <a:xfrm>
            <a:off x="5330952"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2</a:t>
            </a:r>
          </a:p>
        </p:txBody>
      </p:sp>
      <p:sp>
        <p:nvSpPr>
          <p:cNvPr id="16" name="slide001-element004-card-value"/>
          <p:cNvSpPr txBox="1"/>
          <p:nvPr/>
        </p:nvSpPr>
        <p:spPr>
          <a:xfrm>
            <a:off x="5330952"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NBA results</a:t>
            </a:r>
          </a:p>
        </p:txBody>
      </p:sp>
      <p:sp>
        <p:nvSpPr>
          <p:cNvPr id="17" name="slide001-element004-card-detail"/>
          <p:cNvSpPr txBox="1"/>
          <p:nvPr/>
        </p:nvSpPr>
        <p:spPr>
          <a:xfrm>
            <a:off x="5330952"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Aman Dhillon</a:t>
            </a:r>
          </a:p>
        </p:txBody>
      </p:sp>
      <p:sp>
        <p:nvSpPr>
          <p:cNvPr id="18" name="slide001-element005-card-background"/>
          <p:cNvSpPr/>
          <p:nvPr/>
        </p:nvSpPr>
        <p:spPr>
          <a:xfrm>
            <a:off x="9756648"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ide001-element005-card-accent"/>
          <p:cNvSpPr/>
          <p:nvPr/>
        </p:nvSpPr>
        <p:spPr>
          <a:xfrm>
            <a:off x="9756648"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1-element005-card-label"/>
          <p:cNvSpPr txBox="1"/>
          <p:nvPr/>
        </p:nvSpPr>
        <p:spPr>
          <a:xfrm>
            <a:off x="9912096"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3</a:t>
            </a:r>
          </a:p>
        </p:txBody>
      </p:sp>
      <p:sp>
        <p:nvSpPr>
          <p:cNvPr id="21" name="slide001-element005-card-value"/>
          <p:cNvSpPr txBox="1"/>
          <p:nvPr/>
        </p:nvSpPr>
        <p:spPr>
          <a:xfrm>
            <a:off x="9912096"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Premier League</a:t>
            </a:r>
          </a:p>
        </p:txBody>
      </p:sp>
      <p:sp>
        <p:nvSpPr>
          <p:cNvPr id="22" name="slide001-element005-card-detail"/>
          <p:cNvSpPr txBox="1"/>
          <p:nvPr/>
        </p:nvSpPr>
        <p:spPr>
          <a:xfrm>
            <a:off x="9912096"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Panagiotis Housos</a:t>
            </a:r>
          </a:p>
        </p:txBody>
      </p:sp>
      <p:cxnSp>
        <p:nvCxnSpPr>
          <p:cNvPr id="23" name="slide00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0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ML_Sports_Betting_Project_Proposal.pdf | Full paths in notes</a:t>
            </a:r>
          </a:p>
        </p:txBody>
      </p:sp>
      <p:sp>
        <p:nvSpPr>
          <p:cNvPr id="25" name="slide00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NBA AND PREMIER LEAGUE</a:t>
            </a:r>
          </a:p>
        </p:txBody>
      </p:sp>
      <p:sp>
        <p:nvSpPr>
          <p:cNvPr id="3" name="slide00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Common methodology: from past games to bets</a:t>
            </a:r>
          </a:p>
        </p:txBody>
      </p:sp>
      <p:sp>
        <p:nvSpPr>
          <p:cNvPr id="4" name="slide00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proposal compares calibration-based and accuracy-based model selection. Implementation differs where the sports require it.</a:t>
            </a:r>
          </a:p>
        </p:txBody>
      </p:sp>
      <p:sp>
        <p:nvSpPr>
          <p:cNvPr id="5" name="slide002-element000-rect"/>
          <p:cNvSpPr/>
          <p:nvPr/>
        </p:nvSpPr>
        <p:spPr>
          <a:xfrm>
            <a:off x="594360"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2-element001-text"/>
          <p:cNvSpPr txBox="1"/>
          <p:nvPr/>
        </p:nvSpPr>
        <p:spPr>
          <a:xfrm>
            <a:off x="758952"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1  Earlier games</a:t>
            </a:r>
          </a:p>
        </p:txBody>
      </p:sp>
      <p:sp>
        <p:nvSpPr>
          <p:cNvPr id="7" name="slide002-element002-text"/>
          <p:cNvSpPr txBox="1"/>
          <p:nvPr/>
        </p:nvSpPr>
        <p:spPr>
          <a:xfrm>
            <a:off x="758952"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Earlier team stats</a:t>
            </a:r>
          </a:p>
          <a:p>
            <a:pPr algn="l">
              <a:lnSpc>
                <a:spcPct val="100000"/>
              </a:lnSpc>
              <a:spcBef>
                <a:spcPts val="0"/>
              </a:spcBef>
              <a:spcAft>
                <a:spcPts val="0"/>
              </a:spcAft>
            </a:pPr>
            <a:r>
              <a:rPr sz="1900" b="0">
                <a:solidFill>
                  <a:srgbClr val="11243A"/>
                </a:solidFill>
                <a:latin typeface="Arial"/>
              </a:rPr>
              <a:t>Prior-season strength</a:t>
            </a:r>
          </a:p>
          <a:p>
            <a:pPr algn="l">
              <a:lnSpc>
                <a:spcPct val="100000"/>
              </a:lnSpc>
              <a:spcBef>
                <a:spcPts val="0"/>
              </a:spcBef>
              <a:spcAft>
                <a:spcPts val="0"/>
              </a:spcAft>
            </a:pPr>
            <a:r>
              <a:rPr sz="1900" b="0">
                <a:solidFill>
                  <a:srgbClr val="11243A"/>
                </a:solidFill>
                <a:latin typeface="Arial"/>
              </a:rPr>
              <a:t>Player/xG extensions</a:t>
            </a:r>
          </a:p>
        </p:txBody>
      </p:sp>
      <p:sp>
        <p:nvSpPr>
          <p:cNvPr id="8" name="slide002-element003-rect"/>
          <p:cNvSpPr/>
          <p:nvPr/>
        </p:nvSpPr>
        <p:spPr>
          <a:xfrm>
            <a:off x="4050791"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2-element004-text"/>
          <p:cNvSpPr txBox="1"/>
          <p:nvPr/>
        </p:nvSpPr>
        <p:spPr>
          <a:xfrm>
            <a:off x="4215383"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2  Probabilities</a:t>
            </a:r>
          </a:p>
        </p:txBody>
      </p:sp>
      <p:sp>
        <p:nvSpPr>
          <p:cNvPr id="10" name="slide002-element005-text"/>
          <p:cNvSpPr txBox="1"/>
          <p:nvPr/>
        </p:nvSpPr>
        <p:spPr>
          <a:xfrm>
            <a:off x="4215383"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NBA: home / away</a:t>
            </a:r>
          </a:p>
          <a:p>
            <a:pPr algn="l">
              <a:lnSpc>
                <a:spcPct val="100000"/>
              </a:lnSpc>
              <a:spcBef>
                <a:spcPts val="0"/>
              </a:spcBef>
              <a:spcAft>
                <a:spcPts val="0"/>
              </a:spcAft>
            </a:pPr>
            <a:r>
              <a:rPr sz="1900" b="0">
                <a:solidFill>
                  <a:srgbClr val="11243A"/>
                </a:solidFill>
                <a:latin typeface="Arial"/>
              </a:rPr>
              <a:t>EPL: home / draw / away</a:t>
            </a:r>
          </a:p>
          <a:p>
            <a:pPr algn="l">
              <a:lnSpc>
                <a:spcPct val="100000"/>
              </a:lnSpc>
              <a:spcBef>
                <a:spcPts val="0"/>
              </a:spcBef>
              <a:spcAft>
                <a:spcPts val="0"/>
              </a:spcAft>
            </a:pPr>
            <a:r>
              <a:rPr sz="1900" b="0">
                <a:solidFill>
                  <a:srgbClr val="11243A"/>
                </a:solidFill>
                <a:latin typeface="Arial"/>
              </a:rPr>
              <a:t>Exclude target inputs</a:t>
            </a:r>
          </a:p>
        </p:txBody>
      </p:sp>
      <p:sp>
        <p:nvSpPr>
          <p:cNvPr id="11" name="slide002-element006-rect"/>
          <p:cNvSpPr/>
          <p:nvPr/>
        </p:nvSpPr>
        <p:spPr>
          <a:xfrm>
            <a:off x="7507223"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2-element007-text"/>
          <p:cNvSpPr txBox="1"/>
          <p:nvPr/>
        </p:nvSpPr>
        <p:spPr>
          <a:xfrm>
            <a:off x="7671815"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3  Model selection</a:t>
            </a:r>
          </a:p>
        </p:txBody>
      </p:sp>
      <p:sp>
        <p:nvSpPr>
          <p:cNvPr id="13" name="slide002-element008-text"/>
          <p:cNvSpPr txBox="1"/>
          <p:nvPr/>
        </p:nvSpPr>
        <p:spPr>
          <a:xfrm>
            <a:off x="7671815"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Accuracy branch</a:t>
            </a:r>
          </a:p>
          <a:p>
            <a:pPr algn="l">
              <a:lnSpc>
                <a:spcPct val="100000"/>
              </a:lnSpc>
              <a:spcBef>
                <a:spcPts val="0"/>
              </a:spcBef>
              <a:spcAft>
                <a:spcPts val="0"/>
              </a:spcAft>
            </a:pPr>
            <a:r>
              <a:rPr sz="1900" b="0">
                <a:solidFill>
                  <a:srgbClr val="11243A"/>
                </a:solidFill>
                <a:latin typeface="Arial"/>
              </a:rPr>
              <a:t>Calibration-error branch</a:t>
            </a:r>
          </a:p>
          <a:p>
            <a:pPr algn="l">
              <a:lnSpc>
                <a:spcPct val="100000"/>
              </a:lnSpc>
              <a:spcBef>
                <a:spcPts val="0"/>
              </a:spcBef>
              <a:spcAft>
                <a:spcPts val="0"/>
              </a:spcAft>
            </a:pPr>
            <a:r>
              <a:rPr sz="1900" b="0">
                <a:solidFill>
                  <a:srgbClr val="11243A"/>
                </a:solidFill>
                <a:latin typeface="Arial"/>
              </a:rPr>
              <a:t>Later-season evaluation</a:t>
            </a:r>
          </a:p>
        </p:txBody>
      </p:sp>
      <p:sp>
        <p:nvSpPr>
          <p:cNvPr id="14" name="slide002-element009-rect"/>
          <p:cNvSpPr/>
          <p:nvPr/>
        </p:nvSpPr>
        <p:spPr>
          <a:xfrm>
            <a:off x="10963656" y="1965960"/>
            <a:ext cx="3154680" cy="29718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2-element010-text"/>
          <p:cNvSpPr txBox="1"/>
          <p:nvPr/>
        </p:nvSpPr>
        <p:spPr>
          <a:xfrm>
            <a:off x="11128248" y="2267712"/>
            <a:ext cx="2816352" cy="429768"/>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4  Betting rule</a:t>
            </a:r>
          </a:p>
        </p:txBody>
      </p:sp>
      <p:sp>
        <p:nvSpPr>
          <p:cNvPr id="16" name="slide002-element011-text"/>
          <p:cNvSpPr txBox="1"/>
          <p:nvPr/>
        </p:nvSpPr>
        <p:spPr>
          <a:xfrm>
            <a:off x="11128248" y="2999232"/>
            <a:ext cx="2816352" cy="157276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Compare probabilities</a:t>
            </a:r>
          </a:p>
          <a:p>
            <a:pPr algn="l">
              <a:lnSpc>
                <a:spcPct val="100000"/>
              </a:lnSpc>
              <a:spcBef>
                <a:spcPts val="0"/>
              </a:spcBef>
              <a:spcAft>
                <a:spcPts val="0"/>
              </a:spcAft>
            </a:pPr>
            <a:r>
              <a:rPr sz="1900" b="0">
                <a:solidFill>
                  <a:srgbClr val="11243A"/>
                </a:solidFill>
                <a:latin typeface="Arial"/>
              </a:rPr>
              <a:t>with archived odds</a:t>
            </a:r>
          </a:p>
          <a:p>
            <a:pPr algn="l">
              <a:lnSpc>
                <a:spcPct val="100000"/>
              </a:lnSpc>
              <a:spcBef>
                <a:spcPts val="0"/>
              </a:spcBef>
              <a:spcAft>
                <a:spcPts val="0"/>
              </a:spcAft>
            </a:pPr>
            <a:r>
              <a:rPr sz="1900" b="0">
                <a:solidFill>
                  <a:srgbClr val="11243A"/>
                </a:solidFill>
                <a:latin typeface="Arial"/>
              </a:rPr>
              <a:t>Apply explicit stake rules</a:t>
            </a:r>
          </a:p>
        </p:txBody>
      </p:sp>
      <p:sp>
        <p:nvSpPr>
          <p:cNvPr id="17" name="slide002-element012-text"/>
          <p:cNvSpPr txBox="1"/>
          <p:nvPr/>
        </p:nvSpPr>
        <p:spPr>
          <a:xfrm>
            <a:off x="594360" y="5486400"/>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2400" b="1">
                <a:solidFill>
                  <a:srgbClr val="0D897D"/>
                </a:solidFill>
                <a:latin typeface="Arial"/>
              </a:rPr>
              <a:t>Estimated return per unit staked = model probability × decimal odds − 1</a:t>
            </a:r>
          </a:p>
        </p:txBody>
      </p:sp>
      <p:sp>
        <p:nvSpPr>
          <p:cNvPr id="18" name="slide002-element013-text"/>
          <p:cNvSpPr txBox="1"/>
          <p:nvPr/>
        </p:nvSpPr>
        <p:spPr>
          <a:xfrm>
            <a:off x="594360" y="6428232"/>
            <a:ext cx="13350240" cy="8229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We test whether better probability estimates improve betting outcomes.</a:t>
            </a:r>
          </a:p>
          <a:p>
            <a:pPr algn="l">
              <a:lnSpc>
                <a:spcPct val="100000"/>
              </a:lnSpc>
              <a:spcBef>
                <a:spcPts val="0"/>
              </a:spcBef>
              <a:spcAft>
                <a:spcPts val="0"/>
              </a:spcAft>
            </a:pPr>
            <a:r>
              <a:rPr sz="2100" b="0">
                <a:solidFill>
                  <a:srgbClr val="11243A"/>
                </a:solidFill>
                <a:latin typeface="Arial"/>
              </a:rPr>
              <a:t>A higher classification accuracy or smaller calibration error does not guarantee a profitable price.</a:t>
            </a:r>
          </a:p>
        </p:txBody>
      </p:sp>
      <p:cxnSp>
        <p:nvCxnSpPr>
          <p:cNvPr id="19" name="slide00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0" name="slide00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METHODOLOGY.md; ML_Sports_Betting_Project_Proposal.pdf | Full paths in notes</a:t>
            </a:r>
          </a:p>
        </p:txBody>
      </p:sp>
      <p:sp>
        <p:nvSpPr>
          <p:cNvPr id="21" name="slide00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NBA AND PREMIER LEAGUE</a:t>
            </a:r>
          </a:p>
        </p:txBody>
      </p:sp>
      <p:sp>
        <p:nvSpPr>
          <p:cNvPr id="3" name="slide00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Common metrics; explicit league differences</a:t>
            </a:r>
          </a:p>
        </p:txBody>
      </p:sp>
      <p:sp>
        <p:nvSpPr>
          <p:cNvPr id="4" name="slide00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Compare outcomes within each league. Keep the financial denominators and funding conventions separate.</a:t>
            </a:r>
          </a:p>
        </p:txBody>
      </p:sp>
      <p:sp>
        <p:nvSpPr>
          <p:cNvPr id="5" name="slide003-element000-table-r00-c00-cell"/>
          <p:cNvSpPr/>
          <p:nvPr/>
        </p:nvSpPr>
        <p:spPr>
          <a:xfrm>
            <a:off x="594360" y="1883664"/>
            <a:ext cx="2951134"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3-element000-table-r00-c00-text"/>
          <p:cNvSpPr txBox="1"/>
          <p:nvPr/>
        </p:nvSpPr>
        <p:spPr>
          <a:xfrm>
            <a:off x="685800" y="195681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Setting</a:t>
            </a:r>
          </a:p>
        </p:txBody>
      </p:sp>
      <p:sp>
        <p:nvSpPr>
          <p:cNvPr id="7" name="slide003-element000-table-r00-c01-cell"/>
          <p:cNvSpPr/>
          <p:nvPr/>
        </p:nvSpPr>
        <p:spPr>
          <a:xfrm>
            <a:off x="3545494" y="1883664"/>
            <a:ext cx="5231556"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3-element000-table-r00-c01-text"/>
          <p:cNvSpPr txBox="1"/>
          <p:nvPr/>
        </p:nvSpPr>
        <p:spPr>
          <a:xfrm>
            <a:off x="3636934" y="19568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NBA implementation</a:t>
            </a:r>
          </a:p>
        </p:txBody>
      </p:sp>
      <p:sp>
        <p:nvSpPr>
          <p:cNvPr id="9" name="slide003-element000-table-r00-c02-cell"/>
          <p:cNvSpPr/>
          <p:nvPr/>
        </p:nvSpPr>
        <p:spPr>
          <a:xfrm>
            <a:off x="8777051" y="1883664"/>
            <a:ext cx="5231556" cy="67056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3-element000-table-r00-c02-text"/>
          <p:cNvSpPr txBox="1"/>
          <p:nvPr/>
        </p:nvSpPr>
        <p:spPr>
          <a:xfrm>
            <a:off x="8868491" y="19568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Premier League implementation</a:t>
            </a:r>
          </a:p>
        </p:txBody>
      </p:sp>
      <p:sp>
        <p:nvSpPr>
          <p:cNvPr id="11" name="slide003-element000-table-r01-c00-cell"/>
          <p:cNvSpPr/>
          <p:nvPr/>
        </p:nvSpPr>
        <p:spPr>
          <a:xfrm>
            <a:off x="594360" y="255422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3-element000-table-r01-c00-text"/>
          <p:cNvSpPr txBox="1"/>
          <p:nvPr/>
        </p:nvSpPr>
        <p:spPr>
          <a:xfrm>
            <a:off x="685800" y="262737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Outcome space</a:t>
            </a:r>
          </a:p>
        </p:txBody>
      </p:sp>
      <p:sp>
        <p:nvSpPr>
          <p:cNvPr id="13" name="slide003-element000-table-r01-c01-cell"/>
          <p:cNvSpPr/>
          <p:nvPr/>
        </p:nvSpPr>
        <p:spPr>
          <a:xfrm>
            <a:off x="3545494" y="255422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3-element000-table-r01-c01-text"/>
          <p:cNvSpPr txBox="1"/>
          <p:nvPr/>
        </p:nvSpPr>
        <p:spPr>
          <a:xfrm>
            <a:off x="3636934" y="262737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Home / away</a:t>
            </a:r>
          </a:p>
        </p:txBody>
      </p:sp>
      <p:sp>
        <p:nvSpPr>
          <p:cNvPr id="15" name="slide003-element000-table-r01-c02-cell"/>
          <p:cNvSpPr/>
          <p:nvPr/>
        </p:nvSpPr>
        <p:spPr>
          <a:xfrm>
            <a:off x="8777051" y="255422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3-element000-table-r01-c02-text"/>
          <p:cNvSpPr txBox="1"/>
          <p:nvPr/>
        </p:nvSpPr>
        <p:spPr>
          <a:xfrm>
            <a:off x="8868491" y="262737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Home / draw / away</a:t>
            </a:r>
          </a:p>
        </p:txBody>
      </p:sp>
      <p:sp>
        <p:nvSpPr>
          <p:cNvPr id="17" name="slide003-element000-table-r02-c00-cell"/>
          <p:cNvSpPr/>
          <p:nvPr/>
        </p:nvSpPr>
        <p:spPr>
          <a:xfrm>
            <a:off x="594360" y="3224784"/>
            <a:ext cx="2951134"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3-element000-table-r02-c00-text"/>
          <p:cNvSpPr txBox="1"/>
          <p:nvPr/>
        </p:nvSpPr>
        <p:spPr>
          <a:xfrm>
            <a:off x="685800" y="329793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criterion</a:t>
            </a:r>
          </a:p>
        </p:txBody>
      </p:sp>
      <p:sp>
        <p:nvSpPr>
          <p:cNvPr id="19" name="slide003-element000-table-r02-c01-cell"/>
          <p:cNvSpPr/>
          <p:nvPr/>
        </p:nvSpPr>
        <p:spPr>
          <a:xfrm>
            <a:off x="3545494" y="322478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3-element000-table-r02-c01-text"/>
          <p:cNvSpPr txBox="1"/>
          <p:nvPr/>
        </p:nvSpPr>
        <p:spPr>
          <a:xfrm>
            <a:off x="3636934" y="329793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20 bins; score set to 1 if fewer than 16 bins are occupied</a:t>
            </a:r>
          </a:p>
        </p:txBody>
      </p:sp>
      <p:sp>
        <p:nvSpPr>
          <p:cNvPr id="21" name="slide003-element000-table-r02-c02-cell"/>
          <p:cNvSpPr/>
          <p:nvPr/>
        </p:nvSpPr>
        <p:spPr>
          <a:xfrm>
            <a:off x="8777051" y="322478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3-element000-table-r02-c02-text"/>
          <p:cNvSpPr txBox="1"/>
          <p:nvPr/>
        </p:nvSpPr>
        <p:spPr>
          <a:xfrm>
            <a:off x="8868491" y="329793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Mean classwise ECE over 3 classes; 10 bins; no occupancy penalty</a:t>
            </a:r>
          </a:p>
        </p:txBody>
      </p:sp>
      <p:sp>
        <p:nvSpPr>
          <p:cNvPr id="23" name="slide003-element000-table-r03-c00-cell"/>
          <p:cNvSpPr/>
          <p:nvPr/>
        </p:nvSpPr>
        <p:spPr>
          <a:xfrm>
            <a:off x="594360" y="389534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3-element000-table-r03-c00-text"/>
          <p:cNvSpPr txBox="1"/>
          <p:nvPr/>
        </p:nvSpPr>
        <p:spPr>
          <a:xfrm>
            <a:off x="685800" y="396849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Post-fit calibration</a:t>
            </a:r>
          </a:p>
        </p:txBody>
      </p:sp>
      <p:sp>
        <p:nvSpPr>
          <p:cNvPr id="25" name="slide003-element000-table-r03-c01-cell"/>
          <p:cNvSpPr/>
          <p:nvPr/>
        </p:nvSpPr>
        <p:spPr>
          <a:xfrm>
            <a:off x="3545494" y="389534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3-element000-table-r03-c01-text"/>
          <p:cNvSpPr txBox="1"/>
          <p:nvPr/>
        </p:nvSpPr>
        <p:spPr>
          <a:xfrm>
            <a:off x="3636934" y="396849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No separate held-out temperature fit</a:t>
            </a:r>
          </a:p>
        </p:txBody>
      </p:sp>
      <p:sp>
        <p:nvSpPr>
          <p:cNvPr id="27" name="slide003-element000-table-r03-c02-cell"/>
          <p:cNvSpPr/>
          <p:nvPr/>
        </p:nvSpPr>
        <p:spPr>
          <a:xfrm>
            <a:off x="8777051" y="389534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3-element000-table-r03-c02-text"/>
          <p:cNvSpPr txBox="1"/>
          <p:nvPr/>
        </p:nvSpPr>
        <p:spPr>
          <a:xfrm>
            <a:off x="8868491" y="396849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Both initial branches receive held-out temperature scaling</a:t>
            </a:r>
          </a:p>
        </p:txBody>
      </p:sp>
      <p:sp>
        <p:nvSpPr>
          <p:cNvPr id="29" name="slide003-element000-table-r04-c00-cell"/>
          <p:cNvSpPr/>
          <p:nvPr/>
        </p:nvSpPr>
        <p:spPr>
          <a:xfrm>
            <a:off x="594360" y="4565904"/>
            <a:ext cx="2951134"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3-element000-table-r04-c00-text"/>
          <p:cNvSpPr txBox="1"/>
          <p:nvPr/>
        </p:nvSpPr>
        <p:spPr>
          <a:xfrm>
            <a:off x="685800" y="463905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Stake and starting cash</a:t>
            </a:r>
          </a:p>
        </p:txBody>
      </p:sp>
      <p:sp>
        <p:nvSpPr>
          <p:cNvPr id="31" name="slide003-element000-table-r04-c01-cell"/>
          <p:cNvSpPr/>
          <p:nvPr/>
        </p:nvSpPr>
        <p:spPr>
          <a:xfrm>
            <a:off x="3545494" y="456590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3-element000-table-r04-c01-text"/>
          <p:cNvSpPr txBox="1"/>
          <p:nvPr/>
        </p:nvSpPr>
        <p:spPr>
          <a:xfrm>
            <a:off x="3636934" y="463905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 or 1/8 Kelly; start 10,000</a:t>
            </a:r>
          </a:p>
        </p:txBody>
      </p:sp>
      <p:sp>
        <p:nvSpPr>
          <p:cNvPr id="33" name="slide003-element000-table-r04-c02-cell"/>
          <p:cNvSpPr/>
          <p:nvPr/>
        </p:nvSpPr>
        <p:spPr>
          <a:xfrm>
            <a:off x="8777051" y="4565904"/>
            <a:ext cx="5231556" cy="67056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3-element000-table-r04-c02-text"/>
          <p:cNvSpPr txBox="1"/>
          <p:nvPr/>
        </p:nvSpPr>
        <p:spPr>
          <a:xfrm>
            <a:off x="8868491" y="463905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 fixed or capped Kelly;</a:t>
            </a:r>
          </a:p>
          <a:p>
            <a:pPr algn="l">
              <a:lnSpc>
                <a:spcPct val="100000"/>
              </a:lnSpc>
              <a:spcBef>
                <a:spcPts val="0"/>
              </a:spcBef>
              <a:spcAft>
                <a:spcPts val="0"/>
              </a:spcAft>
            </a:pPr>
            <a:r>
              <a:rPr sz="1700" b="0">
                <a:solidFill>
                  <a:srgbClr val="11243A"/>
                </a:solidFill>
                <a:latin typeface="Arial"/>
              </a:rPr>
              <a:t>start 100,000 in expanded accounts</a:t>
            </a:r>
          </a:p>
        </p:txBody>
      </p:sp>
      <p:sp>
        <p:nvSpPr>
          <p:cNvPr id="35" name="slide003-element000-table-r05-c00-cell"/>
          <p:cNvSpPr/>
          <p:nvPr/>
        </p:nvSpPr>
        <p:spPr>
          <a:xfrm>
            <a:off x="594360" y="5236464"/>
            <a:ext cx="2951134"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3-element000-table-r05-c00-text"/>
          <p:cNvSpPr txBox="1"/>
          <p:nvPr/>
        </p:nvSpPr>
        <p:spPr>
          <a:xfrm>
            <a:off x="685800" y="5309616"/>
            <a:ext cx="2768254"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Funding</a:t>
            </a:r>
          </a:p>
        </p:txBody>
      </p:sp>
      <p:sp>
        <p:nvSpPr>
          <p:cNvPr id="37" name="slide003-element000-table-r05-c01-cell"/>
          <p:cNvSpPr/>
          <p:nvPr/>
        </p:nvSpPr>
        <p:spPr>
          <a:xfrm>
            <a:off x="3545494" y="523646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3-element000-table-r05-c01-text"/>
          <p:cNvSpPr txBox="1"/>
          <p:nvPr/>
        </p:nvSpPr>
        <p:spPr>
          <a:xfrm>
            <a:off x="3636934" y="53096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Game-by-game settlement</a:t>
            </a:r>
          </a:p>
        </p:txBody>
      </p:sp>
      <p:sp>
        <p:nvSpPr>
          <p:cNvPr id="39" name="slide003-element000-table-r05-c02-cell"/>
          <p:cNvSpPr/>
          <p:nvPr/>
        </p:nvSpPr>
        <p:spPr>
          <a:xfrm>
            <a:off x="8777051" y="5236464"/>
            <a:ext cx="5231556" cy="67056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3-element000-table-r05-c02-text"/>
          <p:cNvSpPr txBox="1"/>
          <p:nvPr/>
        </p:nvSpPr>
        <p:spPr>
          <a:xfrm>
            <a:off x="8868491" y="5309616"/>
            <a:ext cx="5048676" cy="524256"/>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Joint date-start cash allocation before settlement</a:t>
            </a:r>
          </a:p>
        </p:txBody>
      </p:sp>
      <p:sp>
        <p:nvSpPr>
          <p:cNvPr id="41" name="slide003-element001-text"/>
          <p:cNvSpPr txBox="1"/>
          <p:nvPr/>
        </p:nvSpPr>
        <p:spPr>
          <a:xfrm>
            <a:off x="594360" y="6245352"/>
            <a:ext cx="13350240" cy="438912"/>
          </a:xfrm>
          <a:prstGeom prst="rect">
            <a:avLst/>
          </a:prstGeom>
          <a:noFill/>
        </p:spPr>
        <p:txBody>
          <a:bodyPr wrap="square" lIns="0" rIns="0" tIns="0" bIns="0" anchor="t">
            <a:noAutofit/>
          </a:bodyPr>
          <a:lstStyle/>
          <a:p>
            <a:pPr algn="l">
              <a:lnSpc>
                <a:spcPct val="100000"/>
              </a:lnSpc>
              <a:spcBef>
                <a:spcPts val="0"/>
              </a:spcBef>
              <a:spcAft>
                <a:spcPts val="0"/>
              </a:spcAft>
            </a:pPr>
            <a:r>
              <a:rPr sz="2200" b="1">
                <a:solidFill>
                  <a:srgbClr val="0D897D"/>
                </a:solidFill>
                <a:latin typeface="Arial"/>
              </a:rPr>
              <a:t>Capital return = profit / initial cash.     Stake ROI (yield) = profit / total money staked.</a:t>
            </a:r>
          </a:p>
        </p:txBody>
      </p:sp>
      <p:sp>
        <p:nvSpPr>
          <p:cNvPr id="42" name="slide003-element002-text"/>
          <p:cNvSpPr txBox="1"/>
          <p:nvPr/>
        </p:nvSpPr>
        <p:spPr>
          <a:xfrm>
            <a:off x="594360" y="6931152"/>
            <a:ext cx="13350240" cy="475488"/>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The NBA source calls capital return “ROI”. We relabel it here. Forecast accuracy is also different from the hit ratio of selected bets.</a:t>
            </a:r>
          </a:p>
        </p:txBody>
      </p:sp>
      <p:cxnSp>
        <p:nvCxnSpPr>
          <p:cNvPr id="43" name="slide00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4" name="slide00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metrics.py; METHODOLOGY.md | Full paths in notes</a:t>
            </a:r>
          </a:p>
        </p:txBody>
      </p:sp>
      <p:sp>
        <p:nvSpPr>
          <p:cNvPr id="45" name="slide00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data and model selection</a:t>
            </a:r>
          </a:p>
        </p:txBody>
      </p:sp>
      <p:sp>
        <p:nvSpPr>
          <p:cNvPr id="4" name="slide00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Team box-score differences are lagged; each team's first ten appearances are excluded as prediction targets.</a:t>
            </a:r>
          </a:p>
        </p:txBody>
      </p:sp>
      <p:sp>
        <p:nvSpPr>
          <p:cNvPr id="5" name="slide004-element000-card-background"/>
          <p:cNvSpPr/>
          <p:nvPr/>
        </p:nvSpPr>
        <p:spPr>
          <a:xfrm>
            <a:off x="594360"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4-element000-card-accent"/>
          <p:cNvSpPr/>
          <p:nvPr/>
        </p:nvSpPr>
        <p:spPr>
          <a:xfrm>
            <a:off x="594360"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4-element000-card-label"/>
          <p:cNvSpPr txBox="1"/>
          <p:nvPr/>
        </p:nvSpPr>
        <p:spPr>
          <a:xfrm>
            <a:off x="749808"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ELIGIBLE GAME ROWS</a:t>
            </a:r>
          </a:p>
        </p:txBody>
      </p:sp>
      <p:sp>
        <p:nvSpPr>
          <p:cNvPr id="8" name="slide004-element000-card-value"/>
          <p:cNvSpPr txBox="1"/>
          <p:nvPr/>
        </p:nvSpPr>
        <p:spPr>
          <a:xfrm>
            <a:off x="749808"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14,471</a:t>
            </a:r>
          </a:p>
        </p:txBody>
      </p:sp>
      <p:sp>
        <p:nvSpPr>
          <p:cNvPr id="9" name="slide004-element000-card-detail"/>
          <p:cNvSpPr txBox="1"/>
          <p:nvPr/>
        </p:nvSpPr>
        <p:spPr>
          <a:xfrm>
            <a:off x="749808"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Across the supplied historical sample</a:t>
            </a:r>
          </a:p>
        </p:txBody>
      </p:sp>
      <p:sp>
        <p:nvSpPr>
          <p:cNvPr id="10" name="slide004-element001-card-background"/>
          <p:cNvSpPr/>
          <p:nvPr/>
        </p:nvSpPr>
        <p:spPr>
          <a:xfrm>
            <a:off x="5175504"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4-element001-card-accent"/>
          <p:cNvSpPr/>
          <p:nvPr/>
        </p:nvSpPr>
        <p:spPr>
          <a:xfrm>
            <a:off x="5175504"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4-element001-card-label"/>
          <p:cNvSpPr txBox="1"/>
          <p:nvPr/>
        </p:nvSpPr>
        <p:spPr>
          <a:xfrm>
            <a:off x="5330952"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FEATURE SCREENING</a:t>
            </a:r>
          </a:p>
        </p:txBody>
      </p:sp>
      <p:sp>
        <p:nvSpPr>
          <p:cNvPr id="13" name="slide004-element001-card-value"/>
          <p:cNvSpPr txBox="1"/>
          <p:nvPr/>
        </p:nvSpPr>
        <p:spPr>
          <a:xfrm>
            <a:off x="5330952"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26 → 25 → 9</a:t>
            </a:r>
          </a:p>
        </p:txBody>
      </p:sp>
      <p:sp>
        <p:nvSpPr>
          <p:cNvPr id="14" name="slide004-element001-card-detail"/>
          <p:cNvSpPr txBox="1"/>
          <p:nvPr/>
        </p:nvSpPr>
        <p:spPr>
          <a:xfrm>
            <a:off x="5330952"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Candidate → drift-screened → nonredundant</a:t>
            </a:r>
          </a:p>
        </p:txBody>
      </p:sp>
      <p:sp>
        <p:nvSpPr>
          <p:cNvPr id="15" name="slide004-element002-card-background"/>
          <p:cNvSpPr/>
          <p:nvPr/>
        </p:nvSpPr>
        <p:spPr>
          <a:xfrm>
            <a:off x="9756648"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4-element002-card-accent"/>
          <p:cNvSpPr/>
          <p:nvPr/>
        </p:nvSpPr>
        <p:spPr>
          <a:xfrm>
            <a:off x="9756648"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4-element002-card-label"/>
          <p:cNvSpPr txBox="1"/>
          <p:nvPr/>
        </p:nvSpPr>
        <p:spPr>
          <a:xfrm>
            <a:off x="9912096"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BETTING EVALUATION</a:t>
            </a:r>
          </a:p>
        </p:txBody>
      </p:sp>
      <p:sp>
        <p:nvSpPr>
          <p:cNvPr id="18" name="slide004-element002-card-value"/>
          <p:cNvSpPr txBox="1"/>
          <p:nvPr/>
        </p:nvSpPr>
        <p:spPr>
          <a:xfrm>
            <a:off x="9912096"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1,074</a:t>
            </a:r>
          </a:p>
        </p:txBody>
      </p:sp>
      <p:sp>
        <p:nvSpPr>
          <p:cNvPr id="19" name="slide004-element002-card-detail"/>
          <p:cNvSpPr txBox="1"/>
          <p:nvPr/>
        </p:nvSpPr>
        <p:spPr>
          <a:xfrm>
            <a:off x="9912096"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2018/19 games with odds</a:t>
            </a:r>
          </a:p>
        </p:txBody>
      </p:sp>
      <p:sp>
        <p:nvSpPr>
          <p:cNvPr id="20" name="slide004-element003-table-r00-c00-cell"/>
          <p:cNvSpPr/>
          <p:nvPr/>
        </p:nvSpPr>
        <p:spPr>
          <a:xfrm>
            <a:off x="594360" y="3767328"/>
            <a:ext cx="3085277"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4-element003-table-r00-c00-text"/>
          <p:cNvSpPr txBox="1"/>
          <p:nvPr/>
        </p:nvSpPr>
        <p:spPr>
          <a:xfrm>
            <a:off x="685800" y="384048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Selection branch</a:t>
            </a:r>
          </a:p>
        </p:txBody>
      </p:sp>
      <p:sp>
        <p:nvSpPr>
          <p:cNvPr id="22" name="slide004-element003-table-r00-c01-cell"/>
          <p:cNvSpPr/>
          <p:nvPr/>
        </p:nvSpPr>
        <p:spPr>
          <a:xfrm>
            <a:off x="3679637" y="3767328"/>
            <a:ext cx="3353562"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4-element003-table-r00-c01-text"/>
          <p:cNvSpPr txBox="1"/>
          <p:nvPr/>
        </p:nvSpPr>
        <p:spPr>
          <a:xfrm>
            <a:off x="3771077" y="384048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Chosen model</a:t>
            </a:r>
          </a:p>
        </p:txBody>
      </p:sp>
      <p:sp>
        <p:nvSpPr>
          <p:cNvPr id="24" name="slide004-element003-table-r00-c02-cell"/>
          <p:cNvSpPr/>
          <p:nvPr/>
        </p:nvSpPr>
        <p:spPr>
          <a:xfrm>
            <a:off x="7033199" y="3767328"/>
            <a:ext cx="241456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4-element003-table-r00-c02-text"/>
          <p:cNvSpPr txBox="1"/>
          <p:nvPr/>
        </p:nvSpPr>
        <p:spPr>
          <a:xfrm>
            <a:off x="7124639" y="384048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Selected inputs</a:t>
            </a:r>
          </a:p>
        </p:txBody>
      </p:sp>
      <p:sp>
        <p:nvSpPr>
          <p:cNvPr id="26" name="slide004-element003-table-r00-c03-cell"/>
          <p:cNvSpPr/>
          <p:nvPr/>
        </p:nvSpPr>
        <p:spPr>
          <a:xfrm>
            <a:off x="9447763" y="3767328"/>
            <a:ext cx="456084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4-element003-table-r00-c03-text"/>
          <p:cNvSpPr txBox="1"/>
          <p:nvPr/>
        </p:nvSpPr>
        <p:spPr>
          <a:xfrm>
            <a:off x="9539203" y="384048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2017/18 selection criterion</a:t>
            </a:r>
          </a:p>
        </p:txBody>
      </p:sp>
      <p:sp>
        <p:nvSpPr>
          <p:cNvPr id="28" name="slide004-element003-table-r01-c00-cell"/>
          <p:cNvSpPr/>
          <p:nvPr/>
        </p:nvSpPr>
        <p:spPr>
          <a:xfrm>
            <a:off x="594360" y="4407408"/>
            <a:ext cx="3085277"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4-element003-table-r01-c00-text"/>
          <p:cNvSpPr txBox="1"/>
          <p:nvPr/>
        </p:nvSpPr>
        <p:spPr>
          <a:xfrm>
            <a:off x="685800" y="448056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Calibration</a:t>
            </a:r>
          </a:p>
        </p:txBody>
      </p:sp>
      <p:sp>
        <p:nvSpPr>
          <p:cNvPr id="30" name="slide004-element003-table-r01-c01-cell"/>
          <p:cNvSpPr/>
          <p:nvPr/>
        </p:nvSpPr>
        <p:spPr>
          <a:xfrm>
            <a:off x="3679637" y="4407408"/>
            <a:ext cx="3353562"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4-element003-table-r01-c01-text"/>
          <p:cNvSpPr txBox="1"/>
          <p:nvPr/>
        </p:nvSpPr>
        <p:spPr>
          <a:xfrm>
            <a:off x="3771077" y="448056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Logistic regression</a:t>
            </a:r>
          </a:p>
        </p:txBody>
      </p:sp>
      <p:sp>
        <p:nvSpPr>
          <p:cNvPr id="32" name="slide004-element003-table-r01-c02-cell"/>
          <p:cNvSpPr/>
          <p:nvPr/>
        </p:nvSpPr>
        <p:spPr>
          <a:xfrm>
            <a:off x="7033199" y="4407408"/>
            <a:ext cx="241456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4-element003-table-r01-c02-text"/>
          <p:cNvSpPr txBox="1"/>
          <p:nvPr/>
        </p:nvSpPr>
        <p:spPr>
          <a:xfrm>
            <a:off x="7124639" y="448056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a:t>
            </a:r>
          </a:p>
        </p:txBody>
      </p:sp>
      <p:sp>
        <p:nvSpPr>
          <p:cNvPr id="34" name="slide004-element003-table-r01-c03-cell"/>
          <p:cNvSpPr/>
          <p:nvPr/>
        </p:nvSpPr>
        <p:spPr>
          <a:xfrm>
            <a:off x="9447763" y="4407408"/>
            <a:ext cx="456084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4-element003-table-r01-c03-text"/>
          <p:cNvSpPr txBox="1"/>
          <p:nvPr/>
        </p:nvSpPr>
        <p:spPr>
          <a:xfrm>
            <a:off x="9539203" y="448056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Penalised ECE 4.31%</a:t>
            </a:r>
          </a:p>
        </p:txBody>
      </p:sp>
      <p:sp>
        <p:nvSpPr>
          <p:cNvPr id="36" name="slide004-element003-table-r02-c00-cell"/>
          <p:cNvSpPr/>
          <p:nvPr/>
        </p:nvSpPr>
        <p:spPr>
          <a:xfrm>
            <a:off x="594360" y="5047488"/>
            <a:ext cx="3085277"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4-element003-table-r02-c00-text"/>
          <p:cNvSpPr txBox="1"/>
          <p:nvPr/>
        </p:nvSpPr>
        <p:spPr>
          <a:xfrm>
            <a:off x="685800" y="512064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a:t>
            </a:r>
          </a:p>
        </p:txBody>
      </p:sp>
      <p:sp>
        <p:nvSpPr>
          <p:cNvPr id="38" name="slide004-element003-table-r02-c01-cell"/>
          <p:cNvSpPr/>
          <p:nvPr/>
        </p:nvSpPr>
        <p:spPr>
          <a:xfrm>
            <a:off x="3679637" y="5047488"/>
            <a:ext cx="3353562"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4-element003-table-r02-c01-text"/>
          <p:cNvSpPr txBox="1"/>
          <p:nvPr/>
        </p:nvSpPr>
        <p:spPr>
          <a:xfrm>
            <a:off x="3771077" y="512064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SVM</a:t>
            </a:r>
          </a:p>
        </p:txBody>
      </p:sp>
      <p:sp>
        <p:nvSpPr>
          <p:cNvPr id="40" name="slide004-element003-table-r02-c02-cell"/>
          <p:cNvSpPr/>
          <p:nvPr/>
        </p:nvSpPr>
        <p:spPr>
          <a:xfrm>
            <a:off x="7033199" y="5047488"/>
            <a:ext cx="241456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4-element003-table-r02-c02-text"/>
          <p:cNvSpPr txBox="1"/>
          <p:nvPr/>
        </p:nvSpPr>
        <p:spPr>
          <a:xfrm>
            <a:off x="7124639" y="512064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4</a:t>
            </a:r>
          </a:p>
        </p:txBody>
      </p:sp>
      <p:sp>
        <p:nvSpPr>
          <p:cNvPr id="42" name="slide004-element003-table-r02-c03-cell"/>
          <p:cNvSpPr/>
          <p:nvPr/>
        </p:nvSpPr>
        <p:spPr>
          <a:xfrm>
            <a:off x="9447763" y="5047488"/>
            <a:ext cx="456084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4-element003-table-r02-c03-text"/>
          <p:cNvSpPr txBox="1"/>
          <p:nvPr/>
        </p:nvSpPr>
        <p:spPr>
          <a:xfrm>
            <a:off x="9539203" y="512064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 66.33%</a:t>
            </a:r>
          </a:p>
        </p:txBody>
      </p:sp>
      <p:sp>
        <p:nvSpPr>
          <p:cNvPr id="44" name="slide004-element004-text"/>
          <p:cNvSpPr txBox="1"/>
          <p:nvPr/>
        </p:nvSpPr>
        <p:spPr>
          <a:xfrm>
            <a:off x="594360" y="6172200"/>
            <a:ext cx="13350240" cy="86868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536578"/>
                </a:solidFill>
                <a:latin typeface="Arial"/>
              </a:rPr>
              <a:t>Train: 2014/15–2015/16  →  tune: 2016/17  →  family selection: 2017/18  →  bet: 2018/19.</a:t>
            </a:r>
          </a:p>
          <a:p>
            <a:pPr algn="l">
              <a:lnSpc>
                <a:spcPct val="100000"/>
              </a:lnSpc>
              <a:spcBef>
                <a:spcPts val="0"/>
              </a:spcBef>
              <a:spcAft>
                <a:spcPts val="0"/>
              </a:spcAft>
            </a:pPr>
            <a:r>
              <a:rPr sz="1900" b="0">
                <a:solidFill>
                  <a:srgbClr val="536578"/>
                </a:solidFill>
                <a:latin typeface="Arial"/>
              </a:rPr>
              <a:t>The two branches use different selected feature sets; the row scores are not joint metrics of one fitted model.</a:t>
            </a:r>
          </a:p>
        </p:txBody>
      </p:sp>
      <p:cxnSp>
        <p:nvCxnSpPr>
          <p:cNvPr id="45" name="slide00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6" name="slide00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7" name="slide00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saved 2018/19 betting results</a:t>
            </a:r>
          </a:p>
        </p:txBody>
      </p:sp>
      <p:sp>
        <p:nvSpPr>
          <p:cNvPr id="4" name="slide00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Four rules, each starting with 10,000. Fixed 100 stakes equal 1% of initial capital.</a:t>
            </a:r>
          </a:p>
        </p:txBody>
      </p:sp>
      <p:sp>
        <p:nvSpPr>
          <p:cNvPr id="5" name="slide005-element000-table-r00-c00-cell"/>
          <p:cNvSpPr/>
          <p:nvPr/>
        </p:nvSpPr>
        <p:spPr>
          <a:xfrm>
            <a:off x="594360" y="1883664"/>
            <a:ext cx="295113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5-element000-table-r00-c00-text"/>
          <p:cNvSpPr txBox="1"/>
          <p:nvPr/>
        </p:nvSpPr>
        <p:spPr>
          <a:xfrm>
            <a:off x="685800" y="1956816"/>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Branch / model</a:t>
            </a:r>
          </a:p>
        </p:txBody>
      </p:sp>
      <p:sp>
        <p:nvSpPr>
          <p:cNvPr id="7" name="slide005-element000-table-r00-c01-cell"/>
          <p:cNvSpPr/>
          <p:nvPr/>
        </p:nvSpPr>
        <p:spPr>
          <a:xfrm>
            <a:off x="3545494"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5-element000-table-r00-c01-text"/>
          <p:cNvSpPr txBox="1"/>
          <p:nvPr/>
        </p:nvSpPr>
        <p:spPr>
          <a:xfrm>
            <a:off x="3636934"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rule</a:t>
            </a:r>
          </a:p>
        </p:txBody>
      </p:sp>
      <p:sp>
        <p:nvSpPr>
          <p:cNvPr id="9" name="slide005-element000-table-r00-c02-cell"/>
          <p:cNvSpPr/>
          <p:nvPr/>
        </p:nvSpPr>
        <p:spPr>
          <a:xfrm>
            <a:off x="5423489"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5-element000-table-r00-c02-text"/>
          <p:cNvSpPr txBox="1"/>
          <p:nvPr/>
        </p:nvSpPr>
        <p:spPr>
          <a:xfrm>
            <a:off x="5514929"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Final capital</a:t>
            </a:r>
          </a:p>
        </p:txBody>
      </p:sp>
      <p:sp>
        <p:nvSpPr>
          <p:cNvPr id="11" name="slide005-element000-table-r00-c03-cell"/>
          <p:cNvSpPr/>
          <p:nvPr/>
        </p:nvSpPr>
        <p:spPr>
          <a:xfrm>
            <a:off x="7703911" y="1883664"/>
            <a:ext cx="2146279"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5-element000-table-r00-c03-text"/>
          <p:cNvSpPr txBox="1"/>
          <p:nvPr/>
        </p:nvSpPr>
        <p:spPr>
          <a:xfrm>
            <a:off x="7795351" y="1956816"/>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13" name="slide005-element000-table-r00-c04-cell"/>
          <p:cNvSpPr/>
          <p:nvPr/>
        </p:nvSpPr>
        <p:spPr>
          <a:xfrm>
            <a:off x="9850191"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5-element000-table-r00-c04-text"/>
          <p:cNvSpPr txBox="1"/>
          <p:nvPr/>
        </p:nvSpPr>
        <p:spPr>
          <a:xfrm>
            <a:off x="9941631"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Trade frequency</a:t>
            </a:r>
          </a:p>
        </p:txBody>
      </p:sp>
      <p:sp>
        <p:nvSpPr>
          <p:cNvPr id="15" name="slide005-element000-table-r00-c05-cell"/>
          <p:cNvSpPr/>
          <p:nvPr/>
        </p:nvSpPr>
        <p:spPr>
          <a:xfrm>
            <a:off x="12130613"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5-element000-table-r00-c05-text"/>
          <p:cNvSpPr txBox="1"/>
          <p:nvPr/>
        </p:nvSpPr>
        <p:spPr>
          <a:xfrm>
            <a:off x="12222053"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Hit ratio</a:t>
            </a:r>
          </a:p>
        </p:txBody>
      </p:sp>
      <p:sp>
        <p:nvSpPr>
          <p:cNvPr id="17" name="slide005-element000-table-r01-c00-cell"/>
          <p:cNvSpPr/>
          <p:nvPr/>
        </p:nvSpPr>
        <p:spPr>
          <a:xfrm>
            <a:off x="594360" y="2331720"/>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5-element000-table-r01-c00-text"/>
          <p:cNvSpPr txBox="1"/>
          <p:nvPr/>
        </p:nvSpPr>
        <p:spPr>
          <a:xfrm>
            <a:off x="685800" y="2404872"/>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19" name="slide005-element000-table-r01-c01-cell"/>
          <p:cNvSpPr/>
          <p:nvPr/>
        </p:nvSpPr>
        <p:spPr>
          <a:xfrm>
            <a:off x="3545494"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5-element000-table-r01-c01-text"/>
          <p:cNvSpPr txBox="1"/>
          <p:nvPr/>
        </p:nvSpPr>
        <p:spPr>
          <a:xfrm>
            <a:off x="3636934"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21" name="slide005-element000-table-r01-c02-cell"/>
          <p:cNvSpPr/>
          <p:nvPr/>
        </p:nvSpPr>
        <p:spPr>
          <a:xfrm>
            <a:off x="5423489"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5-element000-table-r01-c02-text"/>
          <p:cNvSpPr txBox="1"/>
          <p:nvPr/>
        </p:nvSpPr>
        <p:spPr>
          <a:xfrm>
            <a:off x="5514929"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10,097.74</a:t>
            </a:r>
          </a:p>
        </p:txBody>
      </p:sp>
      <p:sp>
        <p:nvSpPr>
          <p:cNvPr id="23" name="slide005-element000-table-r01-c03-cell"/>
          <p:cNvSpPr/>
          <p:nvPr/>
        </p:nvSpPr>
        <p:spPr>
          <a:xfrm>
            <a:off x="7703911" y="2331720"/>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5-element000-table-r01-c03-text"/>
          <p:cNvSpPr txBox="1"/>
          <p:nvPr/>
        </p:nvSpPr>
        <p:spPr>
          <a:xfrm>
            <a:off x="7795351" y="2404872"/>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0.98%</a:t>
            </a:r>
          </a:p>
        </p:txBody>
      </p:sp>
      <p:sp>
        <p:nvSpPr>
          <p:cNvPr id="25" name="slide005-element000-table-r01-c04-cell"/>
          <p:cNvSpPr/>
          <p:nvPr/>
        </p:nvSpPr>
        <p:spPr>
          <a:xfrm>
            <a:off x="9850191"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5-element000-table-r01-c04-text"/>
          <p:cNvSpPr txBox="1"/>
          <p:nvPr/>
        </p:nvSpPr>
        <p:spPr>
          <a:xfrm>
            <a:off x="9941631"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27" name="slide005-element000-table-r01-c05-cell"/>
          <p:cNvSpPr/>
          <p:nvPr/>
        </p:nvSpPr>
        <p:spPr>
          <a:xfrm>
            <a:off x="12130613"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5-element000-table-r01-c05-text"/>
          <p:cNvSpPr txBox="1"/>
          <p:nvPr/>
        </p:nvSpPr>
        <p:spPr>
          <a:xfrm>
            <a:off x="12222053"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29" name="slide005-element000-table-r02-c00-cell"/>
          <p:cNvSpPr/>
          <p:nvPr/>
        </p:nvSpPr>
        <p:spPr>
          <a:xfrm>
            <a:off x="594360" y="2779776"/>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5-element000-table-r02-c00-text"/>
          <p:cNvSpPr txBox="1"/>
          <p:nvPr/>
        </p:nvSpPr>
        <p:spPr>
          <a:xfrm>
            <a:off x="685800" y="2852928"/>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31" name="slide005-element000-table-r02-c01-cell"/>
          <p:cNvSpPr/>
          <p:nvPr/>
        </p:nvSpPr>
        <p:spPr>
          <a:xfrm>
            <a:off x="3545494"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5-element000-table-r02-c01-text"/>
          <p:cNvSpPr txBox="1"/>
          <p:nvPr/>
        </p:nvSpPr>
        <p:spPr>
          <a:xfrm>
            <a:off x="3636934"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33" name="slide005-element000-table-r02-c02-cell"/>
          <p:cNvSpPr/>
          <p:nvPr/>
        </p:nvSpPr>
        <p:spPr>
          <a:xfrm>
            <a:off x="5423489"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5-element000-table-r02-c02-text"/>
          <p:cNvSpPr txBox="1"/>
          <p:nvPr/>
        </p:nvSpPr>
        <p:spPr>
          <a:xfrm>
            <a:off x="5514929"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6,500.40</a:t>
            </a:r>
          </a:p>
        </p:txBody>
      </p:sp>
      <p:sp>
        <p:nvSpPr>
          <p:cNvPr id="35" name="slide005-element000-table-r02-c03-cell"/>
          <p:cNvSpPr/>
          <p:nvPr/>
        </p:nvSpPr>
        <p:spPr>
          <a:xfrm>
            <a:off x="7703911" y="2779776"/>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5-element000-table-r02-c03-text"/>
          <p:cNvSpPr txBox="1"/>
          <p:nvPr/>
        </p:nvSpPr>
        <p:spPr>
          <a:xfrm>
            <a:off x="7795351" y="2852928"/>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-35.00%</a:t>
            </a:r>
          </a:p>
        </p:txBody>
      </p:sp>
      <p:sp>
        <p:nvSpPr>
          <p:cNvPr id="37" name="slide005-element000-table-r02-c04-cell"/>
          <p:cNvSpPr/>
          <p:nvPr/>
        </p:nvSpPr>
        <p:spPr>
          <a:xfrm>
            <a:off x="9850191"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5-element000-table-r02-c04-text"/>
          <p:cNvSpPr txBox="1"/>
          <p:nvPr/>
        </p:nvSpPr>
        <p:spPr>
          <a:xfrm>
            <a:off x="9941631"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39" name="slide005-element000-table-r02-c05-cell"/>
          <p:cNvSpPr/>
          <p:nvPr/>
        </p:nvSpPr>
        <p:spPr>
          <a:xfrm>
            <a:off x="12130613"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5-element000-table-r02-c05-text"/>
          <p:cNvSpPr txBox="1"/>
          <p:nvPr/>
        </p:nvSpPr>
        <p:spPr>
          <a:xfrm>
            <a:off x="12222053"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41" name="slide005-element000-table-r03-c00-cell"/>
          <p:cNvSpPr/>
          <p:nvPr/>
        </p:nvSpPr>
        <p:spPr>
          <a:xfrm>
            <a:off x="594360" y="3227832"/>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5-element000-table-r03-c00-text"/>
          <p:cNvSpPr txBox="1"/>
          <p:nvPr/>
        </p:nvSpPr>
        <p:spPr>
          <a:xfrm>
            <a:off x="685800" y="3300984"/>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43" name="slide005-element000-table-r03-c01-cell"/>
          <p:cNvSpPr/>
          <p:nvPr/>
        </p:nvSpPr>
        <p:spPr>
          <a:xfrm>
            <a:off x="3545494"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5-element000-table-r03-c01-text"/>
          <p:cNvSpPr txBox="1"/>
          <p:nvPr/>
        </p:nvSpPr>
        <p:spPr>
          <a:xfrm>
            <a:off x="3636934"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45" name="slide005-element000-table-r03-c02-cell"/>
          <p:cNvSpPr/>
          <p:nvPr/>
        </p:nvSpPr>
        <p:spPr>
          <a:xfrm>
            <a:off x="5423489"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5-element000-table-r03-c02-text"/>
          <p:cNvSpPr txBox="1"/>
          <p:nvPr/>
        </p:nvSpPr>
        <p:spPr>
          <a:xfrm>
            <a:off x="5514929"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12,502.98</a:t>
            </a:r>
          </a:p>
        </p:txBody>
      </p:sp>
      <p:sp>
        <p:nvSpPr>
          <p:cNvPr id="47" name="slide005-element000-table-r03-c03-cell"/>
          <p:cNvSpPr/>
          <p:nvPr/>
        </p:nvSpPr>
        <p:spPr>
          <a:xfrm>
            <a:off x="7703911" y="3227832"/>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5-element000-table-r03-c03-text"/>
          <p:cNvSpPr txBox="1"/>
          <p:nvPr/>
        </p:nvSpPr>
        <p:spPr>
          <a:xfrm>
            <a:off x="7795351" y="3300984"/>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25.03%</a:t>
            </a:r>
          </a:p>
        </p:txBody>
      </p:sp>
      <p:sp>
        <p:nvSpPr>
          <p:cNvPr id="49" name="slide005-element000-table-r03-c04-cell"/>
          <p:cNvSpPr/>
          <p:nvPr/>
        </p:nvSpPr>
        <p:spPr>
          <a:xfrm>
            <a:off x="9850191"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5-element000-table-r03-c04-text"/>
          <p:cNvSpPr txBox="1"/>
          <p:nvPr/>
        </p:nvSpPr>
        <p:spPr>
          <a:xfrm>
            <a:off x="9941631"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51" name="slide005-element000-table-r03-c05-cell"/>
          <p:cNvSpPr/>
          <p:nvPr/>
        </p:nvSpPr>
        <p:spPr>
          <a:xfrm>
            <a:off x="12130613"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5-element000-table-r03-c05-text"/>
          <p:cNvSpPr txBox="1"/>
          <p:nvPr/>
        </p:nvSpPr>
        <p:spPr>
          <a:xfrm>
            <a:off x="12222053"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sp>
        <p:nvSpPr>
          <p:cNvPr id="53" name="slide005-element000-table-r04-c00-cell"/>
          <p:cNvSpPr/>
          <p:nvPr/>
        </p:nvSpPr>
        <p:spPr>
          <a:xfrm>
            <a:off x="594360" y="3675888"/>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5-element000-table-r04-c00-text"/>
          <p:cNvSpPr txBox="1"/>
          <p:nvPr/>
        </p:nvSpPr>
        <p:spPr>
          <a:xfrm>
            <a:off x="685800" y="3749040"/>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55" name="slide005-element000-table-r04-c01-cell"/>
          <p:cNvSpPr/>
          <p:nvPr/>
        </p:nvSpPr>
        <p:spPr>
          <a:xfrm>
            <a:off x="3545494"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5-element000-table-r04-c01-text"/>
          <p:cNvSpPr txBox="1"/>
          <p:nvPr/>
        </p:nvSpPr>
        <p:spPr>
          <a:xfrm>
            <a:off x="3636934"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57" name="slide005-element000-table-r04-c02-cell"/>
          <p:cNvSpPr/>
          <p:nvPr/>
        </p:nvSpPr>
        <p:spPr>
          <a:xfrm>
            <a:off x="5423489"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5-element000-table-r04-c02-text"/>
          <p:cNvSpPr txBox="1"/>
          <p:nvPr/>
        </p:nvSpPr>
        <p:spPr>
          <a:xfrm>
            <a:off x="5514929"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4,488.59</a:t>
            </a:r>
          </a:p>
        </p:txBody>
      </p:sp>
      <p:sp>
        <p:nvSpPr>
          <p:cNvPr id="59" name="slide005-element000-table-r04-c03-cell"/>
          <p:cNvSpPr/>
          <p:nvPr/>
        </p:nvSpPr>
        <p:spPr>
          <a:xfrm>
            <a:off x="7703911" y="3675888"/>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5-element000-table-r04-c03-text"/>
          <p:cNvSpPr txBox="1"/>
          <p:nvPr/>
        </p:nvSpPr>
        <p:spPr>
          <a:xfrm>
            <a:off x="7795351" y="3749040"/>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-55.11%</a:t>
            </a:r>
          </a:p>
        </p:txBody>
      </p:sp>
      <p:sp>
        <p:nvSpPr>
          <p:cNvPr id="61" name="slide005-element000-table-r04-c04-cell"/>
          <p:cNvSpPr/>
          <p:nvPr/>
        </p:nvSpPr>
        <p:spPr>
          <a:xfrm>
            <a:off x="9850191"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5-element000-table-r04-c04-text"/>
          <p:cNvSpPr txBox="1"/>
          <p:nvPr/>
        </p:nvSpPr>
        <p:spPr>
          <a:xfrm>
            <a:off x="9941631"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63" name="slide005-element000-table-r04-c05-cell"/>
          <p:cNvSpPr/>
          <p:nvPr/>
        </p:nvSpPr>
        <p:spPr>
          <a:xfrm>
            <a:off x="12130613"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5-element000-table-r04-c05-text"/>
          <p:cNvSpPr txBox="1"/>
          <p:nvPr/>
        </p:nvSpPr>
        <p:spPr>
          <a:xfrm>
            <a:off x="12222053"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pic>
        <p:nvPicPr>
          <p:cNvPr id="65" name="slide005-element001-image-image" descr="nba_core_capital.png"/>
          <p:cNvPicPr>
            <a:picLocks noChangeAspect="1"/>
          </p:cNvPicPr>
          <p:nvPr/>
        </p:nvPicPr>
        <p:blipFill>
          <a:blip r:embed="rId2"/>
          <a:stretch>
            <a:fillRect/>
          </a:stretch>
        </p:blipFill>
        <p:spPr>
          <a:xfrm>
            <a:off x="1540699" y="4407408"/>
            <a:ext cx="5834001" cy="2514600"/>
          </a:xfrm>
          <a:prstGeom prst="rect">
            <a:avLst/>
          </a:prstGeom>
        </p:spPr>
      </p:pic>
      <p:sp>
        <p:nvSpPr>
          <p:cNvPr id="66" name="slide005-element002-text"/>
          <p:cNvSpPr txBox="1"/>
          <p:nvPr/>
        </p:nvSpPr>
        <p:spPr>
          <a:xfrm>
            <a:off x="8641080" y="4480560"/>
            <a:ext cx="5349240" cy="2267712"/>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Home value is checked first.</a:t>
            </a:r>
          </a:p>
          <a:p>
            <a:pPr algn="l">
              <a:lnSpc>
                <a:spcPct val="100000"/>
              </a:lnSpc>
              <a:spcBef>
                <a:spcPts val="0"/>
              </a:spcBef>
              <a:spcAft>
                <a:spcPts val="0"/>
              </a:spcAft>
            </a:pPr>
            <a:r>
              <a:rPr sz="1900" b="0">
                <a:solidFill>
                  <a:srgbClr val="11243A"/>
                </a:solidFill>
                <a:latin typeface="Arial"/>
              </a:rPr>
              <a:t>Otherwise check away value.</a:t>
            </a:r>
          </a:p>
          <a:p>
            <a:pPr algn="l">
              <a:lnSpc>
                <a:spcPct val="100000"/>
              </a:lnSpc>
              <a:spcBef>
                <a:spcPts val="0"/>
              </a:spcBef>
              <a:spcAft>
                <a:spcPts val="0"/>
              </a:spcAft>
            </a:pPr>
            <a:r>
              <a:rPr sz="1900" b="0">
                <a:solidFill>
                  <a:srgbClr val="11243A"/>
                </a:solidFill>
                <a:latin typeface="Arial"/>
              </a:rPr>
              <a:t>Kelly uses 1/8 of full Kelly,</a:t>
            </a:r>
          </a:p>
          <a:p>
            <a:pPr algn="l">
              <a:lnSpc>
                <a:spcPct val="100000"/>
              </a:lnSpc>
              <a:spcBef>
                <a:spcPts val="0"/>
              </a:spcBef>
              <a:spcAft>
                <a:spcPts val="0"/>
              </a:spcAft>
            </a:pPr>
            <a:r>
              <a:rPr sz="1900" b="0">
                <a:solidFill>
                  <a:srgbClr val="11243A"/>
                </a:solidFill>
                <a:latin typeface="Arial"/>
              </a:rPr>
              <a:t>limited to available cash.</a:t>
            </a:r>
          </a:p>
          <a:p>
            <a:pPr algn="l">
              <a:lnSpc>
                <a:spcPct val="100000"/>
              </a:lnSpc>
              <a:spcBef>
                <a:spcPts val="0"/>
              </a:spcBef>
              <a:spcAft>
                <a:spcPts val="0"/>
              </a:spcAft>
            </a:pPr>
            <a:r>
              <a:rPr sz="1900" b="0">
                <a:solidFill>
                  <a:srgbClr val="11243A"/>
                </a:solidFill>
                <a:latin typeface="Arial"/>
              </a:rPr>
              <a:t>Both saved Kelly outcomes lose.</a:t>
            </a:r>
          </a:p>
        </p:txBody>
      </p:sp>
      <p:sp>
        <p:nvSpPr>
          <p:cNvPr id="67" name="slide005-element003-text"/>
          <p:cNvSpPr txBox="1"/>
          <p:nvPr/>
        </p:nvSpPr>
        <p:spPr>
          <a:xfrm>
            <a:off x="594360" y="7150608"/>
            <a:ext cx="13350240" cy="310896"/>
          </a:xfrm>
          <a:prstGeom prst="rect">
            <a:avLst/>
          </a:prstGeom>
          <a:noFill/>
        </p:spPr>
        <p:txBody>
          <a:bodyPr wrap="square" lIns="0" rIns="0" tIns="0" bIns="0" anchor="t">
            <a:noAutofit/>
          </a:bodyPr>
          <a:lstStyle/>
          <a:p>
            <a:pPr algn="l">
              <a:lnSpc>
                <a:spcPct val="100000"/>
              </a:lnSpc>
              <a:spcBef>
                <a:spcPts val="0"/>
              </a:spcBef>
              <a:spcAft>
                <a:spcPts val="0"/>
              </a:spcAft>
            </a:pPr>
            <a:r>
              <a:rPr sz="1400" b="0">
                <a:solidFill>
                  <a:srgbClr val="B44949"/>
                </a:solidFill>
                <a:latin typeface="Arial"/>
              </a:rPr>
              <a:t>Saved notebook results: LR reproduced to cents. SVM replay did not match; its saved results are reported, not independently verified.</a:t>
            </a:r>
          </a:p>
        </p:txBody>
      </p:sp>
      <p:cxnSp>
        <p:nvCxnSpPr>
          <p:cNvPr id="68" name="slide00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69" name="slide00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70" name="slide00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nine-season annual robustness</a:t>
            </a:r>
          </a:p>
        </p:txBody>
      </p:sp>
      <p:sp>
        <p:nvSpPr>
          <p:cNvPr id="4" name="slide00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Each season starts a fresh 10,000 account with fixed 100 requests. Annual paths are not one funded continuous portfolio.</a:t>
            </a:r>
          </a:p>
        </p:txBody>
      </p:sp>
      <p:sp>
        <p:nvSpPr>
          <p:cNvPr id="5" name="slide006-element000-card-background"/>
          <p:cNvSpPr/>
          <p:nvPr/>
        </p:nvSpPr>
        <p:spPr>
          <a:xfrm>
            <a:off x="594360"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6-element000-card-accent"/>
          <p:cNvSpPr/>
          <p:nvPr/>
        </p:nvSpPr>
        <p:spPr>
          <a:xfrm>
            <a:off x="594360"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6-element000-card-label"/>
          <p:cNvSpPr txBox="1"/>
          <p:nvPr/>
        </p:nvSpPr>
        <p:spPr>
          <a:xfrm>
            <a:off x="749808"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CALIBRATION-BRANCH MEAN</a:t>
            </a:r>
          </a:p>
        </p:txBody>
      </p:sp>
      <p:sp>
        <p:nvSpPr>
          <p:cNvPr id="8" name="slide006-element000-card-value"/>
          <p:cNvSpPr txBox="1"/>
          <p:nvPr/>
        </p:nvSpPr>
        <p:spPr>
          <a:xfrm>
            <a:off x="749808"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-17.34%</a:t>
            </a:r>
          </a:p>
        </p:txBody>
      </p:sp>
      <p:sp>
        <p:nvSpPr>
          <p:cNvPr id="9" name="slide006-element000-card-detail"/>
          <p:cNvSpPr txBox="1"/>
          <p:nvPr/>
        </p:nvSpPr>
        <p:spPr>
          <a:xfrm>
            <a:off x="749808"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0" name="slide006-element001-card-background"/>
          <p:cNvSpPr/>
          <p:nvPr/>
        </p:nvSpPr>
        <p:spPr>
          <a:xfrm>
            <a:off x="5175504"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6-element001-card-accent"/>
          <p:cNvSpPr/>
          <p:nvPr/>
        </p:nvSpPr>
        <p:spPr>
          <a:xfrm>
            <a:off x="5175504"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6-element001-card-label"/>
          <p:cNvSpPr txBox="1"/>
          <p:nvPr/>
        </p:nvSpPr>
        <p:spPr>
          <a:xfrm>
            <a:off x="5330952"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ACCURACY-BRANCH MEAN</a:t>
            </a:r>
          </a:p>
        </p:txBody>
      </p:sp>
      <p:sp>
        <p:nvSpPr>
          <p:cNvPr id="13" name="slide006-element001-card-value"/>
          <p:cNvSpPr txBox="1"/>
          <p:nvPr/>
        </p:nvSpPr>
        <p:spPr>
          <a:xfrm>
            <a:off x="5330952"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-9.49%</a:t>
            </a:r>
          </a:p>
        </p:txBody>
      </p:sp>
      <p:sp>
        <p:nvSpPr>
          <p:cNvPr id="14" name="slide006-element001-card-detail"/>
          <p:cNvSpPr txBox="1"/>
          <p:nvPr/>
        </p:nvSpPr>
        <p:spPr>
          <a:xfrm>
            <a:off x="5330952"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5" name="slide006-element002-card-background"/>
          <p:cNvSpPr/>
          <p:nvPr/>
        </p:nvSpPr>
        <p:spPr>
          <a:xfrm>
            <a:off x="9756648"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6-element002-card-accent"/>
          <p:cNvSpPr/>
          <p:nvPr/>
        </p:nvSpPr>
        <p:spPr>
          <a:xfrm>
            <a:off x="9756648"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6-element002-card-label"/>
          <p:cNvSpPr txBox="1"/>
          <p:nvPr/>
        </p:nvSpPr>
        <p:spPr>
          <a:xfrm>
            <a:off x="9912096"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 WINS</a:t>
            </a:r>
          </a:p>
        </p:txBody>
      </p:sp>
      <p:sp>
        <p:nvSpPr>
          <p:cNvPr id="18" name="slide006-element002-card-value"/>
          <p:cNvSpPr txBox="1"/>
          <p:nvPr/>
        </p:nvSpPr>
        <p:spPr>
          <a:xfrm>
            <a:off x="9912096"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3 / 9</a:t>
            </a:r>
          </a:p>
        </p:txBody>
      </p:sp>
      <p:sp>
        <p:nvSpPr>
          <p:cNvPr id="19" name="slide006-element002-card-detail"/>
          <p:cNvSpPr txBox="1"/>
          <p:nvPr/>
        </p:nvSpPr>
        <p:spPr>
          <a:xfrm>
            <a:off x="9912096"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Both branches use logistic regression here</a:t>
            </a:r>
          </a:p>
        </p:txBody>
      </p:sp>
      <p:pic>
        <p:nvPicPr>
          <p:cNvPr id="20" name="slide006-element003-image-image" descr="nba_annual_returns.png"/>
          <p:cNvPicPr>
            <a:picLocks noChangeAspect="1"/>
          </p:cNvPicPr>
          <p:nvPr/>
        </p:nvPicPr>
        <p:blipFill>
          <a:blip r:embed="rId2"/>
          <a:stretch>
            <a:fillRect/>
          </a:stretch>
        </p:blipFill>
        <p:spPr>
          <a:xfrm>
            <a:off x="2426726" y="3547872"/>
            <a:ext cx="9749515" cy="3246120"/>
          </a:xfrm>
          <a:prstGeom prst="rect">
            <a:avLst/>
          </a:prstGeom>
        </p:spPr>
      </p:pic>
      <p:sp>
        <p:nvSpPr>
          <p:cNvPr id="21" name="slide006-element004-text"/>
          <p:cNvSpPr txBox="1"/>
          <p:nvPr/>
        </p:nvSpPr>
        <p:spPr>
          <a:xfrm>
            <a:off x="594360" y="7059168"/>
            <a:ext cx="13350240" cy="429768"/>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This extension reselects features but does not repeat the four-family search. The annual variation does not support a dependable profit advantage.</a:t>
            </a:r>
          </a:p>
        </p:txBody>
      </p:sp>
      <p:cxnSp>
        <p:nvCxnSpPr>
          <p:cNvPr id="22" name="slide00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3" name="slide00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24" name="slide00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OPPOSITE-POLICY SENSITIVITY</a:t>
            </a:r>
          </a:p>
        </p:txBody>
      </p:sp>
      <p:sp>
        <p:nvSpPr>
          <p:cNvPr id="3" name="slide00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what happens if we back the other team?</a:t>
            </a:r>
          </a:p>
        </p:txBody>
      </p:sp>
      <p:sp>
        <p:nvSpPr>
          <p:cNvPr id="4" name="slide00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2017/18: both original fixed-stake accounts ended at zero. Both annual models are logistic regressions.</a:t>
            </a:r>
          </a:p>
        </p:txBody>
      </p:sp>
      <p:sp>
        <p:nvSpPr>
          <p:cNvPr id="5" name="slide007-element000-table-r00-c00-cell"/>
          <p:cNvSpPr/>
          <p:nvPr/>
        </p:nvSpPr>
        <p:spPr>
          <a:xfrm>
            <a:off x="594360" y="1901952"/>
            <a:ext cx="254870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7-element000-table-r00-c00-text"/>
          <p:cNvSpPr txBox="1"/>
          <p:nvPr/>
        </p:nvSpPr>
        <p:spPr>
          <a:xfrm>
            <a:off x="685800" y="197510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Original branch</a:t>
            </a:r>
          </a:p>
        </p:txBody>
      </p:sp>
      <p:sp>
        <p:nvSpPr>
          <p:cNvPr id="7" name="slide007-element000-table-r00-c01-cell"/>
          <p:cNvSpPr/>
          <p:nvPr/>
        </p:nvSpPr>
        <p:spPr>
          <a:xfrm>
            <a:off x="3143067" y="1901952"/>
            <a:ext cx="254870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7-element000-table-r00-c01-text"/>
          <p:cNvSpPr txBox="1"/>
          <p:nvPr/>
        </p:nvSpPr>
        <p:spPr>
          <a:xfrm>
            <a:off x="3234507" y="197510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Original → opposite</a:t>
            </a:r>
          </a:p>
        </p:txBody>
      </p:sp>
      <p:sp>
        <p:nvSpPr>
          <p:cNvPr id="9" name="slide007-element000-table-r00-c02-cell"/>
          <p:cNvSpPr/>
          <p:nvPr/>
        </p:nvSpPr>
        <p:spPr>
          <a:xfrm>
            <a:off x="5691774"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7-element000-table-r00-c02-text"/>
          <p:cNvSpPr txBox="1"/>
          <p:nvPr/>
        </p:nvSpPr>
        <p:spPr>
          <a:xfrm>
            <a:off x="5783214"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Hit ratio</a:t>
            </a:r>
          </a:p>
        </p:txBody>
      </p:sp>
      <p:sp>
        <p:nvSpPr>
          <p:cNvPr id="11" name="slide007-element000-table-r00-c03-cell"/>
          <p:cNvSpPr/>
          <p:nvPr/>
        </p:nvSpPr>
        <p:spPr>
          <a:xfrm>
            <a:off x="7167341" y="1901952"/>
            <a:ext cx="1743852"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7-element000-table-r00-c03-text"/>
          <p:cNvSpPr txBox="1"/>
          <p:nvPr/>
        </p:nvSpPr>
        <p:spPr>
          <a:xfrm>
            <a:off x="7258781" y="197510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Trade frequency</a:t>
            </a:r>
          </a:p>
        </p:txBody>
      </p:sp>
      <p:sp>
        <p:nvSpPr>
          <p:cNvPr id="13" name="slide007-element000-table-r00-c04-cell"/>
          <p:cNvSpPr/>
          <p:nvPr/>
        </p:nvSpPr>
        <p:spPr>
          <a:xfrm>
            <a:off x="8911193" y="1901952"/>
            <a:ext cx="2146279"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7-element000-table-r00-c04-text"/>
          <p:cNvSpPr txBox="1"/>
          <p:nvPr/>
        </p:nvSpPr>
        <p:spPr>
          <a:xfrm>
            <a:off x="9002633" y="197510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Expected gain / loss</a:t>
            </a:r>
          </a:p>
        </p:txBody>
      </p:sp>
      <p:sp>
        <p:nvSpPr>
          <p:cNvPr id="15" name="slide007-element000-table-r00-c05-cell"/>
          <p:cNvSpPr/>
          <p:nvPr/>
        </p:nvSpPr>
        <p:spPr>
          <a:xfrm>
            <a:off x="11057473"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7-element000-table-r00-c05-text"/>
          <p:cNvSpPr txBox="1"/>
          <p:nvPr/>
        </p:nvSpPr>
        <p:spPr>
          <a:xfrm>
            <a:off x="11148913"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Stake ROI</a:t>
            </a:r>
          </a:p>
        </p:txBody>
      </p:sp>
      <p:sp>
        <p:nvSpPr>
          <p:cNvPr id="17" name="slide007-element000-table-r00-c06-cell"/>
          <p:cNvSpPr/>
          <p:nvPr/>
        </p:nvSpPr>
        <p:spPr>
          <a:xfrm>
            <a:off x="12533040"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7-element000-table-r00-c06-text"/>
          <p:cNvSpPr txBox="1"/>
          <p:nvPr/>
        </p:nvSpPr>
        <p:spPr>
          <a:xfrm>
            <a:off x="12624480"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Max drawdown</a:t>
            </a:r>
          </a:p>
        </p:txBody>
      </p:sp>
      <p:sp>
        <p:nvSpPr>
          <p:cNvPr id="19" name="slide007-element000-table-r01-c00-cell"/>
          <p:cNvSpPr/>
          <p:nvPr/>
        </p:nvSpPr>
        <p:spPr>
          <a:xfrm>
            <a:off x="594360" y="2557272"/>
            <a:ext cx="254870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7-element000-table-r01-c00-text"/>
          <p:cNvSpPr txBox="1"/>
          <p:nvPr/>
        </p:nvSpPr>
        <p:spPr>
          <a:xfrm>
            <a:off x="685800" y="263042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LR</a:t>
            </a:r>
          </a:p>
        </p:txBody>
      </p:sp>
      <p:sp>
        <p:nvSpPr>
          <p:cNvPr id="21" name="slide007-element000-table-r01-c01-cell"/>
          <p:cNvSpPr/>
          <p:nvPr/>
        </p:nvSpPr>
        <p:spPr>
          <a:xfrm>
            <a:off x="3143067" y="2557272"/>
            <a:ext cx="254870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7-element000-table-r01-c01-text"/>
          <p:cNvSpPr txBox="1"/>
          <p:nvPr/>
        </p:nvSpPr>
        <p:spPr>
          <a:xfrm>
            <a:off x="3234507" y="263042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 → 11,148.07</a:t>
            </a:r>
          </a:p>
        </p:txBody>
      </p:sp>
      <p:sp>
        <p:nvSpPr>
          <p:cNvPr id="23" name="slide007-element000-table-r01-c02-cell"/>
          <p:cNvSpPr/>
          <p:nvPr/>
        </p:nvSpPr>
        <p:spPr>
          <a:xfrm>
            <a:off x="5691774"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7-element000-table-r01-c02-text"/>
          <p:cNvSpPr txBox="1"/>
          <p:nvPr/>
        </p:nvSpPr>
        <p:spPr>
          <a:xfrm>
            <a:off x="5783214"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65.68%</a:t>
            </a:r>
          </a:p>
        </p:txBody>
      </p:sp>
      <p:sp>
        <p:nvSpPr>
          <p:cNvPr id="25" name="slide007-element000-table-r01-c03-cell"/>
          <p:cNvSpPr/>
          <p:nvPr/>
        </p:nvSpPr>
        <p:spPr>
          <a:xfrm>
            <a:off x="7167341" y="2557272"/>
            <a:ext cx="1743852"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7-element000-table-r01-c03-text"/>
          <p:cNvSpPr txBox="1"/>
          <p:nvPr/>
        </p:nvSpPr>
        <p:spPr>
          <a:xfrm>
            <a:off x="7258781" y="263042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85.12%</a:t>
            </a:r>
          </a:p>
        </p:txBody>
      </p:sp>
      <p:sp>
        <p:nvSpPr>
          <p:cNvPr id="27" name="slide007-element000-table-r01-c04-cell"/>
          <p:cNvSpPr/>
          <p:nvPr/>
        </p:nvSpPr>
        <p:spPr>
          <a:xfrm>
            <a:off x="8911193" y="2557272"/>
            <a:ext cx="2146279"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7-element000-table-r01-c04-text"/>
          <p:cNvSpPr txBox="1"/>
          <p:nvPr/>
        </p:nvSpPr>
        <p:spPr>
          <a:xfrm>
            <a:off x="9002633" y="263042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27.06 / 46.67</a:t>
            </a:r>
          </a:p>
        </p:txBody>
      </p:sp>
      <p:sp>
        <p:nvSpPr>
          <p:cNvPr id="29" name="slide007-element000-table-r01-c05-cell"/>
          <p:cNvSpPr/>
          <p:nvPr/>
        </p:nvSpPr>
        <p:spPr>
          <a:xfrm>
            <a:off x="11057473"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7-element000-table-r01-c05-text"/>
          <p:cNvSpPr txBox="1"/>
          <p:nvPr/>
        </p:nvSpPr>
        <p:spPr>
          <a:xfrm>
            <a:off x="11148913"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1.25%</a:t>
            </a:r>
          </a:p>
        </p:txBody>
      </p:sp>
      <p:sp>
        <p:nvSpPr>
          <p:cNvPr id="31" name="slide007-element000-table-r01-c06-cell"/>
          <p:cNvSpPr/>
          <p:nvPr/>
        </p:nvSpPr>
        <p:spPr>
          <a:xfrm>
            <a:off x="12533040"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7-element000-table-r01-c06-text"/>
          <p:cNvSpPr txBox="1"/>
          <p:nvPr/>
        </p:nvSpPr>
        <p:spPr>
          <a:xfrm>
            <a:off x="12624480"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29.17%</a:t>
            </a:r>
          </a:p>
        </p:txBody>
      </p:sp>
      <p:sp>
        <p:nvSpPr>
          <p:cNvPr id="33" name="slide007-element000-table-r02-c00-cell"/>
          <p:cNvSpPr/>
          <p:nvPr/>
        </p:nvSpPr>
        <p:spPr>
          <a:xfrm>
            <a:off x="594360" y="3212592"/>
            <a:ext cx="254870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7-element000-table-r02-c00-text"/>
          <p:cNvSpPr txBox="1"/>
          <p:nvPr/>
        </p:nvSpPr>
        <p:spPr>
          <a:xfrm>
            <a:off x="685800" y="328574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LR</a:t>
            </a:r>
          </a:p>
        </p:txBody>
      </p:sp>
      <p:sp>
        <p:nvSpPr>
          <p:cNvPr id="35" name="slide007-element000-table-r02-c01-cell"/>
          <p:cNvSpPr/>
          <p:nvPr/>
        </p:nvSpPr>
        <p:spPr>
          <a:xfrm>
            <a:off x="3143067" y="3212592"/>
            <a:ext cx="254870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7-element000-table-r02-c01-text"/>
          <p:cNvSpPr txBox="1"/>
          <p:nvPr/>
        </p:nvSpPr>
        <p:spPr>
          <a:xfrm>
            <a:off x="3234507" y="328574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 → 8,785.30</a:t>
            </a:r>
          </a:p>
        </p:txBody>
      </p:sp>
      <p:sp>
        <p:nvSpPr>
          <p:cNvPr id="37" name="slide007-element000-table-r02-c02-cell"/>
          <p:cNvSpPr/>
          <p:nvPr/>
        </p:nvSpPr>
        <p:spPr>
          <a:xfrm>
            <a:off x="5691774"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7-element000-table-r02-c02-text"/>
          <p:cNvSpPr txBox="1"/>
          <p:nvPr/>
        </p:nvSpPr>
        <p:spPr>
          <a:xfrm>
            <a:off x="5783214"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63.35%</a:t>
            </a:r>
          </a:p>
        </p:txBody>
      </p:sp>
      <p:sp>
        <p:nvSpPr>
          <p:cNvPr id="39" name="slide007-element000-table-r02-c03-cell"/>
          <p:cNvSpPr/>
          <p:nvPr/>
        </p:nvSpPr>
        <p:spPr>
          <a:xfrm>
            <a:off x="7167341" y="3212592"/>
            <a:ext cx="1743852"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7-element000-table-r02-c03-text"/>
          <p:cNvSpPr txBox="1"/>
          <p:nvPr/>
        </p:nvSpPr>
        <p:spPr>
          <a:xfrm>
            <a:off x="7258781" y="328574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82.23%</a:t>
            </a:r>
          </a:p>
        </p:txBody>
      </p:sp>
      <p:sp>
        <p:nvSpPr>
          <p:cNvPr id="41" name="slide007-element000-table-r02-c04-cell"/>
          <p:cNvSpPr/>
          <p:nvPr/>
        </p:nvSpPr>
        <p:spPr>
          <a:xfrm>
            <a:off x="8911193" y="3212592"/>
            <a:ext cx="2146279"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7-element000-table-r02-c04-text"/>
          <p:cNvSpPr txBox="1"/>
          <p:nvPr/>
        </p:nvSpPr>
        <p:spPr>
          <a:xfrm>
            <a:off x="9002633" y="328574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27.99 / 47.91</a:t>
            </a:r>
          </a:p>
        </p:txBody>
      </p:sp>
      <p:sp>
        <p:nvSpPr>
          <p:cNvPr id="43" name="slide007-element000-table-r02-c05-cell"/>
          <p:cNvSpPr/>
          <p:nvPr/>
        </p:nvSpPr>
        <p:spPr>
          <a:xfrm>
            <a:off x="11057473"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7-element000-table-r02-c05-text"/>
          <p:cNvSpPr txBox="1"/>
          <p:nvPr/>
        </p:nvSpPr>
        <p:spPr>
          <a:xfrm>
            <a:off x="11148913"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a:t>
            </a:r>
          </a:p>
        </p:txBody>
      </p:sp>
      <p:sp>
        <p:nvSpPr>
          <p:cNvPr id="45" name="slide007-element000-table-r02-c06-cell"/>
          <p:cNvSpPr/>
          <p:nvPr/>
        </p:nvSpPr>
        <p:spPr>
          <a:xfrm>
            <a:off x="12533040"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7-element000-table-r02-c06-text"/>
          <p:cNvSpPr txBox="1"/>
          <p:nvPr/>
        </p:nvSpPr>
        <p:spPr>
          <a:xfrm>
            <a:off x="12624480"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50.76%</a:t>
            </a:r>
          </a:p>
        </p:txBody>
      </p:sp>
      <p:sp>
        <p:nvSpPr>
          <p:cNvPr id="47" name="slide007-element001-text"/>
          <p:cNvSpPr txBox="1"/>
          <p:nvPr/>
        </p:nvSpPr>
        <p:spPr>
          <a:xfrm>
            <a:off x="594360" y="4251960"/>
            <a:ext cx="13350240" cy="100584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Keep the original entry signal; bet on the other team at its own recorded odds.</a:t>
            </a:r>
          </a:p>
          <a:p>
            <a:pPr algn="l">
              <a:lnSpc>
                <a:spcPct val="100000"/>
              </a:lnSpc>
              <a:spcBef>
                <a:spcPts val="0"/>
              </a:spcBef>
              <a:spcAft>
                <a:spcPts val="0"/>
              </a:spcAft>
            </a:pPr>
            <a:r>
              <a:rPr sz="2100" b="0">
                <a:solidFill>
                  <a:srgbClr val="11243A"/>
                </a:solidFill>
                <a:latin typeface="Arial"/>
              </a:rPr>
              <a:t>Start with 10,000; request 100 per bet (1% of initial cash), capped by available cash.</a:t>
            </a:r>
          </a:p>
          <a:p>
            <a:pPr algn="l">
              <a:lnSpc>
                <a:spcPct val="100000"/>
              </a:lnSpc>
              <a:spcBef>
                <a:spcPts val="0"/>
              </a:spcBef>
              <a:spcAft>
                <a:spcPts val="0"/>
              </a:spcAft>
            </a:pPr>
            <a:r>
              <a:rPr sz="2100" b="0">
                <a:solidFill>
                  <a:srgbClr val="11243A"/>
                </a:solidFill>
                <a:latin typeface="Arial"/>
              </a:rPr>
              <a:t>Continue through all 1,075 games, including games after the original account ran out of money.</a:t>
            </a:r>
          </a:p>
        </p:txBody>
      </p:sp>
      <p:sp>
        <p:nvSpPr>
          <p:cNvPr id="48" name="slide007-element002-text"/>
          <p:cNvSpPr txBox="1"/>
          <p:nvPr/>
        </p:nvSpPr>
        <p:spPr>
          <a:xfrm>
            <a:off x="594360" y="5596128"/>
            <a:ext cx="13350240" cy="777240"/>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One full-season inverse profits and one loses. Reversing only the original funded trades loses in both cases: 9,420 and 8,156.</a:t>
            </a:r>
          </a:p>
        </p:txBody>
      </p:sp>
      <p:sp>
        <p:nvSpPr>
          <p:cNvPr id="49" name="slide007-element003-text"/>
          <p:cNvSpPr txBox="1"/>
          <p:nvPr/>
        </p:nvSpPr>
        <p:spPr>
          <a:xfrm>
            <a:off x="594360" y="6739128"/>
            <a:ext cx="13350240" cy="658368"/>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Post-hoc source-method reconstruction. Both conditional 95% ROI intervals include zero; this is not a confirmed edge.</a:t>
            </a:r>
          </a:p>
          <a:p>
            <a:pPr algn="l">
              <a:lnSpc>
                <a:spcPct val="100000"/>
              </a:lnSpc>
              <a:spcBef>
                <a:spcPts val="0"/>
              </a:spcBef>
              <a:spcAft>
                <a:spcPts val="0"/>
              </a:spcAft>
            </a:pPr>
            <a:r>
              <a:rPr sz="1600" b="0">
                <a:solidFill>
                  <a:srgbClr val="536578"/>
                </a:solidFill>
                <a:latin typeface="Arial"/>
              </a:rPr>
              <a:t>Expected gain/loss use the original model's probabilities; actual quoted opposite returns are not minus the original profit.</a:t>
            </a:r>
          </a:p>
        </p:txBody>
      </p:sp>
      <p:cxnSp>
        <p:nvCxnSpPr>
          <p:cNvPr id="50" name="slide00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1" name="slide00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inverse_metrics.csv; audit_summary.json; conditional_uncertainty.csv | Full paths in notes</a:t>
            </a:r>
          </a:p>
        </p:txBody>
      </p:sp>
      <p:sp>
        <p:nvSpPr>
          <p:cNvPr id="52" name="slide00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the proposal's accuracy–calibration comparison</a:t>
            </a:r>
          </a:p>
        </p:txBody>
      </p:sp>
      <p:sp>
        <p:nvSpPr>
          <p:cNvPr id="4" name="slide00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first experiment evaluates 374 matches in 2025/26 after separate tuning, calibration, family selection and strategy validation.</a:t>
            </a:r>
          </a:p>
        </p:txBody>
      </p:sp>
      <p:sp>
        <p:nvSpPr>
          <p:cNvPr id="5" name="slide008-element000-table-r00-c00-cell"/>
          <p:cNvSpPr/>
          <p:nvPr/>
        </p:nvSpPr>
        <p:spPr>
          <a:xfrm>
            <a:off x="594360" y="1874519"/>
            <a:ext cx="4542739"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8-element000-table-r00-c00-text"/>
          <p:cNvSpPr txBox="1"/>
          <p:nvPr/>
        </p:nvSpPr>
        <p:spPr>
          <a:xfrm>
            <a:off x="685800" y="194767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Probability model</a:t>
            </a:r>
          </a:p>
        </p:txBody>
      </p:sp>
      <p:sp>
        <p:nvSpPr>
          <p:cNvPr id="7" name="slide008-element000-table-r00-c01-cell"/>
          <p:cNvSpPr/>
          <p:nvPr/>
        </p:nvSpPr>
        <p:spPr>
          <a:xfrm>
            <a:off x="5137099"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8-element000-table-r00-c01-text"/>
          <p:cNvSpPr txBox="1"/>
          <p:nvPr/>
        </p:nvSpPr>
        <p:spPr>
          <a:xfrm>
            <a:off x="5228539"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Accuracy</a:t>
            </a:r>
          </a:p>
        </p:txBody>
      </p:sp>
      <p:sp>
        <p:nvSpPr>
          <p:cNvPr id="9" name="slide008-element000-table-r00-c02-cell"/>
          <p:cNvSpPr/>
          <p:nvPr/>
        </p:nvSpPr>
        <p:spPr>
          <a:xfrm>
            <a:off x="6914692"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8-element000-table-r00-c02-text"/>
          <p:cNvSpPr txBox="1"/>
          <p:nvPr/>
        </p:nvSpPr>
        <p:spPr>
          <a:xfrm>
            <a:off x="7006132"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ECE 10</a:t>
            </a:r>
          </a:p>
        </p:txBody>
      </p:sp>
      <p:sp>
        <p:nvSpPr>
          <p:cNvPr id="11" name="slide008-element000-table-r00-c03-cell"/>
          <p:cNvSpPr/>
          <p:nvPr/>
        </p:nvSpPr>
        <p:spPr>
          <a:xfrm>
            <a:off x="8692286"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8-element000-table-r00-c03-text"/>
          <p:cNvSpPr txBox="1"/>
          <p:nvPr/>
        </p:nvSpPr>
        <p:spPr>
          <a:xfrm>
            <a:off x="8783726"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Log loss</a:t>
            </a:r>
          </a:p>
        </p:txBody>
      </p:sp>
      <p:sp>
        <p:nvSpPr>
          <p:cNvPr id="13" name="slide008-element000-table-r01-c00-cell"/>
          <p:cNvSpPr/>
          <p:nvPr/>
        </p:nvSpPr>
        <p:spPr>
          <a:xfrm>
            <a:off x="594360" y="2411729"/>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8-element000-table-r01-c00-text"/>
          <p:cNvSpPr txBox="1"/>
          <p:nvPr/>
        </p:nvSpPr>
        <p:spPr>
          <a:xfrm>
            <a:off x="685800" y="248488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Accuracy-selected SVM</a:t>
            </a:r>
          </a:p>
        </p:txBody>
      </p:sp>
      <p:sp>
        <p:nvSpPr>
          <p:cNvPr id="15" name="slide008-element000-table-r01-c01-cell"/>
          <p:cNvSpPr/>
          <p:nvPr/>
        </p:nvSpPr>
        <p:spPr>
          <a:xfrm>
            <a:off x="5137099"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8-element000-table-r01-c01-text"/>
          <p:cNvSpPr txBox="1"/>
          <p:nvPr/>
        </p:nvSpPr>
        <p:spPr>
          <a:xfrm>
            <a:off x="5228539"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48.13%</a:t>
            </a:r>
          </a:p>
        </p:txBody>
      </p:sp>
      <p:sp>
        <p:nvSpPr>
          <p:cNvPr id="17" name="slide008-element000-table-r01-c02-cell"/>
          <p:cNvSpPr/>
          <p:nvPr/>
        </p:nvSpPr>
        <p:spPr>
          <a:xfrm>
            <a:off x="6914692"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8-element000-table-r01-c02-text"/>
          <p:cNvSpPr txBox="1"/>
          <p:nvPr/>
        </p:nvSpPr>
        <p:spPr>
          <a:xfrm>
            <a:off x="7006132"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6.20%</a:t>
            </a:r>
          </a:p>
        </p:txBody>
      </p:sp>
      <p:sp>
        <p:nvSpPr>
          <p:cNvPr id="19" name="slide008-element000-table-r01-c03-cell"/>
          <p:cNvSpPr/>
          <p:nvPr/>
        </p:nvSpPr>
        <p:spPr>
          <a:xfrm>
            <a:off x="8692286"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8-element000-table-r01-c03-text"/>
          <p:cNvSpPr txBox="1"/>
          <p:nvPr/>
        </p:nvSpPr>
        <p:spPr>
          <a:xfrm>
            <a:off x="8783726"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1.0763</a:t>
            </a:r>
          </a:p>
        </p:txBody>
      </p:sp>
      <p:sp>
        <p:nvSpPr>
          <p:cNvPr id="21" name="slide008-element000-table-r02-c00-cell"/>
          <p:cNvSpPr/>
          <p:nvPr/>
        </p:nvSpPr>
        <p:spPr>
          <a:xfrm>
            <a:off x="594360" y="2948939"/>
            <a:ext cx="4542739"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8-element000-table-r02-c00-text"/>
          <p:cNvSpPr txBox="1"/>
          <p:nvPr/>
        </p:nvSpPr>
        <p:spPr>
          <a:xfrm>
            <a:off x="685800" y="3022091"/>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Calibration-selected MLP</a:t>
            </a:r>
          </a:p>
        </p:txBody>
      </p:sp>
      <p:sp>
        <p:nvSpPr>
          <p:cNvPr id="23" name="slide008-element000-table-r02-c01-cell"/>
          <p:cNvSpPr/>
          <p:nvPr/>
        </p:nvSpPr>
        <p:spPr>
          <a:xfrm>
            <a:off x="5137099"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8-element000-table-r02-c01-text"/>
          <p:cNvSpPr txBox="1"/>
          <p:nvPr/>
        </p:nvSpPr>
        <p:spPr>
          <a:xfrm>
            <a:off x="5228539"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44.39%</a:t>
            </a:r>
          </a:p>
        </p:txBody>
      </p:sp>
      <p:sp>
        <p:nvSpPr>
          <p:cNvPr id="25" name="slide008-element000-table-r02-c02-cell"/>
          <p:cNvSpPr/>
          <p:nvPr/>
        </p:nvSpPr>
        <p:spPr>
          <a:xfrm>
            <a:off x="6914692"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8-element000-table-r02-c02-text"/>
          <p:cNvSpPr txBox="1"/>
          <p:nvPr/>
        </p:nvSpPr>
        <p:spPr>
          <a:xfrm>
            <a:off x="7006132"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4.16%</a:t>
            </a:r>
          </a:p>
        </p:txBody>
      </p:sp>
      <p:sp>
        <p:nvSpPr>
          <p:cNvPr id="27" name="slide008-element000-table-r02-c03-cell"/>
          <p:cNvSpPr/>
          <p:nvPr/>
        </p:nvSpPr>
        <p:spPr>
          <a:xfrm>
            <a:off x="8692286"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8-element000-table-r02-c03-text"/>
          <p:cNvSpPr txBox="1"/>
          <p:nvPr/>
        </p:nvSpPr>
        <p:spPr>
          <a:xfrm>
            <a:off x="8783726"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1.0564</a:t>
            </a:r>
          </a:p>
        </p:txBody>
      </p:sp>
      <p:sp>
        <p:nvSpPr>
          <p:cNvPr id="29" name="slide008-element000-table-r03-c00-cell"/>
          <p:cNvSpPr/>
          <p:nvPr/>
        </p:nvSpPr>
        <p:spPr>
          <a:xfrm>
            <a:off x="594360" y="3486150"/>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8-element000-table-r03-c00-text"/>
          <p:cNvSpPr txBox="1"/>
          <p:nvPr/>
        </p:nvSpPr>
        <p:spPr>
          <a:xfrm>
            <a:off x="685800" y="355930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Bet365 market benchmark</a:t>
            </a:r>
          </a:p>
        </p:txBody>
      </p:sp>
      <p:sp>
        <p:nvSpPr>
          <p:cNvPr id="31" name="slide008-element000-table-r03-c01-cell"/>
          <p:cNvSpPr/>
          <p:nvPr/>
        </p:nvSpPr>
        <p:spPr>
          <a:xfrm>
            <a:off x="5137099"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8-element000-table-r03-c01-text"/>
          <p:cNvSpPr txBox="1"/>
          <p:nvPr/>
        </p:nvSpPr>
        <p:spPr>
          <a:xfrm>
            <a:off x="5228539"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48.66%</a:t>
            </a:r>
          </a:p>
        </p:txBody>
      </p:sp>
      <p:sp>
        <p:nvSpPr>
          <p:cNvPr id="33" name="slide008-element000-table-r03-c02-cell"/>
          <p:cNvSpPr/>
          <p:nvPr/>
        </p:nvSpPr>
        <p:spPr>
          <a:xfrm>
            <a:off x="6914692"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8-element000-table-r03-c02-text"/>
          <p:cNvSpPr txBox="1"/>
          <p:nvPr/>
        </p:nvSpPr>
        <p:spPr>
          <a:xfrm>
            <a:off x="7006132"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4.36%</a:t>
            </a:r>
          </a:p>
        </p:txBody>
      </p:sp>
      <p:sp>
        <p:nvSpPr>
          <p:cNvPr id="35" name="slide008-element000-table-r03-c03-cell"/>
          <p:cNvSpPr/>
          <p:nvPr/>
        </p:nvSpPr>
        <p:spPr>
          <a:xfrm>
            <a:off x="8692286"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8-element000-table-r03-c03-text"/>
          <p:cNvSpPr txBox="1"/>
          <p:nvPr/>
        </p:nvSpPr>
        <p:spPr>
          <a:xfrm>
            <a:off x="8783726"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1.0191</a:t>
            </a:r>
          </a:p>
        </p:txBody>
      </p:sp>
      <p:sp>
        <p:nvSpPr>
          <p:cNvPr id="37" name="slide008-element001-card-background"/>
          <p:cNvSpPr/>
          <p:nvPr/>
        </p:nvSpPr>
        <p:spPr>
          <a:xfrm>
            <a:off x="10835640" y="1874519"/>
            <a:ext cx="3154680" cy="21488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8-element001-card-accent"/>
          <p:cNvSpPr/>
          <p:nvPr/>
        </p:nvSpPr>
        <p:spPr>
          <a:xfrm>
            <a:off x="10835640" y="1874519"/>
            <a:ext cx="50292" cy="21488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8-element001-card-label"/>
          <p:cNvSpPr txBox="1"/>
          <p:nvPr/>
        </p:nvSpPr>
        <p:spPr>
          <a:xfrm>
            <a:off x="1099108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PRIMARY POLICIES</a:t>
            </a:r>
          </a:p>
        </p:txBody>
      </p:sp>
      <p:sp>
        <p:nvSpPr>
          <p:cNvPr id="40" name="slide008-element001-card-value"/>
          <p:cNvSpPr txBox="1"/>
          <p:nvPr/>
        </p:nvSpPr>
        <p:spPr>
          <a:xfrm>
            <a:off x="1099108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Hold cash</a:t>
            </a:r>
          </a:p>
        </p:txBody>
      </p:sp>
      <p:sp>
        <p:nvSpPr>
          <p:cNvPr id="41" name="slide008-element001-card-detail"/>
          <p:cNvSpPr txBox="1"/>
          <p:nvPr/>
        </p:nvSpPr>
        <p:spPr>
          <a:xfrm>
            <a:off x="10991088" y="2770632"/>
            <a:ext cx="2843784" cy="12161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Neither branch found an admissible positive-return validation threshold.</a:t>
            </a:r>
          </a:p>
        </p:txBody>
      </p:sp>
      <p:sp>
        <p:nvSpPr>
          <p:cNvPr id="42" name="slide008-element002-text"/>
          <p:cNvSpPr txBox="1"/>
          <p:nvPr/>
        </p:nvSpPr>
        <p:spPr>
          <a:xfrm>
            <a:off x="594360" y="4416552"/>
            <a:ext cx="13350240"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0D897D"/>
                </a:solidFill>
                <a:latin typeface="Arial"/>
              </a:rPr>
              <a:t>SECONDARY DIAGNOSTIC: predeclared 5% edge, best archived quotes, 1,000 flat stakes from 100,000</a:t>
            </a:r>
          </a:p>
        </p:txBody>
      </p:sp>
      <p:sp>
        <p:nvSpPr>
          <p:cNvPr id="43" name="slide008-element003-table-r00-c00-cell"/>
          <p:cNvSpPr/>
          <p:nvPr/>
        </p:nvSpPr>
        <p:spPr>
          <a:xfrm>
            <a:off x="594360"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8-element003-table-r00-c00-text"/>
          <p:cNvSpPr txBox="1"/>
          <p:nvPr/>
        </p:nvSpPr>
        <p:spPr>
          <a:xfrm>
            <a:off x="685800"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Model</a:t>
            </a:r>
          </a:p>
        </p:txBody>
      </p:sp>
      <p:sp>
        <p:nvSpPr>
          <p:cNvPr id="45" name="slide008-element003-table-r00-c01-cell"/>
          <p:cNvSpPr/>
          <p:nvPr/>
        </p:nvSpPr>
        <p:spPr>
          <a:xfrm>
            <a:off x="3545494" y="4965192"/>
            <a:ext cx="174385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8-element003-table-r00-c01-text"/>
          <p:cNvSpPr txBox="1"/>
          <p:nvPr/>
        </p:nvSpPr>
        <p:spPr>
          <a:xfrm>
            <a:off x="3636934" y="503834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Bets</a:t>
            </a:r>
          </a:p>
        </p:txBody>
      </p:sp>
      <p:sp>
        <p:nvSpPr>
          <p:cNvPr id="47" name="slide008-element003-table-r00-c02-cell"/>
          <p:cNvSpPr/>
          <p:nvPr/>
        </p:nvSpPr>
        <p:spPr>
          <a:xfrm>
            <a:off x="5289346"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8-element003-table-r00-c02-text"/>
          <p:cNvSpPr txBox="1"/>
          <p:nvPr/>
        </p:nvSpPr>
        <p:spPr>
          <a:xfrm>
            <a:off x="5380786"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Profit</a:t>
            </a:r>
          </a:p>
        </p:txBody>
      </p:sp>
      <p:sp>
        <p:nvSpPr>
          <p:cNvPr id="49" name="slide008-element003-table-r00-c03-cell"/>
          <p:cNvSpPr/>
          <p:nvPr/>
        </p:nvSpPr>
        <p:spPr>
          <a:xfrm>
            <a:off x="8240481" y="4965192"/>
            <a:ext cx="281699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8-element003-table-r00-c03-text"/>
          <p:cNvSpPr txBox="1"/>
          <p:nvPr/>
        </p:nvSpPr>
        <p:spPr>
          <a:xfrm>
            <a:off x="8331921" y="503834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ROI</a:t>
            </a:r>
          </a:p>
        </p:txBody>
      </p:sp>
      <p:sp>
        <p:nvSpPr>
          <p:cNvPr id="51" name="slide008-element003-table-r00-c04-cell"/>
          <p:cNvSpPr/>
          <p:nvPr/>
        </p:nvSpPr>
        <p:spPr>
          <a:xfrm>
            <a:off x="11057473"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8-element003-table-r00-c04-text"/>
          <p:cNvSpPr txBox="1"/>
          <p:nvPr/>
        </p:nvSpPr>
        <p:spPr>
          <a:xfrm>
            <a:off x="11148913"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53" name="slide008-element003-table-r01-c00-cell"/>
          <p:cNvSpPr/>
          <p:nvPr/>
        </p:nvSpPr>
        <p:spPr>
          <a:xfrm>
            <a:off x="594360"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8-element003-table-r01-c00-text"/>
          <p:cNvSpPr txBox="1"/>
          <p:nvPr/>
        </p:nvSpPr>
        <p:spPr>
          <a:xfrm>
            <a:off x="685800"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SVM</a:t>
            </a:r>
          </a:p>
        </p:txBody>
      </p:sp>
      <p:sp>
        <p:nvSpPr>
          <p:cNvPr id="55" name="slide008-element003-table-r01-c01-cell"/>
          <p:cNvSpPr/>
          <p:nvPr/>
        </p:nvSpPr>
        <p:spPr>
          <a:xfrm>
            <a:off x="3545494" y="5513831"/>
            <a:ext cx="174385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8-element003-table-r01-c01-text"/>
          <p:cNvSpPr txBox="1"/>
          <p:nvPr/>
        </p:nvSpPr>
        <p:spPr>
          <a:xfrm>
            <a:off x="3636934" y="5586983"/>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371</a:t>
            </a:r>
          </a:p>
        </p:txBody>
      </p:sp>
      <p:sp>
        <p:nvSpPr>
          <p:cNvPr id="57" name="slide008-element003-table-r01-c02-cell"/>
          <p:cNvSpPr/>
          <p:nvPr/>
        </p:nvSpPr>
        <p:spPr>
          <a:xfrm>
            <a:off x="5289346"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8-element003-table-r01-c02-text"/>
          <p:cNvSpPr txBox="1"/>
          <p:nvPr/>
        </p:nvSpPr>
        <p:spPr>
          <a:xfrm>
            <a:off x="5380786"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-8,330</a:t>
            </a:r>
          </a:p>
        </p:txBody>
      </p:sp>
      <p:sp>
        <p:nvSpPr>
          <p:cNvPr id="59" name="slide008-element003-table-r01-c03-cell"/>
          <p:cNvSpPr/>
          <p:nvPr/>
        </p:nvSpPr>
        <p:spPr>
          <a:xfrm>
            <a:off x="8240481" y="5513831"/>
            <a:ext cx="281699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8-element003-table-r01-c03-text"/>
          <p:cNvSpPr txBox="1"/>
          <p:nvPr/>
        </p:nvSpPr>
        <p:spPr>
          <a:xfrm>
            <a:off x="8331921" y="5586983"/>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-2.25%</a:t>
            </a:r>
          </a:p>
        </p:txBody>
      </p:sp>
      <p:sp>
        <p:nvSpPr>
          <p:cNvPr id="61" name="slide008-element003-table-r01-c04-cell"/>
          <p:cNvSpPr/>
          <p:nvPr/>
        </p:nvSpPr>
        <p:spPr>
          <a:xfrm>
            <a:off x="11057473"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8-element003-table-r01-c04-text"/>
          <p:cNvSpPr txBox="1"/>
          <p:nvPr/>
        </p:nvSpPr>
        <p:spPr>
          <a:xfrm>
            <a:off x="11148913"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a:t>
            </a:r>
          </a:p>
        </p:txBody>
      </p:sp>
      <p:sp>
        <p:nvSpPr>
          <p:cNvPr id="63" name="slide008-element003-table-r02-c00-cell"/>
          <p:cNvSpPr/>
          <p:nvPr/>
        </p:nvSpPr>
        <p:spPr>
          <a:xfrm>
            <a:off x="594360"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8-element003-table-r02-c00-text"/>
          <p:cNvSpPr txBox="1"/>
          <p:nvPr/>
        </p:nvSpPr>
        <p:spPr>
          <a:xfrm>
            <a:off x="685800"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MLP</a:t>
            </a:r>
          </a:p>
        </p:txBody>
      </p:sp>
      <p:sp>
        <p:nvSpPr>
          <p:cNvPr id="65" name="slide008-element003-table-r02-c01-cell"/>
          <p:cNvSpPr/>
          <p:nvPr/>
        </p:nvSpPr>
        <p:spPr>
          <a:xfrm>
            <a:off x="3545494" y="6062472"/>
            <a:ext cx="174385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08-element003-table-r02-c01-text"/>
          <p:cNvSpPr txBox="1"/>
          <p:nvPr/>
        </p:nvSpPr>
        <p:spPr>
          <a:xfrm>
            <a:off x="3636934" y="613562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333</a:t>
            </a:r>
          </a:p>
        </p:txBody>
      </p:sp>
      <p:sp>
        <p:nvSpPr>
          <p:cNvPr id="67" name="slide008-element003-table-r02-c02-cell"/>
          <p:cNvSpPr/>
          <p:nvPr/>
        </p:nvSpPr>
        <p:spPr>
          <a:xfrm>
            <a:off x="5289346"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08-element003-table-r02-c02-text"/>
          <p:cNvSpPr txBox="1"/>
          <p:nvPr/>
        </p:nvSpPr>
        <p:spPr>
          <a:xfrm>
            <a:off x="5380786"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1,370</a:t>
            </a:r>
          </a:p>
        </p:txBody>
      </p:sp>
      <p:sp>
        <p:nvSpPr>
          <p:cNvPr id="69" name="slide008-element003-table-r02-c03-cell"/>
          <p:cNvSpPr/>
          <p:nvPr/>
        </p:nvSpPr>
        <p:spPr>
          <a:xfrm>
            <a:off x="8240481" y="6062472"/>
            <a:ext cx="281699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08-element003-table-r02-c03-text"/>
          <p:cNvSpPr txBox="1"/>
          <p:nvPr/>
        </p:nvSpPr>
        <p:spPr>
          <a:xfrm>
            <a:off x="8331921" y="613562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0.41%</a:t>
            </a:r>
          </a:p>
        </p:txBody>
      </p:sp>
      <p:sp>
        <p:nvSpPr>
          <p:cNvPr id="71" name="slide008-element003-table-r02-c04-cell"/>
          <p:cNvSpPr/>
          <p:nvPr/>
        </p:nvSpPr>
        <p:spPr>
          <a:xfrm>
            <a:off x="11057473"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08-element003-table-r02-c04-text"/>
          <p:cNvSpPr txBox="1"/>
          <p:nvPr/>
        </p:nvSpPr>
        <p:spPr>
          <a:xfrm>
            <a:off x="11148913"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a:t>
            </a:r>
          </a:p>
        </p:txBody>
      </p:sp>
      <p:sp>
        <p:nvSpPr>
          <p:cNvPr id="73" name="slide008-element004-text"/>
          <p:cNvSpPr txBox="1"/>
          <p:nvPr/>
        </p:nvSpPr>
        <p:spPr>
          <a:xfrm>
            <a:off x="594360" y="7059168"/>
            <a:ext cx="13350240" cy="420624"/>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The MLP's +0.41% stake ROI is uncertain: its conditional 95% interval includes zero. The following EPL extensions are exploratory.</a:t>
            </a:r>
          </a:p>
        </p:txBody>
      </p:sp>
      <p:cxnSp>
        <p:nvCxnSpPr>
          <p:cNvPr id="74" name="slide00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75" name="slide00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RESULTS.md; classification_scores.csv; metrics.csv | Full paths in notes</a:t>
            </a:r>
          </a:p>
        </p:txBody>
      </p:sp>
      <p:sp>
        <p:nvSpPr>
          <p:cNvPr id="76" name="slide00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money progression of all 116 strategies</a:t>
            </a:r>
          </a:p>
        </p:txBody>
      </p:sp>
      <p:sp>
        <p:nvSpPr>
          <p:cNvPr id="4" name="slide00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2025/26 is the common season available for every account. Each starts with 100,000 monetary units.</a:t>
            </a:r>
          </a:p>
        </p:txBody>
      </p:sp>
      <p:pic>
        <p:nvPicPr>
          <p:cNvPr id="5" name="slide009-element000-image-image" descr="epl_all_116.png"/>
          <p:cNvPicPr>
            <a:picLocks noChangeAspect="1"/>
          </p:cNvPicPr>
          <p:nvPr/>
        </p:nvPicPr>
        <p:blipFill>
          <a:blip r:embed="rId2"/>
          <a:stretch>
            <a:fillRect/>
          </a:stretch>
        </p:blipFill>
        <p:spPr>
          <a:xfrm>
            <a:off x="594360" y="1940351"/>
            <a:ext cx="13414248" cy="4815240"/>
          </a:xfrm>
          <a:prstGeom prst="rect">
            <a:avLst/>
          </a:prstGeom>
        </p:spPr>
      </p:pic>
      <p:sp>
        <p:nvSpPr>
          <p:cNvPr id="6" name="slide009-element001-text"/>
          <p:cNvSpPr txBox="1"/>
          <p:nvPr/>
        </p:nvSpPr>
        <p:spPr>
          <a:xfrm>
            <a:off x="594360" y="705916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84 original and 32 new rules are included. The next model pages label their separate four-year statistics explicitly.</a:t>
            </a:r>
          </a:p>
        </p:txBody>
      </p:sp>
      <p:cxnSp>
        <p:nvCxnSpPr>
          <p:cNvPr id="7" name="slide00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8" name="slide00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graph_equity_2025_all.csv | Full paths in notes</a:t>
            </a:r>
          </a:p>
        </p:txBody>
      </p:sp>
      <p:sp>
        <p:nvSpPr>
          <p:cNvPr id="9" name="slide00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S029</a:t>
            </a:r>
          </a:p>
        </p:txBody>
      </p:sp>
      <p:sp>
        <p:nvSpPr>
          <p:cNvPr id="3" name="slide01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best prediction model: odds + team/player form</a:t>
            </a:r>
          </a:p>
        </p:txBody>
      </p:sp>
      <p:sp>
        <p:nvSpPr>
          <p:cNvPr id="4" name="slide01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Lowest prediction error among the learned models on the same four-year sample. Trading statistics: 2022/23–2025/26, 1,470 matches.</a:t>
            </a:r>
          </a:p>
        </p:txBody>
      </p:sp>
      <p:sp>
        <p:nvSpPr>
          <p:cNvPr id="5" name="slide010-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0-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Starts with bookmaker probabilities, then adjusts them using earlier team results and player form.</a:t>
            </a:r>
          </a:p>
        </p:txBody>
      </p:sp>
      <p:sp>
        <p:nvSpPr>
          <p:cNvPr id="7" name="slide010-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0-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0-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54.15%  |  Prediction loss: 0.9693</a:t>
            </a:r>
          </a:p>
        </p:txBody>
      </p:sp>
      <p:sp>
        <p:nvSpPr>
          <p:cNvPr id="10" name="slide010-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0-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0-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0-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123,340</a:t>
            </a:r>
          </a:p>
        </p:txBody>
      </p:sp>
      <p:sp>
        <p:nvSpPr>
          <p:cNvPr id="14" name="slide010-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0-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0-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0-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0-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23.34%</a:t>
            </a:r>
          </a:p>
        </p:txBody>
      </p:sp>
      <p:sp>
        <p:nvSpPr>
          <p:cNvPr id="19" name="slide010-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0-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0-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0-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0-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0-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0-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0-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0-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1,147 / 78.03%</a:t>
            </a:r>
          </a:p>
        </p:txBody>
      </p:sp>
      <p:sp>
        <p:nvSpPr>
          <p:cNvPr id="28" name="slide010-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0-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0-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0-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a:t>
            </a:r>
          </a:p>
        </p:txBody>
      </p:sp>
      <p:sp>
        <p:nvSpPr>
          <p:cNvPr id="32" name="slide010-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0-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0-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0-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852.95</a:t>
            </a:r>
          </a:p>
        </p:txBody>
      </p:sp>
      <p:sp>
        <p:nvSpPr>
          <p:cNvPr id="36" name="slide010-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0-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0-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0-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663.70</a:t>
            </a:r>
          </a:p>
        </p:txBody>
      </p:sp>
      <p:sp>
        <p:nvSpPr>
          <p:cNvPr id="40" name="slide010-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0-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0-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0-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23,340 / 2.03%</a:t>
            </a:r>
          </a:p>
        </p:txBody>
      </p:sp>
      <p:sp>
        <p:nvSpPr>
          <p:cNvPr id="44" name="slide010-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0-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0-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0-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48" name="slide010-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S033</a:t>
            </a:r>
          </a:p>
        </p:txBody>
      </p:sp>
      <p:sp>
        <p:nvSpPr>
          <p:cNvPr id="3" name="slide01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simplest model: past result frequencies</a:t>
            </a:r>
          </a:p>
        </p:txBody>
      </p:sp>
      <p:sp>
        <p:nvSpPr>
          <p:cNvPr id="4" name="slide01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No match-specific inputs: every game in a season gets the same three probabilities. Trading statistics: 2022/23–2025/26, 1,470 matches.</a:t>
            </a:r>
          </a:p>
        </p:txBody>
      </p:sp>
      <p:sp>
        <p:nvSpPr>
          <p:cNvPr id="5" name="slide011-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1-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Counts how often home wins, draws and away wins happened in the training data. Uses those fractions for every game.</a:t>
            </a:r>
          </a:p>
        </p:txBody>
      </p:sp>
      <p:sp>
        <p:nvSpPr>
          <p:cNvPr id="7" name="slide011-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1-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1-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44.29%  |  Prediction loss: 1.0700</a:t>
            </a:r>
          </a:p>
        </p:txBody>
      </p:sp>
      <p:sp>
        <p:nvSpPr>
          <p:cNvPr id="10" name="slide011-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1-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1-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1-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29,760</a:t>
            </a:r>
          </a:p>
        </p:txBody>
      </p:sp>
      <p:sp>
        <p:nvSpPr>
          <p:cNvPr id="14" name="slide011-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1-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1-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1-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1-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-70.24%</a:t>
            </a:r>
          </a:p>
        </p:txBody>
      </p:sp>
      <p:sp>
        <p:nvSpPr>
          <p:cNvPr id="19" name="slide011-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1-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1-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1-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1-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1-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1-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1-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1-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1,447 / 98.44%</a:t>
            </a:r>
          </a:p>
        </p:txBody>
      </p:sp>
      <p:sp>
        <p:nvSpPr>
          <p:cNvPr id="28" name="slide011-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1-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1-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1-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a:t>
            </a:r>
          </a:p>
        </p:txBody>
      </p:sp>
      <p:sp>
        <p:nvSpPr>
          <p:cNvPr id="32" name="slide011-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1-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1-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1-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1739.52</a:t>
            </a:r>
          </a:p>
        </p:txBody>
      </p:sp>
      <p:sp>
        <p:nvSpPr>
          <p:cNvPr id="36" name="slide011-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1-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1-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1-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611.96</a:t>
            </a:r>
          </a:p>
        </p:txBody>
      </p:sp>
      <p:sp>
        <p:nvSpPr>
          <p:cNvPr id="40" name="slide011-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1-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1-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1-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-70,240 / -4.85%</a:t>
            </a:r>
          </a:p>
        </p:txBody>
      </p:sp>
      <p:sp>
        <p:nvSpPr>
          <p:cNvPr id="44" name="slide011-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1-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1-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1-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48" name="slide011-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S017</a:t>
            </a:r>
          </a:p>
        </p:txBody>
      </p:sp>
      <p:sp>
        <p:nvSpPr>
          <p:cNvPr id="3" name="slide01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team model: earlier team performance</a:t>
            </a:r>
          </a:p>
        </p:txBody>
      </p:sp>
      <p:sp>
        <p:nvSpPr>
          <p:cNvPr id="4" name="slide01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team performance and data-coverage controls; no player-performance or odds predictors. Trading statistics: 2022/23–2025/26, 1,470 matches.</a:t>
            </a:r>
          </a:p>
        </p:txBody>
      </p:sp>
      <p:sp>
        <p:nvSpPr>
          <p:cNvPr id="5" name="slide012-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2-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goals, shots on target, corners, points, rest days and previous-season results to estimate home/draw/away chances.</a:t>
            </a:r>
          </a:p>
        </p:txBody>
      </p:sp>
      <p:sp>
        <p:nvSpPr>
          <p:cNvPr id="7" name="slide012-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2-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2-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52.93%  |  Prediction loss: 0.9876</a:t>
            </a:r>
          </a:p>
        </p:txBody>
      </p:sp>
      <p:sp>
        <p:nvSpPr>
          <p:cNvPr id="10" name="slide012-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2-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2-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2-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119,790</a:t>
            </a:r>
          </a:p>
        </p:txBody>
      </p:sp>
      <p:sp>
        <p:nvSpPr>
          <p:cNvPr id="14" name="slide012-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2-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2-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2-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2-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19.79%</a:t>
            </a:r>
          </a:p>
        </p:txBody>
      </p:sp>
      <p:sp>
        <p:nvSpPr>
          <p:cNvPr id="19" name="slide012-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2-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2-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2-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2-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2-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2-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2-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2-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1,241 / 84.42%</a:t>
            </a:r>
          </a:p>
        </p:txBody>
      </p:sp>
      <p:sp>
        <p:nvSpPr>
          <p:cNvPr id="28" name="slide012-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2-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2-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2-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a:t>
            </a:r>
          </a:p>
        </p:txBody>
      </p:sp>
      <p:sp>
        <p:nvSpPr>
          <p:cNvPr id="32" name="slide012-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2-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2-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2-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962.54</a:t>
            </a:r>
          </a:p>
        </p:txBody>
      </p:sp>
      <p:sp>
        <p:nvSpPr>
          <p:cNvPr id="36" name="slide012-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2-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2-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2-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648.43</a:t>
            </a:r>
          </a:p>
        </p:txBody>
      </p:sp>
      <p:sp>
        <p:nvSpPr>
          <p:cNvPr id="40" name="slide012-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2-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2-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2-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19,790 / 1.59%</a:t>
            </a:r>
          </a:p>
        </p:txBody>
      </p:sp>
      <p:sp>
        <p:nvSpPr>
          <p:cNvPr id="44" name="slide012-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2-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2-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2-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48" name="slide012-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P009</a:t>
            </a:r>
          </a:p>
        </p:txBody>
      </p:sp>
      <p:sp>
        <p:nvSpPr>
          <p:cNvPr id="3" name="slide01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player model: earlier Fantasy Premier League form</a:t>
            </a:r>
          </a:p>
        </p:txBody>
      </p:sp>
      <p:sp>
        <p:nvSpPr>
          <p:cNvPr id="4" name="slide01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previous player records; no team-strength or bookmaker-odds predictors. Trading statistics: 2022/23–2025/26, 1,470 matches.</a:t>
            </a:r>
          </a:p>
        </p:txBody>
      </p:sp>
      <p:sp>
        <p:nvSpPr>
          <p:cNvPr id="5" name="slide013-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3-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FPL points, goals and assists.</a:t>
            </a:r>
          </a:p>
          <a:p>
            <a:pPr algn="l">
              <a:lnSpc>
                <a:spcPct val="100000"/>
              </a:lnSpc>
              <a:spcBef>
                <a:spcPts val="0"/>
              </a:spcBef>
              <a:spcAft>
                <a:spcPts val="0"/>
              </a:spcAft>
            </a:pPr>
            <a:r>
              <a:rPr sz="2200" b="0">
                <a:solidFill>
                  <a:srgbClr val="11243A"/>
                </a:solidFill>
                <a:latin typeface="Arial"/>
              </a:rPr>
              <a:t>Adds minutes and other player statistics.</a:t>
            </a:r>
          </a:p>
          <a:p>
            <a:pPr algn="l">
              <a:lnSpc>
                <a:spcPct val="100000"/>
              </a:lnSpc>
              <a:spcBef>
                <a:spcPts val="0"/>
              </a:spcBef>
              <a:spcAft>
                <a:spcPts val="0"/>
              </a:spcAft>
            </a:pPr>
            <a:r>
              <a:rPr sz="2200" b="0">
                <a:solidFill>
                  <a:srgbClr val="11243A"/>
                </a:solidFill>
                <a:latin typeface="Arial"/>
              </a:rPr>
              <a:t>Looks back over five and ten games.</a:t>
            </a:r>
          </a:p>
        </p:txBody>
      </p:sp>
      <p:sp>
        <p:nvSpPr>
          <p:cNvPr id="7" name="slide013-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3-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3-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50.07%  |  Prediction loss: 1.0218</a:t>
            </a:r>
          </a:p>
        </p:txBody>
      </p:sp>
      <p:sp>
        <p:nvSpPr>
          <p:cNvPr id="10" name="slide013-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3-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3-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3-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a:t>
            </a:r>
          </a:p>
        </p:txBody>
      </p:sp>
      <p:sp>
        <p:nvSpPr>
          <p:cNvPr id="14" name="slide013-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3-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3-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3-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3-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-100.00%</a:t>
            </a:r>
          </a:p>
        </p:txBody>
      </p:sp>
      <p:sp>
        <p:nvSpPr>
          <p:cNvPr id="19" name="slide013-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3-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3-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3-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3-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3-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3-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3-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3-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944 / 64.22%</a:t>
            </a:r>
          </a:p>
        </p:txBody>
      </p:sp>
      <p:sp>
        <p:nvSpPr>
          <p:cNvPr id="28" name="slide013-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3-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3-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3-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a:t>
            </a:r>
          </a:p>
        </p:txBody>
      </p:sp>
      <p:sp>
        <p:nvSpPr>
          <p:cNvPr id="32" name="slide013-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3-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3-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3-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1098.04</a:t>
            </a:r>
          </a:p>
        </p:txBody>
      </p:sp>
      <p:sp>
        <p:nvSpPr>
          <p:cNvPr id="36" name="slide013-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3-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3-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3-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618.22</a:t>
            </a:r>
          </a:p>
        </p:txBody>
      </p:sp>
      <p:sp>
        <p:nvSpPr>
          <p:cNvPr id="40" name="slide013-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3-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3-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3-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-100,000 / -10.87%</a:t>
            </a:r>
          </a:p>
        </p:txBody>
      </p:sp>
      <p:sp>
        <p:nvSpPr>
          <p:cNvPr id="44" name="slide013-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3-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3-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3-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48" name="slide013-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model_metrics_pooled.csv; metrics_continuous.parquet | Full paths in notes</a:t>
            </a:r>
          </a:p>
        </p:txBody>
      </p:sp>
      <p:sp>
        <p:nvSpPr>
          <p:cNvPr id="51" name="slide01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OPPOSITE-POLICY SENSITIVITY</a:t>
            </a:r>
          </a:p>
        </p:txBody>
      </p:sp>
      <p:sp>
        <p:nvSpPr>
          <p:cNvPr id="3" name="slide01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back both other outcomes after a zero account</a:t>
            </a:r>
          </a:p>
        </p:txBody>
      </p:sp>
      <p:sp>
        <p:nvSpPr>
          <p:cNvPr id="4" name="slide01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17 bankrupt strategy/price contexts, covering 15 strategy IDs. Each inverse starts a new 100,000 account.</a:t>
            </a:r>
          </a:p>
        </p:txBody>
      </p:sp>
      <p:pic>
        <p:nvPicPr>
          <p:cNvPr id="5" name="slide014-element000-image-image" descr="epl_inverse_capital.png"/>
          <p:cNvPicPr>
            <a:picLocks noChangeAspect="1"/>
          </p:cNvPicPr>
          <p:nvPr/>
        </p:nvPicPr>
        <p:blipFill>
          <a:blip r:embed="rId2"/>
          <a:stretch>
            <a:fillRect/>
          </a:stretch>
        </p:blipFill>
        <p:spPr>
          <a:xfrm>
            <a:off x="594360" y="2204764"/>
            <a:ext cx="8458200" cy="3554895"/>
          </a:xfrm>
          <a:prstGeom prst="rect">
            <a:avLst/>
          </a:prstGeom>
        </p:spPr>
      </p:pic>
      <p:sp>
        <p:nvSpPr>
          <p:cNvPr id="6" name="slide014-element001-text"/>
          <p:cNvSpPr txBox="1"/>
          <p:nvPr/>
        </p:nvSpPr>
        <p:spPr>
          <a:xfrm>
            <a:off x="9326880" y="1956816"/>
            <a:ext cx="4663440" cy="32004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FULL-HORIZON PRICED COMPLEMENT</a:t>
            </a:r>
          </a:p>
        </p:txBody>
      </p:sp>
      <p:sp>
        <p:nvSpPr>
          <p:cNvPr id="7" name="slide014-element002-text"/>
          <p:cNvSpPr txBox="1"/>
          <p:nvPr/>
        </p:nvSpPr>
        <p:spPr>
          <a:xfrm>
            <a:off x="9326880" y="2487168"/>
            <a:ext cx="4663440" cy="548640"/>
          </a:xfrm>
          <a:prstGeom prst="rect">
            <a:avLst/>
          </a:prstGeom>
          <a:noFill/>
        </p:spPr>
        <p:txBody>
          <a:bodyPr wrap="square" lIns="0" rIns="0" tIns="0" bIns="0" anchor="t">
            <a:noAutofit/>
          </a:bodyPr>
          <a:lstStyle/>
          <a:p>
            <a:pPr algn="l">
              <a:lnSpc>
                <a:spcPct val="100000"/>
              </a:lnSpc>
              <a:spcBef>
                <a:spcPts val="0"/>
              </a:spcBef>
              <a:spcAft>
                <a:spcPts val="0"/>
              </a:spcAft>
            </a:pPr>
            <a:r>
              <a:rPr sz="2600" b="1">
                <a:solidFill>
                  <a:srgbClr val="0D897D"/>
                </a:solidFill>
                <a:latin typeface="Arial"/>
              </a:rPr>
              <a:t>2 / 17 profit at 0% cost</a:t>
            </a:r>
          </a:p>
        </p:txBody>
      </p:sp>
      <p:sp>
        <p:nvSpPr>
          <p:cNvPr id="8" name="slide014-element003-text"/>
          <p:cNvSpPr txBox="1"/>
          <p:nvPr/>
        </p:nvSpPr>
        <p:spPr>
          <a:xfrm>
            <a:off x="9326880" y="3273552"/>
            <a:ext cx="4663440" cy="82296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Median ending cash: 62,010</a:t>
            </a:r>
          </a:p>
          <a:p>
            <a:pPr algn="l">
              <a:lnSpc>
                <a:spcPct val="100000"/>
              </a:lnSpc>
              <a:spcBef>
                <a:spcPts val="0"/>
              </a:spcBef>
              <a:spcAft>
                <a:spcPts val="0"/>
              </a:spcAft>
            </a:pPr>
            <a:r>
              <a:rPr sz="2000" b="0">
                <a:solidFill>
                  <a:srgbClr val="11243A"/>
                </a:solidFill>
                <a:latin typeface="Arial"/>
              </a:rPr>
              <a:t>Range: 0–116,968</a:t>
            </a:r>
          </a:p>
        </p:txBody>
      </p:sp>
      <p:sp>
        <p:nvSpPr>
          <p:cNvPr id="9" name="slide014-element004-text"/>
          <p:cNvSpPr txBox="1"/>
          <p:nvPr/>
        </p:nvSpPr>
        <p:spPr>
          <a:xfrm>
            <a:off x="9326880" y="4288536"/>
            <a:ext cx="4663440" cy="713232"/>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Profitable after 2% / 5% cost:</a:t>
            </a:r>
          </a:p>
          <a:p>
            <a:pPr algn="l">
              <a:lnSpc>
                <a:spcPct val="100000"/>
              </a:lnSpc>
              <a:spcBef>
                <a:spcPts val="0"/>
              </a:spcBef>
              <a:spcAft>
                <a:spcPts val="0"/>
              </a:spcAft>
            </a:pPr>
            <a:r>
              <a:rPr sz="2000" b="0">
                <a:solidFill>
                  <a:srgbClr val="11243A"/>
                </a:solidFill>
                <a:latin typeface="Arial"/>
              </a:rPr>
              <a:t>2 / 17 and 1 / 17</a:t>
            </a:r>
          </a:p>
        </p:txBody>
      </p:sp>
      <p:sp>
        <p:nvSpPr>
          <p:cNvPr id="10" name="slide014-element005-text"/>
          <p:cNvSpPr txBox="1"/>
          <p:nvPr/>
        </p:nvSpPr>
        <p:spPr>
          <a:xfrm>
            <a:off x="9326880" y="5193792"/>
            <a:ext cx="4663440" cy="91440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Controls: 2 / 34 profit.</a:t>
            </a:r>
          </a:p>
          <a:p>
            <a:pPr algn="l">
              <a:lnSpc>
                <a:spcPct val="100000"/>
              </a:lnSpc>
              <a:spcBef>
                <a:spcPts val="0"/>
              </a:spcBef>
              <a:spcAft>
                <a:spcPts val="0"/>
              </a:spcAft>
            </a:pPr>
            <a:r>
              <a:rPr sz="1800" b="0">
                <a:solidFill>
                  <a:srgbClr val="536578"/>
                </a:solidFill>
                <a:latin typeface="Arial"/>
              </a:rPr>
              <a:t>Profitable cases with 95% ROI intervals</a:t>
            </a:r>
          </a:p>
          <a:p>
            <a:pPr algn="l">
              <a:lnSpc>
                <a:spcPct val="100000"/>
              </a:lnSpc>
              <a:spcBef>
                <a:spcPts val="0"/>
              </a:spcBef>
              <a:spcAft>
                <a:spcPts val="0"/>
              </a:spcAft>
            </a:pPr>
            <a:r>
              <a:rPr sz="1800" b="0">
                <a:solidFill>
                  <a:srgbClr val="536578"/>
                </a:solidFill>
                <a:latin typeface="Arial"/>
              </a:rPr>
              <a:t>including zero: 2 / 2.</a:t>
            </a:r>
          </a:p>
        </p:txBody>
      </p:sp>
      <p:sp>
        <p:nvSpPr>
          <p:cNvPr id="11" name="slide014-element006-text"/>
          <p:cNvSpPr txBox="1"/>
          <p:nvPr/>
        </p:nvSpPr>
        <p:spPr>
          <a:xfrm>
            <a:off x="594360" y="6345936"/>
            <a:ext cx="13350240" cy="73152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Keep the original signal. Split 1,000 total risk (1% of initial cash) across the other two results for equal payouts.</a:t>
            </a:r>
          </a:p>
          <a:p>
            <a:pPr algn="l">
              <a:lnSpc>
                <a:spcPct val="100000"/>
              </a:lnSpc>
              <a:spcBef>
                <a:spcPts val="0"/>
              </a:spcBef>
              <a:spcAft>
                <a:spcPts val="0"/>
              </a:spcAft>
            </a:pPr>
            <a:r>
              <a:rPr sz="1900" b="0">
                <a:solidFill>
                  <a:srgbClr val="11243A"/>
                </a:solidFill>
                <a:latin typeface="Arial"/>
              </a:rPr>
              <a:t>Fund all same-date bundles from opening cash; continue after the original account's bankruptcy.</a:t>
            </a:r>
          </a:p>
        </p:txBody>
      </p:sp>
      <p:sp>
        <p:nvSpPr>
          <p:cNvPr id="12" name="slide014-element007-text"/>
          <p:cNvSpPr txBox="1"/>
          <p:nvPr/>
        </p:nvSpPr>
        <p:spPr>
          <a:xfrm>
            <a:off x="594360" y="7242048"/>
            <a:ext cx="13350240" cy="256032"/>
          </a:xfrm>
          <a:prstGeom prst="rect">
            <a:avLst/>
          </a:prstGeom>
          <a:noFill/>
        </p:spPr>
        <p:txBody>
          <a:bodyPr wrap="square" lIns="0" rIns="0" tIns="0" bIns="0" anchor="t">
            <a:noAutofit/>
          </a:bodyPr>
          <a:lstStyle/>
          <a:p>
            <a:pPr algn="l">
              <a:lnSpc>
                <a:spcPct val="100000"/>
              </a:lnSpc>
              <a:spcBef>
                <a:spcPts val="0"/>
              </a:spcBef>
              <a:spcAft>
                <a:spcPts val="0"/>
              </a:spcAft>
            </a:pPr>
            <a:r>
              <a:rPr sz="1400" b="0">
                <a:solidFill>
                  <a:srgbClr val="536578"/>
                </a:solidFill>
                <a:latin typeface="Arial"/>
              </a:rPr>
              <a:t>Hypothetical lays profit in 16/17 cases but assume unobserved lay quotes. This post-hoc study does not verify executable returns.</a:t>
            </a:r>
          </a:p>
        </p:txBody>
      </p:sp>
      <p:cxnSp>
        <p:nvCxnSpPr>
          <p:cNvPr id="13" name="slide01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4" name="slide01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summary.json; inverse_protocol.md | Full paths in notes</a:t>
            </a:r>
          </a:p>
        </p:txBody>
      </p:sp>
      <p:sp>
        <p:nvSpPr>
          <p:cNvPr id="15" name="slide01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WHOLE-PROJECT REVIEW | EVIDENCE AND LIMITATIONS</a:t>
            </a:r>
          </a:p>
        </p:txBody>
      </p:sp>
      <p:sp>
        <p:nvSpPr>
          <p:cNvPr id="3" name="slide01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What the completed project supports</a:t>
            </a:r>
          </a:p>
        </p:txBody>
      </p:sp>
      <p:sp>
        <p:nvSpPr>
          <p:cNvPr id="4" name="slide01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Calibration, quoted prices and capital risk must be evaluated together. Historical profit alone is not enough.</a:t>
            </a:r>
          </a:p>
        </p:txBody>
      </p:sp>
      <p:sp>
        <p:nvSpPr>
          <p:cNvPr id="5" name="slide015-element000-table-r00-c00-cell"/>
          <p:cNvSpPr/>
          <p:nvPr/>
        </p:nvSpPr>
        <p:spPr>
          <a:xfrm>
            <a:off x="594360" y="1901952"/>
            <a:ext cx="3085277"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5-element000-table-r00-c00-text"/>
          <p:cNvSpPr txBox="1"/>
          <p:nvPr/>
        </p:nvSpPr>
        <p:spPr>
          <a:xfrm>
            <a:off x="685800" y="1975104"/>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Question</a:t>
            </a:r>
          </a:p>
        </p:txBody>
      </p:sp>
      <p:sp>
        <p:nvSpPr>
          <p:cNvPr id="7" name="slide015-element000-table-r00-c01-cell"/>
          <p:cNvSpPr/>
          <p:nvPr/>
        </p:nvSpPr>
        <p:spPr>
          <a:xfrm>
            <a:off x="3679637" y="1901952"/>
            <a:ext cx="6036411"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5-element000-table-r00-c01-text"/>
          <p:cNvSpPr txBox="1"/>
          <p:nvPr/>
        </p:nvSpPr>
        <p:spPr>
          <a:xfrm>
            <a:off x="3771077" y="1975104"/>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Verified evidence</a:t>
            </a:r>
          </a:p>
        </p:txBody>
      </p:sp>
      <p:sp>
        <p:nvSpPr>
          <p:cNvPr id="9" name="slide015-element000-table-r00-c02-cell"/>
          <p:cNvSpPr/>
          <p:nvPr/>
        </p:nvSpPr>
        <p:spPr>
          <a:xfrm>
            <a:off x="9716048" y="1901952"/>
            <a:ext cx="4292559"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5-element000-table-r00-c02-text"/>
          <p:cNvSpPr txBox="1"/>
          <p:nvPr/>
        </p:nvSpPr>
        <p:spPr>
          <a:xfrm>
            <a:off x="9807488" y="1975104"/>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Interpretation</a:t>
            </a:r>
          </a:p>
        </p:txBody>
      </p:sp>
      <p:sp>
        <p:nvSpPr>
          <p:cNvPr id="11" name="slide015-element000-table-r01-c00-cell"/>
          <p:cNvSpPr/>
          <p:nvPr/>
        </p:nvSpPr>
        <p:spPr>
          <a:xfrm>
            <a:off x="594360" y="2624328"/>
            <a:ext cx="3085277"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5-element000-table-r01-c00-text"/>
          <p:cNvSpPr txBox="1"/>
          <p:nvPr/>
        </p:nvSpPr>
        <p:spPr>
          <a:xfrm>
            <a:off x="685800" y="2697480"/>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versus accuracy</a:t>
            </a:r>
          </a:p>
        </p:txBody>
      </p:sp>
      <p:sp>
        <p:nvSpPr>
          <p:cNvPr id="13" name="slide015-element000-table-r01-c01-cell"/>
          <p:cNvSpPr/>
          <p:nvPr/>
        </p:nvSpPr>
        <p:spPr>
          <a:xfrm>
            <a:off x="3679637" y="2624328"/>
            <a:ext cx="6036411"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5-element000-table-r01-c01-text"/>
          <p:cNvSpPr txBox="1"/>
          <p:nvPr/>
        </p:nvSpPr>
        <p:spPr>
          <a:xfrm>
            <a:off x="3771077" y="2697480"/>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NBA calibration wins 3/9 annual comparisons.</a:t>
            </a:r>
          </a:p>
          <a:p>
            <a:pPr algn="l">
              <a:lnSpc>
                <a:spcPct val="100000"/>
              </a:lnSpc>
              <a:spcBef>
                <a:spcPts val="0"/>
              </a:spcBef>
              <a:spcAft>
                <a:spcPts val="0"/>
              </a:spcAft>
            </a:pPr>
            <a:r>
              <a:rPr sz="1800" b="0">
                <a:solidFill>
                  <a:srgbClr val="11243A"/>
                </a:solidFill>
                <a:latin typeface="Arial"/>
              </a:rPr>
              <a:t>EPL locked primary policies both hold cash.</a:t>
            </a:r>
          </a:p>
        </p:txBody>
      </p:sp>
      <p:sp>
        <p:nvSpPr>
          <p:cNvPr id="15" name="slide015-element000-table-r01-c02-cell"/>
          <p:cNvSpPr/>
          <p:nvPr/>
        </p:nvSpPr>
        <p:spPr>
          <a:xfrm>
            <a:off x="9716048" y="2624328"/>
            <a:ext cx="4292559"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5-element000-table-r01-c02-text"/>
          <p:cNvSpPr txBox="1"/>
          <p:nvPr/>
        </p:nvSpPr>
        <p:spPr>
          <a:xfrm>
            <a:off x="9807488" y="2697480"/>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No stable, established profit advantage.</a:t>
            </a:r>
          </a:p>
        </p:txBody>
      </p:sp>
      <p:sp>
        <p:nvSpPr>
          <p:cNvPr id="17" name="slide015-element000-table-r02-c00-cell"/>
          <p:cNvSpPr/>
          <p:nvPr/>
        </p:nvSpPr>
        <p:spPr>
          <a:xfrm>
            <a:off x="594360" y="3346704"/>
            <a:ext cx="3085277"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5-element000-table-r02-c00-text"/>
          <p:cNvSpPr txBox="1"/>
          <p:nvPr/>
        </p:nvSpPr>
        <p:spPr>
          <a:xfrm>
            <a:off x="685800" y="3419856"/>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Predictive benchmark</a:t>
            </a:r>
          </a:p>
        </p:txBody>
      </p:sp>
      <p:sp>
        <p:nvSpPr>
          <p:cNvPr id="19" name="slide015-element000-table-r02-c01-cell"/>
          <p:cNvSpPr/>
          <p:nvPr/>
        </p:nvSpPr>
        <p:spPr>
          <a:xfrm>
            <a:off x="3679637" y="3346704"/>
            <a:ext cx="6036411"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5-element000-table-r02-c01-text"/>
          <p:cNvSpPr txBox="1"/>
          <p:nvPr/>
        </p:nvSpPr>
        <p:spPr>
          <a:xfrm>
            <a:off x="3771077" y="3419856"/>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 log loss: raw market 0.9662;</a:t>
            </a:r>
          </a:p>
          <a:p>
            <a:pPr algn="l">
              <a:lnSpc>
                <a:spcPct val="100000"/>
              </a:lnSpc>
              <a:spcBef>
                <a:spcPts val="0"/>
              </a:spcBef>
              <a:spcAft>
                <a:spcPts val="0"/>
              </a:spcAft>
            </a:pPr>
            <a:r>
              <a:rPr sz="1800" b="0">
                <a:solidFill>
                  <a:srgbClr val="11243A"/>
                </a:solidFill>
                <a:latin typeface="Arial"/>
              </a:rPr>
              <a:t>best learned model 0.9693 (lower is better).</a:t>
            </a:r>
          </a:p>
        </p:txBody>
      </p:sp>
      <p:sp>
        <p:nvSpPr>
          <p:cNvPr id="21" name="slide015-element000-table-r02-c02-cell"/>
          <p:cNvSpPr/>
          <p:nvPr/>
        </p:nvSpPr>
        <p:spPr>
          <a:xfrm>
            <a:off x="9716048" y="3346704"/>
            <a:ext cx="4292559"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5-element000-table-r02-c02-text"/>
          <p:cNvSpPr txBox="1"/>
          <p:nvPr/>
        </p:nvSpPr>
        <p:spPr>
          <a:xfrm>
            <a:off x="9807488" y="3419856"/>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Prices remain a strong benchmark.</a:t>
            </a:r>
          </a:p>
        </p:txBody>
      </p:sp>
      <p:sp>
        <p:nvSpPr>
          <p:cNvPr id="23" name="slide015-element000-table-r03-c00-cell"/>
          <p:cNvSpPr/>
          <p:nvPr/>
        </p:nvSpPr>
        <p:spPr>
          <a:xfrm>
            <a:off x="594360" y="4069080"/>
            <a:ext cx="3085277"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5-element000-table-r03-c00-text"/>
          <p:cNvSpPr txBox="1"/>
          <p:nvPr/>
        </p:nvSpPr>
        <p:spPr>
          <a:xfrm>
            <a:off x="685800" y="4142232"/>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Extra player data</a:t>
            </a:r>
          </a:p>
        </p:txBody>
      </p:sp>
      <p:sp>
        <p:nvSpPr>
          <p:cNvPr id="25" name="slide015-element000-table-r03-c01-cell"/>
          <p:cNvSpPr/>
          <p:nvPr/>
        </p:nvSpPr>
        <p:spPr>
          <a:xfrm>
            <a:off x="3679637" y="4069080"/>
            <a:ext cx="6036411"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5-element000-table-r03-c01-text"/>
          <p:cNvSpPr txBox="1"/>
          <p:nvPr/>
        </p:nvSpPr>
        <p:spPr>
          <a:xfrm>
            <a:off x="3771077" y="4142232"/>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All 6 tested new player-feature variants have</a:t>
            </a:r>
          </a:p>
          <a:p>
            <a:pPr algn="l">
              <a:lnSpc>
                <a:spcPct val="100000"/>
              </a:lnSpc>
              <a:spcBef>
                <a:spcPts val="0"/>
              </a:spcBef>
              <a:spcAft>
                <a:spcPts val="0"/>
              </a:spcAft>
            </a:pPr>
            <a:r>
              <a:rPr sz="1800" b="0">
                <a:solidFill>
                  <a:srgbClr val="11243A"/>
                </a:solidFill>
                <a:latin typeface="Arial"/>
              </a:rPr>
              <a:t>worse loss than their matched team controls.</a:t>
            </a:r>
          </a:p>
        </p:txBody>
      </p:sp>
      <p:sp>
        <p:nvSpPr>
          <p:cNvPr id="27" name="slide015-element000-table-r03-c02-cell"/>
          <p:cNvSpPr/>
          <p:nvPr/>
        </p:nvSpPr>
        <p:spPr>
          <a:xfrm>
            <a:off x="9716048" y="4069080"/>
            <a:ext cx="4292559"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5-element000-table-r03-c02-text"/>
          <p:cNvSpPr txBox="1"/>
          <p:nvPr/>
        </p:nvSpPr>
        <p:spPr>
          <a:xfrm>
            <a:off x="9807488" y="4142232"/>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These richer features did not improve forecasts.</a:t>
            </a:r>
          </a:p>
        </p:txBody>
      </p:sp>
      <p:sp>
        <p:nvSpPr>
          <p:cNvPr id="29" name="slide015-element000-table-r04-c00-cell"/>
          <p:cNvSpPr/>
          <p:nvPr/>
        </p:nvSpPr>
        <p:spPr>
          <a:xfrm>
            <a:off x="594360" y="4791456"/>
            <a:ext cx="3085277"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5-element000-table-r04-c00-text"/>
          <p:cNvSpPr txBox="1"/>
          <p:nvPr/>
        </p:nvSpPr>
        <p:spPr>
          <a:xfrm>
            <a:off x="685800" y="4864608"/>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Arbitrage and reversals</a:t>
            </a:r>
          </a:p>
        </p:txBody>
      </p:sp>
      <p:sp>
        <p:nvSpPr>
          <p:cNvPr id="31" name="slide015-element000-table-r04-c01-cell"/>
          <p:cNvSpPr/>
          <p:nvPr/>
        </p:nvSpPr>
        <p:spPr>
          <a:xfrm>
            <a:off x="3679637" y="4791456"/>
            <a:ext cx="6036411"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5-element000-table-r04-c01-text"/>
          <p:cNvSpPr txBox="1"/>
          <p:nvPr/>
        </p:nvSpPr>
        <p:spPr>
          <a:xfrm>
            <a:off x="3771077" y="4864608"/>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4/1,470 mathematical arbitrage flags; 0 verified fills.</a:t>
            </a:r>
          </a:p>
          <a:p>
            <a:pPr algn="l">
              <a:lnSpc>
                <a:spcPct val="100000"/>
              </a:lnSpc>
              <a:spcBef>
                <a:spcPts val="0"/>
              </a:spcBef>
              <a:spcAft>
                <a:spcPts val="0"/>
              </a:spcAft>
            </a:pPr>
            <a:r>
              <a:rPr sz="1800" b="0">
                <a:solidFill>
                  <a:srgbClr val="11243A"/>
                </a:solidFill>
                <a:latin typeface="Arial"/>
              </a:rPr>
              <a:t>Opposite accounts profit: NBA 1/2; EPL 2/17.</a:t>
            </a:r>
          </a:p>
        </p:txBody>
      </p:sp>
      <p:sp>
        <p:nvSpPr>
          <p:cNvPr id="33" name="slide015-element000-table-r04-c02-cell"/>
          <p:cNvSpPr/>
          <p:nvPr/>
        </p:nvSpPr>
        <p:spPr>
          <a:xfrm>
            <a:off x="9716048" y="4791456"/>
            <a:ext cx="4292559"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5-element000-table-r04-c02-text"/>
          <p:cNvSpPr txBox="1"/>
          <p:nvPr/>
        </p:nvSpPr>
        <p:spPr>
          <a:xfrm>
            <a:off x="9807488" y="4864608"/>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Neither result establishes an executable future edge.</a:t>
            </a:r>
          </a:p>
        </p:txBody>
      </p:sp>
      <p:sp>
        <p:nvSpPr>
          <p:cNvPr id="35" name="slide015-element001-text"/>
          <p:cNvSpPr txBox="1"/>
          <p:nvPr/>
        </p:nvSpPr>
        <p:spPr>
          <a:xfrm>
            <a:off x="594360" y="5870448"/>
            <a:ext cx="13350240" cy="5943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536578"/>
                </a:solidFill>
                <a:latin typeface="Arial"/>
              </a:rPr>
              <a:t>Limitations: exploratory reuse of outcomes, uncertain quote availability and one unreproduced NBA SVM result.</a:t>
            </a:r>
          </a:p>
        </p:txBody>
      </p:sp>
      <p:sp>
        <p:nvSpPr>
          <p:cNvPr id="36" name="slide015-element002-text"/>
          <p:cNvSpPr txBox="1"/>
          <p:nvPr/>
        </p:nvSpPr>
        <p:spPr>
          <a:xfrm>
            <a:off x="594360" y="6720840"/>
            <a:ext cx="13350240" cy="658368"/>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Next test: freeze the model, rules and risk budget; record available quotes before future games; then evaluate both forecasts and funded returns.</a:t>
            </a:r>
          </a:p>
        </p:txBody>
      </p:sp>
      <p:cxnSp>
        <p:nvCxnSpPr>
          <p:cNvPr id="37" name="slide01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8" name="slide01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project_review.md; review_checks.json; epl_evidence.json; metrics.csv | Full paths in notes</a:t>
            </a:r>
          </a:p>
        </p:txBody>
      </p:sp>
      <p:sp>
        <p:nvSpPr>
          <p:cNvPr id="39" name="slide01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APPENDIX | RULES AND CAPITAL</a:t>
            </a:r>
          </a:p>
        </p:txBody>
      </p:sp>
      <p:sp>
        <p:nvSpPr>
          <p:cNvPr id="3" name="slide01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the four NBA betting rules</a:t>
            </a:r>
          </a:p>
        </p:txBody>
      </p:sp>
      <p:sp>
        <p:nvSpPr>
          <p:cNvPr id="4" name="slide01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One bet at most per game; settle sequentially. This is not the EPL joint same-date funding rule.</a:t>
            </a:r>
          </a:p>
        </p:txBody>
      </p:sp>
      <p:sp>
        <p:nvSpPr>
          <p:cNvPr id="5" name="slide016-element000-table-r00-c00-cell"/>
          <p:cNvSpPr/>
          <p:nvPr/>
        </p:nvSpPr>
        <p:spPr>
          <a:xfrm>
            <a:off x="594360" y="1901952"/>
            <a:ext cx="2816992"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6-element000-table-r00-c00-text"/>
          <p:cNvSpPr txBox="1"/>
          <p:nvPr/>
        </p:nvSpPr>
        <p:spPr>
          <a:xfrm>
            <a:off x="685800" y="1975104"/>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Forecast branch</a:t>
            </a:r>
          </a:p>
        </p:txBody>
      </p:sp>
      <p:sp>
        <p:nvSpPr>
          <p:cNvPr id="7" name="slide016-element000-table-r00-c01-cell"/>
          <p:cNvSpPr/>
          <p:nvPr/>
        </p:nvSpPr>
        <p:spPr>
          <a:xfrm>
            <a:off x="3411352" y="1901952"/>
            <a:ext cx="2146279"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6-element000-table-r00-c01-text"/>
          <p:cNvSpPr txBox="1"/>
          <p:nvPr/>
        </p:nvSpPr>
        <p:spPr>
          <a:xfrm>
            <a:off x="3502792" y="1975104"/>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Sizing rule</a:t>
            </a:r>
          </a:p>
        </p:txBody>
      </p:sp>
      <p:sp>
        <p:nvSpPr>
          <p:cNvPr id="9" name="slide016-element000-table-r00-c02-cell"/>
          <p:cNvSpPr/>
          <p:nvPr/>
        </p:nvSpPr>
        <p:spPr>
          <a:xfrm>
            <a:off x="5557631" y="1901952"/>
            <a:ext cx="4560844"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6-element000-table-r00-c02-text"/>
          <p:cNvSpPr txBox="1"/>
          <p:nvPr/>
        </p:nvSpPr>
        <p:spPr>
          <a:xfrm>
            <a:off x="5649071" y="1975104"/>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Money requested per trade</a:t>
            </a:r>
          </a:p>
        </p:txBody>
      </p:sp>
      <p:sp>
        <p:nvSpPr>
          <p:cNvPr id="11" name="slide016-element000-table-r00-c03-cell"/>
          <p:cNvSpPr/>
          <p:nvPr/>
        </p:nvSpPr>
        <p:spPr>
          <a:xfrm>
            <a:off x="10118476" y="1901952"/>
            <a:ext cx="3890131"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6-element000-table-r00-c03-text"/>
          <p:cNvSpPr txBox="1"/>
          <p:nvPr/>
        </p:nvSpPr>
        <p:spPr>
          <a:xfrm>
            <a:off x="10209916" y="1975104"/>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Entry rule</a:t>
            </a:r>
          </a:p>
        </p:txBody>
      </p:sp>
      <p:sp>
        <p:nvSpPr>
          <p:cNvPr id="13" name="slide016-element000-table-r01-c00-cell"/>
          <p:cNvSpPr/>
          <p:nvPr/>
        </p:nvSpPr>
        <p:spPr>
          <a:xfrm>
            <a:off x="594360" y="2606040"/>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6-element000-table-r01-c00-text"/>
          <p:cNvSpPr txBox="1"/>
          <p:nvPr/>
        </p:nvSpPr>
        <p:spPr>
          <a:xfrm>
            <a:off x="685800" y="2679192"/>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15" name="slide016-element000-table-r01-c01-cell"/>
          <p:cNvSpPr/>
          <p:nvPr/>
        </p:nvSpPr>
        <p:spPr>
          <a:xfrm>
            <a:off x="3411352" y="2606040"/>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6-element000-table-r01-c01-text"/>
          <p:cNvSpPr txBox="1"/>
          <p:nvPr/>
        </p:nvSpPr>
        <p:spPr>
          <a:xfrm>
            <a:off x="3502792" y="2679192"/>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17" name="slide016-element000-table-r01-c02-cell"/>
          <p:cNvSpPr/>
          <p:nvPr/>
        </p:nvSpPr>
        <p:spPr>
          <a:xfrm>
            <a:off x="5557631" y="2606040"/>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6-element000-table-r01-c02-text"/>
          <p:cNvSpPr txBox="1"/>
          <p:nvPr/>
        </p:nvSpPr>
        <p:spPr>
          <a:xfrm>
            <a:off x="5649071" y="2679192"/>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19" name="slide016-element000-table-r01-c03-cell"/>
          <p:cNvSpPr/>
          <p:nvPr/>
        </p:nvSpPr>
        <p:spPr>
          <a:xfrm>
            <a:off x="10118476" y="2606040"/>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6-element000-table-r01-c03-text"/>
          <p:cNvSpPr txBox="1"/>
          <p:nvPr/>
        </p:nvSpPr>
        <p:spPr>
          <a:xfrm>
            <a:off x="10209916" y="2679192"/>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1" name="slide016-element000-table-r02-c00-cell"/>
          <p:cNvSpPr/>
          <p:nvPr/>
        </p:nvSpPr>
        <p:spPr>
          <a:xfrm>
            <a:off x="594360" y="3310128"/>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6-element000-table-r02-c00-text"/>
          <p:cNvSpPr txBox="1"/>
          <p:nvPr/>
        </p:nvSpPr>
        <p:spPr>
          <a:xfrm>
            <a:off x="685800" y="3383280"/>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23" name="slide016-element000-table-r02-c01-cell"/>
          <p:cNvSpPr/>
          <p:nvPr/>
        </p:nvSpPr>
        <p:spPr>
          <a:xfrm>
            <a:off x="3411352" y="3310128"/>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6-element000-table-r02-c01-text"/>
          <p:cNvSpPr txBox="1"/>
          <p:nvPr/>
        </p:nvSpPr>
        <p:spPr>
          <a:xfrm>
            <a:off x="3502792" y="3383280"/>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25" name="slide016-element000-table-r02-c02-cell"/>
          <p:cNvSpPr/>
          <p:nvPr/>
        </p:nvSpPr>
        <p:spPr>
          <a:xfrm>
            <a:off x="5557631" y="3310128"/>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6-element000-table-r02-c02-text"/>
          <p:cNvSpPr txBox="1"/>
          <p:nvPr/>
        </p:nvSpPr>
        <p:spPr>
          <a:xfrm>
            <a:off x="5649071" y="3383280"/>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27" name="slide016-element000-table-r02-c03-cell"/>
          <p:cNvSpPr/>
          <p:nvPr/>
        </p:nvSpPr>
        <p:spPr>
          <a:xfrm>
            <a:off x="10118476" y="3310128"/>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6-element000-table-r02-c03-text"/>
          <p:cNvSpPr txBox="1"/>
          <p:nvPr/>
        </p:nvSpPr>
        <p:spPr>
          <a:xfrm>
            <a:off x="10209916" y="3383280"/>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9" name="slide016-element000-table-r03-c00-cell"/>
          <p:cNvSpPr/>
          <p:nvPr/>
        </p:nvSpPr>
        <p:spPr>
          <a:xfrm>
            <a:off x="594360" y="4014216"/>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6-element000-table-r03-c00-text"/>
          <p:cNvSpPr txBox="1"/>
          <p:nvPr/>
        </p:nvSpPr>
        <p:spPr>
          <a:xfrm>
            <a:off x="685800" y="4087368"/>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1" name="slide016-element000-table-r03-c01-cell"/>
          <p:cNvSpPr/>
          <p:nvPr/>
        </p:nvSpPr>
        <p:spPr>
          <a:xfrm>
            <a:off x="3411352" y="4014216"/>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6-element000-table-r03-c01-text"/>
          <p:cNvSpPr txBox="1"/>
          <p:nvPr/>
        </p:nvSpPr>
        <p:spPr>
          <a:xfrm>
            <a:off x="3502792" y="4087368"/>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33" name="slide016-element000-table-r03-c02-cell"/>
          <p:cNvSpPr/>
          <p:nvPr/>
        </p:nvSpPr>
        <p:spPr>
          <a:xfrm>
            <a:off x="5557631" y="4014216"/>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6-element000-table-r03-c02-text"/>
          <p:cNvSpPr txBox="1"/>
          <p:nvPr/>
        </p:nvSpPr>
        <p:spPr>
          <a:xfrm>
            <a:off x="5649071" y="4087368"/>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35" name="slide016-element000-table-r03-c03-cell"/>
          <p:cNvSpPr/>
          <p:nvPr/>
        </p:nvSpPr>
        <p:spPr>
          <a:xfrm>
            <a:off x="10118476" y="4014216"/>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6-element000-table-r03-c03-text"/>
          <p:cNvSpPr txBox="1"/>
          <p:nvPr/>
        </p:nvSpPr>
        <p:spPr>
          <a:xfrm>
            <a:off x="10209916" y="4087368"/>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37" name="slide016-element000-table-r04-c00-cell"/>
          <p:cNvSpPr/>
          <p:nvPr/>
        </p:nvSpPr>
        <p:spPr>
          <a:xfrm>
            <a:off x="594360" y="4718304"/>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6-element000-table-r04-c00-text"/>
          <p:cNvSpPr txBox="1"/>
          <p:nvPr/>
        </p:nvSpPr>
        <p:spPr>
          <a:xfrm>
            <a:off x="685800" y="4791456"/>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9" name="slide016-element000-table-r04-c01-cell"/>
          <p:cNvSpPr/>
          <p:nvPr/>
        </p:nvSpPr>
        <p:spPr>
          <a:xfrm>
            <a:off x="3411352" y="4718304"/>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6-element000-table-r04-c01-text"/>
          <p:cNvSpPr txBox="1"/>
          <p:nvPr/>
        </p:nvSpPr>
        <p:spPr>
          <a:xfrm>
            <a:off x="3502792" y="4791456"/>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41" name="slide016-element000-table-r04-c02-cell"/>
          <p:cNvSpPr/>
          <p:nvPr/>
        </p:nvSpPr>
        <p:spPr>
          <a:xfrm>
            <a:off x="5557631" y="4718304"/>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6-element000-table-r04-c02-text"/>
          <p:cNvSpPr txBox="1"/>
          <p:nvPr/>
        </p:nvSpPr>
        <p:spPr>
          <a:xfrm>
            <a:off x="5649071" y="4791456"/>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43" name="slide016-element000-table-r04-c03-cell"/>
          <p:cNvSpPr/>
          <p:nvPr/>
        </p:nvSpPr>
        <p:spPr>
          <a:xfrm>
            <a:off x="10118476" y="4718304"/>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6-element000-table-r04-c03-text"/>
          <p:cNvSpPr txBox="1"/>
          <p:nvPr/>
        </p:nvSpPr>
        <p:spPr>
          <a:xfrm>
            <a:off x="10209916" y="4791456"/>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45" name="slide016-element001-text"/>
          <p:cNvSpPr txBox="1"/>
          <p:nvPr/>
        </p:nvSpPr>
        <p:spPr>
          <a:xfrm>
            <a:off x="594360" y="5797296"/>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Eighth-Kelly stake = current cash × (1/8) × max(0, (probability × odds − 1) / (odds − 1)).</a:t>
            </a:r>
          </a:p>
        </p:txBody>
      </p:sp>
      <p:sp>
        <p:nvSpPr>
          <p:cNvPr id="46" name="slide016-element002-text"/>
          <p:cNvSpPr txBox="1"/>
          <p:nvPr/>
        </p:nvSpPr>
        <p:spPr>
          <a:xfrm>
            <a:off x="594360" y="6729984"/>
            <a:ext cx="13350240" cy="566928"/>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Do not add an EPL-style 2% cap to these source rules. A positive estimated return is a model claim, not a guaranteed gain.</a:t>
            </a:r>
          </a:p>
        </p:txBody>
      </p:sp>
      <p:cxnSp>
        <p:nvCxnSpPr>
          <p:cNvPr id="47" name="slide01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8" name="slide01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9" name="slide01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how much capital each rule uses</a:t>
            </a:r>
          </a:p>
        </p:txBody>
      </p:sp>
      <p:sp>
        <p:nvSpPr>
          <p:cNvPr id="4" name="slide01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Stake means the amount requested for one bet. The next pages state the setting for every strategy.</a:t>
            </a:r>
          </a:p>
        </p:txBody>
      </p:sp>
      <p:sp>
        <p:nvSpPr>
          <p:cNvPr id="5" name="slide017-element000-table-r00-c00-cell"/>
          <p:cNvSpPr/>
          <p:nvPr/>
        </p:nvSpPr>
        <p:spPr>
          <a:xfrm>
            <a:off x="594360" y="1874519"/>
            <a:ext cx="2548707"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7-element000-table-r00-c00-text"/>
          <p:cNvSpPr txBox="1"/>
          <p:nvPr/>
        </p:nvSpPr>
        <p:spPr>
          <a:xfrm>
            <a:off x="685800" y="194767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type</a:t>
            </a:r>
          </a:p>
        </p:txBody>
      </p:sp>
      <p:sp>
        <p:nvSpPr>
          <p:cNvPr id="7" name="slide017-element000-table-r00-c01-cell"/>
          <p:cNvSpPr/>
          <p:nvPr/>
        </p:nvSpPr>
        <p:spPr>
          <a:xfrm>
            <a:off x="3143067" y="1874519"/>
            <a:ext cx="6170554"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7-element000-table-r00-c01-text"/>
          <p:cNvSpPr txBox="1"/>
          <p:nvPr/>
        </p:nvSpPr>
        <p:spPr>
          <a:xfrm>
            <a:off x="3234507" y="194767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Plain meaning</a:t>
            </a:r>
          </a:p>
        </p:txBody>
      </p:sp>
      <p:sp>
        <p:nvSpPr>
          <p:cNvPr id="9" name="slide017-element000-table-r00-c02-cell"/>
          <p:cNvSpPr/>
          <p:nvPr/>
        </p:nvSpPr>
        <p:spPr>
          <a:xfrm>
            <a:off x="9313621" y="1874519"/>
            <a:ext cx="4694986"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7-element000-table-r00-c02-text"/>
          <p:cNvSpPr txBox="1"/>
          <p:nvPr/>
        </p:nvSpPr>
        <p:spPr>
          <a:xfrm>
            <a:off x="9405061" y="194767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Example</a:t>
            </a:r>
          </a:p>
        </p:txBody>
      </p:sp>
      <p:sp>
        <p:nvSpPr>
          <p:cNvPr id="11" name="slide017-element000-table-r01-c00-cell"/>
          <p:cNvSpPr/>
          <p:nvPr/>
        </p:nvSpPr>
        <p:spPr>
          <a:xfrm>
            <a:off x="594360" y="2686050"/>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7-element000-table-r01-c00-text"/>
          <p:cNvSpPr txBox="1"/>
          <p:nvPr/>
        </p:nvSpPr>
        <p:spPr>
          <a:xfrm>
            <a:off x="685800" y="275920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Fixed 1,000</a:t>
            </a:r>
          </a:p>
        </p:txBody>
      </p:sp>
      <p:sp>
        <p:nvSpPr>
          <p:cNvPr id="13" name="slide017-element000-table-r01-c01-cell"/>
          <p:cNvSpPr/>
          <p:nvPr/>
        </p:nvSpPr>
        <p:spPr>
          <a:xfrm>
            <a:off x="3143067" y="2686050"/>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7-element000-table-r01-c01-text"/>
          <p:cNvSpPr txBox="1"/>
          <p:nvPr/>
        </p:nvSpPr>
        <p:spPr>
          <a:xfrm>
            <a:off x="3234507" y="275920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Same requested amount each bet: 1% of INITIAL 100,000</a:t>
            </a:r>
          </a:p>
        </p:txBody>
      </p:sp>
      <p:sp>
        <p:nvSpPr>
          <p:cNvPr id="15" name="slide017-element000-table-r01-c02-cell"/>
          <p:cNvSpPr/>
          <p:nvPr/>
        </p:nvSpPr>
        <p:spPr>
          <a:xfrm>
            <a:off x="9313621" y="2686050"/>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7-element000-table-r01-c02-text"/>
          <p:cNvSpPr txBox="1"/>
          <p:nvPr/>
        </p:nvSpPr>
        <p:spPr>
          <a:xfrm>
            <a:off x="9405061" y="275920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still request 1,000</a:t>
            </a:r>
          </a:p>
        </p:txBody>
      </p:sp>
      <p:sp>
        <p:nvSpPr>
          <p:cNvPr id="17" name="slide017-element000-table-r02-c00-cell"/>
          <p:cNvSpPr/>
          <p:nvPr/>
        </p:nvSpPr>
        <p:spPr>
          <a:xfrm>
            <a:off x="594360" y="3497579"/>
            <a:ext cx="2548707"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7-element000-table-r02-c00-text"/>
          <p:cNvSpPr txBox="1"/>
          <p:nvPr/>
        </p:nvSpPr>
        <p:spPr>
          <a:xfrm>
            <a:off x="685800" y="357073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 of current cash</a:t>
            </a:r>
          </a:p>
        </p:txBody>
      </p:sp>
      <p:sp>
        <p:nvSpPr>
          <p:cNvPr id="19" name="slide017-element000-table-r02-c01-cell"/>
          <p:cNvSpPr/>
          <p:nvPr/>
        </p:nvSpPr>
        <p:spPr>
          <a:xfrm>
            <a:off x="3143067" y="3497579"/>
            <a:ext cx="6170554"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7-element000-table-r02-c01-text"/>
          <p:cNvSpPr txBox="1"/>
          <p:nvPr/>
        </p:nvSpPr>
        <p:spPr>
          <a:xfrm>
            <a:off x="3234507" y="357073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One percent of cash at the start of the match date</a:t>
            </a:r>
          </a:p>
        </p:txBody>
      </p:sp>
      <p:sp>
        <p:nvSpPr>
          <p:cNvPr id="21" name="slide017-element000-table-r02-c02-cell"/>
          <p:cNvSpPr/>
          <p:nvPr/>
        </p:nvSpPr>
        <p:spPr>
          <a:xfrm>
            <a:off x="9313621" y="3497579"/>
            <a:ext cx="4694986"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7-element000-table-r02-c02-text"/>
          <p:cNvSpPr txBox="1"/>
          <p:nvPr/>
        </p:nvSpPr>
        <p:spPr>
          <a:xfrm>
            <a:off x="9405061" y="357073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request 800</a:t>
            </a:r>
          </a:p>
        </p:txBody>
      </p:sp>
      <p:sp>
        <p:nvSpPr>
          <p:cNvPr id="23" name="slide017-element000-table-r03-c00-cell"/>
          <p:cNvSpPr/>
          <p:nvPr/>
        </p:nvSpPr>
        <p:spPr>
          <a:xfrm>
            <a:off x="594360" y="4309109"/>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7-element000-table-r03-c00-text"/>
          <p:cNvSpPr txBox="1"/>
          <p:nvPr/>
        </p:nvSpPr>
        <p:spPr>
          <a:xfrm>
            <a:off x="685800" y="438226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Kelly sizing</a:t>
            </a:r>
          </a:p>
        </p:txBody>
      </p:sp>
      <p:sp>
        <p:nvSpPr>
          <p:cNvPr id="25" name="slide017-element000-table-r03-c01-cell"/>
          <p:cNvSpPr/>
          <p:nvPr/>
        </p:nvSpPr>
        <p:spPr>
          <a:xfrm>
            <a:off x="3143067" y="4309109"/>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7-element000-table-r03-c01-text"/>
          <p:cNvSpPr txBox="1"/>
          <p:nvPr/>
        </p:nvSpPr>
        <p:spPr>
          <a:xfrm>
            <a:off x="3234507" y="438226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Amount varies with estimated advantage and odds; the listed % is a ceiling</a:t>
            </a:r>
          </a:p>
        </p:txBody>
      </p:sp>
      <p:sp>
        <p:nvSpPr>
          <p:cNvPr id="27" name="slide017-element000-table-r03-c02-cell"/>
          <p:cNvSpPr/>
          <p:nvPr/>
        </p:nvSpPr>
        <p:spPr>
          <a:xfrm>
            <a:off x="9313621" y="4309109"/>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7-element000-table-r03-c02-text"/>
          <p:cNvSpPr txBox="1"/>
          <p:nvPr/>
        </p:nvSpPr>
        <p:spPr>
          <a:xfrm>
            <a:off x="9405061" y="438226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 2% cap means at most 2,000 when cash is 100,000</a:t>
            </a:r>
          </a:p>
        </p:txBody>
      </p:sp>
      <p:sp>
        <p:nvSpPr>
          <p:cNvPr id="29" name="slide017-element001-text"/>
          <p:cNvSpPr txBox="1"/>
          <p:nvPr/>
        </p:nvSpPr>
        <p:spPr>
          <a:xfrm>
            <a:off x="594360" y="5468112"/>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Kelly example: 100,000 cash, a 40% chance and odds of 3.</a:t>
            </a:r>
          </a:p>
          <a:p>
            <a:pPr algn="l">
              <a:lnSpc>
                <a:spcPct val="100000"/>
              </a:lnSpc>
              <a:spcBef>
                <a:spcPts val="0"/>
              </a:spcBef>
              <a:spcAft>
                <a:spcPts val="0"/>
              </a:spcAft>
            </a:pPr>
            <a:r>
              <a:rPr sz="2000" b="0">
                <a:solidFill>
                  <a:srgbClr val="11243A"/>
                </a:solidFill>
                <a:latin typeface="Arial"/>
              </a:rPr>
              <a:t>Quarter Kelly requests 2,500; a 2% cap reduces the bet to 2,000.</a:t>
            </a:r>
          </a:p>
        </p:txBody>
      </p:sp>
      <p:sp>
        <p:nvSpPr>
          <p:cNvPr id="30" name="slide017-element002-text"/>
          <p:cNvSpPr txBox="1"/>
          <p:nvPr/>
        </p:nvSpPr>
        <p:spPr>
          <a:xfrm>
            <a:off x="594360" y="6318504"/>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Kelly stake = opening cash × min(cap, Kelly fraction × (probability × odds − 1) / (odds − 1)).</a:t>
            </a:r>
          </a:p>
        </p:txBody>
      </p:sp>
      <p:sp>
        <p:nvSpPr>
          <p:cNvPr id="31" name="slide017-element003-text"/>
          <p:cNvSpPr txBox="1"/>
          <p:nvPr/>
        </p:nvSpPr>
        <p:spPr>
          <a:xfrm>
            <a:off x="594360" y="6940296"/>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bets on a date share opening cash. Date caps apply to their combined stakes. Reduce all requests proportionally when needed; never borrow.</a:t>
            </a:r>
          </a:p>
        </p:txBody>
      </p:sp>
      <p:cxnSp>
        <p:nvCxnSpPr>
          <p:cNvPr id="32" name="slide01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3" name="slide01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engine.py; all_strategy_catalog.json | Full paths in notes</a:t>
            </a:r>
          </a:p>
        </p:txBody>
      </p:sp>
      <p:sp>
        <p:nvSpPr>
          <p:cNvPr id="34" name="slide01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(1/9)</a:t>
            </a:r>
          </a:p>
        </p:txBody>
      </p:sp>
      <p:sp>
        <p:nvSpPr>
          <p:cNvPr id="4" name="slide01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8-element000-table-r00-c00-cell"/>
          <p:cNvSpPr/>
          <p:nvPr/>
        </p:nvSpPr>
        <p:spPr>
          <a:xfrm>
            <a:off x="594360" y="1847088"/>
            <a:ext cx="160970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8-element000-table-r00-c00-text"/>
          <p:cNvSpPr txBox="1"/>
          <p:nvPr/>
        </p:nvSpPr>
        <p:spPr>
          <a:xfrm>
            <a:off x="685800" y="19202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8-element000-table-r00-c01-cell"/>
          <p:cNvSpPr/>
          <p:nvPr/>
        </p:nvSpPr>
        <p:spPr>
          <a:xfrm>
            <a:off x="2204069"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8-element000-table-r00-c01-text"/>
          <p:cNvSpPr txBox="1"/>
          <p:nvPr/>
        </p:nvSpPr>
        <p:spPr>
          <a:xfrm>
            <a:off x="2295509"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8-element000-table-r00-c02-cell"/>
          <p:cNvSpPr/>
          <p:nvPr/>
        </p:nvSpPr>
        <p:spPr>
          <a:xfrm>
            <a:off x="5557631"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8-element000-table-r00-c02-text"/>
          <p:cNvSpPr txBox="1"/>
          <p:nvPr/>
        </p:nvSpPr>
        <p:spPr>
          <a:xfrm>
            <a:off x="5649071"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8-element000-table-r00-c03-cell"/>
          <p:cNvSpPr/>
          <p:nvPr/>
        </p:nvSpPr>
        <p:spPr>
          <a:xfrm>
            <a:off x="8911193" y="1847088"/>
            <a:ext cx="321941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8-element000-table-r00-c03-text"/>
          <p:cNvSpPr txBox="1"/>
          <p:nvPr/>
        </p:nvSpPr>
        <p:spPr>
          <a:xfrm>
            <a:off x="9002633" y="19202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8-element000-table-r00-c04-cell"/>
          <p:cNvSpPr/>
          <p:nvPr/>
        </p:nvSpPr>
        <p:spPr>
          <a:xfrm>
            <a:off x="12130613" y="1847088"/>
            <a:ext cx="187799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8-element000-table-r00-c04-text"/>
          <p:cNvSpPr txBox="1"/>
          <p:nvPr/>
        </p:nvSpPr>
        <p:spPr>
          <a:xfrm>
            <a:off x="12222053" y="19202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8-element000-table-r01-c00-cell"/>
          <p:cNvSpPr/>
          <p:nvPr/>
        </p:nvSpPr>
        <p:spPr>
          <a:xfrm>
            <a:off x="594360" y="239572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8-element000-table-r01-c00-text"/>
          <p:cNvSpPr txBox="1"/>
          <p:nvPr/>
        </p:nvSpPr>
        <p:spPr>
          <a:xfrm>
            <a:off x="685800" y="246888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S001–S004</a:t>
            </a:r>
          </a:p>
        </p:txBody>
      </p:sp>
      <p:sp>
        <p:nvSpPr>
          <p:cNvPr id="17" name="slide018-element000-table-r01-c01-cell"/>
          <p:cNvSpPr/>
          <p:nvPr/>
        </p:nvSpPr>
        <p:spPr>
          <a:xfrm>
            <a:off x="2204069"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8-element000-table-r01-c01-text"/>
          <p:cNvSpPr txBox="1"/>
          <p:nvPr/>
        </p:nvSpPr>
        <p:spPr>
          <a:xfrm>
            <a:off x="2295509"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18-element000-table-r01-c02-cell"/>
          <p:cNvSpPr/>
          <p:nvPr/>
        </p:nvSpPr>
        <p:spPr>
          <a:xfrm>
            <a:off x="5557631"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8-element000-table-r01-c02-text"/>
          <p:cNvSpPr txBox="1"/>
          <p:nvPr/>
        </p:nvSpPr>
        <p:spPr>
          <a:xfrm>
            <a:off x="5649071"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21" name="slide018-element000-table-r01-c03-cell"/>
          <p:cNvSpPr/>
          <p:nvPr/>
        </p:nvSpPr>
        <p:spPr>
          <a:xfrm>
            <a:off x="8911193" y="239572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8-element000-table-r01-c03-text"/>
          <p:cNvSpPr txBox="1"/>
          <p:nvPr/>
        </p:nvSpPr>
        <p:spPr>
          <a:xfrm>
            <a:off x="9002633" y="246888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23" name="slide018-element000-table-r01-c04-cell"/>
          <p:cNvSpPr/>
          <p:nvPr/>
        </p:nvSpPr>
        <p:spPr>
          <a:xfrm>
            <a:off x="12130613" y="239572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8-element000-table-r01-c04-text"/>
          <p:cNvSpPr txBox="1"/>
          <p:nvPr/>
        </p:nvSpPr>
        <p:spPr>
          <a:xfrm>
            <a:off x="12222053" y="246888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25" name="slide018-element000-table-r02-c00-cell"/>
          <p:cNvSpPr/>
          <p:nvPr/>
        </p:nvSpPr>
        <p:spPr>
          <a:xfrm>
            <a:off x="594360" y="294436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8-element000-table-r02-c00-text"/>
          <p:cNvSpPr txBox="1"/>
          <p:nvPr/>
        </p:nvSpPr>
        <p:spPr>
          <a:xfrm>
            <a:off x="685800" y="30175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 S006</a:t>
            </a:r>
          </a:p>
        </p:txBody>
      </p:sp>
      <p:sp>
        <p:nvSpPr>
          <p:cNvPr id="27" name="slide018-element000-table-r02-c01-cell"/>
          <p:cNvSpPr/>
          <p:nvPr/>
        </p:nvSpPr>
        <p:spPr>
          <a:xfrm>
            <a:off x="2204069"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8-element000-table-r02-c01-text"/>
          <p:cNvSpPr txBox="1"/>
          <p:nvPr/>
        </p:nvSpPr>
        <p:spPr>
          <a:xfrm>
            <a:off x="2295509"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18-element000-table-r02-c02-cell"/>
          <p:cNvSpPr/>
          <p:nvPr/>
        </p:nvSpPr>
        <p:spPr>
          <a:xfrm>
            <a:off x="5557631"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8-element000-table-r02-c02-text"/>
          <p:cNvSpPr txBox="1"/>
          <p:nvPr/>
        </p:nvSpPr>
        <p:spPr>
          <a:xfrm>
            <a:off x="5649071"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8-element000-table-r02-c03-cell"/>
          <p:cNvSpPr/>
          <p:nvPr/>
        </p:nvSpPr>
        <p:spPr>
          <a:xfrm>
            <a:off x="8911193" y="294436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8-element000-table-r02-c03-text"/>
          <p:cNvSpPr txBox="1"/>
          <p:nvPr/>
        </p:nvSpPr>
        <p:spPr>
          <a:xfrm>
            <a:off x="9002633" y="30175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1,000</a:t>
            </a:r>
          </a:p>
          <a:p>
            <a:pPr algn="l">
              <a:lnSpc>
                <a:spcPct val="100000"/>
              </a:lnSpc>
              <a:spcBef>
                <a:spcPts val="0"/>
              </a:spcBef>
              <a:spcAft>
                <a:spcPts val="0"/>
              </a:spcAft>
            </a:pPr>
            <a:r>
              <a:rPr sz="1300" b="0">
                <a:solidFill>
                  <a:srgbClr val="11243A"/>
                </a:solidFill>
                <a:latin typeface="Arial"/>
              </a:rPr>
              <a:t>S006: 1/4 Kelly; ≤2% cash</a:t>
            </a:r>
          </a:p>
        </p:txBody>
      </p:sp>
      <p:sp>
        <p:nvSpPr>
          <p:cNvPr id="33" name="slide018-element000-table-r02-c04-cell"/>
          <p:cNvSpPr/>
          <p:nvPr/>
        </p:nvSpPr>
        <p:spPr>
          <a:xfrm>
            <a:off x="12130613" y="294436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8-element000-table-r02-c04-text"/>
          <p:cNvSpPr txBox="1"/>
          <p:nvPr/>
        </p:nvSpPr>
        <p:spPr>
          <a:xfrm>
            <a:off x="12222053" y="30175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8-element000-table-r03-c00-cell"/>
          <p:cNvSpPr/>
          <p:nvPr/>
        </p:nvSpPr>
        <p:spPr>
          <a:xfrm>
            <a:off x="594360" y="349300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8-element000-table-r03-c00-text"/>
          <p:cNvSpPr txBox="1"/>
          <p:nvPr/>
        </p:nvSpPr>
        <p:spPr>
          <a:xfrm>
            <a:off x="685800" y="35661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 S008</a:t>
            </a:r>
          </a:p>
        </p:txBody>
      </p:sp>
      <p:sp>
        <p:nvSpPr>
          <p:cNvPr id="37" name="slide018-element000-table-r03-c01-cell"/>
          <p:cNvSpPr/>
          <p:nvPr/>
        </p:nvSpPr>
        <p:spPr>
          <a:xfrm>
            <a:off x="2204069"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8-element000-table-r03-c01-text"/>
          <p:cNvSpPr txBox="1"/>
          <p:nvPr/>
        </p:nvSpPr>
        <p:spPr>
          <a:xfrm>
            <a:off x="2295509"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39" name="slide018-element000-table-r03-c02-cell"/>
          <p:cNvSpPr/>
          <p:nvPr/>
        </p:nvSpPr>
        <p:spPr>
          <a:xfrm>
            <a:off x="5557631"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8-element000-table-r03-c02-text"/>
          <p:cNvSpPr txBox="1"/>
          <p:nvPr/>
        </p:nvSpPr>
        <p:spPr>
          <a:xfrm>
            <a:off x="5649071"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8-element000-table-r03-c03-cell"/>
          <p:cNvSpPr/>
          <p:nvPr/>
        </p:nvSpPr>
        <p:spPr>
          <a:xfrm>
            <a:off x="8911193" y="349300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8-element000-table-r03-c03-text"/>
          <p:cNvSpPr txBox="1"/>
          <p:nvPr/>
        </p:nvSpPr>
        <p:spPr>
          <a:xfrm>
            <a:off x="9002633" y="35661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1,000</a:t>
            </a:r>
          </a:p>
          <a:p>
            <a:pPr algn="l">
              <a:lnSpc>
                <a:spcPct val="100000"/>
              </a:lnSpc>
              <a:spcBef>
                <a:spcPts val="0"/>
              </a:spcBef>
              <a:spcAft>
                <a:spcPts val="0"/>
              </a:spcAft>
            </a:pPr>
            <a:r>
              <a:rPr sz="1300" b="0">
                <a:solidFill>
                  <a:srgbClr val="11243A"/>
                </a:solidFill>
                <a:latin typeface="Arial"/>
              </a:rPr>
              <a:t>S008: 1/4 Kelly; ≤2% cash</a:t>
            </a:r>
          </a:p>
        </p:txBody>
      </p:sp>
      <p:sp>
        <p:nvSpPr>
          <p:cNvPr id="43" name="slide018-element000-table-r03-c04-cell"/>
          <p:cNvSpPr/>
          <p:nvPr/>
        </p:nvSpPr>
        <p:spPr>
          <a:xfrm>
            <a:off x="12130613" y="349300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8-element000-table-r03-c04-text"/>
          <p:cNvSpPr txBox="1"/>
          <p:nvPr/>
        </p:nvSpPr>
        <p:spPr>
          <a:xfrm>
            <a:off x="12222053" y="35661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45" name="slide018-element000-table-r04-c00-cell"/>
          <p:cNvSpPr/>
          <p:nvPr/>
        </p:nvSpPr>
        <p:spPr>
          <a:xfrm>
            <a:off x="594360" y="404164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8-element000-table-r04-c00-text"/>
          <p:cNvSpPr txBox="1"/>
          <p:nvPr/>
        </p:nvSpPr>
        <p:spPr>
          <a:xfrm>
            <a:off x="685800" y="41148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S009–S012</a:t>
            </a:r>
          </a:p>
        </p:txBody>
      </p:sp>
      <p:sp>
        <p:nvSpPr>
          <p:cNvPr id="47" name="slide018-element000-table-r04-c01-cell"/>
          <p:cNvSpPr/>
          <p:nvPr/>
        </p:nvSpPr>
        <p:spPr>
          <a:xfrm>
            <a:off x="2204069"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8-element000-table-r04-c01-text"/>
          <p:cNvSpPr txBox="1"/>
          <p:nvPr/>
        </p:nvSpPr>
        <p:spPr>
          <a:xfrm>
            <a:off x="2295509"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18-element000-table-r04-c02-cell"/>
          <p:cNvSpPr/>
          <p:nvPr/>
        </p:nvSpPr>
        <p:spPr>
          <a:xfrm>
            <a:off x="5557631"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8-element000-table-r04-c02-text"/>
          <p:cNvSpPr txBox="1"/>
          <p:nvPr/>
        </p:nvSpPr>
        <p:spPr>
          <a:xfrm>
            <a:off x="5649071"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51" name="slide018-element000-table-r04-c03-cell"/>
          <p:cNvSpPr/>
          <p:nvPr/>
        </p:nvSpPr>
        <p:spPr>
          <a:xfrm>
            <a:off x="8911193" y="404164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8-element000-table-r04-c03-text"/>
          <p:cNvSpPr txBox="1"/>
          <p:nvPr/>
        </p:nvSpPr>
        <p:spPr>
          <a:xfrm>
            <a:off x="9002633" y="41148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53" name="slide018-element000-table-r04-c04-cell"/>
          <p:cNvSpPr/>
          <p:nvPr/>
        </p:nvSpPr>
        <p:spPr>
          <a:xfrm>
            <a:off x="12130613" y="404164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8-element000-table-r04-c04-text"/>
          <p:cNvSpPr txBox="1"/>
          <p:nvPr/>
        </p:nvSpPr>
        <p:spPr>
          <a:xfrm>
            <a:off x="12222053" y="41148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55" name="slide018-element000-table-r05-c00-cell"/>
          <p:cNvSpPr/>
          <p:nvPr/>
        </p:nvSpPr>
        <p:spPr>
          <a:xfrm>
            <a:off x="594360" y="459028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8-element000-table-r05-c00-text"/>
          <p:cNvSpPr txBox="1"/>
          <p:nvPr/>
        </p:nvSpPr>
        <p:spPr>
          <a:xfrm>
            <a:off x="685800" y="46634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 S014</a:t>
            </a:r>
          </a:p>
        </p:txBody>
      </p:sp>
      <p:sp>
        <p:nvSpPr>
          <p:cNvPr id="57" name="slide018-element000-table-r05-c01-cell"/>
          <p:cNvSpPr/>
          <p:nvPr/>
        </p:nvSpPr>
        <p:spPr>
          <a:xfrm>
            <a:off x="2204069"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8-element000-table-r05-c01-text"/>
          <p:cNvSpPr txBox="1"/>
          <p:nvPr/>
        </p:nvSpPr>
        <p:spPr>
          <a:xfrm>
            <a:off x="2295509"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18-element000-table-r05-c02-cell"/>
          <p:cNvSpPr/>
          <p:nvPr/>
        </p:nvSpPr>
        <p:spPr>
          <a:xfrm>
            <a:off x="5557631"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8-element000-table-r05-c02-text"/>
          <p:cNvSpPr txBox="1"/>
          <p:nvPr/>
        </p:nvSpPr>
        <p:spPr>
          <a:xfrm>
            <a:off x="5649071"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8-element000-table-r05-c03-cell"/>
          <p:cNvSpPr/>
          <p:nvPr/>
        </p:nvSpPr>
        <p:spPr>
          <a:xfrm>
            <a:off x="8911193" y="459028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8-element000-table-r05-c03-text"/>
          <p:cNvSpPr txBox="1"/>
          <p:nvPr/>
        </p:nvSpPr>
        <p:spPr>
          <a:xfrm>
            <a:off x="9002633" y="46634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1,000</a:t>
            </a:r>
          </a:p>
          <a:p>
            <a:pPr algn="l">
              <a:lnSpc>
                <a:spcPct val="100000"/>
              </a:lnSpc>
              <a:spcBef>
                <a:spcPts val="0"/>
              </a:spcBef>
              <a:spcAft>
                <a:spcPts val="0"/>
              </a:spcAft>
            </a:pPr>
            <a:r>
              <a:rPr sz="1300" b="0">
                <a:solidFill>
                  <a:srgbClr val="11243A"/>
                </a:solidFill>
                <a:latin typeface="Arial"/>
              </a:rPr>
              <a:t>S014: 1/4 Kelly; ≤2% cash</a:t>
            </a:r>
          </a:p>
        </p:txBody>
      </p:sp>
      <p:sp>
        <p:nvSpPr>
          <p:cNvPr id="63" name="slide018-element000-table-r05-c04-cell"/>
          <p:cNvSpPr/>
          <p:nvPr/>
        </p:nvSpPr>
        <p:spPr>
          <a:xfrm>
            <a:off x="12130613" y="459028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8-element000-table-r05-c04-text"/>
          <p:cNvSpPr txBox="1"/>
          <p:nvPr/>
        </p:nvSpPr>
        <p:spPr>
          <a:xfrm>
            <a:off x="12222053" y="46634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8-element000-table-r06-c00-cell"/>
          <p:cNvSpPr/>
          <p:nvPr/>
        </p:nvSpPr>
        <p:spPr>
          <a:xfrm>
            <a:off x="594360" y="5138927"/>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8-element000-table-r06-c00-text"/>
          <p:cNvSpPr txBox="1"/>
          <p:nvPr/>
        </p:nvSpPr>
        <p:spPr>
          <a:xfrm>
            <a:off x="685800" y="5212079"/>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 S016</a:t>
            </a:r>
          </a:p>
        </p:txBody>
      </p:sp>
      <p:sp>
        <p:nvSpPr>
          <p:cNvPr id="67" name="slide018-element000-table-r06-c01-cell"/>
          <p:cNvSpPr/>
          <p:nvPr/>
        </p:nvSpPr>
        <p:spPr>
          <a:xfrm>
            <a:off x="2204069"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8-element000-table-r06-c01-text"/>
          <p:cNvSpPr txBox="1"/>
          <p:nvPr/>
        </p:nvSpPr>
        <p:spPr>
          <a:xfrm>
            <a:off x="2295509"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18-element000-table-r06-c02-cell"/>
          <p:cNvSpPr/>
          <p:nvPr/>
        </p:nvSpPr>
        <p:spPr>
          <a:xfrm>
            <a:off x="5557631"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8-element000-table-r06-c02-text"/>
          <p:cNvSpPr txBox="1"/>
          <p:nvPr/>
        </p:nvSpPr>
        <p:spPr>
          <a:xfrm>
            <a:off x="5649071"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8-element000-table-r06-c03-cell"/>
          <p:cNvSpPr/>
          <p:nvPr/>
        </p:nvSpPr>
        <p:spPr>
          <a:xfrm>
            <a:off x="8911193" y="5138927"/>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8-element000-table-r06-c03-text"/>
          <p:cNvSpPr txBox="1"/>
          <p:nvPr/>
        </p:nvSpPr>
        <p:spPr>
          <a:xfrm>
            <a:off x="9002633" y="5212079"/>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1,000</a:t>
            </a:r>
          </a:p>
          <a:p>
            <a:pPr algn="l">
              <a:lnSpc>
                <a:spcPct val="100000"/>
              </a:lnSpc>
              <a:spcBef>
                <a:spcPts val="0"/>
              </a:spcBef>
              <a:spcAft>
                <a:spcPts val="0"/>
              </a:spcAft>
            </a:pPr>
            <a:r>
              <a:rPr sz="1300" b="0">
                <a:solidFill>
                  <a:srgbClr val="11243A"/>
                </a:solidFill>
                <a:latin typeface="Arial"/>
              </a:rPr>
              <a:t>S016: 1/4 Kelly; ≤2% cash</a:t>
            </a:r>
          </a:p>
        </p:txBody>
      </p:sp>
      <p:sp>
        <p:nvSpPr>
          <p:cNvPr id="73" name="slide018-element000-table-r06-c04-cell"/>
          <p:cNvSpPr/>
          <p:nvPr/>
        </p:nvSpPr>
        <p:spPr>
          <a:xfrm>
            <a:off x="12130613" y="5138927"/>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8-element000-table-r06-c04-text"/>
          <p:cNvSpPr txBox="1"/>
          <p:nvPr/>
        </p:nvSpPr>
        <p:spPr>
          <a:xfrm>
            <a:off x="12222053" y="5212079"/>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18-element000-table-r07-c00-cell"/>
          <p:cNvSpPr/>
          <p:nvPr/>
        </p:nvSpPr>
        <p:spPr>
          <a:xfrm>
            <a:off x="594360" y="568756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8-element000-table-r07-c00-text"/>
          <p:cNvSpPr txBox="1"/>
          <p:nvPr/>
        </p:nvSpPr>
        <p:spPr>
          <a:xfrm>
            <a:off x="685800" y="57607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 S018</a:t>
            </a:r>
          </a:p>
        </p:txBody>
      </p:sp>
      <p:sp>
        <p:nvSpPr>
          <p:cNvPr id="77" name="slide018-element000-table-r07-c01-cell"/>
          <p:cNvSpPr/>
          <p:nvPr/>
        </p:nvSpPr>
        <p:spPr>
          <a:xfrm>
            <a:off x="2204069"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8-element000-table-r07-c01-text"/>
          <p:cNvSpPr txBox="1"/>
          <p:nvPr/>
        </p:nvSpPr>
        <p:spPr>
          <a:xfrm>
            <a:off x="2295509"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a:t>
            </a:r>
          </a:p>
        </p:txBody>
      </p:sp>
      <p:sp>
        <p:nvSpPr>
          <p:cNvPr id="79" name="slide018-element000-table-r07-c02-cell"/>
          <p:cNvSpPr/>
          <p:nvPr/>
        </p:nvSpPr>
        <p:spPr>
          <a:xfrm>
            <a:off x="5557631"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8-element000-table-r07-c02-text"/>
          <p:cNvSpPr txBox="1"/>
          <p:nvPr/>
        </p:nvSpPr>
        <p:spPr>
          <a:xfrm>
            <a:off x="5649071"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8-element000-table-r07-c03-cell"/>
          <p:cNvSpPr/>
          <p:nvPr/>
        </p:nvSpPr>
        <p:spPr>
          <a:xfrm>
            <a:off x="8911193" y="568756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8-element000-table-r07-c03-text"/>
          <p:cNvSpPr txBox="1"/>
          <p:nvPr/>
        </p:nvSpPr>
        <p:spPr>
          <a:xfrm>
            <a:off x="9002633" y="57607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1,000</a:t>
            </a:r>
          </a:p>
          <a:p>
            <a:pPr algn="l">
              <a:lnSpc>
                <a:spcPct val="100000"/>
              </a:lnSpc>
              <a:spcBef>
                <a:spcPts val="0"/>
              </a:spcBef>
              <a:spcAft>
                <a:spcPts val="0"/>
              </a:spcAft>
            </a:pPr>
            <a:r>
              <a:rPr sz="1300" b="0">
                <a:solidFill>
                  <a:srgbClr val="11243A"/>
                </a:solidFill>
                <a:latin typeface="Arial"/>
              </a:rPr>
              <a:t>S018: 1/4 Kelly; ≤2% cash</a:t>
            </a:r>
          </a:p>
        </p:txBody>
      </p:sp>
      <p:sp>
        <p:nvSpPr>
          <p:cNvPr id="83" name="slide018-element000-table-r07-c04-cell"/>
          <p:cNvSpPr/>
          <p:nvPr/>
        </p:nvSpPr>
        <p:spPr>
          <a:xfrm>
            <a:off x="12130613" y="568756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8-element000-table-r07-c04-text"/>
          <p:cNvSpPr txBox="1"/>
          <p:nvPr/>
        </p:nvSpPr>
        <p:spPr>
          <a:xfrm>
            <a:off x="12222053" y="57607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8-element000-table-r08-c00-cell"/>
          <p:cNvSpPr/>
          <p:nvPr/>
        </p:nvSpPr>
        <p:spPr>
          <a:xfrm>
            <a:off x="594360" y="623620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8-element000-table-r08-c00-text"/>
          <p:cNvSpPr txBox="1"/>
          <p:nvPr/>
        </p:nvSpPr>
        <p:spPr>
          <a:xfrm>
            <a:off x="685800" y="63093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 S020</a:t>
            </a:r>
          </a:p>
        </p:txBody>
      </p:sp>
      <p:sp>
        <p:nvSpPr>
          <p:cNvPr id="87" name="slide018-element000-table-r08-c01-cell"/>
          <p:cNvSpPr/>
          <p:nvPr/>
        </p:nvSpPr>
        <p:spPr>
          <a:xfrm>
            <a:off x="2204069"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8-element000-table-r08-c01-text"/>
          <p:cNvSpPr txBox="1"/>
          <p:nvPr/>
        </p:nvSpPr>
        <p:spPr>
          <a:xfrm>
            <a:off x="2295509"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chance quality</a:t>
            </a:r>
          </a:p>
        </p:txBody>
      </p:sp>
      <p:sp>
        <p:nvSpPr>
          <p:cNvPr id="89" name="slide018-element000-table-r08-c02-cell"/>
          <p:cNvSpPr/>
          <p:nvPr/>
        </p:nvSpPr>
        <p:spPr>
          <a:xfrm>
            <a:off x="5557631"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8-element000-table-r08-c02-text"/>
          <p:cNvSpPr txBox="1"/>
          <p:nvPr/>
        </p:nvSpPr>
        <p:spPr>
          <a:xfrm>
            <a:off x="5649071"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8-element000-table-r08-c03-cell"/>
          <p:cNvSpPr/>
          <p:nvPr/>
        </p:nvSpPr>
        <p:spPr>
          <a:xfrm>
            <a:off x="8911193" y="623620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8-element000-table-r08-c03-text"/>
          <p:cNvSpPr txBox="1"/>
          <p:nvPr/>
        </p:nvSpPr>
        <p:spPr>
          <a:xfrm>
            <a:off x="9002633" y="63093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1,000</a:t>
            </a:r>
          </a:p>
          <a:p>
            <a:pPr algn="l">
              <a:lnSpc>
                <a:spcPct val="100000"/>
              </a:lnSpc>
              <a:spcBef>
                <a:spcPts val="0"/>
              </a:spcBef>
              <a:spcAft>
                <a:spcPts val="0"/>
              </a:spcAft>
            </a:pPr>
            <a:r>
              <a:rPr sz="1300" b="0">
                <a:solidFill>
                  <a:srgbClr val="11243A"/>
                </a:solidFill>
                <a:latin typeface="Arial"/>
              </a:rPr>
              <a:t>S020: 1/4 Kelly; ≤2% cash</a:t>
            </a:r>
          </a:p>
        </p:txBody>
      </p:sp>
      <p:sp>
        <p:nvSpPr>
          <p:cNvPr id="93" name="slide018-element000-table-r08-c04-cell"/>
          <p:cNvSpPr/>
          <p:nvPr/>
        </p:nvSpPr>
        <p:spPr>
          <a:xfrm>
            <a:off x="12130613" y="623620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8-element000-table-r08-c04-text"/>
          <p:cNvSpPr txBox="1"/>
          <p:nvPr/>
        </p:nvSpPr>
        <p:spPr>
          <a:xfrm>
            <a:off x="12222053" y="63093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95" name="slide018-element000-table-r09-c00-cell"/>
          <p:cNvSpPr/>
          <p:nvPr/>
        </p:nvSpPr>
        <p:spPr>
          <a:xfrm>
            <a:off x="594360" y="678484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18-element000-table-r09-c00-text"/>
          <p:cNvSpPr txBox="1"/>
          <p:nvPr/>
        </p:nvSpPr>
        <p:spPr>
          <a:xfrm>
            <a:off x="685800" y="68580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 S022</a:t>
            </a:r>
          </a:p>
        </p:txBody>
      </p:sp>
      <p:sp>
        <p:nvSpPr>
          <p:cNvPr id="97" name="slide018-element000-table-r09-c01-cell"/>
          <p:cNvSpPr/>
          <p:nvPr/>
        </p:nvSpPr>
        <p:spPr>
          <a:xfrm>
            <a:off x="2204069"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18-element000-table-r09-c01-text"/>
          <p:cNvSpPr txBox="1"/>
          <p:nvPr/>
        </p:nvSpPr>
        <p:spPr>
          <a:xfrm>
            <a:off x="2295509"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player form</a:t>
            </a:r>
          </a:p>
        </p:txBody>
      </p:sp>
      <p:sp>
        <p:nvSpPr>
          <p:cNvPr id="99" name="slide018-element000-table-r09-c02-cell"/>
          <p:cNvSpPr/>
          <p:nvPr/>
        </p:nvSpPr>
        <p:spPr>
          <a:xfrm>
            <a:off x="5557631"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18-element000-table-r09-c02-text"/>
          <p:cNvSpPr txBox="1"/>
          <p:nvPr/>
        </p:nvSpPr>
        <p:spPr>
          <a:xfrm>
            <a:off x="5649071"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101" name="slide018-element000-table-r09-c03-cell"/>
          <p:cNvSpPr/>
          <p:nvPr/>
        </p:nvSpPr>
        <p:spPr>
          <a:xfrm>
            <a:off x="8911193" y="678484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18-element000-table-r09-c03-text"/>
          <p:cNvSpPr txBox="1"/>
          <p:nvPr/>
        </p:nvSpPr>
        <p:spPr>
          <a:xfrm>
            <a:off x="9002633" y="68580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1,000</a:t>
            </a:r>
          </a:p>
          <a:p>
            <a:pPr algn="l">
              <a:lnSpc>
                <a:spcPct val="100000"/>
              </a:lnSpc>
              <a:spcBef>
                <a:spcPts val="0"/>
              </a:spcBef>
              <a:spcAft>
                <a:spcPts val="0"/>
              </a:spcAft>
            </a:pPr>
            <a:r>
              <a:rPr sz="1300" b="0">
                <a:solidFill>
                  <a:srgbClr val="11243A"/>
                </a:solidFill>
                <a:latin typeface="Arial"/>
              </a:rPr>
              <a:t>S022: 1/4 Kelly; ≤2% cash</a:t>
            </a:r>
          </a:p>
        </p:txBody>
      </p:sp>
      <p:sp>
        <p:nvSpPr>
          <p:cNvPr id="103" name="slide018-element000-table-r09-c04-cell"/>
          <p:cNvSpPr/>
          <p:nvPr/>
        </p:nvSpPr>
        <p:spPr>
          <a:xfrm>
            <a:off x="12130613" y="678484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18-element000-table-r09-c04-text"/>
          <p:cNvSpPr txBox="1"/>
          <p:nvPr/>
        </p:nvSpPr>
        <p:spPr>
          <a:xfrm>
            <a:off x="12222053" y="68580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105" name="slide01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6" name="slide01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107" name="slide01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(2/9)</a:t>
            </a:r>
          </a:p>
        </p:txBody>
      </p:sp>
      <p:sp>
        <p:nvSpPr>
          <p:cNvPr id="4" name="slide01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9-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9-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9-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9-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9-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9-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9-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9-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9-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9-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9-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9-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 S024</a:t>
            </a:r>
          </a:p>
        </p:txBody>
      </p:sp>
      <p:sp>
        <p:nvSpPr>
          <p:cNvPr id="17" name="slide019-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9-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19" name="slide019-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9-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9-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9-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1,000</a:t>
            </a:r>
          </a:p>
          <a:p>
            <a:pPr algn="l">
              <a:lnSpc>
                <a:spcPct val="100000"/>
              </a:lnSpc>
              <a:spcBef>
                <a:spcPts val="0"/>
              </a:spcBef>
              <a:spcAft>
                <a:spcPts val="0"/>
              </a:spcAft>
            </a:pPr>
            <a:r>
              <a:rPr sz="1300" b="0">
                <a:solidFill>
                  <a:srgbClr val="11243A"/>
                </a:solidFill>
                <a:latin typeface="Arial"/>
              </a:rPr>
              <a:t>S024: 1/4 Kelly; ≤2% cash</a:t>
            </a:r>
          </a:p>
        </p:txBody>
      </p:sp>
      <p:sp>
        <p:nvSpPr>
          <p:cNvPr id="23" name="slide019-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9-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9-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9-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 S055</a:t>
            </a:r>
          </a:p>
        </p:txBody>
      </p:sp>
      <p:sp>
        <p:nvSpPr>
          <p:cNvPr id="27" name="slide019-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9-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9-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9-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9-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9-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1% of current cash</a:t>
            </a:r>
          </a:p>
          <a:p>
            <a:pPr algn="l">
              <a:lnSpc>
                <a:spcPct val="100000"/>
              </a:lnSpc>
              <a:spcBef>
                <a:spcPts val="0"/>
              </a:spcBef>
              <a:spcAft>
                <a:spcPts val="0"/>
              </a:spcAft>
            </a:pPr>
            <a:r>
              <a:rPr sz="1300" b="0">
                <a:solidFill>
                  <a:srgbClr val="11243A"/>
                </a:solidFill>
                <a:latin typeface="Arial"/>
              </a:rPr>
              <a:t>S055: 1/8 Kelly; ≤1% cash</a:t>
            </a:r>
          </a:p>
        </p:txBody>
      </p:sp>
      <p:sp>
        <p:nvSpPr>
          <p:cNvPr id="33" name="slide019-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9-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9-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9-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a:t>
            </a:r>
          </a:p>
        </p:txBody>
      </p:sp>
      <p:sp>
        <p:nvSpPr>
          <p:cNvPr id="37" name="slide019-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9-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39" name="slide019-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9-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9-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9-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 1/2 Kelly; ≤2% cash</a:t>
            </a:r>
          </a:p>
        </p:txBody>
      </p:sp>
      <p:sp>
        <p:nvSpPr>
          <p:cNvPr id="43" name="slide019-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9-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9-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9-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 S026</a:t>
            </a:r>
          </a:p>
        </p:txBody>
      </p:sp>
      <p:sp>
        <p:nvSpPr>
          <p:cNvPr id="47" name="slide019-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9-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 form</a:t>
            </a:r>
          </a:p>
        </p:txBody>
      </p:sp>
      <p:sp>
        <p:nvSpPr>
          <p:cNvPr id="49" name="slide019-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9-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9-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9-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1,000</a:t>
            </a:r>
          </a:p>
          <a:p>
            <a:pPr algn="l">
              <a:lnSpc>
                <a:spcPct val="100000"/>
              </a:lnSpc>
              <a:spcBef>
                <a:spcPts val="0"/>
              </a:spcBef>
              <a:spcAft>
                <a:spcPts val="0"/>
              </a:spcAft>
            </a:pPr>
            <a:r>
              <a:rPr sz="1300" b="0">
                <a:solidFill>
                  <a:srgbClr val="11243A"/>
                </a:solidFill>
                <a:latin typeface="Arial"/>
              </a:rPr>
              <a:t>S026: 1/4 Kelly; ≤2% cash</a:t>
            </a:r>
          </a:p>
        </p:txBody>
      </p:sp>
      <p:sp>
        <p:nvSpPr>
          <p:cNvPr id="53" name="slide019-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9-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9-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9-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 S028</a:t>
            </a:r>
          </a:p>
        </p:txBody>
      </p:sp>
      <p:sp>
        <p:nvSpPr>
          <p:cNvPr id="57" name="slide019-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9-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 quality</a:t>
            </a:r>
          </a:p>
        </p:txBody>
      </p:sp>
      <p:sp>
        <p:nvSpPr>
          <p:cNvPr id="59" name="slide019-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9-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9-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9-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1,000</a:t>
            </a:r>
          </a:p>
          <a:p>
            <a:pPr algn="l">
              <a:lnSpc>
                <a:spcPct val="100000"/>
              </a:lnSpc>
              <a:spcBef>
                <a:spcPts val="0"/>
              </a:spcBef>
              <a:spcAft>
                <a:spcPts val="0"/>
              </a:spcAft>
            </a:pPr>
            <a:r>
              <a:rPr sz="1300" b="0">
                <a:solidFill>
                  <a:srgbClr val="11243A"/>
                </a:solidFill>
                <a:latin typeface="Arial"/>
              </a:rPr>
              <a:t>S028: 1/4 Kelly; ≤2% cash</a:t>
            </a:r>
          </a:p>
        </p:txBody>
      </p:sp>
      <p:sp>
        <p:nvSpPr>
          <p:cNvPr id="63" name="slide019-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9-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9-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9-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 S030</a:t>
            </a:r>
          </a:p>
        </p:txBody>
      </p:sp>
      <p:sp>
        <p:nvSpPr>
          <p:cNvPr id="67" name="slide019-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9-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team/player form</a:t>
            </a:r>
          </a:p>
        </p:txBody>
      </p:sp>
      <p:sp>
        <p:nvSpPr>
          <p:cNvPr id="69" name="slide019-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9-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9-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9-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1,000</a:t>
            </a:r>
          </a:p>
          <a:p>
            <a:pPr algn="l">
              <a:lnSpc>
                <a:spcPct val="100000"/>
              </a:lnSpc>
              <a:spcBef>
                <a:spcPts val="0"/>
              </a:spcBef>
              <a:spcAft>
                <a:spcPts val="0"/>
              </a:spcAft>
            </a:pPr>
            <a:r>
              <a:rPr sz="1300" b="0">
                <a:solidFill>
                  <a:srgbClr val="11243A"/>
                </a:solidFill>
                <a:latin typeface="Arial"/>
              </a:rPr>
              <a:t>S030: 1/4 Kelly; ≤2% cash</a:t>
            </a:r>
          </a:p>
        </p:txBody>
      </p:sp>
      <p:sp>
        <p:nvSpPr>
          <p:cNvPr id="73" name="slide019-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9-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9-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9-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 S032</a:t>
            </a:r>
          </a:p>
        </p:txBody>
      </p:sp>
      <p:sp>
        <p:nvSpPr>
          <p:cNvPr id="77" name="slide019-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9-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79" name="slide019-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9-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9-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9-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1,000</a:t>
            </a:r>
          </a:p>
          <a:p>
            <a:pPr algn="l">
              <a:lnSpc>
                <a:spcPct val="100000"/>
              </a:lnSpc>
              <a:spcBef>
                <a:spcPts val="0"/>
              </a:spcBef>
              <a:spcAft>
                <a:spcPts val="0"/>
              </a:spcAft>
            </a:pPr>
            <a:r>
              <a:rPr sz="1300" b="0">
                <a:solidFill>
                  <a:srgbClr val="11243A"/>
                </a:solidFill>
                <a:latin typeface="Arial"/>
              </a:rPr>
              <a:t>S032: 1/4 Kelly; ≤2% cash</a:t>
            </a:r>
          </a:p>
        </p:txBody>
      </p:sp>
      <p:sp>
        <p:nvSpPr>
          <p:cNvPr id="83" name="slide019-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9-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9-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9-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 S057</a:t>
            </a:r>
          </a:p>
        </p:txBody>
      </p:sp>
      <p:sp>
        <p:nvSpPr>
          <p:cNvPr id="87" name="slide019-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9-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19-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9-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9-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9-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1% of current cash</a:t>
            </a:r>
          </a:p>
          <a:p>
            <a:pPr algn="l">
              <a:lnSpc>
                <a:spcPct val="100000"/>
              </a:lnSpc>
              <a:spcBef>
                <a:spcPts val="0"/>
              </a:spcBef>
              <a:spcAft>
                <a:spcPts val="0"/>
              </a:spcAft>
            </a:pPr>
            <a:r>
              <a:rPr sz="1300" b="0">
                <a:solidFill>
                  <a:srgbClr val="11243A"/>
                </a:solidFill>
                <a:latin typeface="Arial"/>
              </a:rPr>
              <a:t>S057: 1/8 Kelly; ≤1% cash</a:t>
            </a:r>
          </a:p>
        </p:txBody>
      </p:sp>
      <p:sp>
        <p:nvSpPr>
          <p:cNvPr id="93" name="slide019-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9-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(3/9)</a:t>
            </a:r>
          </a:p>
        </p:txBody>
      </p:sp>
      <p:sp>
        <p:nvSpPr>
          <p:cNvPr id="4" name="slide02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0-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0-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0-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0-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0-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0-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0-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0-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0-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0-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0-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0-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a:t>
            </a:r>
          </a:p>
        </p:txBody>
      </p:sp>
      <p:sp>
        <p:nvSpPr>
          <p:cNvPr id="17" name="slide020-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0-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20-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0-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0-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0-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 1/2 Kelly; ≤2% cash</a:t>
            </a:r>
          </a:p>
        </p:txBody>
      </p:sp>
      <p:sp>
        <p:nvSpPr>
          <p:cNvPr id="23" name="slide020-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0-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0-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0-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S034</a:t>
            </a:r>
          </a:p>
        </p:txBody>
      </p:sp>
      <p:sp>
        <p:nvSpPr>
          <p:cNvPr id="27" name="slide020-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0-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Past home/draw/away frequencies</a:t>
            </a:r>
          </a:p>
        </p:txBody>
      </p:sp>
      <p:sp>
        <p:nvSpPr>
          <p:cNvPr id="29" name="slide020-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0-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0-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0-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1,000</a:t>
            </a:r>
          </a:p>
          <a:p>
            <a:pPr algn="l">
              <a:lnSpc>
                <a:spcPct val="100000"/>
              </a:lnSpc>
              <a:spcBef>
                <a:spcPts val="0"/>
              </a:spcBef>
              <a:spcAft>
                <a:spcPts val="0"/>
              </a:spcAft>
            </a:pPr>
            <a:r>
              <a:rPr sz="1300" b="0">
                <a:solidFill>
                  <a:srgbClr val="11243A"/>
                </a:solidFill>
                <a:latin typeface="Arial"/>
              </a:rPr>
              <a:t>S034: 1/4 Kelly; ≤2% cash</a:t>
            </a:r>
          </a:p>
        </p:txBody>
      </p:sp>
      <p:sp>
        <p:nvSpPr>
          <p:cNvPr id="33" name="slide020-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0-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0-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0-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 S036</a:t>
            </a:r>
          </a:p>
        </p:txBody>
      </p:sp>
      <p:sp>
        <p:nvSpPr>
          <p:cNvPr id="37" name="slide020-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0-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39" name="slide020-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0-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0-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0-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1,000</a:t>
            </a:r>
          </a:p>
          <a:p>
            <a:pPr algn="l">
              <a:lnSpc>
                <a:spcPct val="100000"/>
              </a:lnSpc>
              <a:spcBef>
                <a:spcPts val="0"/>
              </a:spcBef>
              <a:spcAft>
                <a:spcPts val="0"/>
              </a:spcAft>
            </a:pPr>
            <a:r>
              <a:rPr sz="1300" b="0">
                <a:solidFill>
                  <a:srgbClr val="11243A"/>
                </a:solidFill>
                <a:latin typeface="Arial"/>
              </a:rPr>
              <a:t>S036: 1/4 Kelly; ≤2% cash</a:t>
            </a:r>
          </a:p>
        </p:txBody>
      </p:sp>
      <p:sp>
        <p:nvSpPr>
          <p:cNvPr id="43" name="slide020-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0-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0-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0-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 S038</a:t>
            </a:r>
          </a:p>
        </p:txBody>
      </p:sp>
      <p:sp>
        <p:nvSpPr>
          <p:cNvPr id="47" name="slide020-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0-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Calibrated bookmaker probabilities</a:t>
            </a:r>
          </a:p>
        </p:txBody>
      </p:sp>
      <p:sp>
        <p:nvSpPr>
          <p:cNvPr id="49" name="slide020-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0-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0-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0-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1,000</a:t>
            </a:r>
          </a:p>
          <a:p>
            <a:pPr algn="l">
              <a:lnSpc>
                <a:spcPct val="100000"/>
              </a:lnSpc>
              <a:spcBef>
                <a:spcPts val="0"/>
              </a:spcBef>
              <a:spcAft>
                <a:spcPts val="0"/>
              </a:spcAft>
            </a:pPr>
            <a:r>
              <a:rPr sz="1300" b="0">
                <a:solidFill>
                  <a:srgbClr val="11243A"/>
                </a:solidFill>
                <a:latin typeface="Arial"/>
              </a:rPr>
              <a:t>S038: 1/4 Kelly; ≤2% cash</a:t>
            </a:r>
          </a:p>
        </p:txBody>
      </p:sp>
      <p:sp>
        <p:nvSpPr>
          <p:cNvPr id="53" name="slide020-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0-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0-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0-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a:t>
            </a:r>
          </a:p>
        </p:txBody>
      </p:sp>
      <p:sp>
        <p:nvSpPr>
          <p:cNvPr id="57" name="slide020-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0-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59" name="slide020-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0-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home win</a:t>
            </a:r>
          </a:p>
          <a:p>
            <a:pPr algn="l">
              <a:lnSpc>
                <a:spcPct val="100000"/>
              </a:lnSpc>
              <a:spcBef>
                <a:spcPts val="0"/>
              </a:spcBef>
              <a:spcAft>
                <a:spcPts val="0"/>
              </a:spcAft>
            </a:pPr>
            <a:r>
              <a:rPr sz="1300" b="0">
                <a:solidFill>
                  <a:srgbClr val="11243A"/>
                </a:solidFill>
                <a:latin typeface="Arial"/>
              </a:rPr>
              <a:t>No return filter</a:t>
            </a:r>
          </a:p>
        </p:txBody>
      </p:sp>
      <p:sp>
        <p:nvSpPr>
          <p:cNvPr id="61" name="slide020-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0-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1,000</a:t>
            </a:r>
          </a:p>
        </p:txBody>
      </p:sp>
      <p:sp>
        <p:nvSpPr>
          <p:cNvPr id="63" name="slide020-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0-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0-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0-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a:t>
            </a:r>
          </a:p>
        </p:txBody>
      </p:sp>
      <p:sp>
        <p:nvSpPr>
          <p:cNvPr id="67" name="slide020-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0-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69" name="slide020-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0-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draw</a:t>
            </a:r>
          </a:p>
          <a:p>
            <a:pPr algn="l">
              <a:lnSpc>
                <a:spcPct val="100000"/>
              </a:lnSpc>
              <a:spcBef>
                <a:spcPts val="0"/>
              </a:spcBef>
              <a:spcAft>
                <a:spcPts val="0"/>
              </a:spcAft>
            </a:pPr>
            <a:r>
              <a:rPr sz="1300" b="0">
                <a:solidFill>
                  <a:srgbClr val="11243A"/>
                </a:solidFill>
                <a:latin typeface="Arial"/>
              </a:rPr>
              <a:t>No return filter</a:t>
            </a:r>
          </a:p>
        </p:txBody>
      </p:sp>
      <p:sp>
        <p:nvSpPr>
          <p:cNvPr id="71" name="slide020-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0-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 1,000</a:t>
            </a:r>
          </a:p>
        </p:txBody>
      </p:sp>
      <p:sp>
        <p:nvSpPr>
          <p:cNvPr id="73" name="slide020-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0-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0-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0-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a:t>
            </a:r>
          </a:p>
        </p:txBody>
      </p:sp>
      <p:sp>
        <p:nvSpPr>
          <p:cNvPr id="77" name="slide020-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0-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79" name="slide020-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0-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away win</a:t>
            </a:r>
          </a:p>
          <a:p>
            <a:pPr algn="l">
              <a:lnSpc>
                <a:spcPct val="100000"/>
              </a:lnSpc>
              <a:spcBef>
                <a:spcPts val="0"/>
              </a:spcBef>
              <a:spcAft>
                <a:spcPts val="0"/>
              </a:spcAft>
            </a:pPr>
            <a:r>
              <a:rPr sz="1300" b="0">
                <a:solidFill>
                  <a:srgbClr val="11243A"/>
                </a:solidFill>
                <a:latin typeface="Arial"/>
              </a:rPr>
              <a:t>No return filter</a:t>
            </a:r>
          </a:p>
        </p:txBody>
      </p:sp>
      <p:sp>
        <p:nvSpPr>
          <p:cNvPr id="81" name="slide020-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0-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1,000</a:t>
            </a:r>
          </a:p>
        </p:txBody>
      </p:sp>
      <p:sp>
        <p:nvSpPr>
          <p:cNvPr id="83" name="slide020-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0-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0-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0-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a:t>
            </a:r>
          </a:p>
        </p:txBody>
      </p:sp>
      <p:sp>
        <p:nvSpPr>
          <p:cNvPr id="87" name="slide020-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0-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89" name="slide020-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0-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91" name="slide020-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0-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 1,000</a:t>
            </a:r>
          </a:p>
        </p:txBody>
      </p:sp>
      <p:sp>
        <p:nvSpPr>
          <p:cNvPr id="93" name="slide020-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0-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(4/9)</a:t>
            </a:r>
          </a:p>
        </p:txBody>
      </p:sp>
      <p:sp>
        <p:nvSpPr>
          <p:cNvPr id="4" name="slide02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1-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1-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1-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1-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1-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1-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1-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1-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1-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1-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1-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1-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a:t>
            </a:r>
          </a:p>
        </p:txBody>
      </p:sp>
      <p:sp>
        <p:nvSpPr>
          <p:cNvPr id="17" name="slide021-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1-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19" name="slide021-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1-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least likely result</a:t>
            </a:r>
          </a:p>
          <a:p>
            <a:pPr algn="l">
              <a:lnSpc>
                <a:spcPct val="100000"/>
              </a:lnSpc>
              <a:spcBef>
                <a:spcPts val="0"/>
              </a:spcBef>
              <a:spcAft>
                <a:spcPts val="0"/>
              </a:spcAft>
            </a:pPr>
            <a:r>
              <a:rPr sz="1300" b="0">
                <a:solidFill>
                  <a:srgbClr val="11243A"/>
                </a:solidFill>
                <a:latin typeface="Arial"/>
              </a:rPr>
              <a:t>No return filter</a:t>
            </a:r>
          </a:p>
        </p:txBody>
      </p:sp>
      <p:sp>
        <p:nvSpPr>
          <p:cNvPr id="21" name="slide021-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1-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1,000</a:t>
            </a:r>
          </a:p>
        </p:txBody>
      </p:sp>
      <p:sp>
        <p:nvSpPr>
          <p:cNvPr id="23" name="slide021-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1-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1-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1-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a:t>
            </a:r>
          </a:p>
        </p:txBody>
      </p:sp>
      <p:sp>
        <p:nvSpPr>
          <p:cNvPr id="27" name="slide021-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1-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21-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1-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31" name="slide021-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1-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 1,000</a:t>
            </a:r>
          </a:p>
        </p:txBody>
      </p:sp>
      <p:sp>
        <p:nvSpPr>
          <p:cNvPr id="33" name="slide021-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1-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1-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1-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a:t>
            </a:r>
          </a:p>
        </p:txBody>
      </p:sp>
      <p:sp>
        <p:nvSpPr>
          <p:cNvPr id="37" name="slide021-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1-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21-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1-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41" name="slide021-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1-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 1,000</a:t>
            </a:r>
          </a:p>
        </p:txBody>
      </p:sp>
      <p:sp>
        <p:nvSpPr>
          <p:cNvPr id="43" name="slide021-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1-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1-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1-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 S047</a:t>
            </a:r>
          </a:p>
        </p:txBody>
      </p:sp>
      <p:sp>
        <p:nvSpPr>
          <p:cNvPr id="47" name="slide021-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1-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four team/player forecasts</a:t>
            </a:r>
          </a:p>
        </p:txBody>
      </p:sp>
      <p:sp>
        <p:nvSpPr>
          <p:cNvPr id="49" name="slide021-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1-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1-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1-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1,000</a:t>
            </a:r>
          </a:p>
          <a:p>
            <a:pPr algn="l">
              <a:lnSpc>
                <a:spcPct val="100000"/>
              </a:lnSpc>
              <a:spcBef>
                <a:spcPts val="0"/>
              </a:spcBef>
              <a:spcAft>
                <a:spcPts val="0"/>
              </a:spcAft>
            </a:pPr>
            <a:r>
              <a:rPr sz="1300" b="0">
                <a:solidFill>
                  <a:srgbClr val="11243A"/>
                </a:solidFill>
                <a:latin typeface="Arial"/>
              </a:rPr>
              <a:t>S047: 1/4 Kelly; ≤2% cash</a:t>
            </a:r>
          </a:p>
        </p:txBody>
      </p:sp>
      <p:sp>
        <p:nvSpPr>
          <p:cNvPr id="53" name="slide021-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1-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1-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1-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 S049</a:t>
            </a:r>
          </a:p>
        </p:txBody>
      </p:sp>
      <p:sp>
        <p:nvSpPr>
          <p:cNvPr id="57" name="slide021-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1-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21-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1-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1-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1-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1,000</a:t>
            </a:r>
          </a:p>
          <a:p>
            <a:pPr algn="l">
              <a:lnSpc>
                <a:spcPct val="100000"/>
              </a:lnSpc>
              <a:spcBef>
                <a:spcPts val="0"/>
              </a:spcBef>
              <a:spcAft>
                <a:spcPts val="0"/>
              </a:spcAft>
            </a:pPr>
            <a:r>
              <a:rPr sz="1300" b="0">
                <a:solidFill>
                  <a:srgbClr val="11243A"/>
                </a:solidFill>
                <a:latin typeface="Arial"/>
              </a:rPr>
              <a:t>S049: 1/4 Kelly; ≤2% cash</a:t>
            </a:r>
          </a:p>
        </p:txBody>
      </p:sp>
      <p:sp>
        <p:nvSpPr>
          <p:cNvPr id="63" name="slide021-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1-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1-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1-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a:t>
            </a:r>
          </a:p>
        </p:txBody>
      </p:sp>
      <p:sp>
        <p:nvSpPr>
          <p:cNvPr id="67" name="slide021-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1-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21-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1-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1-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1-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 1% of current cash</a:t>
            </a:r>
          </a:p>
        </p:txBody>
      </p:sp>
      <p:sp>
        <p:nvSpPr>
          <p:cNvPr id="73" name="slide021-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1-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1-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1-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 S051</a:t>
            </a:r>
          </a:p>
        </p:txBody>
      </p:sp>
      <p:sp>
        <p:nvSpPr>
          <p:cNvPr id="77" name="slide021-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1-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Half combined forecast, half bookmaker</a:t>
            </a:r>
          </a:p>
        </p:txBody>
      </p:sp>
      <p:sp>
        <p:nvSpPr>
          <p:cNvPr id="79" name="slide021-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1-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1-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1-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1,000</a:t>
            </a:r>
          </a:p>
          <a:p>
            <a:pPr algn="l">
              <a:lnSpc>
                <a:spcPct val="100000"/>
              </a:lnSpc>
              <a:spcBef>
                <a:spcPts val="0"/>
              </a:spcBef>
              <a:spcAft>
                <a:spcPts val="0"/>
              </a:spcAft>
            </a:pPr>
            <a:r>
              <a:rPr sz="1300" b="0">
                <a:solidFill>
                  <a:srgbClr val="11243A"/>
                </a:solidFill>
                <a:latin typeface="Arial"/>
              </a:rPr>
              <a:t>S051: 1/4 Kelly; ≤2% cash</a:t>
            </a:r>
          </a:p>
        </p:txBody>
      </p:sp>
      <p:sp>
        <p:nvSpPr>
          <p:cNvPr id="83" name="slide021-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1-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1-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1-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a:t>
            </a:r>
          </a:p>
        </p:txBody>
      </p:sp>
      <p:sp>
        <p:nvSpPr>
          <p:cNvPr id="87" name="slide021-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1-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89" name="slide021-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1-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1-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1-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 1/4 Kelly; ≤2% cash</a:t>
            </a:r>
          </a:p>
        </p:txBody>
      </p:sp>
      <p:sp>
        <p:nvSpPr>
          <p:cNvPr id="93" name="slide021-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1-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cxnSp>
        <p:nvCxnSpPr>
          <p:cNvPr id="95" name="slide02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(5/9)</a:t>
            </a:r>
          </a:p>
        </p:txBody>
      </p:sp>
      <p:sp>
        <p:nvSpPr>
          <p:cNvPr id="4" name="slide02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2-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2-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2-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2-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2-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2-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2-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2-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2-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2-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2-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2-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a:t>
            </a:r>
          </a:p>
        </p:txBody>
      </p:sp>
      <p:sp>
        <p:nvSpPr>
          <p:cNvPr id="17" name="slide022-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2-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22-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2-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2-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2-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 1/4 Kelly; ≤2% cash</a:t>
            </a:r>
          </a:p>
        </p:txBody>
      </p:sp>
      <p:sp>
        <p:nvSpPr>
          <p:cNvPr id="23" name="slide022-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2-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25" name="slide022-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2-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a:t>
            </a:r>
          </a:p>
        </p:txBody>
      </p:sp>
      <p:sp>
        <p:nvSpPr>
          <p:cNvPr id="27" name="slide022-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2-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29" name="slide022-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2-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2-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2-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 1/4 Kelly; ≤2% cash</a:t>
            </a:r>
          </a:p>
        </p:txBody>
      </p:sp>
      <p:sp>
        <p:nvSpPr>
          <p:cNvPr id="33" name="slide022-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2-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35" name="slide022-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2-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 S063</a:t>
            </a:r>
          </a:p>
        </p:txBody>
      </p:sp>
      <p:sp>
        <p:nvSpPr>
          <p:cNvPr id="37" name="slide022-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2-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39" name="slide022-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2-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Positive return: 6/8 models</a:t>
            </a:r>
          </a:p>
        </p:txBody>
      </p:sp>
      <p:sp>
        <p:nvSpPr>
          <p:cNvPr id="41" name="slide022-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2-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1,000</a:t>
            </a:r>
          </a:p>
          <a:p>
            <a:pPr algn="l">
              <a:lnSpc>
                <a:spcPct val="100000"/>
              </a:lnSpc>
              <a:spcBef>
                <a:spcPts val="0"/>
              </a:spcBef>
              <a:spcAft>
                <a:spcPts val="0"/>
              </a:spcAft>
            </a:pPr>
            <a:r>
              <a:rPr sz="1300" b="0">
                <a:solidFill>
                  <a:srgbClr val="11243A"/>
                </a:solidFill>
                <a:latin typeface="Arial"/>
              </a:rPr>
              <a:t>S063: 1/4 Kelly; ≤2% cash</a:t>
            </a:r>
          </a:p>
        </p:txBody>
      </p:sp>
      <p:sp>
        <p:nvSpPr>
          <p:cNvPr id="43" name="slide022-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2-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2-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2-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a:t>
            </a:r>
          </a:p>
        </p:txBody>
      </p:sp>
      <p:sp>
        <p:nvSpPr>
          <p:cNvPr id="47" name="slide022-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2-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22-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2-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H</a:t>
            </a:r>
          </a:p>
        </p:txBody>
      </p:sp>
      <p:sp>
        <p:nvSpPr>
          <p:cNvPr id="51" name="slide022-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2-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 1,000</a:t>
            </a:r>
          </a:p>
        </p:txBody>
      </p:sp>
      <p:sp>
        <p:nvSpPr>
          <p:cNvPr id="53" name="slide022-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2-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2-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2-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a:t>
            </a:r>
          </a:p>
        </p:txBody>
      </p:sp>
      <p:sp>
        <p:nvSpPr>
          <p:cNvPr id="57" name="slide022-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2-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22-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2-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D</a:t>
            </a:r>
          </a:p>
        </p:txBody>
      </p:sp>
      <p:sp>
        <p:nvSpPr>
          <p:cNvPr id="61" name="slide022-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2-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 1,000</a:t>
            </a:r>
          </a:p>
        </p:txBody>
      </p:sp>
      <p:sp>
        <p:nvSpPr>
          <p:cNvPr id="63" name="slide022-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2-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2-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2-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a:t>
            </a:r>
          </a:p>
        </p:txBody>
      </p:sp>
      <p:sp>
        <p:nvSpPr>
          <p:cNvPr id="67" name="slide022-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2-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22-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2-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A</a:t>
            </a:r>
          </a:p>
        </p:txBody>
      </p:sp>
      <p:sp>
        <p:nvSpPr>
          <p:cNvPr id="71" name="slide022-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2-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 1,000</a:t>
            </a:r>
          </a:p>
        </p:txBody>
      </p:sp>
      <p:sp>
        <p:nvSpPr>
          <p:cNvPr id="73" name="slide022-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2-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2-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2-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a:t>
            </a:r>
          </a:p>
        </p:txBody>
      </p:sp>
      <p:sp>
        <p:nvSpPr>
          <p:cNvPr id="77" name="slide022-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2-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79" name="slide022-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2-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81" name="slide022-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2-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 1,000</a:t>
            </a:r>
          </a:p>
        </p:txBody>
      </p:sp>
      <p:sp>
        <p:nvSpPr>
          <p:cNvPr id="83" name="slide022-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2-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2-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2-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a:t>
            </a:r>
          </a:p>
        </p:txBody>
      </p:sp>
      <p:sp>
        <p:nvSpPr>
          <p:cNvPr id="87" name="slide022-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2-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22-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2-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22-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2-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 1,000</a:t>
            </a:r>
          </a:p>
        </p:txBody>
      </p:sp>
      <p:sp>
        <p:nvSpPr>
          <p:cNvPr id="93" name="slide022-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2-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(6/9)</a:t>
            </a:r>
          </a:p>
        </p:txBody>
      </p:sp>
      <p:sp>
        <p:nvSpPr>
          <p:cNvPr id="4" name="slide02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3-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3-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3-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3-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3-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3-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3-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3-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3-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3-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3-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3-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a:t>
            </a:r>
          </a:p>
        </p:txBody>
      </p:sp>
      <p:sp>
        <p:nvSpPr>
          <p:cNvPr id="17" name="slide023-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3-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19" name="slide023-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3-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21" name="slide023-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3-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 1,000</a:t>
            </a:r>
          </a:p>
        </p:txBody>
      </p:sp>
      <p:sp>
        <p:nvSpPr>
          <p:cNvPr id="23" name="slide023-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3-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3-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3-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a:t>
            </a:r>
          </a:p>
        </p:txBody>
      </p:sp>
      <p:sp>
        <p:nvSpPr>
          <p:cNvPr id="27" name="slide023-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3-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23-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3-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31" name="slide023-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3-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 1,000</a:t>
            </a:r>
          </a:p>
        </p:txBody>
      </p:sp>
      <p:sp>
        <p:nvSpPr>
          <p:cNvPr id="33" name="slide023-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3-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3-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3-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a:t>
            </a:r>
          </a:p>
        </p:txBody>
      </p:sp>
      <p:sp>
        <p:nvSpPr>
          <p:cNvPr id="37" name="slide023-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3-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23-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3-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41" name="slide023-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3-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 1,000</a:t>
            </a:r>
          </a:p>
        </p:txBody>
      </p:sp>
      <p:sp>
        <p:nvSpPr>
          <p:cNvPr id="43" name="slide023-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3-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3-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3-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a:t>
            </a:r>
          </a:p>
        </p:txBody>
      </p:sp>
      <p:sp>
        <p:nvSpPr>
          <p:cNvPr id="47" name="slide023-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3-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23-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3-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51" name="slide023-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3-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 1,000</a:t>
            </a:r>
          </a:p>
        </p:txBody>
      </p:sp>
      <p:sp>
        <p:nvSpPr>
          <p:cNvPr id="53" name="slide023-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3-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3-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3-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a:t>
            </a:r>
          </a:p>
        </p:txBody>
      </p:sp>
      <p:sp>
        <p:nvSpPr>
          <p:cNvPr id="57" name="slide023-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3-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59" name="slide023-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3-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61" name="slide023-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3-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 1,000</a:t>
            </a:r>
          </a:p>
        </p:txBody>
      </p:sp>
      <p:sp>
        <p:nvSpPr>
          <p:cNvPr id="63" name="slide023-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3-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3-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3-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a:t>
            </a:r>
          </a:p>
        </p:txBody>
      </p:sp>
      <p:sp>
        <p:nvSpPr>
          <p:cNvPr id="67" name="slide023-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3-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69" name="slide023-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3-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71" name="slide023-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3-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 1,000</a:t>
            </a:r>
          </a:p>
        </p:txBody>
      </p:sp>
      <p:sp>
        <p:nvSpPr>
          <p:cNvPr id="73" name="slide023-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3-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3-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3-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a:t>
            </a:r>
          </a:p>
        </p:txBody>
      </p:sp>
      <p:sp>
        <p:nvSpPr>
          <p:cNvPr id="77" name="slide023-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3-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79" name="slide023-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3-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81" name="slide023-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3-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 1,000</a:t>
            </a:r>
          </a:p>
        </p:txBody>
      </p:sp>
      <p:sp>
        <p:nvSpPr>
          <p:cNvPr id="83" name="slide023-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3-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3-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3-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a:t>
            </a:r>
          </a:p>
        </p:txBody>
      </p:sp>
      <p:sp>
        <p:nvSpPr>
          <p:cNvPr id="87" name="slide023-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3-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89" name="slide023-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3-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23-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3-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 1,000</a:t>
            </a:r>
          </a:p>
        </p:txBody>
      </p:sp>
      <p:sp>
        <p:nvSpPr>
          <p:cNvPr id="93" name="slide023-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3-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(7/9)</a:t>
            </a:r>
          </a:p>
        </p:txBody>
      </p:sp>
      <p:sp>
        <p:nvSpPr>
          <p:cNvPr id="4" name="slide02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4-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4-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4-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4-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4-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4-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4-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4-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4-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4-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4-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4-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a:t>
            </a:r>
          </a:p>
        </p:txBody>
      </p:sp>
      <p:sp>
        <p:nvSpPr>
          <p:cNvPr id="17" name="slide024-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4-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24-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4-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21" name="slide024-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4-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 1,000</a:t>
            </a:r>
          </a:p>
        </p:txBody>
      </p:sp>
      <p:sp>
        <p:nvSpPr>
          <p:cNvPr id="23" name="slide024-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4-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4-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4-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a:t>
            </a:r>
          </a:p>
        </p:txBody>
      </p:sp>
      <p:sp>
        <p:nvSpPr>
          <p:cNvPr id="27" name="slide024-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4-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24-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4-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31" name="slide024-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4-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 1,000</a:t>
            </a:r>
          </a:p>
        </p:txBody>
      </p:sp>
      <p:sp>
        <p:nvSpPr>
          <p:cNvPr id="33" name="slide024-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4-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4-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4-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a:t>
            </a:r>
          </a:p>
        </p:txBody>
      </p:sp>
      <p:sp>
        <p:nvSpPr>
          <p:cNvPr id="37" name="slide024-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4-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39" name="slide024-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4-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41" name="slide024-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4-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 1,000</a:t>
            </a:r>
          </a:p>
        </p:txBody>
      </p:sp>
      <p:sp>
        <p:nvSpPr>
          <p:cNvPr id="43" name="slide024-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4-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4-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4-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a:t>
            </a:r>
          </a:p>
        </p:txBody>
      </p:sp>
      <p:sp>
        <p:nvSpPr>
          <p:cNvPr id="47" name="slide024-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4-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24-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4-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51" name="slide024-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4-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 1,000</a:t>
            </a:r>
          </a:p>
        </p:txBody>
      </p:sp>
      <p:sp>
        <p:nvSpPr>
          <p:cNvPr id="53" name="slide024-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4-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4-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4-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a:t>
            </a:r>
          </a:p>
        </p:txBody>
      </p:sp>
      <p:sp>
        <p:nvSpPr>
          <p:cNvPr id="57" name="slide024-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4-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24-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4-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61" name="slide024-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4-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 1,000</a:t>
            </a:r>
          </a:p>
        </p:txBody>
      </p:sp>
      <p:sp>
        <p:nvSpPr>
          <p:cNvPr id="63" name="slide024-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4-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4-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4-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a:t>
            </a:r>
          </a:p>
        </p:txBody>
      </p:sp>
      <p:sp>
        <p:nvSpPr>
          <p:cNvPr id="67" name="slide024-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4-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24-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4-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71" name="slide024-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4-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 1,000</a:t>
            </a:r>
          </a:p>
        </p:txBody>
      </p:sp>
      <p:sp>
        <p:nvSpPr>
          <p:cNvPr id="73" name="slide024-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4-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4-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4-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a:t>
            </a:r>
          </a:p>
        </p:txBody>
      </p:sp>
      <p:sp>
        <p:nvSpPr>
          <p:cNvPr id="77" name="slide024-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4-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79" name="slide024-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4-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81" name="slide024-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4-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 1,000</a:t>
            </a:r>
          </a:p>
        </p:txBody>
      </p:sp>
      <p:sp>
        <p:nvSpPr>
          <p:cNvPr id="83" name="slide024-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4-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4-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4-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a:t>
            </a:r>
          </a:p>
        </p:txBody>
      </p:sp>
      <p:sp>
        <p:nvSpPr>
          <p:cNvPr id="87" name="slide024-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4-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89" name="slide024-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4-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91" name="slide024-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4-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 1,000</a:t>
            </a:r>
          </a:p>
        </p:txBody>
      </p:sp>
      <p:sp>
        <p:nvSpPr>
          <p:cNvPr id="93" name="slide024-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4-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(8/9)</a:t>
            </a:r>
          </a:p>
        </p:txBody>
      </p:sp>
      <p:sp>
        <p:nvSpPr>
          <p:cNvPr id="4" name="slide02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5-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5-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5-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5-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5-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5-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5-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5-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5-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5-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5-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5-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 P002</a:t>
            </a:r>
          </a:p>
        </p:txBody>
      </p:sp>
      <p:sp>
        <p:nvSpPr>
          <p:cNvPr id="17" name="slide025-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5-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19" name="slide025-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5-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5-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5-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1,000</a:t>
            </a:r>
          </a:p>
          <a:p>
            <a:pPr algn="l">
              <a:lnSpc>
                <a:spcPct val="100000"/>
              </a:lnSpc>
              <a:spcBef>
                <a:spcPts val="0"/>
              </a:spcBef>
              <a:spcAft>
                <a:spcPts val="0"/>
              </a:spcAft>
            </a:pPr>
            <a:r>
              <a:rPr sz="1300" b="0">
                <a:solidFill>
                  <a:srgbClr val="11243A"/>
                </a:solidFill>
                <a:latin typeface="Arial"/>
              </a:rPr>
              <a:t>P002: 1/4 Kelly; ≤2% cash</a:t>
            </a:r>
          </a:p>
        </p:txBody>
      </p:sp>
      <p:sp>
        <p:nvSpPr>
          <p:cNvPr id="23" name="slide025-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5-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5-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5-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 P004</a:t>
            </a:r>
          </a:p>
        </p:txBody>
      </p:sp>
      <p:sp>
        <p:nvSpPr>
          <p:cNvPr id="27" name="slide025-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5-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29" name="slide025-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5-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5-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5-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1,000</a:t>
            </a:r>
          </a:p>
          <a:p>
            <a:pPr algn="l">
              <a:lnSpc>
                <a:spcPct val="100000"/>
              </a:lnSpc>
              <a:spcBef>
                <a:spcPts val="0"/>
              </a:spcBef>
              <a:spcAft>
                <a:spcPts val="0"/>
              </a:spcAft>
            </a:pPr>
            <a:r>
              <a:rPr sz="1300" b="0">
                <a:solidFill>
                  <a:srgbClr val="11243A"/>
                </a:solidFill>
                <a:latin typeface="Arial"/>
              </a:rPr>
              <a:t>P004: 1/4 Kelly; ≤2% cash</a:t>
            </a:r>
          </a:p>
        </p:txBody>
      </p:sp>
      <p:sp>
        <p:nvSpPr>
          <p:cNvPr id="33" name="slide025-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5-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5-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5-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 P006</a:t>
            </a:r>
          </a:p>
        </p:txBody>
      </p:sp>
      <p:sp>
        <p:nvSpPr>
          <p:cNvPr id="37" name="slide025-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5-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39" name="slide025-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5-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5-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5-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1,000</a:t>
            </a:r>
          </a:p>
          <a:p>
            <a:pPr algn="l">
              <a:lnSpc>
                <a:spcPct val="100000"/>
              </a:lnSpc>
              <a:spcBef>
                <a:spcPts val="0"/>
              </a:spcBef>
              <a:spcAft>
                <a:spcPts val="0"/>
              </a:spcAft>
            </a:pPr>
            <a:r>
              <a:rPr sz="1300" b="0">
                <a:solidFill>
                  <a:srgbClr val="11243A"/>
                </a:solidFill>
                <a:latin typeface="Arial"/>
              </a:rPr>
              <a:t>P006: 1/4 Kelly; ≤2% cash</a:t>
            </a:r>
          </a:p>
        </p:txBody>
      </p:sp>
      <p:sp>
        <p:nvSpPr>
          <p:cNvPr id="43" name="slide025-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5-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5-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5-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 P008</a:t>
            </a:r>
          </a:p>
        </p:txBody>
      </p:sp>
      <p:sp>
        <p:nvSpPr>
          <p:cNvPr id="47" name="slide025-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5-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49" name="slide025-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5-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5-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5-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1,000</a:t>
            </a:r>
          </a:p>
          <a:p>
            <a:pPr algn="l">
              <a:lnSpc>
                <a:spcPct val="100000"/>
              </a:lnSpc>
              <a:spcBef>
                <a:spcPts val="0"/>
              </a:spcBef>
              <a:spcAft>
                <a:spcPts val="0"/>
              </a:spcAft>
            </a:pPr>
            <a:r>
              <a:rPr sz="1300" b="0">
                <a:solidFill>
                  <a:srgbClr val="11243A"/>
                </a:solidFill>
                <a:latin typeface="Arial"/>
              </a:rPr>
              <a:t>P008: 1/4 Kelly; ≤2% cash</a:t>
            </a:r>
          </a:p>
        </p:txBody>
      </p:sp>
      <p:sp>
        <p:nvSpPr>
          <p:cNvPr id="53" name="slide025-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5-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5-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5-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P010</a:t>
            </a:r>
          </a:p>
        </p:txBody>
      </p:sp>
      <p:sp>
        <p:nvSpPr>
          <p:cNvPr id="57" name="slide025-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5-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59" name="slide025-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5-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5-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5-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1,000</a:t>
            </a:r>
          </a:p>
          <a:p>
            <a:pPr algn="l">
              <a:lnSpc>
                <a:spcPct val="100000"/>
              </a:lnSpc>
              <a:spcBef>
                <a:spcPts val="0"/>
              </a:spcBef>
              <a:spcAft>
                <a:spcPts val="0"/>
              </a:spcAft>
            </a:pPr>
            <a:r>
              <a:rPr sz="1300" b="0">
                <a:solidFill>
                  <a:srgbClr val="11243A"/>
                </a:solidFill>
                <a:latin typeface="Arial"/>
              </a:rPr>
              <a:t>P010: 1/4 Kelly; ≤2% cash</a:t>
            </a:r>
          </a:p>
        </p:txBody>
      </p:sp>
      <p:sp>
        <p:nvSpPr>
          <p:cNvPr id="63" name="slide025-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5-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5-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5-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P012</a:t>
            </a:r>
          </a:p>
        </p:txBody>
      </p:sp>
      <p:sp>
        <p:nvSpPr>
          <p:cNvPr id="67" name="slide025-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5-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69" name="slide025-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5-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5-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5-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1,000</a:t>
            </a:r>
          </a:p>
          <a:p>
            <a:pPr algn="l">
              <a:lnSpc>
                <a:spcPct val="100000"/>
              </a:lnSpc>
              <a:spcBef>
                <a:spcPts val="0"/>
              </a:spcBef>
              <a:spcAft>
                <a:spcPts val="0"/>
              </a:spcAft>
            </a:pPr>
            <a:r>
              <a:rPr sz="1300" b="0">
                <a:solidFill>
                  <a:srgbClr val="11243A"/>
                </a:solidFill>
                <a:latin typeface="Arial"/>
              </a:rPr>
              <a:t>P012: 1/4 Kelly; ≤2% cash</a:t>
            </a:r>
          </a:p>
        </p:txBody>
      </p:sp>
      <p:sp>
        <p:nvSpPr>
          <p:cNvPr id="73" name="slide025-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5-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5-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5-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P014</a:t>
            </a:r>
          </a:p>
        </p:txBody>
      </p:sp>
      <p:sp>
        <p:nvSpPr>
          <p:cNvPr id="77" name="slide025-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5-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79" name="slide025-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5-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5-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5-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1,000</a:t>
            </a:r>
          </a:p>
          <a:p>
            <a:pPr algn="l">
              <a:lnSpc>
                <a:spcPct val="100000"/>
              </a:lnSpc>
              <a:spcBef>
                <a:spcPts val="0"/>
              </a:spcBef>
              <a:spcAft>
                <a:spcPts val="0"/>
              </a:spcAft>
            </a:pPr>
            <a:r>
              <a:rPr sz="1300" b="0">
                <a:solidFill>
                  <a:srgbClr val="11243A"/>
                </a:solidFill>
                <a:latin typeface="Arial"/>
              </a:rPr>
              <a:t>P014: 1/4 Kelly; ≤2% cash</a:t>
            </a:r>
          </a:p>
        </p:txBody>
      </p:sp>
      <p:sp>
        <p:nvSpPr>
          <p:cNvPr id="83" name="slide025-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5-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5-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5-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P016</a:t>
            </a:r>
          </a:p>
        </p:txBody>
      </p:sp>
      <p:sp>
        <p:nvSpPr>
          <p:cNvPr id="87" name="slide025-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5-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89" name="slide025-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5-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5-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5-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1,000</a:t>
            </a:r>
          </a:p>
          <a:p>
            <a:pPr algn="l">
              <a:lnSpc>
                <a:spcPct val="100000"/>
              </a:lnSpc>
              <a:spcBef>
                <a:spcPts val="0"/>
              </a:spcBef>
              <a:spcAft>
                <a:spcPts val="0"/>
              </a:spcAft>
            </a:pPr>
            <a:r>
              <a:rPr sz="1300" b="0">
                <a:solidFill>
                  <a:srgbClr val="11243A"/>
                </a:solidFill>
                <a:latin typeface="Arial"/>
              </a:rPr>
              <a:t>P016: 1/4 Kelly; ≤2% cash</a:t>
            </a:r>
          </a:p>
        </p:txBody>
      </p:sp>
      <p:sp>
        <p:nvSpPr>
          <p:cNvPr id="93" name="slide025-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5-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(9/9)</a:t>
            </a:r>
          </a:p>
        </p:txBody>
      </p:sp>
      <p:sp>
        <p:nvSpPr>
          <p:cNvPr id="4" name="slide02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6-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6-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6-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6-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6-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6-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6-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6-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6-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6-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6-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6-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 P018</a:t>
            </a:r>
          </a:p>
        </p:txBody>
      </p:sp>
      <p:sp>
        <p:nvSpPr>
          <p:cNvPr id="17" name="slide026-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6-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19" name="slide026-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6-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6-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6-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1,000</a:t>
            </a:r>
          </a:p>
          <a:p>
            <a:pPr algn="l">
              <a:lnSpc>
                <a:spcPct val="100000"/>
              </a:lnSpc>
              <a:spcBef>
                <a:spcPts val="0"/>
              </a:spcBef>
              <a:spcAft>
                <a:spcPts val="0"/>
              </a:spcAft>
            </a:pPr>
            <a:r>
              <a:rPr sz="1300" b="0">
                <a:solidFill>
                  <a:srgbClr val="11243A"/>
                </a:solidFill>
                <a:latin typeface="Arial"/>
              </a:rPr>
              <a:t>P018: 1/4 Kelly; ≤2% cash</a:t>
            </a:r>
          </a:p>
        </p:txBody>
      </p:sp>
      <p:sp>
        <p:nvSpPr>
          <p:cNvPr id="23" name="slide026-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6-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6-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6-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P020</a:t>
            </a:r>
          </a:p>
        </p:txBody>
      </p:sp>
      <p:sp>
        <p:nvSpPr>
          <p:cNvPr id="27" name="slide026-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6-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29" name="slide026-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6-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6-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6-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1,000</a:t>
            </a:r>
          </a:p>
          <a:p>
            <a:pPr algn="l">
              <a:lnSpc>
                <a:spcPct val="100000"/>
              </a:lnSpc>
              <a:spcBef>
                <a:spcPts val="0"/>
              </a:spcBef>
              <a:spcAft>
                <a:spcPts val="0"/>
              </a:spcAft>
            </a:pPr>
            <a:r>
              <a:rPr sz="1300" b="0">
                <a:solidFill>
                  <a:srgbClr val="11243A"/>
                </a:solidFill>
                <a:latin typeface="Arial"/>
              </a:rPr>
              <a:t>P020: 1/4 Kelly; ≤2% cash</a:t>
            </a:r>
          </a:p>
        </p:txBody>
      </p:sp>
      <p:sp>
        <p:nvSpPr>
          <p:cNvPr id="33" name="slide026-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6-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6-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6-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P022</a:t>
            </a:r>
          </a:p>
        </p:txBody>
      </p:sp>
      <p:sp>
        <p:nvSpPr>
          <p:cNvPr id="37" name="slide026-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6-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39" name="slide026-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6-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6-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6-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1,000</a:t>
            </a:r>
          </a:p>
          <a:p>
            <a:pPr algn="l">
              <a:lnSpc>
                <a:spcPct val="100000"/>
              </a:lnSpc>
              <a:spcBef>
                <a:spcPts val="0"/>
              </a:spcBef>
              <a:spcAft>
                <a:spcPts val="0"/>
              </a:spcAft>
            </a:pPr>
            <a:r>
              <a:rPr sz="1300" b="0">
                <a:solidFill>
                  <a:srgbClr val="11243A"/>
                </a:solidFill>
                <a:latin typeface="Arial"/>
              </a:rPr>
              <a:t>P022: 1/4 Kelly; ≤2% cash</a:t>
            </a:r>
          </a:p>
        </p:txBody>
      </p:sp>
      <p:sp>
        <p:nvSpPr>
          <p:cNvPr id="43" name="slide026-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6-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6-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6-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P024</a:t>
            </a:r>
          </a:p>
        </p:txBody>
      </p:sp>
      <p:sp>
        <p:nvSpPr>
          <p:cNvPr id="47" name="slide026-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6-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49" name="slide026-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6-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6-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6-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1,000</a:t>
            </a:r>
          </a:p>
          <a:p>
            <a:pPr algn="l">
              <a:lnSpc>
                <a:spcPct val="100000"/>
              </a:lnSpc>
              <a:spcBef>
                <a:spcPts val="0"/>
              </a:spcBef>
              <a:spcAft>
                <a:spcPts val="0"/>
              </a:spcAft>
            </a:pPr>
            <a:r>
              <a:rPr sz="1300" b="0">
                <a:solidFill>
                  <a:srgbClr val="11243A"/>
                </a:solidFill>
                <a:latin typeface="Arial"/>
              </a:rPr>
              <a:t>P024: 1/4 Kelly; ≤2% cash</a:t>
            </a:r>
          </a:p>
        </p:txBody>
      </p:sp>
      <p:sp>
        <p:nvSpPr>
          <p:cNvPr id="53" name="slide026-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6-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6-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6-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P026</a:t>
            </a:r>
          </a:p>
        </p:txBody>
      </p:sp>
      <p:sp>
        <p:nvSpPr>
          <p:cNvPr id="57" name="slide026-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6-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59" name="slide026-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6-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6-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6-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1,000</a:t>
            </a:r>
          </a:p>
          <a:p>
            <a:pPr algn="l">
              <a:lnSpc>
                <a:spcPct val="100000"/>
              </a:lnSpc>
              <a:spcBef>
                <a:spcPts val="0"/>
              </a:spcBef>
              <a:spcAft>
                <a:spcPts val="0"/>
              </a:spcAft>
            </a:pPr>
            <a:r>
              <a:rPr sz="1300" b="0">
                <a:solidFill>
                  <a:srgbClr val="11243A"/>
                </a:solidFill>
                <a:latin typeface="Arial"/>
              </a:rPr>
              <a:t>P026: 1/4 Kelly; ≤2% cash</a:t>
            </a:r>
          </a:p>
        </p:txBody>
      </p:sp>
      <p:sp>
        <p:nvSpPr>
          <p:cNvPr id="63" name="slide026-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6-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6-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6-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P028</a:t>
            </a:r>
          </a:p>
        </p:txBody>
      </p:sp>
      <p:sp>
        <p:nvSpPr>
          <p:cNvPr id="67" name="slide026-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6-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69" name="slide026-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6-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6-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6-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1,000</a:t>
            </a:r>
          </a:p>
          <a:p>
            <a:pPr algn="l">
              <a:lnSpc>
                <a:spcPct val="100000"/>
              </a:lnSpc>
              <a:spcBef>
                <a:spcPts val="0"/>
              </a:spcBef>
              <a:spcAft>
                <a:spcPts val="0"/>
              </a:spcAft>
            </a:pPr>
            <a:r>
              <a:rPr sz="1300" b="0">
                <a:solidFill>
                  <a:srgbClr val="11243A"/>
                </a:solidFill>
                <a:latin typeface="Arial"/>
              </a:rPr>
              <a:t>P028: 1/4 Kelly; ≤2% cash</a:t>
            </a:r>
          </a:p>
        </p:txBody>
      </p:sp>
      <p:sp>
        <p:nvSpPr>
          <p:cNvPr id="73" name="slide026-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6-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6-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6-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P030</a:t>
            </a:r>
          </a:p>
        </p:txBody>
      </p:sp>
      <p:sp>
        <p:nvSpPr>
          <p:cNvPr id="77" name="slide026-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6-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79" name="slide026-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6-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6-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6-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1,000</a:t>
            </a:r>
          </a:p>
          <a:p>
            <a:pPr algn="l">
              <a:lnSpc>
                <a:spcPct val="100000"/>
              </a:lnSpc>
              <a:spcBef>
                <a:spcPts val="0"/>
              </a:spcBef>
              <a:spcAft>
                <a:spcPts val="0"/>
              </a:spcAft>
            </a:pPr>
            <a:r>
              <a:rPr sz="1300" b="0">
                <a:solidFill>
                  <a:srgbClr val="11243A"/>
                </a:solidFill>
                <a:latin typeface="Arial"/>
              </a:rPr>
              <a:t>P030: 1/4 Kelly; ≤2% cash</a:t>
            </a:r>
          </a:p>
        </p:txBody>
      </p:sp>
      <p:sp>
        <p:nvSpPr>
          <p:cNvPr id="83" name="slide026-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6-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6-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6-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P032</a:t>
            </a:r>
          </a:p>
        </p:txBody>
      </p:sp>
      <p:sp>
        <p:nvSpPr>
          <p:cNvPr id="87" name="slide026-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6-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89" name="slide026-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6-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6-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6-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1,000</a:t>
            </a:r>
          </a:p>
          <a:p>
            <a:pPr algn="l">
              <a:lnSpc>
                <a:spcPct val="100000"/>
              </a:lnSpc>
              <a:spcBef>
                <a:spcPts val="0"/>
              </a:spcBef>
              <a:spcAft>
                <a:spcPts val="0"/>
              </a:spcAft>
            </a:pPr>
            <a:r>
              <a:rPr sz="1300" b="0">
                <a:solidFill>
                  <a:srgbClr val="11243A"/>
                </a:solidFill>
                <a:latin typeface="Arial"/>
              </a:rPr>
              <a:t>P032: 1/4 Kelly; ≤2% cash</a:t>
            </a:r>
          </a:p>
        </p:txBody>
      </p:sp>
      <p:sp>
        <p:nvSpPr>
          <p:cNvPr id="93" name="slide026-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6-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ALL ZERO-CONTEXT INVERSES</a:t>
            </a:r>
          </a:p>
        </p:txBody>
      </p:sp>
      <p:sp>
        <p:nvSpPr>
          <p:cNvPr id="3" name="slide02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every bankrupt-policy inverse (1/2)</a:t>
            </a:r>
          </a:p>
        </p:txBody>
      </p:sp>
      <p:sp>
        <p:nvSpPr>
          <p:cNvPr id="4" name="slide02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Original ending cash is zero in every row. Main results are funded full-horizon complements with no cost, 2022/23–2025/26.</a:t>
            </a:r>
          </a:p>
        </p:txBody>
      </p:sp>
      <p:sp>
        <p:nvSpPr>
          <p:cNvPr id="5" name="slide027-element000-table-r00-c00-cell"/>
          <p:cNvSpPr/>
          <p:nvPr/>
        </p:nvSpPr>
        <p:spPr>
          <a:xfrm>
            <a:off x="594360"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7-element000-table-r00-c00-text"/>
          <p:cNvSpPr txBox="1"/>
          <p:nvPr/>
        </p:nvSpPr>
        <p:spPr>
          <a:xfrm>
            <a:off x="685800"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Strategy / quotes</a:t>
            </a:r>
          </a:p>
        </p:txBody>
      </p:sp>
      <p:sp>
        <p:nvSpPr>
          <p:cNvPr id="7" name="slide027-element000-table-r00-c01-cell"/>
          <p:cNvSpPr/>
          <p:nvPr/>
        </p:nvSpPr>
        <p:spPr>
          <a:xfrm>
            <a:off x="2338212" y="1901952"/>
            <a:ext cx="1341424"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7-element000-table-r00-c01-text"/>
          <p:cNvSpPr txBox="1"/>
          <p:nvPr/>
        </p:nvSpPr>
        <p:spPr>
          <a:xfrm>
            <a:off x="2429652" y="1975104"/>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cash</a:t>
            </a:r>
          </a:p>
        </p:txBody>
      </p:sp>
      <p:sp>
        <p:nvSpPr>
          <p:cNvPr id="9" name="slide027-element000-table-r00-c02-cell"/>
          <p:cNvSpPr/>
          <p:nvPr/>
        </p:nvSpPr>
        <p:spPr>
          <a:xfrm>
            <a:off x="3679637" y="1901952"/>
            <a:ext cx="93899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7-element000-table-r00-c02-text"/>
          <p:cNvSpPr txBox="1"/>
          <p:nvPr/>
        </p:nvSpPr>
        <p:spPr>
          <a:xfrm>
            <a:off x="3771077" y="197510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Stake ROI</a:t>
            </a:r>
          </a:p>
        </p:txBody>
      </p:sp>
      <p:sp>
        <p:nvSpPr>
          <p:cNvPr id="11" name="slide027-element000-table-r00-c03-cell"/>
          <p:cNvSpPr/>
          <p:nvPr/>
        </p:nvSpPr>
        <p:spPr>
          <a:xfrm>
            <a:off x="4618634" y="1901952"/>
            <a:ext cx="93899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7-element000-table-r00-c03-text"/>
          <p:cNvSpPr txBox="1"/>
          <p:nvPr/>
        </p:nvSpPr>
        <p:spPr>
          <a:xfrm>
            <a:off x="4710074" y="197510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Profit hit</a:t>
            </a:r>
          </a:p>
        </p:txBody>
      </p:sp>
      <p:sp>
        <p:nvSpPr>
          <p:cNvPr id="13" name="slide027-element000-table-r00-c04-cell"/>
          <p:cNvSpPr/>
          <p:nvPr/>
        </p:nvSpPr>
        <p:spPr>
          <a:xfrm>
            <a:off x="5557631"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7-element000-table-r00-c04-text"/>
          <p:cNvSpPr txBox="1"/>
          <p:nvPr/>
        </p:nvSpPr>
        <p:spPr>
          <a:xfrm>
            <a:off x="5649071"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Bets / signals; frequency</a:t>
            </a:r>
          </a:p>
        </p:txBody>
      </p:sp>
      <p:sp>
        <p:nvSpPr>
          <p:cNvPr id="15" name="slide027-element000-table-r00-c05-cell"/>
          <p:cNvSpPr/>
          <p:nvPr/>
        </p:nvSpPr>
        <p:spPr>
          <a:xfrm>
            <a:off x="7301484"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7-element000-table-r00-c05-text"/>
          <p:cNvSpPr txBox="1"/>
          <p:nvPr/>
        </p:nvSpPr>
        <p:spPr>
          <a:xfrm>
            <a:off x="7392924"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Expected gain / loss</a:t>
            </a:r>
          </a:p>
        </p:txBody>
      </p:sp>
      <p:sp>
        <p:nvSpPr>
          <p:cNvPr id="17" name="slide027-element000-table-r00-c06-cell"/>
          <p:cNvSpPr/>
          <p:nvPr/>
        </p:nvSpPr>
        <p:spPr>
          <a:xfrm>
            <a:off x="9045336" y="1901952"/>
            <a:ext cx="1073139"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7-element000-table-r00-c06-text"/>
          <p:cNvSpPr txBox="1"/>
          <p:nvPr/>
        </p:nvSpPr>
        <p:spPr>
          <a:xfrm>
            <a:off x="9136776" y="1975104"/>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Max drawdown</a:t>
            </a:r>
          </a:p>
        </p:txBody>
      </p:sp>
      <p:sp>
        <p:nvSpPr>
          <p:cNvPr id="19" name="slide027-element000-table-r00-c07-cell"/>
          <p:cNvSpPr/>
          <p:nvPr/>
        </p:nvSpPr>
        <p:spPr>
          <a:xfrm>
            <a:off x="10118476" y="1901952"/>
            <a:ext cx="201213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7-element000-table-r00-c07-text"/>
          <p:cNvSpPr txBox="1"/>
          <p:nvPr/>
        </p:nvSpPr>
        <p:spPr>
          <a:xfrm>
            <a:off x="10209916" y="1975104"/>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2% / 5% cost</a:t>
            </a:r>
          </a:p>
        </p:txBody>
      </p:sp>
      <p:sp>
        <p:nvSpPr>
          <p:cNvPr id="21" name="slide027-element000-table-r00-c08-cell"/>
          <p:cNvSpPr/>
          <p:nvPr/>
        </p:nvSpPr>
        <p:spPr>
          <a:xfrm>
            <a:off x="12130613" y="1901952"/>
            <a:ext cx="1877994"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7-element000-table-r00-c08-text"/>
          <p:cNvSpPr txBox="1"/>
          <p:nvPr/>
        </p:nvSpPr>
        <p:spPr>
          <a:xfrm>
            <a:off x="12222053" y="1975104"/>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Synthetic lay ending</a:t>
            </a:r>
          </a:p>
        </p:txBody>
      </p:sp>
      <p:sp>
        <p:nvSpPr>
          <p:cNvPr id="23" name="slide027-element000-table-r01-c00-cell"/>
          <p:cNvSpPr/>
          <p:nvPr/>
        </p:nvSpPr>
        <p:spPr>
          <a:xfrm>
            <a:off x="594360"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7-element000-table-r01-c00-text"/>
          <p:cNvSpPr txBox="1"/>
          <p:nvPr/>
        </p:nvSpPr>
        <p:spPr>
          <a:xfrm>
            <a:off x="685800"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Bet365</a:t>
            </a:r>
          </a:p>
        </p:txBody>
      </p:sp>
      <p:sp>
        <p:nvSpPr>
          <p:cNvPr id="25" name="slide027-element000-table-r01-c01-cell"/>
          <p:cNvSpPr/>
          <p:nvPr/>
        </p:nvSpPr>
        <p:spPr>
          <a:xfrm>
            <a:off x="2338212" y="2400300"/>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7-element000-table-r01-c01-text"/>
          <p:cNvSpPr txBox="1"/>
          <p:nvPr/>
        </p:nvSpPr>
        <p:spPr>
          <a:xfrm>
            <a:off x="2429652" y="2473452"/>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24,426</a:t>
            </a:r>
          </a:p>
        </p:txBody>
      </p:sp>
      <p:sp>
        <p:nvSpPr>
          <p:cNvPr id="27" name="slide027-element000-table-r01-c02-cell"/>
          <p:cNvSpPr/>
          <p:nvPr/>
        </p:nvSpPr>
        <p:spPr>
          <a:xfrm>
            <a:off x="3679637" y="2400300"/>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7-element000-table-r01-c02-text"/>
          <p:cNvSpPr txBox="1"/>
          <p:nvPr/>
        </p:nvSpPr>
        <p:spPr>
          <a:xfrm>
            <a:off x="3771077" y="247345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-5.36%</a:t>
            </a:r>
          </a:p>
        </p:txBody>
      </p:sp>
      <p:sp>
        <p:nvSpPr>
          <p:cNvPr id="29" name="slide027-element000-table-r01-c03-cell"/>
          <p:cNvSpPr/>
          <p:nvPr/>
        </p:nvSpPr>
        <p:spPr>
          <a:xfrm>
            <a:off x="4618634" y="2400300"/>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7-element000-table-r01-c03-text"/>
          <p:cNvSpPr txBox="1"/>
          <p:nvPr/>
        </p:nvSpPr>
        <p:spPr>
          <a:xfrm>
            <a:off x="4710074" y="247345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76.01%</a:t>
            </a:r>
          </a:p>
        </p:txBody>
      </p:sp>
      <p:sp>
        <p:nvSpPr>
          <p:cNvPr id="31" name="slide027-element000-table-r01-c04-cell"/>
          <p:cNvSpPr/>
          <p:nvPr/>
        </p:nvSpPr>
        <p:spPr>
          <a:xfrm>
            <a:off x="5557631"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7-element000-table-r01-c04-text"/>
          <p:cNvSpPr txBox="1"/>
          <p:nvPr/>
        </p:nvSpPr>
        <p:spPr>
          <a:xfrm>
            <a:off x="5649071"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1409/1409; 95.85%</a:t>
            </a:r>
          </a:p>
        </p:txBody>
      </p:sp>
      <p:sp>
        <p:nvSpPr>
          <p:cNvPr id="33" name="slide027-element000-table-r01-c05-cell"/>
          <p:cNvSpPr/>
          <p:nvPr/>
        </p:nvSpPr>
        <p:spPr>
          <a:xfrm>
            <a:off x="7301484"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7-element000-table-r01-c05-text"/>
          <p:cNvSpPr txBox="1"/>
          <p:nvPr/>
        </p:nvSpPr>
        <p:spPr>
          <a:xfrm>
            <a:off x="7392924"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142.3 / 387.4</a:t>
            </a:r>
          </a:p>
        </p:txBody>
      </p:sp>
      <p:sp>
        <p:nvSpPr>
          <p:cNvPr id="35" name="slide027-element000-table-r01-c06-cell"/>
          <p:cNvSpPr/>
          <p:nvPr/>
        </p:nvSpPr>
        <p:spPr>
          <a:xfrm>
            <a:off x="9045336" y="2400300"/>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7-element000-table-r01-c06-text"/>
          <p:cNvSpPr txBox="1"/>
          <p:nvPr/>
        </p:nvSpPr>
        <p:spPr>
          <a:xfrm>
            <a:off x="9136776" y="2473452"/>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75.63%</a:t>
            </a:r>
          </a:p>
        </p:txBody>
      </p:sp>
      <p:sp>
        <p:nvSpPr>
          <p:cNvPr id="37" name="slide027-element000-table-r01-c07-cell"/>
          <p:cNvSpPr/>
          <p:nvPr/>
        </p:nvSpPr>
        <p:spPr>
          <a:xfrm>
            <a:off x="10118476" y="2400300"/>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7-element000-table-r01-c07-text"/>
          <p:cNvSpPr txBox="1"/>
          <p:nvPr/>
        </p:nvSpPr>
        <p:spPr>
          <a:xfrm>
            <a:off x="10209916" y="2473452"/>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19,634 / 12,446</a:t>
            </a:r>
          </a:p>
        </p:txBody>
      </p:sp>
      <p:sp>
        <p:nvSpPr>
          <p:cNvPr id="39" name="slide027-element000-table-r01-c08-cell"/>
          <p:cNvSpPr/>
          <p:nvPr/>
        </p:nvSpPr>
        <p:spPr>
          <a:xfrm>
            <a:off x="12130613" y="2400300"/>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7-element000-table-r01-c08-text"/>
          <p:cNvSpPr txBox="1"/>
          <p:nvPr/>
        </p:nvSpPr>
        <p:spPr>
          <a:xfrm>
            <a:off x="12222053" y="2473452"/>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120,882</a:t>
            </a:r>
          </a:p>
        </p:txBody>
      </p:sp>
      <p:sp>
        <p:nvSpPr>
          <p:cNvPr id="41" name="slide027-element000-table-r02-c00-cell"/>
          <p:cNvSpPr/>
          <p:nvPr/>
        </p:nvSpPr>
        <p:spPr>
          <a:xfrm>
            <a:off x="594360"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7-element000-table-r02-c00-text"/>
          <p:cNvSpPr txBox="1"/>
          <p:nvPr/>
        </p:nvSpPr>
        <p:spPr>
          <a:xfrm>
            <a:off x="685800"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 Bet365</a:t>
            </a:r>
          </a:p>
        </p:txBody>
      </p:sp>
      <p:sp>
        <p:nvSpPr>
          <p:cNvPr id="43" name="slide027-element000-table-r02-c01-cell"/>
          <p:cNvSpPr/>
          <p:nvPr/>
        </p:nvSpPr>
        <p:spPr>
          <a:xfrm>
            <a:off x="2338212" y="2898648"/>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7-element000-table-r02-c01-text"/>
          <p:cNvSpPr txBox="1"/>
          <p:nvPr/>
        </p:nvSpPr>
        <p:spPr>
          <a:xfrm>
            <a:off x="2429652" y="2971800"/>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45" name="slide027-element000-table-r02-c02-cell"/>
          <p:cNvSpPr/>
          <p:nvPr/>
        </p:nvSpPr>
        <p:spPr>
          <a:xfrm>
            <a:off x="3679637" y="2898648"/>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7-element000-table-r02-c02-text"/>
          <p:cNvSpPr txBox="1"/>
          <p:nvPr/>
        </p:nvSpPr>
        <p:spPr>
          <a:xfrm>
            <a:off x="3771077" y="297180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-8.91%</a:t>
            </a:r>
          </a:p>
        </p:txBody>
      </p:sp>
      <p:sp>
        <p:nvSpPr>
          <p:cNvPr id="47" name="slide027-element000-table-r02-c03-cell"/>
          <p:cNvSpPr/>
          <p:nvPr/>
        </p:nvSpPr>
        <p:spPr>
          <a:xfrm>
            <a:off x="4618634" y="2898648"/>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7-element000-table-r02-c03-text"/>
          <p:cNvSpPr txBox="1"/>
          <p:nvPr/>
        </p:nvSpPr>
        <p:spPr>
          <a:xfrm>
            <a:off x="4710074" y="297180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54.44%</a:t>
            </a:r>
          </a:p>
        </p:txBody>
      </p:sp>
      <p:sp>
        <p:nvSpPr>
          <p:cNvPr id="49" name="slide027-element000-table-r02-c04-cell"/>
          <p:cNvSpPr/>
          <p:nvPr/>
        </p:nvSpPr>
        <p:spPr>
          <a:xfrm>
            <a:off x="5557631"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7-element000-table-r02-c04-text"/>
          <p:cNvSpPr txBox="1"/>
          <p:nvPr/>
        </p:nvSpPr>
        <p:spPr>
          <a:xfrm>
            <a:off x="5649071"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1194/1470; 81.22%</a:t>
            </a:r>
          </a:p>
        </p:txBody>
      </p:sp>
      <p:sp>
        <p:nvSpPr>
          <p:cNvPr id="51" name="slide027-element000-table-r02-c05-cell"/>
          <p:cNvSpPr/>
          <p:nvPr/>
        </p:nvSpPr>
        <p:spPr>
          <a:xfrm>
            <a:off x="7301484"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7-element000-table-r02-c05-text"/>
          <p:cNvSpPr txBox="1"/>
          <p:nvPr/>
        </p:nvSpPr>
        <p:spPr>
          <a:xfrm>
            <a:off x="7392924"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368.3 / 416.7</a:t>
            </a:r>
          </a:p>
        </p:txBody>
      </p:sp>
      <p:sp>
        <p:nvSpPr>
          <p:cNvPr id="53" name="slide027-element000-table-r02-c06-cell"/>
          <p:cNvSpPr/>
          <p:nvPr/>
        </p:nvSpPr>
        <p:spPr>
          <a:xfrm>
            <a:off x="9045336" y="2898648"/>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7-element000-table-r02-c06-text"/>
          <p:cNvSpPr txBox="1"/>
          <p:nvPr/>
        </p:nvSpPr>
        <p:spPr>
          <a:xfrm>
            <a:off x="9136776" y="2971800"/>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100.00%</a:t>
            </a:r>
          </a:p>
        </p:txBody>
      </p:sp>
      <p:sp>
        <p:nvSpPr>
          <p:cNvPr id="55" name="slide027-element000-table-r02-c07-cell"/>
          <p:cNvSpPr/>
          <p:nvPr/>
        </p:nvSpPr>
        <p:spPr>
          <a:xfrm>
            <a:off x="10118476" y="2898648"/>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7-element000-table-r02-c07-text"/>
          <p:cNvSpPr txBox="1"/>
          <p:nvPr/>
        </p:nvSpPr>
        <p:spPr>
          <a:xfrm>
            <a:off x="10209916" y="2971800"/>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 / 0</a:t>
            </a:r>
          </a:p>
        </p:txBody>
      </p:sp>
      <p:sp>
        <p:nvSpPr>
          <p:cNvPr id="57" name="slide027-element000-table-r02-c08-cell"/>
          <p:cNvSpPr/>
          <p:nvPr/>
        </p:nvSpPr>
        <p:spPr>
          <a:xfrm>
            <a:off x="12130613" y="2898648"/>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7-element000-table-r02-c08-text"/>
          <p:cNvSpPr txBox="1"/>
          <p:nvPr/>
        </p:nvSpPr>
        <p:spPr>
          <a:xfrm>
            <a:off x="12222053" y="2971800"/>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176,440</a:t>
            </a:r>
          </a:p>
        </p:txBody>
      </p:sp>
      <p:sp>
        <p:nvSpPr>
          <p:cNvPr id="59" name="slide027-element000-table-r03-c00-cell"/>
          <p:cNvSpPr/>
          <p:nvPr/>
        </p:nvSpPr>
        <p:spPr>
          <a:xfrm>
            <a:off x="594360"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7-element000-table-r03-c00-text"/>
          <p:cNvSpPr txBox="1"/>
          <p:nvPr/>
        </p:nvSpPr>
        <p:spPr>
          <a:xfrm>
            <a:off x="685800"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 Best</a:t>
            </a:r>
          </a:p>
        </p:txBody>
      </p:sp>
      <p:sp>
        <p:nvSpPr>
          <p:cNvPr id="61" name="slide027-element000-table-r03-c01-cell"/>
          <p:cNvSpPr/>
          <p:nvPr/>
        </p:nvSpPr>
        <p:spPr>
          <a:xfrm>
            <a:off x="2338212" y="3396996"/>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7-element000-table-r03-c01-text"/>
          <p:cNvSpPr txBox="1"/>
          <p:nvPr/>
        </p:nvSpPr>
        <p:spPr>
          <a:xfrm>
            <a:off x="2429652" y="3470148"/>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83,274</a:t>
            </a:r>
          </a:p>
        </p:txBody>
      </p:sp>
      <p:sp>
        <p:nvSpPr>
          <p:cNvPr id="63" name="slide027-element000-table-r03-c02-cell"/>
          <p:cNvSpPr/>
          <p:nvPr/>
        </p:nvSpPr>
        <p:spPr>
          <a:xfrm>
            <a:off x="3679637" y="3396996"/>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7-element000-table-r03-c02-text"/>
          <p:cNvSpPr txBox="1"/>
          <p:nvPr/>
        </p:nvSpPr>
        <p:spPr>
          <a:xfrm>
            <a:off x="3771077" y="347014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-1.14%</a:t>
            </a:r>
          </a:p>
        </p:txBody>
      </p:sp>
      <p:sp>
        <p:nvSpPr>
          <p:cNvPr id="65" name="slide027-element000-table-r03-c03-cell"/>
          <p:cNvSpPr/>
          <p:nvPr/>
        </p:nvSpPr>
        <p:spPr>
          <a:xfrm>
            <a:off x="4618634" y="3396996"/>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7-element000-table-r03-c03-text"/>
          <p:cNvSpPr txBox="1"/>
          <p:nvPr/>
        </p:nvSpPr>
        <p:spPr>
          <a:xfrm>
            <a:off x="4710074" y="347014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68.57%</a:t>
            </a:r>
          </a:p>
        </p:txBody>
      </p:sp>
      <p:sp>
        <p:nvSpPr>
          <p:cNvPr id="67" name="slide027-element000-table-r03-c04-cell"/>
          <p:cNvSpPr/>
          <p:nvPr/>
        </p:nvSpPr>
        <p:spPr>
          <a:xfrm>
            <a:off x="5557631"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7-element000-table-r03-c04-text"/>
          <p:cNvSpPr txBox="1"/>
          <p:nvPr/>
        </p:nvSpPr>
        <p:spPr>
          <a:xfrm>
            <a:off x="5649071"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69" name="slide027-element000-table-r03-c05-cell"/>
          <p:cNvSpPr/>
          <p:nvPr/>
        </p:nvSpPr>
        <p:spPr>
          <a:xfrm>
            <a:off x="7301484"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7-element000-table-r03-c05-text"/>
          <p:cNvSpPr txBox="1"/>
          <p:nvPr/>
        </p:nvSpPr>
        <p:spPr>
          <a:xfrm>
            <a:off x="7392924"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301.2 / 323.0</a:t>
            </a:r>
          </a:p>
        </p:txBody>
      </p:sp>
      <p:sp>
        <p:nvSpPr>
          <p:cNvPr id="71" name="slide027-element000-table-r03-c06-cell"/>
          <p:cNvSpPr/>
          <p:nvPr/>
        </p:nvSpPr>
        <p:spPr>
          <a:xfrm>
            <a:off x="9045336" y="3396996"/>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7-element000-table-r03-c06-text"/>
          <p:cNvSpPr txBox="1"/>
          <p:nvPr/>
        </p:nvSpPr>
        <p:spPr>
          <a:xfrm>
            <a:off x="9136776" y="3470148"/>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39.24%</a:t>
            </a:r>
          </a:p>
        </p:txBody>
      </p:sp>
      <p:sp>
        <p:nvSpPr>
          <p:cNvPr id="73" name="slide027-element000-table-r03-c07-cell"/>
          <p:cNvSpPr/>
          <p:nvPr/>
        </p:nvSpPr>
        <p:spPr>
          <a:xfrm>
            <a:off x="10118476" y="3396996"/>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7-element000-table-r03-c07-text"/>
          <p:cNvSpPr txBox="1"/>
          <p:nvPr/>
        </p:nvSpPr>
        <p:spPr>
          <a:xfrm>
            <a:off x="10209916" y="3470148"/>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74,388 / 61,060</a:t>
            </a:r>
          </a:p>
        </p:txBody>
      </p:sp>
      <p:sp>
        <p:nvSpPr>
          <p:cNvPr id="75" name="slide027-element000-table-r03-c08-cell"/>
          <p:cNvSpPr/>
          <p:nvPr/>
        </p:nvSpPr>
        <p:spPr>
          <a:xfrm>
            <a:off x="12130613" y="3396996"/>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7-element000-table-r03-c08-text"/>
          <p:cNvSpPr txBox="1"/>
          <p:nvPr/>
        </p:nvSpPr>
        <p:spPr>
          <a:xfrm>
            <a:off x="12222053" y="3470148"/>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140,580</a:t>
            </a:r>
          </a:p>
        </p:txBody>
      </p:sp>
      <p:sp>
        <p:nvSpPr>
          <p:cNvPr id="77" name="slide027-element000-table-r04-c00-cell"/>
          <p:cNvSpPr/>
          <p:nvPr/>
        </p:nvSpPr>
        <p:spPr>
          <a:xfrm>
            <a:off x="594360"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7-element000-table-r04-c00-text"/>
          <p:cNvSpPr txBox="1"/>
          <p:nvPr/>
        </p:nvSpPr>
        <p:spPr>
          <a:xfrm>
            <a:off x="685800"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 Bet365</a:t>
            </a:r>
          </a:p>
        </p:txBody>
      </p:sp>
      <p:sp>
        <p:nvSpPr>
          <p:cNvPr id="79" name="slide027-element000-table-r04-c01-cell"/>
          <p:cNvSpPr/>
          <p:nvPr/>
        </p:nvSpPr>
        <p:spPr>
          <a:xfrm>
            <a:off x="2338212" y="3895344"/>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7-element000-table-r04-c01-text"/>
          <p:cNvSpPr txBox="1"/>
          <p:nvPr/>
        </p:nvSpPr>
        <p:spPr>
          <a:xfrm>
            <a:off x="2429652" y="3968496"/>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39,139</a:t>
            </a:r>
          </a:p>
        </p:txBody>
      </p:sp>
      <p:sp>
        <p:nvSpPr>
          <p:cNvPr id="81" name="slide027-element000-table-r04-c02-cell"/>
          <p:cNvSpPr/>
          <p:nvPr/>
        </p:nvSpPr>
        <p:spPr>
          <a:xfrm>
            <a:off x="3679637" y="3895344"/>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7-element000-table-r04-c02-text"/>
          <p:cNvSpPr txBox="1"/>
          <p:nvPr/>
        </p:nvSpPr>
        <p:spPr>
          <a:xfrm>
            <a:off x="3771077" y="396849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-4.14%</a:t>
            </a:r>
          </a:p>
        </p:txBody>
      </p:sp>
      <p:sp>
        <p:nvSpPr>
          <p:cNvPr id="83" name="slide027-element000-table-r04-c03-cell"/>
          <p:cNvSpPr/>
          <p:nvPr/>
        </p:nvSpPr>
        <p:spPr>
          <a:xfrm>
            <a:off x="4618634" y="3895344"/>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7-element000-table-r04-c03-text"/>
          <p:cNvSpPr txBox="1"/>
          <p:nvPr/>
        </p:nvSpPr>
        <p:spPr>
          <a:xfrm>
            <a:off x="4710074" y="396849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67.14%</a:t>
            </a:r>
          </a:p>
        </p:txBody>
      </p:sp>
      <p:sp>
        <p:nvSpPr>
          <p:cNvPr id="85" name="slide027-element000-table-r04-c04-cell"/>
          <p:cNvSpPr/>
          <p:nvPr/>
        </p:nvSpPr>
        <p:spPr>
          <a:xfrm>
            <a:off x="5557631"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7-element000-table-r04-c04-text"/>
          <p:cNvSpPr txBox="1"/>
          <p:nvPr/>
        </p:nvSpPr>
        <p:spPr>
          <a:xfrm>
            <a:off x="5649071"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87" name="slide027-element000-table-r04-c05-cell"/>
          <p:cNvSpPr/>
          <p:nvPr/>
        </p:nvSpPr>
        <p:spPr>
          <a:xfrm>
            <a:off x="7301484"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7-element000-table-r04-c05-text"/>
          <p:cNvSpPr txBox="1"/>
          <p:nvPr/>
        </p:nvSpPr>
        <p:spPr>
          <a:xfrm>
            <a:off x="7392924"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271.5 / 323.1</a:t>
            </a:r>
          </a:p>
        </p:txBody>
      </p:sp>
      <p:sp>
        <p:nvSpPr>
          <p:cNvPr id="89" name="slide027-element000-table-r04-c06-cell"/>
          <p:cNvSpPr/>
          <p:nvPr/>
        </p:nvSpPr>
        <p:spPr>
          <a:xfrm>
            <a:off x="9045336" y="3895344"/>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7-element000-table-r04-c06-text"/>
          <p:cNvSpPr txBox="1"/>
          <p:nvPr/>
        </p:nvSpPr>
        <p:spPr>
          <a:xfrm>
            <a:off x="9136776" y="3968496"/>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73.18%</a:t>
            </a:r>
          </a:p>
        </p:txBody>
      </p:sp>
      <p:sp>
        <p:nvSpPr>
          <p:cNvPr id="91" name="slide027-element000-table-r04-c07-cell"/>
          <p:cNvSpPr/>
          <p:nvPr/>
        </p:nvSpPr>
        <p:spPr>
          <a:xfrm>
            <a:off x="10118476" y="3895344"/>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7-element000-table-r04-c07-text"/>
          <p:cNvSpPr txBox="1"/>
          <p:nvPr/>
        </p:nvSpPr>
        <p:spPr>
          <a:xfrm>
            <a:off x="10209916" y="3968496"/>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31,133 / 19,124</a:t>
            </a:r>
          </a:p>
        </p:txBody>
      </p:sp>
      <p:sp>
        <p:nvSpPr>
          <p:cNvPr id="93" name="slide027-element000-table-r04-c08-cell"/>
          <p:cNvSpPr/>
          <p:nvPr/>
        </p:nvSpPr>
        <p:spPr>
          <a:xfrm>
            <a:off x="12130613" y="3895344"/>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7-element000-table-r04-c08-text"/>
          <p:cNvSpPr txBox="1"/>
          <p:nvPr/>
        </p:nvSpPr>
        <p:spPr>
          <a:xfrm>
            <a:off x="12222053" y="3968496"/>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168,948</a:t>
            </a:r>
          </a:p>
        </p:txBody>
      </p:sp>
      <p:sp>
        <p:nvSpPr>
          <p:cNvPr id="95" name="slide027-element000-table-r05-c00-cell"/>
          <p:cNvSpPr/>
          <p:nvPr/>
        </p:nvSpPr>
        <p:spPr>
          <a:xfrm>
            <a:off x="594360"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27-element000-table-r05-c00-text"/>
          <p:cNvSpPr txBox="1"/>
          <p:nvPr/>
        </p:nvSpPr>
        <p:spPr>
          <a:xfrm>
            <a:off x="685800"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 Best</a:t>
            </a:r>
          </a:p>
        </p:txBody>
      </p:sp>
      <p:sp>
        <p:nvSpPr>
          <p:cNvPr id="97" name="slide027-element000-table-r05-c01-cell"/>
          <p:cNvSpPr/>
          <p:nvPr/>
        </p:nvSpPr>
        <p:spPr>
          <a:xfrm>
            <a:off x="2338212" y="4393692"/>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27-element000-table-r05-c01-text"/>
          <p:cNvSpPr txBox="1"/>
          <p:nvPr/>
        </p:nvSpPr>
        <p:spPr>
          <a:xfrm>
            <a:off x="2429652" y="4466844"/>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63,774</a:t>
            </a:r>
          </a:p>
        </p:txBody>
      </p:sp>
      <p:sp>
        <p:nvSpPr>
          <p:cNvPr id="99" name="slide027-element000-table-r05-c02-cell"/>
          <p:cNvSpPr/>
          <p:nvPr/>
        </p:nvSpPr>
        <p:spPr>
          <a:xfrm>
            <a:off x="3679637" y="4393692"/>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27-element000-table-r05-c02-text"/>
          <p:cNvSpPr txBox="1"/>
          <p:nvPr/>
        </p:nvSpPr>
        <p:spPr>
          <a:xfrm>
            <a:off x="3771077" y="446684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-2.46%</a:t>
            </a:r>
          </a:p>
        </p:txBody>
      </p:sp>
      <p:sp>
        <p:nvSpPr>
          <p:cNvPr id="101" name="slide027-element000-table-r05-c03-cell"/>
          <p:cNvSpPr/>
          <p:nvPr/>
        </p:nvSpPr>
        <p:spPr>
          <a:xfrm>
            <a:off x="4618634" y="4393692"/>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27-element000-table-r05-c03-text"/>
          <p:cNvSpPr txBox="1"/>
          <p:nvPr/>
        </p:nvSpPr>
        <p:spPr>
          <a:xfrm>
            <a:off x="4710074" y="446684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79.46%</a:t>
            </a:r>
          </a:p>
        </p:txBody>
      </p:sp>
      <p:sp>
        <p:nvSpPr>
          <p:cNvPr id="103" name="slide027-element000-table-r05-c04-cell"/>
          <p:cNvSpPr/>
          <p:nvPr/>
        </p:nvSpPr>
        <p:spPr>
          <a:xfrm>
            <a:off x="5557631"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27-element000-table-r05-c04-text"/>
          <p:cNvSpPr txBox="1"/>
          <p:nvPr/>
        </p:nvSpPr>
        <p:spPr>
          <a:xfrm>
            <a:off x="5649071"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105" name="slide027-element000-table-r05-c05-cell"/>
          <p:cNvSpPr/>
          <p:nvPr/>
        </p:nvSpPr>
        <p:spPr>
          <a:xfrm>
            <a:off x="7301484"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lide027-element000-table-r05-c05-text"/>
          <p:cNvSpPr txBox="1"/>
          <p:nvPr/>
        </p:nvSpPr>
        <p:spPr>
          <a:xfrm>
            <a:off x="7392924"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180.8 / 207.3</a:t>
            </a:r>
          </a:p>
        </p:txBody>
      </p:sp>
      <p:sp>
        <p:nvSpPr>
          <p:cNvPr id="107" name="slide027-element000-table-r05-c06-cell"/>
          <p:cNvSpPr/>
          <p:nvPr/>
        </p:nvSpPr>
        <p:spPr>
          <a:xfrm>
            <a:off x="9045336" y="4393692"/>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slide027-element000-table-r05-c06-text"/>
          <p:cNvSpPr txBox="1"/>
          <p:nvPr/>
        </p:nvSpPr>
        <p:spPr>
          <a:xfrm>
            <a:off x="9136776" y="4466844"/>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36.38%</a:t>
            </a:r>
          </a:p>
        </p:txBody>
      </p:sp>
      <p:sp>
        <p:nvSpPr>
          <p:cNvPr id="109" name="slide027-element000-table-r05-c07-cell"/>
          <p:cNvSpPr/>
          <p:nvPr/>
        </p:nvSpPr>
        <p:spPr>
          <a:xfrm>
            <a:off x="10118476" y="4393692"/>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lide027-element000-table-r05-c07-text"/>
          <p:cNvSpPr txBox="1"/>
          <p:nvPr/>
        </p:nvSpPr>
        <p:spPr>
          <a:xfrm>
            <a:off x="10209916" y="4466844"/>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58,478 / 50,535</a:t>
            </a:r>
          </a:p>
        </p:txBody>
      </p:sp>
      <p:sp>
        <p:nvSpPr>
          <p:cNvPr id="111" name="slide027-element000-table-r05-c08-cell"/>
          <p:cNvSpPr/>
          <p:nvPr/>
        </p:nvSpPr>
        <p:spPr>
          <a:xfrm>
            <a:off x="12130613" y="4393692"/>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lide027-element000-table-r05-c08-text"/>
          <p:cNvSpPr txBox="1"/>
          <p:nvPr/>
        </p:nvSpPr>
        <p:spPr>
          <a:xfrm>
            <a:off x="12222053" y="4466844"/>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107,026</a:t>
            </a:r>
          </a:p>
        </p:txBody>
      </p:sp>
      <p:sp>
        <p:nvSpPr>
          <p:cNvPr id="113" name="slide027-element000-table-r06-c00-cell"/>
          <p:cNvSpPr/>
          <p:nvPr/>
        </p:nvSpPr>
        <p:spPr>
          <a:xfrm>
            <a:off x="594360"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lide027-element000-table-r06-c00-text"/>
          <p:cNvSpPr txBox="1"/>
          <p:nvPr/>
        </p:nvSpPr>
        <p:spPr>
          <a:xfrm>
            <a:off x="685800"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 Bet365</a:t>
            </a:r>
          </a:p>
        </p:txBody>
      </p:sp>
      <p:sp>
        <p:nvSpPr>
          <p:cNvPr id="115" name="slide027-element000-table-r06-c01-cell"/>
          <p:cNvSpPr/>
          <p:nvPr/>
        </p:nvSpPr>
        <p:spPr>
          <a:xfrm>
            <a:off x="2338212" y="4892040"/>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slide027-element000-table-r06-c01-text"/>
          <p:cNvSpPr txBox="1"/>
          <p:nvPr/>
        </p:nvSpPr>
        <p:spPr>
          <a:xfrm>
            <a:off x="2429652" y="4965192"/>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26,653</a:t>
            </a:r>
          </a:p>
        </p:txBody>
      </p:sp>
      <p:sp>
        <p:nvSpPr>
          <p:cNvPr id="117" name="slide027-element000-table-r06-c02-cell"/>
          <p:cNvSpPr/>
          <p:nvPr/>
        </p:nvSpPr>
        <p:spPr>
          <a:xfrm>
            <a:off x="3679637" y="4892040"/>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slide027-element000-table-r06-c02-text"/>
          <p:cNvSpPr txBox="1"/>
          <p:nvPr/>
        </p:nvSpPr>
        <p:spPr>
          <a:xfrm>
            <a:off x="3771077" y="496519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-4.99%</a:t>
            </a:r>
          </a:p>
        </p:txBody>
      </p:sp>
      <p:sp>
        <p:nvSpPr>
          <p:cNvPr id="119" name="slide027-element000-table-r06-c03-cell"/>
          <p:cNvSpPr/>
          <p:nvPr/>
        </p:nvSpPr>
        <p:spPr>
          <a:xfrm>
            <a:off x="4618634" y="4892040"/>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slide027-element000-table-r06-c03-text"/>
          <p:cNvSpPr txBox="1"/>
          <p:nvPr/>
        </p:nvSpPr>
        <p:spPr>
          <a:xfrm>
            <a:off x="4710074" y="496519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77.96%</a:t>
            </a:r>
          </a:p>
        </p:txBody>
      </p:sp>
      <p:sp>
        <p:nvSpPr>
          <p:cNvPr id="121" name="slide027-element000-table-r06-c04-cell"/>
          <p:cNvSpPr/>
          <p:nvPr/>
        </p:nvSpPr>
        <p:spPr>
          <a:xfrm>
            <a:off x="5557631"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lide027-element000-table-r06-c04-text"/>
          <p:cNvSpPr txBox="1"/>
          <p:nvPr/>
        </p:nvSpPr>
        <p:spPr>
          <a:xfrm>
            <a:off x="5649071"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123" name="slide027-element000-table-r06-c05-cell"/>
          <p:cNvSpPr/>
          <p:nvPr/>
        </p:nvSpPr>
        <p:spPr>
          <a:xfrm>
            <a:off x="7301484"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lide027-element000-table-r06-c05-text"/>
          <p:cNvSpPr txBox="1"/>
          <p:nvPr/>
        </p:nvSpPr>
        <p:spPr>
          <a:xfrm>
            <a:off x="7392924"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155.7 / 207.4</a:t>
            </a:r>
          </a:p>
        </p:txBody>
      </p:sp>
      <p:sp>
        <p:nvSpPr>
          <p:cNvPr id="125" name="slide027-element000-table-r06-c06-cell"/>
          <p:cNvSpPr/>
          <p:nvPr/>
        </p:nvSpPr>
        <p:spPr>
          <a:xfrm>
            <a:off x="9045336" y="4892040"/>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lide027-element000-table-r06-c06-text"/>
          <p:cNvSpPr txBox="1"/>
          <p:nvPr/>
        </p:nvSpPr>
        <p:spPr>
          <a:xfrm>
            <a:off x="9136776" y="4965192"/>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73.41%</a:t>
            </a:r>
          </a:p>
        </p:txBody>
      </p:sp>
      <p:sp>
        <p:nvSpPr>
          <p:cNvPr id="127" name="slide027-element000-table-r06-c07-cell"/>
          <p:cNvSpPr/>
          <p:nvPr/>
        </p:nvSpPr>
        <p:spPr>
          <a:xfrm>
            <a:off x="10118476" y="4892040"/>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lide027-element000-table-r06-c07-text"/>
          <p:cNvSpPr txBox="1"/>
          <p:nvPr/>
        </p:nvSpPr>
        <p:spPr>
          <a:xfrm>
            <a:off x="10209916" y="4965192"/>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22,097 / 15,262</a:t>
            </a:r>
          </a:p>
        </p:txBody>
      </p:sp>
      <p:sp>
        <p:nvSpPr>
          <p:cNvPr id="129" name="slide027-element000-table-r06-c08-cell"/>
          <p:cNvSpPr/>
          <p:nvPr/>
        </p:nvSpPr>
        <p:spPr>
          <a:xfrm>
            <a:off x="12130613" y="4892040"/>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lide027-element000-table-r06-c08-text"/>
          <p:cNvSpPr txBox="1"/>
          <p:nvPr/>
        </p:nvSpPr>
        <p:spPr>
          <a:xfrm>
            <a:off x="12222053" y="4965192"/>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124,838</a:t>
            </a:r>
          </a:p>
        </p:txBody>
      </p:sp>
      <p:sp>
        <p:nvSpPr>
          <p:cNvPr id="131" name="slide027-element000-table-r07-c00-cell"/>
          <p:cNvSpPr/>
          <p:nvPr/>
        </p:nvSpPr>
        <p:spPr>
          <a:xfrm>
            <a:off x="594360"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lide027-element000-table-r07-c00-text"/>
          <p:cNvSpPr txBox="1"/>
          <p:nvPr/>
        </p:nvSpPr>
        <p:spPr>
          <a:xfrm>
            <a:off x="685800"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Best</a:t>
            </a:r>
          </a:p>
        </p:txBody>
      </p:sp>
      <p:sp>
        <p:nvSpPr>
          <p:cNvPr id="133" name="slide027-element000-table-r07-c01-cell"/>
          <p:cNvSpPr/>
          <p:nvPr/>
        </p:nvSpPr>
        <p:spPr>
          <a:xfrm>
            <a:off x="2338212" y="5390388"/>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lide027-element000-table-r07-c01-text"/>
          <p:cNvSpPr txBox="1"/>
          <p:nvPr/>
        </p:nvSpPr>
        <p:spPr>
          <a:xfrm>
            <a:off x="2429652" y="5463540"/>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92,927</a:t>
            </a:r>
          </a:p>
        </p:txBody>
      </p:sp>
      <p:sp>
        <p:nvSpPr>
          <p:cNvPr id="135" name="slide027-element000-table-r07-c02-cell"/>
          <p:cNvSpPr/>
          <p:nvPr/>
        </p:nvSpPr>
        <p:spPr>
          <a:xfrm>
            <a:off x="3679637" y="5390388"/>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lide027-element000-table-r07-c02-text"/>
          <p:cNvSpPr txBox="1"/>
          <p:nvPr/>
        </p:nvSpPr>
        <p:spPr>
          <a:xfrm>
            <a:off x="3771077" y="546354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-0.51%</a:t>
            </a:r>
          </a:p>
        </p:txBody>
      </p:sp>
      <p:sp>
        <p:nvSpPr>
          <p:cNvPr id="137" name="slide027-element000-table-r07-c03-cell"/>
          <p:cNvSpPr/>
          <p:nvPr/>
        </p:nvSpPr>
        <p:spPr>
          <a:xfrm>
            <a:off x="4618634" y="5390388"/>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slide027-element000-table-r07-c03-text"/>
          <p:cNvSpPr txBox="1"/>
          <p:nvPr/>
        </p:nvSpPr>
        <p:spPr>
          <a:xfrm>
            <a:off x="4710074" y="546354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75.43%</a:t>
            </a:r>
          </a:p>
        </p:txBody>
      </p:sp>
      <p:sp>
        <p:nvSpPr>
          <p:cNvPr id="139" name="slide027-element000-table-r07-c04-cell"/>
          <p:cNvSpPr/>
          <p:nvPr/>
        </p:nvSpPr>
        <p:spPr>
          <a:xfrm>
            <a:off x="5557631"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slide027-element000-table-r07-c04-text"/>
          <p:cNvSpPr txBox="1"/>
          <p:nvPr/>
        </p:nvSpPr>
        <p:spPr>
          <a:xfrm>
            <a:off x="5649071"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1384/1384; 94.15%</a:t>
            </a:r>
          </a:p>
        </p:txBody>
      </p:sp>
      <p:sp>
        <p:nvSpPr>
          <p:cNvPr id="141" name="slide027-element000-table-r07-c05-cell"/>
          <p:cNvSpPr/>
          <p:nvPr/>
        </p:nvSpPr>
        <p:spPr>
          <a:xfrm>
            <a:off x="7301484"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slide027-element000-table-r07-c05-text"/>
          <p:cNvSpPr txBox="1"/>
          <p:nvPr/>
        </p:nvSpPr>
        <p:spPr>
          <a:xfrm>
            <a:off x="7392924"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199.2 / 354.8</a:t>
            </a:r>
          </a:p>
        </p:txBody>
      </p:sp>
      <p:sp>
        <p:nvSpPr>
          <p:cNvPr id="143" name="slide027-element000-table-r07-c06-cell"/>
          <p:cNvSpPr/>
          <p:nvPr/>
        </p:nvSpPr>
        <p:spPr>
          <a:xfrm>
            <a:off x="9045336" y="5390388"/>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slide027-element000-table-r07-c06-text"/>
          <p:cNvSpPr txBox="1"/>
          <p:nvPr/>
        </p:nvSpPr>
        <p:spPr>
          <a:xfrm>
            <a:off x="9136776" y="5463540"/>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29.63%</a:t>
            </a:r>
          </a:p>
        </p:txBody>
      </p:sp>
      <p:sp>
        <p:nvSpPr>
          <p:cNvPr id="145" name="slide027-element000-table-r07-c07-cell"/>
          <p:cNvSpPr/>
          <p:nvPr/>
        </p:nvSpPr>
        <p:spPr>
          <a:xfrm>
            <a:off x="10118476" y="5390388"/>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slide027-element000-table-r07-c07-text"/>
          <p:cNvSpPr txBox="1"/>
          <p:nvPr/>
        </p:nvSpPr>
        <p:spPr>
          <a:xfrm>
            <a:off x="10209916" y="5463540"/>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86,268 / 76,280</a:t>
            </a:r>
          </a:p>
        </p:txBody>
      </p:sp>
      <p:sp>
        <p:nvSpPr>
          <p:cNvPr id="147" name="slide027-element000-table-r07-c08-cell"/>
          <p:cNvSpPr/>
          <p:nvPr/>
        </p:nvSpPr>
        <p:spPr>
          <a:xfrm>
            <a:off x="12130613" y="5390388"/>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slide027-element000-table-r07-c08-text"/>
          <p:cNvSpPr txBox="1"/>
          <p:nvPr/>
        </p:nvSpPr>
        <p:spPr>
          <a:xfrm>
            <a:off x="12222053" y="5463540"/>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138,377</a:t>
            </a:r>
          </a:p>
        </p:txBody>
      </p:sp>
      <p:sp>
        <p:nvSpPr>
          <p:cNvPr id="149" name="slide027-element000-table-r08-c00-cell"/>
          <p:cNvSpPr/>
          <p:nvPr/>
        </p:nvSpPr>
        <p:spPr>
          <a:xfrm>
            <a:off x="594360"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slide027-element000-table-r08-c00-text"/>
          <p:cNvSpPr txBox="1"/>
          <p:nvPr/>
        </p:nvSpPr>
        <p:spPr>
          <a:xfrm>
            <a:off x="685800"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Bet365</a:t>
            </a:r>
          </a:p>
        </p:txBody>
      </p:sp>
      <p:sp>
        <p:nvSpPr>
          <p:cNvPr id="151" name="slide027-element000-table-r08-c01-cell"/>
          <p:cNvSpPr/>
          <p:nvPr/>
        </p:nvSpPr>
        <p:spPr>
          <a:xfrm>
            <a:off x="2338212" y="5888736"/>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slide027-element000-table-r08-c01-text"/>
          <p:cNvSpPr txBox="1"/>
          <p:nvPr/>
        </p:nvSpPr>
        <p:spPr>
          <a:xfrm>
            <a:off x="2429652" y="5961888"/>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49,178</a:t>
            </a:r>
          </a:p>
        </p:txBody>
      </p:sp>
      <p:sp>
        <p:nvSpPr>
          <p:cNvPr id="153" name="slide027-element000-table-r08-c02-cell"/>
          <p:cNvSpPr/>
          <p:nvPr/>
        </p:nvSpPr>
        <p:spPr>
          <a:xfrm>
            <a:off x="3679637" y="5888736"/>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slide027-element000-table-r08-c02-text"/>
          <p:cNvSpPr txBox="1"/>
          <p:nvPr/>
        </p:nvSpPr>
        <p:spPr>
          <a:xfrm>
            <a:off x="3771077" y="596188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-3.94%</a:t>
            </a:r>
          </a:p>
        </p:txBody>
      </p:sp>
      <p:sp>
        <p:nvSpPr>
          <p:cNvPr id="155" name="slide027-element000-table-r08-c03-cell"/>
          <p:cNvSpPr/>
          <p:nvPr/>
        </p:nvSpPr>
        <p:spPr>
          <a:xfrm>
            <a:off x="4618634" y="5888736"/>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slide027-element000-table-r08-c03-text"/>
          <p:cNvSpPr txBox="1"/>
          <p:nvPr/>
        </p:nvSpPr>
        <p:spPr>
          <a:xfrm>
            <a:off x="4710074" y="596188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74.73%</a:t>
            </a:r>
          </a:p>
        </p:txBody>
      </p:sp>
      <p:sp>
        <p:nvSpPr>
          <p:cNvPr id="157" name="slide027-element000-table-r08-c04-cell"/>
          <p:cNvSpPr/>
          <p:nvPr/>
        </p:nvSpPr>
        <p:spPr>
          <a:xfrm>
            <a:off x="5557631"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slide027-element000-table-r08-c04-text"/>
          <p:cNvSpPr txBox="1"/>
          <p:nvPr/>
        </p:nvSpPr>
        <p:spPr>
          <a:xfrm>
            <a:off x="5649071"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1290/1290; 87.76%</a:t>
            </a:r>
          </a:p>
        </p:txBody>
      </p:sp>
      <p:sp>
        <p:nvSpPr>
          <p:cNvPr id="159" name="slide027-element000-table-r08-c05-cell"/>
          <p:cNvSpPr/>
          <p:nvPr/>
        </p:nvSpPr>
        <p:spPr>
          <a:xfrm>
            <a:off x="7301484"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slide027-element000-table-r08-c05-text"/>
          <p:cNvSpPr txBox="1"/>
          <p:nvPr/>
        </p:nvSpPr>
        <p:spPr>
          <a:xfrm>
            <a:off x="7392924"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170.5 / 356.1</a:t>
            </a:r>
          </a:p>
        </p:txBody>
      </p:sp>
      <p:sp>
        <p:nvSpPr>
          <p:cNvPr id="161" name="slide027-element000-table-r08-c06-cell"/>
          <p:cNvSpPr/>
          <p:nvPr/>
        </p:nvSpPr>
        <p:spPr>
          <a:xfrm>
            <a:off x="9045336" y="5888736"/>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slide027-element000-table-r08-c06-text"/>
          <p:cNvSpPr txBox="1"/>
          <p:nvPr/>
        </p:nvSpPr>
        <p:spPr>
          <a:xfrm>
            <a:off x="9136776" y="5961888"/>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50.93%</a:t>
            </a:r>
          </a:p>
        </p:txBody>
      </p:sp>
      <p:sp>
        <p:nvSpPr>
          <p:cNvPr id="163" name="slide027-element000-table-r08-c07-cell"/>
          <p:cNvSpPr/>
          <p:nvPr/>
        </p:nvSpPr>
        <p:spPr>
          <a:xfrm>
            <a:off x="10118476" y="5888736"/>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slide027-element000-table-r08-c07-text"/>
          <p:cNvSpPr txBox="1"/>
          <p:nvPr/>
        </p:nvSpPr>
        <p:spPr>
          <a:xfrm>
            <a:off x="10209916" y="5961888"/>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43,833 / 35,816</a:t>
            </a:r>
          </a:p>
        </p:txBody>
      </p:sp>
      <p:sp>
        <p:nvSpPr>
          <p:cNvPr id="165" name="slide027-element000-table-r08-c08-cell"/>
          <p:cNvSpPr/>
          <p:nvPr/>
        </p:nvSpPr>
        <p:spPr>
          <a:xfrm>
            <a:off x="12130613" y="5888736"/>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slide027-element000-table-r08-c08-text"/>
          <p:cNvSpPr txBox="1"/>
          <p:nvPr/>
        </p:nvSpPr>
        <p:spPr>
          <a:xfrm>
            <a:off x="12222053" y="5961888"/>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145,073</a:t>
            </a:r>
          </a:p>
        </p:txBody>
      </p:sp>
      <p:sp>
        <p:nvSpPr>
          <p:cNvPr id="167" name="slide027-element000-table-r09-c00-cell"/>
          <p:cNvSpPr/>
          <p:nvPr/>
        </p:nvSpPr>
        <p:spPr>
          <a:xfrm>
            <a:off x="594360"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slide027-element000-table-r09-c00-text"/>
          <p:cNvSpPr txBox="1"/>
          <p:nvPr/>
        </p:nvSpPr>
        <p:spPr>
          <a:xfrm>
            <a:off x="685800"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Best</a:t>
            </a:r>
          </a:p>
        </p:txBody>
      </p:sp>
      <p:sp>
        <p:nvSpPr>
          <p:cNvPr id="169" name="slide027-element000-table-r09-c01-cell"/>
          <p:cNvSpPr/>
          <p:nvPr/>
        </p:nvSpPr>
        <p:spPr>
          <a:xfrm>
            <a:off x="2338212" y="6387084"/>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slide027-element000-table-r09-c01-text"/>
          <p:cNvSpPr txBox="1"/>
          <p:nvPr/>
        </p:nvSpPr>
        <p:spPr>
          <a:xfrm>
            <a:off x="2429652" y="6460236"/>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94,727</a:t>
            </a:r>
          </a:p>
        </p:txBody>
      </p:sp>
      <p:sp>
        <p:nvSpPr>
          <p:cNvPr id="171" name="slide027-element000-table-r09-c02-cell"/>
          <p:cNvSpPr/>
          <p:nvPr/>
        </p:nvSpPr>
        <p:spPr>
          <a:xfrm>
            <a:off x="3679637" y="6387084"/>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slide027-element000-table-r09-c02-text"/>
          <p:cNvSpPr txBox="1"/>
          <p:nvPr/>
        </p:nvSpPr>
        <p:spPr>
          <a:xfrm>
            <a:off x="3771077" y="646023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-0.39%</a:t>
            </a:r>
          </a:p>
        </p:txBody>
      </p:sp>
      <p:sp>
        <p:nvSpPr>
          <p:cNvPr id="173" name="slide027-element000-table-r09-c03-cell"/>
          <p:cNvSpPr/>
          <p:nvPr/>
        </p:nvSpPr>
        <p:spPr>
          <a:xfrm>
            <a:off x="4618634" y="6387084"/>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slide027-element000-table-r09-c03-text"/>
          <p:cNvSpPr txBox="1"/>
          <p:nvPr/>
        </p:nvSpPr>
        <p:spPr>
          <a:xfrm>
            <a:off x="4710074" y="646023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76.83%</a:t>
            </a:r>
          </a:p>
        </p:txBody>
      </p:sp>
      <p:sp>
        <p:nvSpPr>
          <p:cNvPr id="175" name="slide027-element000-table-r09-c04-cell"/>
          <p:cNvSpPr/>
          <p:nvPr/>
        </p:nvSpPr>
        <p:spPr>
          <a:xfrm>
            <a:off x="5557631"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slide027-element000-table-r09-c04-text"/>
          <p:cNvSpPr txBox="1"/>
          <p:nvPr/>
        </p:nvSpPr>
        <p:spPr>
          <a:xfrm>
            <a:off x="5649071"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1351/1351; 91.90%</a:t>
            </a:r>
          </a:p>
        </p:txBody>
      </p:sp>
      <p:sp>
        <p:nvSpPr>
          <p:cNvPr id="177" name="slide027-element000-table-r09-c05-cell"/>
          <p:cNvSpPr/>
          <p:nvPr/>
        </p:nvSpPr>
        <p:spPr>
          <a:xfrm>
            <a:off x="7301484"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slide027-element000-table-r09-c05-text"/>
          <p:cNvSpPr txBox="1"/>
          <p:nvPr/>
        </p:nvSpPr>
        <p:spPr>
          <a:xfrm>
            <a:off x="7392924"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188.8 / 342.0</a:t>
            </a:r>
          </a:p>
        </p:txBody>
      </p:sp>
      <p:sp>
        <p:nvSpPr>
          <p:cNvPr id="179" name="slide027-element000-table-r09-c06-cell"/>
          <p:cNvSpPr/>
          <p:nvPr/>
        </p:nvSpPr>
        <p:spPr>
          <a:xfrm>
            <a:off x="9045336" y="6387084"/>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slide027-element000-table-r09-c06-text"/>
          <p:cNvSpPr txBox="1"/>
          <p:nvPr/>
        </p:nvSpPr>
        <p:spPr>
          <a:xfrm>
            <a:off x="9136776" y="6460236"/>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21.94%</a:t>
            </a:r>
          </a:p>
        </p:txBody>
      </p:sp>
      <p:sp>
        <p:nvSpPr>
          <p:cNvPr id="181" name="slide027-element000-table-r09-c07-cell"/>
          <p:cNvSpPr/>
          <p:nvPr/>
        </p:nvSpPr>
        <p:spPr>
          <a:xfrm>
            <a:off x="10118476" y="6387084"/>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slide027-element000-table-r09-c07-text"/>
          <p:cNvSpPr txBox="1"/>
          <p:nvPr/>
        </p:nvSpPr>
        <p:spPr>
          <a:xfrm>
            <a:off x="10209916" y="6460236"/>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88,593 / 79,391</a:t>
            </a:r>
          </a:p>
        </p:txBody>
      </p:sp>
      <p:sp>
        <p:nvSpPr>
          <p:cNvPr id="183" name="slide027-element000-table-r09-c08-cell"/>
          <p:cNvSpPr/>
          <p:nvPr/>
        </p:nvSpPr>
        <p:spPr>
          <a:xfrm>
            <a:off x="12130613" y="6387084"/>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slide027-element000-table-r09-c08-text"/>
          <p:cNvSpPr txBox="1"/>
          <p:nvPr/>
        </p:nvSpPr>
        <p:spPr>
          <a:xfrm>
            <a:off x="12222053" y="6460236"/>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138,138</a:t>
            </a:r>
          </a:p>
        </p:txBody>
      </p:sp>
      <p:sp>
        <p:nvSpPr>
          <p:cNvPr id="185" name="slide027-element001-text"/>
          <p:cNvSpPr txBox="1"/>
          <p:nvPr/>
        </p:nvSpPr>
        <p:spPr>
          <a:xfrm>
            <a:off x="594360" y="701344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Risk 1,000 TOTAL across two outcomes; start 100,000. Same-date requests share opening cash and can be scaled.</a:t>
            </a:r>
          </a:p>
          <a:p>
            <a:pPr algn="l">
              <a:lnSpc>
                <a:spcPct val="100000"/>
              </a:lnSpc>
              <a:spcBef>
                <a:spcPts val="0"/>
              </a:spcBef>
              <a:spcAft>
                <a:spcPts val="0"/>
              </a:spcAft>
            </a:pPr>
            <a:r>
              <a:rPr sz="1450" b="0">
                <a:solidFill>
                  <a:srgbClr val="536578"/>
                </a:solidFill>
                <a:latin typeface="Arial"/>
              </a:rPr>
              <a:t>Hit = positive bundle profit; expected gain/loss are model claims. Synthetic lay assumes unobserved lay quotes.</a:t>
            </a:r>
          </a:p>
        </p:txBody>
      </p:sp>
      <p:cxnSp>
        <p:nvCxnSpPr>
          <p:cNvPr id="186" name="slide02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87" name="slide02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identity_diagnostics.csv; inverse_protocol.md | Full paths in notes</a:t>
            </a:r>
          </a:p>
        </p:txBody>
      </p:sp>
      <p:sp>
        <p:nvSpPr>
          <p:cNvPr id="188" name="slide02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ALL ZERO-CONTEXT INVERSES</a:t>
            </a:r>
          </a:p>
        </p:txBody>
      </p:sp>
      <p:sp>
        <p:nvSpPr>
          <p:cNvPr id="3" name="slide02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every bankrupt-policy inverse (2/2)</a:t>
            </a:r>
          </a:p>
        </p:txBody>
      </p:sp>
      <p:sp>
        <p:nvSpPr>
          <p:cNvPr id="4" name="slide02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Original ending cash is zero in every row. Main results are funded full-horizon complements with no cost, 2022/23–2025/26.</a:t>
            </a:r>
          </a:p>
        </p:txBody>
      </p:sp>
      <p:sp>
        <p:nvSpPr>
          <p:cNvPr id="5" name="slide028-element000-table-r00-c00-cell"/>
          <p:cNvSpPr/>
          <p:nvPr/>
        </p:nvSpPr>
        <p:spPr>
          <a:xfrm>
            <a:off x="594360"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8-element000-table-r00-c00-text"/>
          <p:cNvSpPr txBox="1"/>
          <p:nvPr/>
        </p:nvSpPr>
        <p:spPr>
          <a:xfrm>
            <a:off x="685800"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Strategy / quotes</a:t>
            </a:r>
          </a:p>
        </p:txBody>
      </p:sp>
      <p:sp>
        <p:nvSpPr>
          <p:cNvPr id="7" name="slide028-element000-table-r00-c01-cell"/>
          <p:cNvSpPr/>
          <p:nvPr/>
        </p:nvSpPr>
        <p:spPr>
          <a:xfrm>
            <a:off x="2338212" y="1901952"/>
            <a:ext cx="1341424"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8-element000-table-r00-c01-text"/>
          <p:cNvSpPr txBox="1"/>
          <p:nvPr/>
        </p:nvSpPr>
        <p:spPr>
          <a:xfrm>
            <a:off x="2429652" y="197510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cash</a:t>
            </a:r>
          </a:p>
        </p:txBody>
      </p:sp>
      <p:sp>
        <p:nvSpPr>
          <p:cNvPr id="9" name="slide028-element000-table-r00-c02-cell"/>
          <p:cNvSpPr/>
          <p:nvPr/>
        </p:nvSpPr>
        <p:spPr>
          <a:xfrm>
            <a:off x="3679637" y="1901952"/>
            <a:ext cx="93899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8-element000-table-r00-c02-text"/>
          <p:cNvSpPr txBox="1"/>
          <p:nvPr/>
        </p:nvSpPr>
        <p:spPr>
          <a:xfrm>
            <a:off x="3771077" y="19751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Stake ROI</a:t>
            </a:r>
          </a:p>
        </p:txBody>
      </p:sp>
      <p:sp>
        <p:nvSpPr>
          <p:cNvPr id="11" name="slide028-element000-table-r00-c03-cell"/>
          <p:cNvSpPr/>
          <p:nvPr/>
        </p:nvSpPr>
        <p:spPr>
          <a:xfrm>
            <a:off x="4618634" y="1901952"/>
            <a:ext cx="93899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8-element000-table-r00-c03-text"/>
          <p:cNvSpPr txBox="1"/>
          <p:nvPr/>
        </p:nvSpPr>
        <p:spPr>
          <a:xfrm>
            <a:off x="4710074" y="19751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Profit hit</a:t>
            </a:r>
          </a:p>
        </p:txBody>
      </p:sp>
      <p:sp>
        <p:nvSpPr>
          <p:cNvPr id="13" name="slide028-element000-table-r00-c04-cell"/>
          <p:cNvSpPr/>
          <p:nvPr/>
        </p:nvSpPr>
        <p:spPr>
          <a:xfrm>
            <a:off x="5557631"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8-element000-table-r00-c04-text"/>
          <p:cNvSpPr txBox="1"/>
          <p:nvPr/>
        </p:nvSpPr>
        <p:spPr>
          <a:xfrm>
            <a:off x="5649071"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Bets / signals; frequency</a:t>
            </a:r>
          </a:p>
        </p:txBody>
      </p:sp>
      <p:sp>
        <p:nvSpPr>
          <p:cNvPr id="15" name="slide028-element000-table-r00-c05-cell"/>
          <p:cNvSpPr/>
          <p:nvPr/>
        </p:nvSpPr>
        <p:spPr>
          <a:xfrm>
            <a:off x="7301484"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8-element000-table-r00-c05-text"/>
          <p:cNvSpPr txBox="1"/>
          <p:nvPr/>
        </p:nvSpPr>
        <p:spPr>
          <a:xfrm>
            <a:off x="7392924"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Expected gain / loss</a:t>
            </a:r>
          </a:p>
        </p:txBody>
      </p:sp>
      <p:sp>
        <p:nvSpPr>
          <p:cNvPr id="17" name="slide028-element000-table-r00-c06-cell"/>
          <p:cNvSpPr/>
          <p:nvPr/>
        </p:nvSpPr>
        <p:spPr>
          <a:xfrm>
            <a:off x="9045336" y="1901952"/>
            <a:ext cx="1073139"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8-element000-table-r00-c06-text"/>
          <p:cNvSpPr txBox="1"/>
          <p:nvPr/>
        </p:nvSpPr>
        <p:spPr>
          <a:xfrm>
            <a:off x="9136776" y="197510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Max drawdown</a:t>
            </a:r>
          </a:p>
        </p:txBody>
      </p:sp>
      <p:sp>
        <p:nvSpPr>
          <p:cNvPr id="19" name="slide028-element000-table-r00-c07-cell"/>
          <p:cNvSpPr/>
          <p:nvPr/>
        </p:nvSpPr>
        <p:spPr>
          <a:xfrm>
            <a:off x="10118476" y="1901952"/>
            <a:ext cx="201213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8-element000-table-r00-c07-text"/>
          <p:cNvSpPr txBox="1"/>
          <p:nvPr/>
        </p:nvSpPr>
        <p:spPr>
          <a:xfrm>
            <a:off x="10209916" y="197510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2% / 5% cost</a:t>
            </a:r>
          </a:p>
        </p:txBody>
      </p:sp>
      <p:sp>
        <p:nvSpPr>
          <p:cNvPr id="21" name="slide028-element000-table-r00-c08-cell"/>
          <p:cNvSpPr/>
          <p:nvPr/>
        </p:nvSpPr>
        <p:spPr>
          <a:xfrm>
            <a:off x="12130613" y="1901952"/>
            <a:ext cx="1877994"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8-element000-table-r00-c08-text"/>
          <p:cNvSpPr txBox="1"/>
          <p:nvPr/>
        </p:nvSpPr>
        <p:spPr>
          <a:xfrm>
            <a:off x="12222053" y="197510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Synthetic lay ending</a:t>
            </a:r>
          </a:p>
        </p:txBody>
      </p:sp>
      <p:sp>
        <p:nvSpPr>
          <p:cNvPr id="23" name="slide028-element000-table-r01-c00-cell"/>
          <p:cNvSpPr/>
          <p:nvPr/>
        </p:nvSpPr>
        <p:spPr>
          <a:xfrm>
            <a:off x="594360"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8-element000-table-r01-c00-text"/>
          <p:cNvSpPr txBox="1"/>
          <p:nvPr/>
        </p:nvSpPr>
        <p:spPr>
          <a:xfrm>
            <a:off x="685800"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Bet365</a:t>
            </a:r>
          </a:p>
        </p:txBody>
      </p:sp>
      <p:sp>
        <p:nvSpPr>
          <p:cNvPr id="25" name="slide028-element000-table-r01-c01-cell"/>
          <p:cNvSpPr/>
          <p:nvPr/>
        </p:nvSpPr>
        <p:spPr>
          <a:xfrm>
            <a:off x="2338212" y="245567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8-element000-table-r01-c01-text"/>
          <p:cNvSpPr txBox="1"/>
          <p:nvPr/>
        </p:nvSpPr>
        <p:spPr>
          <a:xfrm>
            <a:off x="2429652" y="252882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66,059</a:t>
            </a:r>
          </a:p>
        </p:txBody>
      </p:sp>
      <p:sp>
        <p:nvSpPr>
          <p:cNvPr id="27" name="slide028-element000-table-r01-c02-cell"/>
          <p:cNvSpPr/>
          <p:nvPr/>
        </p:nvSpPr>
        <p:spPr>
          <a:xfrm>
            <a:off x="3679637" y="245567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8-element000-table-r01-c02-text"/>
          <p:cNvSpPr txBox="1"/>
          <p:nvPr/>
        </p:nvSpPr>
        <p:spPr>
          <a:xfrm>
            <a:off x="3771077" y="25288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-2.66%</a:t>
            </a:r>
          </a:p>
        </p:txBody>
      </p:sp>
      <p:sp>
        <p:nvSpPr>
          <p:cNvPr id="29" name="slide028-element000-table-r01-c03-cell"/>
          <p:cNvSpPr/>
          <p:nvPr/>
        </p:nvSpPr>
        <p:spPr>
          <a:xfrm>
            <a:off x="4618634" y="245567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8-element000-table-r01-c03-text"/>
          <p:cNvSpPr txBox="1"/>
          <p:nvPr/>
        </p:nvSpPr>
        <p:spPr>
          <a:xfrm>
            <a:off x="4710074" y="25288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76.41%</a:t>
            </a:r>
          </a:p>
        </p:txBody>
      </p:sp>
      <p:sp>
        <p:nvSpPr>
          <p:cNvPr id="31" name="slide028-element000-table-r01-c04-cell"/>
          <p:cNvSpPr/>
          <p:nvPr/>
        </p:nvSpPr>
        <p:spPr>
          <a:xfrm>
            <a:off x="5557631"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8-element000-table-r01-c04-text"/>
          <p:cNvSpPr txBox="1"/>
          <p:nvPr/>
        </p:nvSpPr>
        <p:spPr>
          <a:xfrm>
            <a:off x="5649071"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1276/1276; 86.80%</a:t>
            </a:r>
          </a:p>
        </p:txBody>
      </p:sp>
      <p:sp>
        <p:nvSpPr>
          <p:cNvPr id="33" name="slide028-element000-table-r01-c05-cell"/>
          <p:cNvSpPr/>
          <p:nvPr/>
        </p:nvSpPr>
        <p:spPr>
          <a:xfrm>
            <a:off x="7301484"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8-element000-table-r01-c05-text"/>
          <p:cNvSpPr txBox="1"/>
          <p:nvPr/>
        </p:nvSpPr>
        <p:spPr>
          <a:xfrm>
            <a:off x="7392924"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163.1 / 344.6</a:t>
            </a:r>
          </a:p>
        </p:txBody>
      </p:sp>
      <p:sp>
        <p:nvSpPr>
          <p:cNvPr id="35" name="slide028-element000-table-r01-c06-cell"/>
          <p:cNvSpPr/>
          <p:nvPr/>
        </p:nvSpPr>
        <p:spPr>
          <a:xfrm>
            <a:off x="9045336" y="245567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8-element000-table-r01-c06-text"/>
          <p:cNvSpPr txBox="1"/>
          <p:nvPr/>
        </p:nvSpPr>
        <p:spPr>
          <a:xfrm>
            <a:off x="9136776" y="252882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34.18%</a:t>
            </a:r>
          </a:p>
        </p:txBody>
      </p:sp>
      <p:sp>
        <p:nvSpPr>
          <p:cNvPr id="37" name="slide028-element000-table-r01-c07-cell"/>
          <p:cNvSpPr/>
          <p:nvPr/>
        </p:nvSpPr>
        <p:spPr>
          <a:xfrm>
            <a:off x="10118476" y="245567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8-element000-table-r01-c07-text"/>
          <p:cNvSpPr txBox="1"/>
          <p:nvPr/>
        </p:nvSpPr>
        <p:spPr>
          <a:xfrm>
            <a:off x="10209916" y="252882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60,996 / 53,402</a:t>
            </a:r>
          </a:p>
        </p:txBody>
      </p:sp>
      <p:sp>
        <p:nvSpPr>
          <p:cNvPr id="39" name="slide028-element000-table-r01-c08-cell"/>
          <p:cNvSpPr/>
          <p:nvPr/>
        </p:nvSpPr>
        <p:spPr>
          <a:xfrm>
            <a:off x="12130613" y="245567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8-element000-table-r01-c08-text"/>
          <p:cNvSpPr txBox="1"/>
          <p:nvPr/>
        </p:nvSpPr>
        <p:spPr>
          <a:xfrm>
            <a:off x="12222053" y="252882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159,942</a:t>
            </a:r>
          </a:p>
        </p:txBody>
      </p:sp>
      <p:sp>
        <p:nvSpPr>
          <p:cNvPr id="41" name="slide028-element000-table-r02-c00-cell"/>
          <p:cNvSpPr/>
          <p:nvPr/>
        </p:nvSpPr>
        <p:spPr>
          <a:xfrm>
            <a:off x="594360"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8-element000-table-r02-c00-text"/>
          <p:cNvSpPr txBox="1"/>
          <p:nvPr/>
        </p:nvSpPr>
        <p:spPr>
          <a:xfrm>
            <a:off x="685800"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Bet365</a:t>
            </a:r>
          </a:p>
        </p:txBody>
      </p:sp>
      <p:sp>
        <p:nvSpPr>
          <p:cNvPr id="43" name="slide028-element000-table-r02-c01-cell"/>
          <p:cNvSpPr/>
          <p:nvPr/>
        </p:nvSpPr>
        <p:spPr>
          <a:xfrm>
            <a:off x="2338212" y="300939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8-element000-table-r02-c01-text"/>
          <p:cNvSpPr txBox="1"/>
          <p:nvPr/>
        </p:nvSpPr>
        <p:spPr>
          <a:xfrm>
            <a:off x="2429652" y="308254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20,121</a:t>
            </a:r>
          </a:p>
        </p:txBody>
      </p:sp>
      <p:sp>
        <p:nvSpPr>
          <p:cNvPr id="45" name="slide028-element000-table-r02-c02-cell"/>
          <p:cNvSpPr/>
          <p:nvPr/>
        </p:nvSpPr>
        <p:spPr>
          <a:xfrm>
            <a:off x="3679637" y="300939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8-element000-table-r02-c02-text"/>
          <p:cNvSpPr txBox="1"/>
          <p:nvPr/>
        </p:nvSpPr>
        <p:spPr>
          <a:xfrm>
            <a:off x="3771077" y="30825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-5.87%</a:t>
            </a:r>
          </a:p>
        </p:txBody>
      </p:sp>
      <p:sp>
        <p:nvSpPr>
          <p:cNvPr id="47" name="slide028-element000-table-r02-c03-cell"/>
          <p:cNvSpPr/>
          <p:nvPr/>
        </p:nvSpPr>
        <p:spPr>
          <a:xfrm>
            <a:off x="4618634" y="300939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8-element000-table-r02-c03-text"/>
          <p:cNvSpPr txBox="1"/>
          <p:nvPr/>
        </p:nvSpPr>
        <p:spPr>
          <a:xfrm>
            <a:off x="4710074" y="30825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73.31%</a:t>
            </a:r>
          </a:p>
        </p:txBody>
      </p:sp>
      <p:sp>
        <p:nvSpPr>
          <p:cNvPr id="49" name="slide028-element000-table-r02-c04-cell"/>
          <p:cNvSpPr/>
          <p:nvPr/>
        </p:nvSpPr>
        <p:spPr>
          <a:xfrm>
            <a:off x="5557631"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8-element000-table-r02-c04-text"/>
          <p:cNvSpPr txBox="1"/>
          <p:nvPr/>
        </p:nvSpPr>
        <p:spPr>
          <a:xfrm>
            <a:off x="5649071"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1360/1360; 92.52%</a:t>
            </a:r>
          </a:p>
        </p:txBody>
      </p:sp>
      <p:sp>
        <p:nvSpPr>
          <p:cNvPr id="51" name="slide028-element000-table-r02-c05-cell"/>
          <p:cNvSpPr/>
          <p:nvPr/>
        </p:nvSpPr>
        <p:spPr>
          <a:xfrm>
            <a:off x="7301484"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8-element000-table-r02-c05-text"/>
          <p:cNvSpPr txBox="1"/>
          <p:nvPr/>
        </p:nvSpPr>
        <p:spPr>
          <a:xfrm>
            <a:off x="7392924"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167.6 / 365.5</a:t>
            </a:r>
          </a:p>
        </p:txBody>
      </p:sp>
      <p:sp>
        <p:nvSpPr>
          <p:cNvPr id="53" name="slide028-element000-table-r02-c06-cell"/>
          <p:cNvSpPr/>
          <p:nvPr/>
        </p:nvSpPr>
        <p:spPr>
          <a:xfrm>
            <a:off x="9045336" y="300939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8-element000-table-r02-c06-text"/>
          <p:cNvSpPr txBox="1"/>
          <p:nvPr/>
        </p:nvSpPr>
        <p:spPr>
          <a:xfrm>
            <a:off x="9136776" y="308254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80.38%</a:t>
            </a:r>
          </a:p>
        </p:txBody>
      </p:sp>
      <p:sp>
        <p:nvSpPr>
          <p:cNvPr id="55" name="slide028-element000-table-r02-c07-cell"/>
          <p:cNvSpPr/>
          <p:nvPr/>
        </p:nvSpPr>
        <p:spPr>
          <a:xfrm>
            <a:off x="10118476" y="300939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8-element000-table-r02-c07-text"/>
          <p:cNvSpPr txBox="1"/>
          <p:nvPr/>
        </p:nvSpPr>
        <p:spPr>
          <a:xfrm>
            <a:off x="10209916" y="308254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14,677 / 6,510</a:t>
            </a:r>
          </a:p>
        </p:txBody>
      </p:sp>
      <p:sp>
        <p:nvSpPr>
          <p:cNvPr id="57" name="slide028-element000-table-r02-c08-cell"/>
          <p:cNvSpPr/>
          <p:nvPr/>
        </p:nvSpPr>
        <p:spPr>
          <a:xfrm>
            <a:off x="12130613" y="300939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8-element000-table-r02-c08-text"/>
          <p:cNvSpPr txBox="1"/>
          <p:nvPr/>
        </p:nvSpPr>
        <p:spPr>
          <a:xfrm>
            <a:off x="12222053" y="308254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118,747</a:t>
            </a:r>
          </a:p>
        </p:txBody>
      </p:sp>
      <p:sp>
        <p:nvSpPr>
          <p:cNvPr id="59" name="slide028-element000-table-r03-c00-cell"/>
          <p:cNvSpPr/>
          <p:nvPr/>
        </p:nvSpPr>
        <p:spPr>
          <a:xfrm>
            <a:off x="594360"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8-element000-table-r03-c00-text"/>
          <p:cNvSpPr txBox="1"/>
          <p:nvPr/>
        </p:nvSpPr>
        <p:spPr>
          <a:xfrm>
            <a:off x="685800"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Best</a:t>
            </a:r>
          </a:p>
        </p:txBody>
      </p:sp>
      <p:sp>
        <p:nvSpPr>
          <p:cNvPr id="61" name="slide028-element000-table-r03-c01-cell"/>
          <p:cNvSpPr/>
          <p:nvPr/>
        </p:nvSpPr>
        <p:spPr>
          <a:xfrm>
            <a:off x="2338212" y="356311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8-element000-table-r03-c01-text"/>
          <p:cNvSpPr txBox="1"/>
          <p:nvPr/>
        </p:nvSpPr>
        <p:spPr>
          <a:xfrm>
            <a:off x="2429652" y="363626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115,263</a:t>
            </a:r>
          </a:p>
        </p:txBody>
      </p:sp>
      <p:sp>
        <p:nvSpPr>
          <p:cNvPr id="63" name="slide028-element000-table-r03-c02-cell"/>
          <p:cNvSpPr/>
          <p:nvPr/>
        </p:nvSpPr>
        <p:spPr>
          <a:xfrm>
            <a:off x="3679637" y="356311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8-element000-table-r03-c02-text"/>
          <p:cNvSpPr txBox="1"/>
          <p:nvPr/>
        </p:nvSpPr>
        <p:spPr>
          <a:xfrm>
            <a:off x="3771077" y="36362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1.11%</a:t>
            </a:r>
          </a:p>
        </p:txBody>
      </p:sp>
      <p:sp>
        <p:nvSpPr>
          <p:cNvPr id="65" name="slide028-element000-table-r03-c03-cell"/>
          <p:cNvSpPr/>
          <p:nvPr/>
        </p:nvSpPr>
        <p:spPr>
          <a:xfrm>
            <a:off x="4618634" y="356311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8-element000-table-r03-c03-text"/>
          <p:cNvSpPr txBox="1"/>
          <p:nvPr/>
        </p:nvSpPr>
        <p:spPr>
          <a:xfrm>
            <a:off x="4710074" y="36362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77.74%</a:t>
            </a:r>
          </a:p>
        </p:txBody>
      </p:sp>
      <p:sp>
        <p:nvSpPr>
          <p:cNvPr id="67" name="slide028-element000-table-r03-c04-cell"/>
          <p:cNvSpPr/>
          <p:nvPr/>
        </p:nvSpPr>
        <p:spPr>
          <a:xfrm>
            <a:off x="5557631"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8-element000-table-r03-c04-text"/>
          <p:cNvSpPr txBox="1"/>
          <p:nvPr/>
        </p:nvSpPr>
        <p:spPr>
          <a:xfrm>
            <a:off x="5649071"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1370/1370; 93.20%</a:t>
            </a:r>
          </a:p>
        </p:txBody>
      </p:sp>
      <p:sp>
        <p:nvSpPr>
          <p:cNvPr id="69" name="slide028-element000-table-r03-c05-cell"/>
          <p:cNvSpPr/>
          <p:nvPr/>
        </p:nvSpPr>
        <p:spPr>
          <a:xfrm>
            <a:off x="7301484"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8-element000-table-r03-c05-text"/>
          <p:cNvSpPr txBox="1"/>
          <p:nvPr/>
        </p:nvSpPr>
        <p:spPr>
          <a:xfrm>
            <a:off x="7392924"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191.2 / 344.9</a:t>
            </a:r>
          </a:p>
        </p:txBody>
      </p:sp>
      <p:sp>
        <p:nvSpPr>
          <p:cNvPr id="71" name="slide028-element000-table-r03-c06-cell"/>
          <p:cNvSpPr/>
          <p:nvPr/>
        </p:nvSpPr>
        <p:spPr>
          <a:xfrm>
            <a:off x="9045336" y="356311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8-element000-table-r03-c06-text"/>
          <p:cNvSpPr txBox="1"/>
          <p:nvPr/>
        </p:nvSpPr>
        <p:spPr>
          <a:xfrm>
            <a:off x="9136776" y="363626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16.20%</a:t>
            </a:r>
          </a:p>
        </p:txBody>
      </p:sp>
      <p:sp>
        <p:nvSpPr>
          <p:cNvPr id="73" name="slide028-element000-table-r03-c07-cell"/>
          <p:cNvSpPr/>
          <p:nvPr/>
        </p:nvSpPr>
        <p:spPr>
          <a:xfrm>
            <a:off x="10118476" y="356311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8-element000-table-r03-c07-text"/>
          <p:cNvSpPr txBox="1"/>
          <p:nvPr/>
        </p:nvSpPr>
        <p:spPr>
          <a:xfrm>
            <a:off x="10209916" y="363626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108,878 / 99,300</a:t>
            </a:r>
          </a:p>
        </p:txBody>
      </p:sp>
      <p:sp>
        <p:nvSpPr>
          <p:cNvPr id="75" name="slide028-element000-table-r03-c08-cell"/>
          <p:cNvSpPr/>
          <p:nvPr/>
        </p:nvSpPr>
        <p:spPr>
          <a:xfrm>
            <a:off x="12130613" y="356311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8-element000-table-r03-c08-text"/>
          <p:cNvSpPr txBox="1"/>
          <p:nvPr/>
        </p:nvSpPr>
        <p:spPr>
          <a:xfrm>
            <a:off x="12222053" y="363626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160,426</a:t>
            </a:r>
          </a:p>
        </p:txBody>
      </p:sp>
      <p:sp>
        <p:nvSpPr>
          <p:cNvPr id="77" name="slide028-element000-table-r04-c00-cell"/>
          <p:cNvSpPr/>
          <p:nvPr/>
        </p:nvSpPr>
        <p:spPr>
          <a:xfrm>
            <a:off x="594360"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8-element000-table-r04-c00-text"/>
          <p:cNvSpPr txBox="1"/>
          <p:nvPr/>
        </p:nvSpPr>
        <p:spPr>
          <a:xfrm>
            <a:off x="685800"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Bet365</a:t>
            </a:r>
          </a:p>
        </p:txBody>
      </p:sp>
      <p:sp>
        <p:nvSpPr>
          <p:cNvPr id="79" name="slide028-element000-table-r04-c01-cell"/>
          <p:cNvSpPr/>
          <p:nvPr/>
        </p:nvSpPr>
        <p:spPr>
          <a:xfrm>
            <a:off x="2338212" y="411683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8-element000-table-r04-c01-text"/>
          <p:cNvSpPr txBox="1"/>
          <p:nvPr/>
        </p:nvSpPr>
        <p:spPr>
          <a:xfrm>
            <a:off x="2429652" y="418998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70,366</a:t>
            </a:r>
          </a:p>
        </p:txBody>
      </p:sp>
      <p:sp>
        <p:nvSpPr>
          <p:cNvPr id="81" name="slide028-element000-table-r04-c02-cell"/>
          <p:cNvSpPr/>
          <p:nvPr/>
        </p:nvSpPr>
        <p:spPr>
          <a:xfrm>
            <a:off x="3679637" y="411683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8-element000-table-r04-c02-text"/>
          <p:cNvSpPr txBox="1"/>
          <p:nvPr/>
        </p:nvSpPr>
        <p:spPr>
          <a:xfrm>
            <a:off x="3771077" y="418998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-2.30%</a:t>
            </a:r>
          </a:p>
        </p:txBody>
      </p:sp>
      <p:sp>
        <p:nvSpPr>
          <p:cNvPr id="83" name="slide028-element000-table-r04-c03-cell"/>
          <p:cNvSpPr/>
          <p:nvPr/>
        </p:nvSpPr>
        <p:spPr>
          <a:xfrm>
            <a:off x="4618634" y="411683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8-element000-table-r04-c03-text"/>
          <p:cNvSpPr txBox="1"/>
          <p:nvPr/>
        </p:nvSpPr>
        <p:spPr>
          <a:xfrm>
            <a:off x="4710074" y="418998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76.38%</a:t>
            </a:r>
          </a:p>
        </p:txBody>
      </p:sp>
      <p:sp>
        <p:nvSpPr>
          <p:cNvPr id="85" name="slide028-element000-table-r04-c04-cell"/>
          <p:cNvSpPr/>
          <p:nvPr/>
        </p:nvSpPr>
        <p:spPr>
          <a:xfrm>
            <a:off x="5557631"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8-element000-table-r04-c04-text"/>
          <p:cNvSpPr txBox="1"/>
          <p:nvPr/>
        </p:nvSpPr>
        <p:spPr>
          <a:xfrm>
            <a:off x="5649071"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1287/1287; 87.55%</a:t>
            </a:r>
          </a:p>
        </p:txBody>
      </p:sp>
      <p:sp>
        <p:nvSpPr>
          <p:cNvPr id="87" name="slide028-element000-table-r04-c05-cell"/>
          <p:cNvSpPr/>
          <p:nvPr/>
        </p:nvSpPr>
        <p:spPr>
          <a:xfrm>
            <a:off x="7301484"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8-element000-table-r04-c05-text"/>
          <p:cNvSpPr txBox="1"/>
          <p:nvPr/>
        </p:nvSpPr>
        <p:spPr>
          <a:xfrm>
            <a:off x="7392924"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164.1 / 346.5</a:t>
            </a:r>
          </a:p>
        </p:txBody>
      </p:sp>
      <p:sp>
        <p:nvSpPr>
          <p:cNvPr id="89" name="slide028-element000-table-r04-c06-cell"/>
          <p:cNvSpPr/>
          <p:nvPr/>
        </p:nvSpPr>
        <p:spPr>
          <a:xfrm>
            <a:off x="9045336" y="411683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8-element000-table-r04-c06-text"/>
          <p:cNvSpPr txBox="1"/>
          <p:nvPr/>
        </p:nvSpPr>
        <p:spPr>
          <a:xfrm>
            <a:off x="9136776" y="418998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29.82%</a:t>
            </a:r>
          </a:p>
        </p:txBody>
      </p:sp>
      <p:sp>
        <p:nvSpPr>
          <p:cNvPr id="91" name="slide028-element000-table-r04-c07-cell"/>
          <p:cNvSpPr/>
          <p:nvPr/>
        </p:nvSpPr>
        <p:spPr>
          <a:xfrm>
            <a:off x="10118476" y="411683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8-element000-table-r04-c07-text"/>
          <p:cNvSpPr txBox="1"/>
          <p:nvPr/>
        </p:nvSpPr>
        <p:spPr>
          <a:xfrm>
            <a:off x="10209916" y="418998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65,216 / 57,491</a:t>
            </a:r>
          </a:p>
        </p:txBody>
      </p:sp>
      <p:sp>
        <p:nvSpPr>
          <p:cNvPr id="93" name="slide028-element000-table-r04-c08-cell"/>
          <p:cNvSpPr/>
          <p:nvPr/>
        </p:nvSpPr>
        <p:spPr>
          <a:xfrm>
            <a:off x="12130613" y="411683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8-element000-table-r04-c08-text"/>
          <p:cNvSpPr txBox="1"/>
          <p:nvPr/>
        </p:nvSpPr>
        <p:spPr>
          <a:xfrm>
            <a:off x="12222053" y="418998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165,887</a:t>
            </a:r>
          </a:p>
        </p:txBody>
      </p:sp>
      <p:sp>
        <p:nvSpPr>
          <p:cNvPr id="95" name="slide028-element000-table-r05-c00-cell"/>
          <p:cNvSpPr/>
          <p:nvPr/>
        </p:nvSpPr>
        <p:spPr>
          <a:xfrm>
            <a:off x="594360"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28-element000-table-r05-c00-text"/>
          <p:cNvSpPr txBox="1"/>
          <p:nvPr/>
        </p:nvSpPr>
        <p:spPr>
          <a:xfrm>
            <a:off x="685800"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Best</a:t>
            </a:r>
          </a:p>
        </p:txBody>
      </p:sp>
      <p:sp>
        <p:nvSpPr>
          <p:cNvPr id="97" name="slide028-element000-table-r05-c01-cell"/>
          <p:cNvSpPr/>
          <p:nvPr/>
        </p:nvSpPr>
        <p:spPr>
          <a:xfrm>
            <a:off x="2338212" y="467055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28-element000-table-r05-c01-text"/>
          <p:cNvSpPr txBox="1"/>
          <p:nvPr/>
        </p:nvSpPr>
        <p:spPr>
          <a:xfrm>
            <a:off x="2429652" y="474370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48,758</a:t>
            </a:r>
          </a:p>
        </p:txBody>
      </p:sp>
      <p:sp>
        <p:nvSpPr>
          <p:cNvPr id="99" name="slide028-element000-table-r05-c02-cell"/>
          <p:cNvSpPr/>
          <p:nvPr/>
        </p:nvSpPr>
        <p:spPr>
          <a:xfrm>
            <a:off x="3679637" y="467055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28-element000-table-r05-c02-text"/>
          <p:cNvSpPr txBox="1"/>
          <p:nvPr/>
        </p:nvSpPr>
        <p:spPr>
          <a:xfrm>
            <a:off x="3771077" y="47437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-3.65%</a:t>
            </a:r>
          </a:p>
        </p:txBody>
      </p:sp>
      <p:sp>
        <p:nvSpPr>
          <p:cNvPr id="101" name="slide028-element000-table-r05-c03-cell"/>
          <p:cNvSpPr/>
          <p:nvPr/>
        </p:nvSpPr>
        <p:spPr>
          <a:xfrm>
            <a:off x="4618634" y="467055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28-element000-table-r05-c03-text"/>
          <p:cNvSpPr txBox="1"/>
          <p:nvPr/>
        </p:nvSpPr>
        <p:spPr>
          <a:xfrm>
            <a:off x="4710074" y="47437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73.75%</a:t>
            </a:r>
          </a:p>
        </p:txBody>
      </p:sp>
      <p:sp>
        <p:nvSpPr>
          <p:cNvPr id="103" name="slide028-element000-table-r05-c04-cell"/>
          <p:cNvSpPr/>
          <p:nvPr/>
        </p:nvSpPr>
        <p:spPr>
          <a:xfrm>
            <a:off x="5557631"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28-element000-table-r05-c04-text"/>
          <p:cNvSpPr txBox="1"/>
          <p:nvPr/>
        </p:nvSpPr>
        <p:spPr>
          <a:xfrm>
            <a:off x="5649071"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1402/1402; 95.37%</a:t>
            </a:r>
          </a:p>
        </p:txBody>
      </p:sp>
      <p:sp>
        <p:nvSpPr>
          <p:cNvPr id="105" name="slide028-element000-table-r05-c05-cell"/>
          <p:cNvSpPr/>
          <p:nvPr/>
        </p:nvSpPr>
        <p:spPr>
          <a:xfrm>
            <a:off x="7301484"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lide028-element000-table-r05-c05-text"/>
          <p:cNvSpPr txBox="1"/>
          <p:nvPr/>
        </p:nvSpPr>
        <p:spPr>
          <a:xfrm>
            <a:off x="7392924"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194.8 / 359.4</a:t>
            </a:r>
          </a:p>
        </p:txBody>
      </p:sp>
      <p:sp>
        <p:nvSpPr>
          <p:cNvPr id="107" name="slide028-element000-table-r05-c06-cell"/>
          <p:cNvSpPr/>
          <p:nvPr/>
        </p:nvSpPr>
        <p:spPr>
          <a:xfrm>
            <a:off x="9045336" y="467055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slide028-element000-table-r05-c06-text"/>
          <p:cNvSpPr txBox="1"/>
          <p:nvPr/>
        </p:nvSpPr>
        <p:spPr>
          <a:xfrm>
            <a:off x="9136776" y="474370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52.02%</a:t>
            </a:r>
          </a:p>
        </p:txBody>
      </p:sp>
      <p:sp>
        <p:nvSpPr>
          <p:cNvPr id="109" name="slide028-element000-table-r05-c07-cell"/>
          <p:cNvSpPr/>
          <p:nvPr/>
        </p:nvSpPr>
        <p:spPr>
          <a:xfrm>
            <a:off x="10118476" y="467055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lide028-element000-table-r05-c07-text"/>
          <p:cNvSpPr txBox="1"/>
          <p:nvPr/>
        </p:nvSpPr>
        <p:spPr>
          <a:xfrm>
            <a:off x="10209916" y="474370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42,443 / 32,970</a:t>
            </a:r>
          </a:p>
        </p:txBody>
      </p:sp>
      <p:sp>
        <p:nvSpPr>
          <p:cNvPr id="111" name="slide028-element000-table-r05-c08-cell"/>
          <p:cNvSpPr/>
          <p:nvPr/>
        </p:nvSpPr>
        <p:spPr>
          <a:xfrm>
            <a:off x="12130613" y="467055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lide028-element000-table-r05-c08-text"/>
          <p:cNvSpPr txBox="1"/>
          <p:nvPr/>
        </p:nvSpPr>
        <p:spPr>
          <a:xfrm>
            <a:off x="12222053" y="474370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93,065</a:t>
            </a:r>
          </a:p>
        </p:txBody>
      </p:sp>
      <p:sp>
        <p:nvSpPr>
          <p:cNvPr id="113" name="slide028-element000-table-r06-c00-cell"/>
          <p:cNvSpPr/>
          <p:nvPr/>
        </p:nvSpPr>
        <p:spPr>
          <a:xfrm>
            <a:off x="594360"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lide028-element000-table-r06-c00-text"/>
          <p:cNvSpPr txBox="1"/>
          <p:nvPr/>
        </p:nvSpPr>
        <p:spPr>
          <a:xfrm>
            <a:off x="685800"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Bet365</a:t>
            </a:r>
          </a:p>
        </p:txBody>
      </p:sp>
      <p:sp>
        <p:nvSpPr>
          <p:cNvPr id="115" name="slide028-element000-table-r06-c01-cell"/>
          <p:cNvSpPr/>
          <p:nvPr/>
        </p:nvSpPr>
        <p:spPr>
          <a:xfrm>
            <a:off x="2338212" y="522427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slide028-element000-table-r06-c01-text"/>
          <p:cNvSpPr txBox="1"/>
          <p:nvPr/>
        </p:nvSpPr>
        <p:spPr>
          <a:xfrm>
            <a:off x="2429652" y="529742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6,421</a:t>
            </a:r>
          </a:p>
        </p:txBody>
      </p:sp>
      <p:sp>
        <p:nvSpPr>
          <p:cNvPr id="117" name="slide028-element000-table-r06-c02-cell"/>
          <p:cNvSpPr/>
          <p:nvPr/>
        </p:nvSpPr>
        <p:spPr>
          <a:xfrm>
            <a:off x="3679637" y="522427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slide028-element000-table-r06-c02-text"/>
          <p:cNvSpPr txBox="1"/>
          <p:nvPr/>
        </p:nvSpPr>
        <p:spPr>
          <a:xfrm>
            <a:off x="3771077" y="52974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-7.05%</a:t>
            </a:r>
          </a:p>
        </p:txBody>
      </p:sp>
      <p:sp>
        <p:nvSpPr>
          <p:cNvPr id="119" name="slide028-element000-table-r06-c03-cell"/>
          <p:cNvSpPr/>
          <p:nvPr/>
        </p:nvSpPr>
        <p:spPr>
          <a:xfrm>
            <a:off x="4618634" y="522427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slide028-element000-table-r06-c03-text"/>
          <p:cNvSpPr txBox="1"/>
          <p:nvPr/>
        </p:nvSpPr>
        <p:spPr>
          <a:xfrm>
            <a:off x="4710074" y="52974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72.89%</a:t>
            </a:r>
          </a:p>
        </p:txBody>
      </p:sp>
      <p:sp>
        <p:nvSpPr>
          <p:cNvPr id="121" name="slide028-element000-table-r06-c04-cell"/>
          <p:cNvSpPr/>
          <p:nvPr/>
        </p:nvSpPr>
        <p:spPr>
          <a:xfrm>
            <a:off x="5557631"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lide028-element000-table-r06-c04-text"/>
          <p:cNvSpPr txBox="1"/>
          <p:nvPr/>
        </p:nvSpPr>
        <p:spPr>
          <a:xfrm>
            <a:off x="5649071"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1328/1328; 90.34%</a:t>
            </a:r>
          </a:p>
        </p:txBody>
      </p:sp>
      <p:sp>
        <p:nvSpPr>
          <p:cNvPr id="123" name="slide028-element000-table-r06-c05-cell"/>
          <p:cNvSpPr/>
          <p:nvPr/>
        </p:nvSpPr>
        <p:spPr>
          <a:xfrm>
            <a:off x="7301484"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lide028-element000-table-r06-c05-text"/>
          <p:cNvSpPr txBox="1"/>
          <p:nvPr/>
        </p:nvSpPr>
        <p:spPr>
          <a:xfrm>
            <a:off x="7392924"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169.3 / 362.6</a:t>
            </a:r>
          </a:p>
        </p:txBody>
      </p:sp>
      <p:sp>
        <p:nvSpPr>
          <p:cNvPr id="125" name="slide028-element000-table-r06-c06-cell"/>
          <p:cNvSpPr/>
          <p:nvPr/>
        </p:nvSpPr>
        <p:spPr>
          <a:xfrm>
            <a:off x="9045336" y="522427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lide028-element000-table-r06-c06-text"/>
          <p:cNvSpPr txBox="1"/>
          <p:nvPr/>
        </p:nvSpPr>
        <p:spPr>
          <a:xfrm>
            <a:off x="9136776" y="529742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93.61%</a:t>
            </a:r>
          </a:p>
        </p:txBody>
      </p:sp>
      <p:sp>
        <p:nvSpPr>
          <p:cNvPr id="127" name="slide028-element000-table-r06-c07-cell"/>
          <p:cNvSpPr/>
          <p:nvPr/>
        </p:nvSpPr>
        <p:spPr>
          <a:xfrm>
            <a:off x="10118476" y="522427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lide028-element000-table-r06-c07-text"/>
          <p:cNvSpPr txBox="1"/>
          <p:nvPr/>
        </p:nvSpPr>
        <p:spPr>
          <a:xfrm>
            <a:off x="10209916" y="529742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2,420 / 0</a:t>
            </a:r>
          </a:p>
        </p:txBody>
      </p:sp>
      <p:sp>
        <p:nvSpPr>
          <p:cNvPr id="129" name="slide028-element000-table-r06-c08-cell"/>
          <p:cNvSpPr/>
          <p:nvPr/>
        </p:nvSpPr>
        <p:spPr>
          <a:xfrm>
            <a:off x="12130613" y="522427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lide028-element000-table-r06-c08-text"/>
          <p:cNvSpPr txBox="1"/>
          <p:nvPr/>
        </p:nvSpPr>
        <p:spPr>
          <a:xfrm>
            <a:off x="12222053" y="529742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101,274</a:t>
            </a:r>
          </a:p>
        </p:txBody>
      </p:sp>
      <p:sp>
        <p:nvSpPr>
          <p:cNvPr id="131" name="slide028-element000-table-r07-c00-cell"/>
          <p:cNvSpPr/>
          <p:nvPr/>
        </p:nvSpPr>
        <p:spPr>
          <a:xfrm>
            <a:off x="594360"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lide028-element000-table-r07-c00-text"/>
          <p:cNvSpPr txBox="1"/>
          <p:nvPr/>
        </p:nvSpPr>
        <p:spPr>
          <a:xfrm>
            <a:off x="685800"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Best</a:t>
            </a:r>
          </a:p>
        </p:txBody>
      </p:sp>
      <p:sp>
        <p:nvSpPr>
          <p:cNvPr id="133" name="slide028-element000-table-r07-c01-cell"/>
          <p:cNvSpPr/>
          <p:nvPr/>
        </p:nvSpPr>
        <p:spPr>
          <a:xfrm>
            <a:off x="2338212" y="577799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lide028-element000-table-r07-c01-text"/>
          <p:cNvSpPr txBox="1"/>
          <p:nvPr/>
        </p:nvSpPr>
        <p:spPr>
          <a:xfrm>
            <a:off x="2429652" y="585114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116,968</a:t>
            </a:r>
          </a:p>
        </p:txBody>
      </p:sp>
      <p:sp>
        <p:nvSpPr>
          <p:cNvPr id="135" name="slide028-element000-table-r07-c02-cell"/>
          <p:cNvSpPr/>
          <p:nvPr/>
        </p:nvSpPr>
        <p:spPr>
          <a:xfrm>
            <a:off x="3679637" y="577799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lide028-element000-table-r07-c02-text"/>
          <p:cNvSpPr txBox="1"/>
          <p:nvPr/>
        </p:nvSpPr>
        <p:spPr>
          <a:xfrm>
            <a:off x="3771077" y="58511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1.26%</a:t>
            </a:r>
          </a:p>
        </p:txBody>
      </p:sp>
      <p:sp>
        <p:nvSpPr>
          <p:cNvPr id="137" name="slide028-element000-table-r07-c03-cell"/>
          <p:cNvSpPr/>
          <p:nvPr/>
        </p:nvSpPr>
        <p:spPr>
          <a:xfrm>
            <a:off x="4618634" y="577799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slide028-element000-table-r07-c03-text"/>
          <p:cNvSpPr txBox="1"/>
          <p:nvPr/>
        </p:nvSpPr>
        <p:spPr>
          <a:xfrm>
            <a:off x="4710074" y="58511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76.23%</a:t>
            </a:r>
          </a:p>
        </p:txBody>
      </p:sp>
      <p:sp>
        <p:nvSpPr>
          <p:cNvPr id="139" name="slide028-element000-table-r07-c04-cell"/>
          <p:cNvSpPr/>
          <p:nvPr/>
        </p:nvSpPr>
        <p:spPr>
          <a:xfrm>
            <a:off x="5557631"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slide028-element000-table-r07-c04-text"/>
          <p:cNvSpPr txBox="1"/>
          <p:nvPr/>
        </p:nvSpPr>
        <p:spPr>
          <a:xfrm>
            <a:off x="5649071"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1346/1346; 91.56%</a:t>
            </a:r>
          </a:p>
        </p:txBody>
      </p:sp>
      <p:sp>
        <p:nvSpPr>
          <p:cNvPr id="141" name="slide028-element000-table-r07-c05-cell"/>
          <p:cNvSpPr/>
          <p:nvPr/>
        </p:nvSpPr>
        <p:spPr>
          <a:xfrm>
            <a:off x="7301484"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slide028-element000-table-r07-c05-text"/>
          <p:cNvSpPr txBox="1"/>
          <p:nvPr/>
        </p:nvSpPr>
        <p:spPr>
          <a:xfrm>
            <a:off x="7392924"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202.2 / 348.5</a:t>
            </a:r>
          </a:p>
        </p:txBody>
      </p:sp>
      <p:sp>
        <p:nvSpPr>
          <p:cNvPr id="143" name="slide028-element000-table-r07-c06-cell"/>
          <p:cNvSpPr/>
          <p:nvPr/>
        </p:nvSpPr>
        <p:spPr>
          <a:xfrm>
            <a:off x="9045336" y="577799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slide028-element000-table-r07-c06-text"/>
          <p:cNvSpPr txBox="1"/>
          <p:nvPr/>
        </p:nvSpPr>
        <p:spPr>
          <a:xfrm>
            <a:off x="9136776" y="585114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13.98%</a:t>
            </a:r>
          </a:p>
        </p:txBody>
      </p:sp>
      <p:sp>
        <p:nvSpPr>
          <p:cNvPr id="145" name="slide028-element000-table-r07-c07-cell"/>
          <p:cNvSpPr/>
          <p:nvPr/>
        </p:nvSpPr>
        <p:spPr>
          <a:xfrm>
            <a:off x="10118476" y="577799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slide028-element000-table-r07-c07-text"/>
          <p:cNvSpPr txBox="1"/>
          <p:nvPr/>
        </p:nvSpPr>
        <p:spPr>
          <a:xfrm>
            <a:off x="10209916" y="585114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110,249 / 100,170</a:t>
            </a:r>
          </a:p>
        </p:txBody>
      </p:sp>
      <p:sp>
        <p:nvSpPr>
          <p:cNvPr id="147" name="slide028-element000-table-r07-c08-cell"/>
          <p:cNvSpPr/>
          <p:nvPr/>
        </p:nvSpPr>
        <p:spPr>
          <a:xfrm>
            <a:off x="12130613" y="577799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slide028-element000-table-r07-c08-text"/>
          <p:cNvSpPr txBox="1"/>
          <p:nvPr/>
        </p:nvSpPr>
        <p:spPr>
          <a:xfrm>
            <a:off x="12222053" y="585114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162,936</a:t>
            </a:r>
          </a:p>
        </p:txBody>
      </p:sp>
      <p:sp>
        <p:nvSpPr>
          <p:cNvPr id="149" name="slide028-element000-table-r08-c00-cell"/>
          <p:cNvSpPr/>
          <p:nvPr/>
        </p:nvSpPr>
        <p:spPr>
          <a:xfrm>
            <a:off x="594360"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slide028-element000-table-r08-c00-text"/>
          <p:cNvSpPr txBox="1"/>
          <p:nvPr/>
        </p:nvSpPr>
        <p:spPr>
          <a:xfrm>
            <a:off x="685800"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Bet365</a:t>
            </a:r>
          </a:p>
        </p:txBody>
      </p:sp>
      <p:sp>
        <p:nvSpPr>
          <p:cNvPr id="151" name="slide028-element000-table-r08-c01-cell"/>
          <p:cNvSpPr/>
          <p:nvPr/>
        </p:nvSpPr>
        <p:spPr>
          <a:xfrm>
            <a:off x="2338212" y="633171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slide028-element000-table-r08-c01-text"/>
          <p:cNvSpPr txBox="1"/>
          <p:nvPr/>
        </p:nvSpPr>
        <p:spPr>
          <a:xfrm>
            <a:off x="2429652" y="640486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62,010</a:t>
            </a:r>
          </a:p>
        </p:txBody>
      </p:sp>
      <p:sp>
        <p:nvSpPr>
          <p:cNvPr id="153" name="slide028-element000-table-r08-c02-cell"/>
          <p:cNvSpPr/>
          <p:nvPr/>
        </p:nvSpPr>
        <p:spPr>
          <a:xfrm>
            <a:off x="3679637" y="633171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slide028-element000-table-r08-c02-text"/>
          <p:cNvSpPr txBox="1"/>
          <p:nvPr/>
        </p:nvSpPr>
        <p:spPr>
          <a:xfrm>
            <a:off x="3771077" y="64048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-3.08%</a:t>
            </a:r>
          </a:p>
        </p:txBody>
      </p:sp>
      <p:sp>
        <p:nvSpPr>
          <p:cNvPr id="155" name="slide028-element000-table-r08-c03-cell"/>
          <p:cNvSpPr/>
          <p:nvPr/>
        </p:nvSpPr>
        <p:spPr>
          <a:xfrm>
            <a:off x="4618634" y="633171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slide028-element000-table-r08-c03-text"/>
          <p:cNvSpPr txBox="1"/>
          <p:nvPr/>
        </p:nvSpPr>
        <p:spPr>
          <a:xfrm>
            <a:off x="4710074" y="64048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74.47%</a:t>
            </a:r>
          </a:p>
        </p:txBody>
      </p:sp>
      <p:sp>
        <p:nvSpPr>
          <p:cNvPr id="157" name="slide028-element000-table-r08-c04-cell"/>
          <p:cNvSpPr/>
          <p:nvPr/>
        </p:nvSpPr>
        <p:spPr>
          <a:xfrm>
            <a:off x="5557631"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slide028-element000-table-r08-c04-text"/>
          <p:cNvSpPr txBox="1"/>
          <p:nvPr/>
        </p:nvSpPr>
        <p:spPr>
          <a:xfrm>
            <a:off x="5649071"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1234/1234; 83.95%</a:t>
            </a:r>
          </a:p>
        </p:txBody>
      </p:sp>
      <p:sp>
        <p:nvSpPr>
          <p:cNvPr id="159" name="slide028-element000-table-r08-c05-cell"/>
          <p:cNvSpPr/>
          <p:nvPr/>
        </p:nvSpPr>
        <p:spPr>
          <a:xfrm>
            <a:off x="7301484"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slide028-element000-table-r08-c05-text"/>
          <p:cNvSpPr txBox="1"/>
          <p:nvPr/>
        </p:nvSpPr>
        <p:spPr>
          <a:xfrm>
            <a:off x="7392924"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172.5 / 348.9</a:t>
            </a:r>
          </a:p>
        </p:txBody>
      </p:sp>
      <p:sp>
        <p:nvSpPr>
          <p:cNvPr id="161" name="slide028-element000-table-r08-c06-cell"/>
          <p:cNvSpPr/>
          <p:nvPr/>
        </p:nvSpPr>
        <p:spPr>
          <a:xfrm>
            <a:off x="9045336" y="633171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slide028-element000-table-r08-c06-text"/>
          <p:cNvSpPr txBox="1"/>
          <p:nvPr/>
        </p:nvSpPr>
        <p:spPr>
          <a:xfrm>
            <a:off x="9136776" y="640486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38.47%</a:t>
            </a:r>
          </a:p>
        </p:txBody>
      </p:sp>
      <p:sp>
        <p:nvSpPr>
          <p:cNvPr id="163" name="slide028-element000-table-r08-c07-cell"/>
          <p:cNvSpPr/>
          <p:nvPr/>
        </p:nvSpPr>
        <p:spPr>
          <a:xfrm>
            <a:off x="10118476" y="633171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slide028-element000-table-r08-c07-text"/>
          <p:cNvSpPr txBox="1"/>
          <p:nvPr/>
        </p:nvSpPr>
        <p:spPr>
          <a:xfrm>
            <a:off x="10209916" y="640486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56,767 / 48,903</a:t>
            </a:r>
          </a:p>
        </p:txBody>
      </p:sp>
      <p:sp>
        <p:nvSpPr>
          <p:cNvPr id="165" name="slide028-element000-table-r08-c08-cell"/>
          <p:cNvSpPr/>
          <p:nvPr/>
        </p:nvSpPr>
        <p:spPr>
          <a:xfrm>
            <a:off x="12130613" y="633171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slide028-element000-table-r08-c08-text"/>
          <p:cNvSpPr txBox="1"/>
          <p:nvPr/>
        </p:nvSpPr>
        <p:spPr>
          <a:xfrm>
            <a:off x="12222053" y="640486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155,770</a:t>
            </a:r>
          </a:p>
        </p:txBody>
      </p:sp>
      <p:sp>
        <p:nvSpPr>
          <p:cNvPr id="167" name="slide028-element001-text"/>
          <p:cNvSpPr txBox="1"/>
          <p:nvPr/>
        </p:nvSpPr>
        <p:spPr>
          <a:xfrm>
            <a:off x="594360" y="701344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Risk 1,000 TOTAL across two outcomes; start 100,000. Same-date requests share opening cash and can be scaled.</a:t>
            </a:r>
          </a:p>
          <a:p>
            <a:pPr algn="l">
              <a:lnSpc>
                <a:spcPct val="100000"/>
              </a:lnSpc>
              <a:spcBef>
                <a:spcPts val="0"/>
              </a:spcBef>
              <a:spcAft>
                <a:spcPts val="0"/>
              </a:spcAft>
            </a:pPr>
            <a:r>
              <a:rPr sz="1450" b="0">
                <a:solidFill>
                  <a:srgbClr val="536578"/>
                </a:solidFill>
                <a:latin typeface="Arial"/>
              </a:rPr>
              <a:t>Hit = positive bundle profit; expected gain/loss are model claims. Synthetic lay assumes unobserved lay quotes.</a:t>
            </a:r>
          </a:p>
        </p:txBody>
      </p:sp>
      <p:cxnSp>
        <p:nvCxnSpPr>
          <p:cNvPr id="168" name="slide02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69" name="slide02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identity_diagnostics.csv; inverse_protocol.md | Full paths in notes</a:t>
            </a:r>
          </a:p>
        </p:txBody>
      </p:sp>
      <p:sp>
        <p:nvSpPr>
          <p:cNvPr id="170" name="slide02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Calibrated Machine Learning for Sports Betting: NBA and Premier League</dc:title>
  <dc:subject>Common methodology, NBA results, then Premier League results</dc:subject>
  <dc:creator>Aman Dhillon; Panagiotis Housos</dc:creator>
  <cp:keywords>NBA; Premier League; statistical arbitrage; accuracy; calibration; final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