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Authors are confirmed by the September 30 joint project proposal. The supervisor name is supplied directly by the user: Daniel Totouom-Tangho. The requested order is common methodology first, NBA results second, Premier League results last. This presentation combines the implemented studies; it does not replace the separate league records with a new pooled investment experiment.</a:t>
            </a:r>
          </a:p>
          <a:p/>
          <a:p>
            <a:r>
              <a:t>Exact source paths:</a:t>
            </a:r>
          </a:p>
          <a:p>
            <a:r>
              <a:t>ML_Sports_Betting_Project_Proposal.pdf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initial studies consider logistic regression, random forests, SVM and MLP, with feature screening and forward selection before TPE hyperparameter search. NBA uses 30 trials per family/branch; the first EPL experiment uses 12. NBA season-to-date performance is lagged using shift(1).expanding() within team-season, and both teams' first ten games are excluded as target rows. EPL adds explicit missing-history controls and later player/xG comparisons. Walsh and Joshi's original numerical claims are superseded by their 2025 corrigendum; calibration-driven profitability remains a question, not a guarantee.</a:t>
            </a:r>
          </a:p>
          <a:p/>
          <a:p>
            <a:r>
              <a:t>Exact source paths:</a:t>
            </a:r>
          </a:p>
          <a:p>
            <a:r>
              <a:t>ML Sports/Data.ipynb</a:t>
            </a:r>
          </a:p>
          <a:p>
            <a:r>
              <a:t>epl_modeling/METHODOLOGY.md</a:t>
            </a:r>
          </a:p>
          <a:p>
            <a:r>
              <a:t>ML_Sports_Betting_Project_Proposal.pdf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NBA occupancy rule produces an optimisation penalty sentinel; a value of 1 is not literal 100 percent empirical calibration error. EPL ECE is the mean of three one-versus-rest calibration errors. NBA binary Brier and EPL unscaled three-class Brier have different scales and should not be directly ranked. NBA value selection tests the home side first and otherwise the away side; most EPL value rules maximize p*odds-1 over allowed H/D/A outcomes. NBA eighth Kelly has no extra 2 percent cap, only available-cash clamping. EPL date-start allocation cannot use one same-date result to fund another. Quote availability and execution are unverified in these historical simulations.</a:t>
            </a:r>
          </a:p>
          <a:p/>
          <a:p>
            <a:r>
              <a:t>Exact source paths:</a:t>
            </a:r>
          </a:p>
          <a:p>
            <a:r>
              <a:t>ML Sports/Data.ipynb</a:t>
            </a:r>
          </a:p>
          <a:p>
            <a:r>
              <a:t>epl_modeling/metrics.py</a:t>
            </a:r>
          </a:p>
          <a:p>
            <a:r>
              <a:t>epl_strategy/METHODOLOGY.md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cells 1-16. There are 25 box-score measures plus previous-season win percentage before screening. KS train-versus-validation screening drops OREB; absolute Spearman redundancy threshold is 0.7. Calibration SFS selects ORTG and FG3M; accuracy SFS selects ORTG, PREV_SEASON_WP, FG3M and TOV. TPE uses 30 trials for each family and branch, then ten seed-refit predictions are averaged for model-family selection. The notebook calls 2017/18 a test set, but it chooses LR for the calibration branch and SVM for the accuracy branch, so here it is labeled family selection. It is earlier than the separate 2018/19 betting season.</a:t>
            </a:r>
          </a:p>
          <a:p/>
          <a:p>
            <a:r>
              <a:t>Exact source paths:</a:t>
            </a:r>
          </a:p>
          <a:p>
            <a:r>
              <a:t>ML Sports/Data.ipynb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table preserves the saved notebook's four final amounts and rounded rates; these are not replaced by new SVM replay values. Source code refits selected models on 2014/15-2017/18 before betting 2018/19. The fixed-parameter audit reproduced both LR financial outcomes to cents but could not reproduce SVM; its ten fits reached the iteration limit. The source-recorded SVM final balances remain reported evidence with this explicit limitation. Source prediction accuracy is 65.27 percent for LR and 64.80 percent for SVM on 2018/19. LR guarded ECE is 4.27 percent; the SVM value of 1 means the bin-occupancy penalty fired, not literal 100 percent calibration error. The bar chart uses saved finals rather than an unverified reconstructed SVM wealth path.</a:t>
            </a:r>
          </a:p>
          <a:p/>
          <a:p>
            <a:r>
              <a:t>Exact source paths:</a:t>
            </a:r>
          </a:p>
          <a:p>
            <a:r>
              <a:t>ML Sports/Data.ipynb</a:t>
            </a:r>
          </a:p>
          <a:p>
            <a:r>
              <a:t>final_deliverables/nba_evidence.json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 source-recorded seasons cover 2014/15 through 2022/23 and 9,344 betting fixtures. Both annual models are logistic regressions using different objective-selected feature subsets. The source means are minus 17.34 and minus 9.49 percent; calibration outperforms accuracy in three of nine seasons. Both paths exhaust their annual cash in 2017/18. The source notebook adds profits from independently reset accounts to draw a cumulative line; this deck deliberately uses annual-return bars so it does not imply continued funding after bankruptcy. Source annual figures are retained at their printed precision. The supplied PDF also reports stronger market log-loss results in additional analyses, but their full event-level supporting outputs are not in the provided notebook; those claims should not be treated as independently reproduced here.</a:t>
            </a:r>
          </a:p>
          <a:p/>
          <a:p>
            <a:r>
              <a:t>Exact source paths:</a:t>
            </a:r>
          </a:p>
          <a:p>
            <a:r>
              <a:t>ML Sports/Data.ipynb</a:t>
            </a:r>
          </a:p>
          <a:p>
            <a:r>
              <a:t>final_deliverables/nba_evidence.json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experiment most directly aligned with the joint proposal: accuracy selects SVM, calibration selects MLP. Both branches receive the same disjoint temperature calibration. Neither primary validation policy found a threshold with at least thirty bets and strictly positive validation stake ROI, so both hold cash in test; no-trade ROI is undefined. The secondary 5 percent policy was separately declared and is not a substitute chosen from test returns. The displayed 100K accounts are rescaled counterpart strategies from the saved laboratory. SVM loses 8,330 on 371 bets and MLP gains 1,370 on 333 bets, with stake ROIs minus 2.2453 and plus 0.4114 percent. Their conditional intervals both include zero. The raw market has stronger proper probability scores than either learned branch. Later rolling/player studies revisit already inspected outcomes and are exploratory.</a:t>
            </a:r>
          </a:p>
          <a:p/>
          <a:p>
            <a:r>
              <a:t>Exact source paths:</a:t>
            </a:r>
          </a:p>
          <a:p>
            <a:r>
              <a:t>epl_modeling/results/RESULTS.md</a:t>
            </a:r>
          </a:p>
          <a:p>
            <a:r>
              <a:t>epl_modeling/results/classification_scores.csv</a:t>
            </a:r>
          </a:p>
          <a:p>
            <a:r>
              <a:t>epl_strategy_lab/results/20261015T040052Z_100k84/metrics.csv</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graph has 116 distinct strategy IDs and 13,224 points, including 114 dates per curve with the 100K anchor. The strategies combine model, outcome selection, prices and sizing rather than representing 116 independent fitted algorithms. Only 88 have comparable continuous four-year records. No earlier records are invented for 28 first-study configurations. New player-study accounts all lose over four continuous years, even when one 2025 slice profited. The graph is an archived-price replay, not verified executed betting.</a:t>
            </a:r>
          </a:p>
          <a:p/>
          <a:p>
            <a:r>
              <a:t>Exact source paths:</a:t>
            </a:r>
          </a:p>
          <a:p>
            <a:r>
              <a:t>epl_player_models/results/20261020_player_models_review/graph_equity_2025_all.csv</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Starts with bookmaker probabilities, then adjusts them using earlier team results and player form.</a:t>
            </a:r>
          </a:p>
          <a:p>
            <a:r>
              <a:t>Bookmaker odds + team/player form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With cash 80,000, still request 1,000 per qualifying bet before any shared cash reduction.</a:t>
            </a:r>
          </a:p>
          <a:p>
            <a:r>
              <a:t>The fixed 1,000 equals 1% of the INITIAL capital, not 1% of a changing account. All same-date requests use opening cash and are reduced proportionally if together they exceed available cash. This model's prediction accuracy and its trading hit ratio measure different things. Historical results are exploratory. Best refers to the learned model's pooled prediction loss, not the highest ending account; the raw market benchmark has lower prediction loss.</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team + player; max_edge selection among the allowed outcomes at best individual-book quotes. Require selected model expected return strictly above 5%; stake flat 1,000.", "diagnostic": false, "fixed_stake": 1000.0, "kelly_fraction": 0.25, "max_bet_fraction": 0.02, "max_odds": null, "min_edge": 0.05, "min_odds": null, "model_key": "residual_team_players", "model_label": "Rolling market residual: team + player", "name": "Rolling market residual: team + player | predeclared 5% edge | best individual-book quotes | flat 1,000", "odds_mode": "best", "origin": "legacy", "policy_family": "predeclared 5% edge", "selection_rule": "max_edge", "staking": "fixed", "strategy_id": "S029", "study_status": "exploratory_replay_of_already_examined_2025_26_no_new_holdout"}</a:t>
            </a:r>
          </a:p>
          <a:p/>
          <a:p>
            <a:r>
              <a:t>Exact source paths:</a:t>
            </a:r>
          </a:p>
          <a:p>
            <a:r>
              <a:t>epl_modeling/ablation_results/predictions.parquet</a:t>
            </a:r>
          </a:p>
          <a:p>
            <a:r>
              <a:t>epl_strategy_validation\results\20261015_temporal_selection\metrics_continuous.parquet</a:t>
            </a:r>
          </a:p>
          <a:p>
            <a:r>
              <a:t>epl_player_models\results\20261020_player_models_review\metrics_continuous.parquet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how often home wins, draws and away wins happened in the training data. Uses those fractions for every game.</a:t>
            </a:r>
          </a:p>
          <a:p>
            <a:r>
              <a:t>Past home/draw/away frequencies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With cash 80,000, still request 1,000 per qualifying bet before any shared cash reduction.</a:t>
            </a:r>
          </a:p>
          <a:p>
            <a:r>
              <a:t>The fixed 1,000 equals 1% of the INITIAL capital, not 1% of a changing account. All same-date requests use opening cash and are reduced proportionally if together they exceed available cash. This model's prediction accuracy and its trading hit ratio measure different things. Historical results are exploratory. Best refers to the learned model's pooled prediction loss, not the highest ending account; the raw market benchmark has lower prediction loss.</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training-class frequency; max_edge selection among the allowed outcomes at best individual-book quotes. Require selected model expected return strictly above 5%; stake flat 1,000.", "diagnostic": false, "fixed_stake": 1000.0, "kelly_fraction": 0.25, "max_bet_fraction": 0.02, "max_odds": null, "min_edge": 0.05, "min_odds": null, "model_key": "baseline_class_frequency", "model_label": "Rolling training-class frequency", "name": "Rolling training-class frequency | predeclared 5% edge | best individual-book quotes | flat 1,000", "odds_mode": "best", "origin": "legacy", "policy_family": "predeclared 5% edge", "selection_rule": "max_edge", "staking": "fixed", "strategy_id": "S033", "study_status": "exploratory_replay_of_already_examined_2025_26_no_new_holdout"}</a:t>
            </a:r>
          </a:p>
          <a:p/>
          <a:p>
            <a:r>
              <a:t>Exact source paths:</a:t>
            </a:r>
          </a:p>
          <a:p>
            <a:r>
              <a:t>epl_modeling/ablation_results/predictions.parquet</a:t>
            </a:r>
          </a:p>
          <a:p>
            <a:r>
              <a:t>epl_strategy_validation\results\20261015_temporal_selection\metrics_continuous.parquet</a:t>
            </a:r>
          </a:p>
          <a:p>
            <a:r>
              <a:t>epl_player_models\results\20261020_player_models_review\metrics_continuous.parquet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Uses earlier goals, shots on target, corners, points, rest days and previous-season results to estimate home/draw/away chances.</a:t>
            </a:r>
          </a:p>
          <a:p>
            <a:r>
              <a:t>Team form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With cash 80,000, still request 1,000 per qualifying bet before any shared cash reduction.</a:t>
            </a:r>
          </a:p>
          <a:p>
            <a:r>
              <a:t>The fixed 1,000 equals 1% of the INITIAL capital, not 1% of a changing account. All same-date requests use opening cash and are reduced proportionally if together they exceed available cash. This model's prediction accuracy and its trading hit ratio measure different things. Historical results are exploratory. Best refers to the learned model's pooled prediction loss, not the highest ending account; the raw market benchmark has lower prediction loss.</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team; max_edge selection among the allowed outcomes at best individual-book quotes. Require selected model expected return strictly above 5%; stake flat 1,000.", "diagnostic": false, "fixed_stake": 1000.0, "kelly_fraction": 0.25, "max_bet_fraction": 0.02, "max_odds": null, "min_edge": 0.05, "min_odds": null, "model_key": "logit_team_only", "model_label": "Rolling logistic: team", "name": "Rolling logistic: team | predeclared 5% edge | best individual-book quotes | flat 1,000", "odds_mode": "best", "origin": "legacy", "policy_family": "predeclared 5% edge", "selection_rule": "max_edge", "staking": "fixed", "strategy_id": "S017", "study_status": "exploratory_replay_of_already_examined_2025_26_no_new_holdout"}</a:t>
            </a:r>
          </a:p>
          <a:p/>
          <a:p>
            <a:r>
              <a:t>Exact source paths:</a:t>
            </a:r>
          </a:p>
          <a:p>
            <a:r>
              <a:t>epl_modeling/ablation_results/predictions.parquet</a:t>
            </a:r>
          </a:p>
          <a:p>
            <a:r>
              <a:t>epl_strategy_validation\results\20261015_temporal_selection\metrics_continuous.parquet</a:t>
            </a:r>
          </a:p>
          <a:p>
            <a:r>
              <a:t>epl_player_models\results\20261020_player_models_review\metrics_continuous.parquet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Uses earlier FPL points, goals and assists.</a:t>
            </a:r>
          </a:p>
          <a:p>
            <a:r>
              <a:t>Adds minutes and other player statistics.</a:t>
            </a:r>
          </a:p>
          <a:p>
            <a:r>
              <a:t>Looks back over five and ten games.</a:t>
            </a:r>
          </a:p>
          <a:p>
            <a:r>
              <a:t>Player form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With cash 80,000, still request 1,000 per qualifying bet before any shared cash reduction.</a:t>
            </a:r>
          </a:p>
          <a:p>
            <a:r>
              <a:t>The fixed 1,000 equals 1% of the INITIAL capital, not 1% of a changing account. All same-date requests use opening cash and are reduced proportionally if together they exceed available cash. This model's prediction accuracy and its trading hit ratio measure different things. Historical results are exploratory. Best refers to the learned model's pooled prediction loss, not the highest ending account; the raw market benchmark has lower prediction loss.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Logistic regression; choose the allowed H/D/A outcome with maximum p × odds − 1 at the best archived individual-book quote. Trade only for edge strictly greater than 5%; request flat 1,000. H/D/A order resolves ties.", "diagnostic": true, "feature_group": "player_form", "fixed_stake": 1000.0, "kelly_fraction": 0.25, "max_bet_fraction": 0.02, "max_odds": null, "min_edge": 0.05, "min_odds": null, "model_key": "pm_logistic_player_form", "model_label": "Player form only | Logistic regression", "model_type": "logistic", "name": "Player form only | Logistic regression | best | flat 1,000", "odds_mode": "best", "origin": "new_player_model_study", "policy_family": "frozen 5% player-study diagnostic", "selection_rule": "max_edge", "staking": "fixed", "strategy_id": "P009", "study_status": "exploratory_previously_inspected_history_not_new_holdout_or_selected_live_betting_policy"}</a:t>
            </a:r>
          </a:p>
          <a:p/>
          <a:p>
            <a:r>
              <a:t>Exact source paths:</a:t>
            </a:r>
          </a:p>
          <a:p>
            <a:r>
              <a:t>epl_player_models/results/20261020_player_models_review/model_metrics_pooled.csv</a:t>
            </a:r>
          </a:p>
          <a:p>
            <a:r>
              <a:t>epl_strategy_validation\results\20261015_temporal_selection\metrics_continuous.parquet</a:t>
            </a:r>
          </a:p>
          <a:p>
            <a:r>
              <a:t>epl_player_models\results\20261020_player_models_review\metrics_continuous.parquet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simulator tests ph&gt;1/oh first, otherwise pa&gt;1/oa, and excludes a selected probability exactly 0.5 with its default margin-zero filter. Fixed requests are 100 and Kelly requests use one eighth of the full Kelly fraction. Both are clamped to available current cash. The source may use settlement from an earlier processed game to fund another game on the same date, unlike EPL. All four records start at 10,000 independently. Financial results in the core table remain source-recorded; LR only was reproduced to cents in the fixed-parameter audit.</a:t>
            </a:r>
          </a:p>
          <a:p/>
          <a:p>
            <a:r>
              <a:t>Exact source paths:</a:t>
            </a:r>
          </a:p>
          <a:p>
            <a:r>
              <a:t>ML Sports/Data.ipynb</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Kelly multiplier is one quarter, one half, full Kelly or another explicitly listed fraction. B is cash at the start of the date. Formula B*min(max_bet_fraction,kelly_fraction*(p*O-1)/(O-1)); eligibility ensures positive edges where relevant. At most one bet per match. Same-date winnings are not used to fund another same-date bet. Fixed stakes do not automatically shrink to 1% as the account falls; only cash/date-budget allocation can scale them. Prices: Best odds means the highest saved individual-book quote for the chosen outcome; Bet365 means its saved reference quote. These are archived prices with unverified execution clocks.</a:t>
            </a:r>
          </a:p>
          <a:p/>
          <a:p>
            <a:r>
              <a:t>Exact source paths:</a:t>
            </a:r>
          </a:p>
          <a:p>
            <a:r>
              <a:t>epl_strategy_lab/engine.py</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S001: Original SVM forecast No bets: the earlier validation selected cash. 0 per trade; all starting 100,000 stays in cash. No borrowing; no betting exposure. No quotes used for a trade. Starting capital 100,000 stays 100,000 throughout the replay.</a:t>
            </a:r>
          </a:p>
          <a:p>
            <a:r>
              <a:t>Example: Starting capital 100,000 stays 100,000 throughout the replay.</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accuracy-selected SVM: validation selected no admissible positive-return rule; the frozen threshold is 1,000,000 and this configuration remains entirely in cash.", "diagnostic": false, "fixed_stake": 1000.0, "kelly_fraction": 0.25, "max_bet_fraction": 0.02, "max_odds": null, "min_edge": 1000000.0, "min_odds": null, "model_key": "first_accuracy", "model_label": "First-study accuracy-selected SVM", "name": "First-study accuracy-selected SVM | locked primary cash | best individual-book quotes | flat 1,000", "odds_mode": "best", "origin": "legacy", "policy_family": "locked primary cash", "selection_rule": "max_edge", "staking": "fixed", "strategy_id": "S001", "study_status": "exploratory_replay_of_already_examined_2025_26_no_new_holdout"}</a:t>
            </a:r>
          </a:p>
          <a:p/>
          <a:p>
            <a:r>
              <a:t>S002: Original SVM forecast No bets: the earlier validation selected cash. 0 per trade; all starting 100,000 stays in cash. No borrowing; no betting exposure. No quotes used for a trade. Starting capital 100,000 stays 100,000 throughout the replay.</a:t>
            </a:r>
          </a:p>
          <a:p>
            <a:r>
              <a:t>Example: Starting capital 100,000 stays 100,000 throughout the replay.</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accuracy-selected SVM: validation selected no admissible positive-return rule; the frozen threshold is 1,000,000 and this configuration remains entirely in cash.", "diagnostic": false, "fixed_stake": 1000.0, "kelly_fraction": 0.25, "max_bet_fraction": 0.02, "max_odds": null, "min_edge": 1000000.0, "min_odds": null, "model_key": "first_accuracy", "model_label": "First-study accuracy-selected SVM", "name": "First-study accuracy-selected SVM | locked primary cash | best individual-book quotes | 0.25 Kelly, per-bet cap 2%", "odds_mode": "best", "origin": "legacy", "policy_family": "locked primary cash", "selection_rule": "max_edge", "staking": "kelly", "strategy_id": "S002", "study_status": "exploratory_replay_of_already_examined_2025_26_no_new_holdout"}</a:t>
            </a:r>
          </a:p>
          <a:p/>
          <a:p>
            <a:r>
              <a:t>S003: Original SVM forecast No bets: the earlier validation selected cash. 0 per trade; all starting 100,000 stays in cash. No borrowing; no betting exposure. No quotes used for a trade. Starting capital 100,000 stays 100,000 throughout the replay.</a:t>
            </a:r>
          </a:p>
          <a:p>
            <a:r>
              <a:t>Example: Starting capital 100,000 stays 100,000 throughout the replay.</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accuracy-selected SVM: validation selected no admissible positive-return rule; the frozen threshold is 1,000,000 and this configuration remains entirely in cash.", "diagnostic": false, "fixed_stake": 1000.0, "kelly_fraction": 0.25, "max_bet_fraction": 0.02, "max_odds": null, "min_edge": 1000000.0, "min_odds": null, "model_key": "first_accuracy", "model_label": "First-study accuracy-selected SVM", "name": "First-study accuracy-selected SVM | locked primary cash | Bet365 reference quotes | flat 1,000", "odds_mode": "reference", "origin": "legacy", "policy_family": "locked primary cash", "selection_rule": "max_edge", "staking": "fixed", "strategy_id": "S003", "study_status": "exploratory_replay_of_already_examined_2025_26_no_new_holdout"}</a:t>
            </a:r>
          </a:p>
          <a:p/>
          <a:p>
            <a:r>
              <a:t>S004: Original SVM forecast No bets: the earlier validation selected cash. 0 per trade; all starting 100,000 stays in cash. No borrowing; no betting exposure. No quotes used for a trade. Starting capital 100,000 stays 100,000 throughout the replay.</a:t>
            </a:r>
          </a:p>
          <a:p>
            <a:r>
              <a:t>Example: Starting capital 100,000 stays 100,000 throughout the replay.</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accuracy-selected SVM: validation selected no admissible positive-return rule; the frozen threshold is 1,000,000 and this configuration remains entirely in cash.", "diagnostic": false, "fixed_stake": 1000.0, "kelly_fraction": 0.25, "max_bet_fraction": 0.02, "max_odds": null, "min_edge": 1000000.0, "min_odds": null, "model_key": "first_accuracy", "model_label": "First-study accuracy-selected SVM", "name": "First-study accuracy-selected SVM | locked primary cash | Bet365 reference quotes | 0.25 Kelly, per-bet cap 2%", "odds_mode": "reference", "origin": "legacy", "policy_family": "locked primary cash", "selection_rule": "max_edge", "staking": "kelly", "strategy_id": "S004", "study_status": "exploratory_replay_of_already_examined_2025_26_no_new_holdout"}</a:t>
            </a:r>
          </a:p>
          <a:p/>
          <a:p>
            <a:r>
              <a:t>S005: Original SVM forecast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accuracy-selected SVM; max_edge selection among the allowed outcomes at best individual-book quotes. Require selected model expected return strictly above 5%; stake flat 1,000.", "diagnostic": false, "fixed_stake": 1000.0, "kelly_fraction": 0.25, "max_bet_fraction": 0.02, "max_odds": null, "min_edge": 0.05, "min_odds": null, "model_key": "first_accuracy", "model_label": "First-study accuracy-selected SVM", "name": "First-study accuracy-selected SVM | predeclared 5% edge | best individual-book quotes | flat 1,000", "odds_mode": "best", "origin": "legacy", "policy_family": "predeclared 5% edge", "selection_rule": "max_edge", "staking": "fixed", "strategy_id": "S005", "study_status": "exploratory_replay_of_already_examined_2025_26_no_new_holdout"}</a:t>
            </a:r>
          </a:p>
          <a:p/>
          <a:p>
            <a:r>
              <a:t>S006: Original SVM forecast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accuracy-selected SVM;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"first_accuracy", "model_label": "First-study accuracy-selected SVM", "name": "First-study accuracy-selected SVM | predeclared 5% edge | best individual-book quotes | 0.25 Kelly, per-bet cap 2%", "odds_mode": "best", "origin": "legacy", "policy_family": "predeclared 5% edge", "selection_rule": "max_edge", "staking": "kelly", "strategy_id": "S006", "study_status": "exploratory_replay_of_already_examined_2025_26_no_new_holdout"}</a:t>
            </a:r>
          </a:p>
          <a:p/>
          <a:p>
            <a:r>
              <a:t>S007: Original SVM forecast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accuracy-selected SVM; max_edge selection among the allowed outcomes at Bet365 reference quotes. Require selected model expected return strictly above 5%; stake flat 1,000.", "diagnostic": false, "fixed_stake": 1000.0, "kelly_fraction": 0.25, "max_bet_fraction": 0.02, "max_odds": null, "min_edge": 0.05, "min_odds": null, "model_key": "first_accuracy", "model_label": "First-study accuracy-selected SVM", "name": "First-study accuracy-selected SVM | predeclared 5% edge | Bet365 reference quotes | flat 1,000", "odds_mode": "reference", "origin": "legacy", "policy_family": "predeclared 5% edge", "selection_rule": "max_edge", "staking": "fixed", "strategy_id": "S007", "study_status": "exploratory_replay_of_already_examined_2025_26_no_new_holdout"}</a:t>
            </a:r>
          </a:p>
          <a:p/>
          <a:p>
            <a:r>
              <a:t>S008: Original SVM forecast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accuracy-selected SVM; max_edge selection among the allowed outcomes at Bet365 reference quotes. Require selected model expected return strictly above 5%; stake 0.25 Kelly, per-bet cap 2%.", "diagnostic": false, "fixed_stake": 1000.0, "kelly_fraction": 0.25, "max_bet_fraction": 0.02, "max_odds": null, "min_edge": 0.05, "min_odds": null, "model_key": "first_accuracy", "model_label": "First-study accuracy-selected SVM", "name": "First-study accuracy-selected SVM | predeclared 5% edge | Bet365 reference quotes | 0.25 Kelly, per-bet cap 2%", "odds_mode": "reference", "origin": "legacy", "policy_family": "predeclared 5% edge", "selection_rule": "max_edge", "staking": "kelly", "strategy_id": "S008", "study_status": "exploratory_replay_of_already_examined_2025_26_no_new_holdout"}</a:t>
            </a:r>
          </a:p>
          <a:p/>
          <a:p>
            <a:r>
              <a:t>S009: Original neural-network forecast No bets: the earlier validation selected cash. 0 per trade; all starting 100,000 stays in cash. No borrowing; no betting exposure. No quotes used for a trade. Starting capital 100,000 stays 100,000 throughout the replay.</a:t>
            </a:r>
          </a:p>
          <a:p>
            <a:r>
              <a:t>Example: Starting capital 100,000 stays 100,000 throughout the replay.</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calibration-selected MLP: validation selected no admissible positive-return rule; the frozen threshold is 1,000,000 and this configuration remains entirely in cash.", "diagnostic": false, "fixed_stake": 1000.0, "kelly_fraction": 0.25, "max_bet_fraction": 0.02, "max_odds": null, "min_edge": 1000000.0, "min_odds": null, "model_key": "first_calibration", "model_label": "First-study calibration-selected MLP", "name": "First-study calibration-selected MLP | locked primary cash | best individual-book quotes | flat 1,000", "odds_mode": "best", "origin": "legacy", "policy_family": "locked primary cash", "selection_rule": "max_edge", "staking": "fixed", "strategy_id": "S009", "study_status": "exploratory_replay_of_already_examined_2025_26_no_new_holdout"}</a:t>
            </a:r>
          </a:p>
          <a:p/>
          <a:p>
            <a:r>
              <a:t>S010: Original neural-network forecast No bets: the earlier validation selected cash. 0 per trade; all starting 100,000 stays in cash. No borrowing; no betting exposure. No quotes used for a trade. Starting capital 100,000 stays 100,000 throughout the replay.</a:t>
            </a:r>
          </a:p>
          <a:p>
            <a:r>
              <a:t>Example: Starting capital 100,000 stays 100,000 throughout the replay.</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calibration-selected MLP: validation selected no admissible positive-return rule; the frozen threshold is 1,000,000 and this configuration remains entirely in cash.", "diagnostic": false, "fixed_stake": 1000.0, "kelly_fraction": 0.25, "max_bet_fraction": 0.02, "max_odds": null, "min_edge": 1000000.0, "min_odds": null, "model_key": "first_calibration", "model_label": "First-study calibration-selected MLP", "name": "First-study calibration-selected MLP | locked primary cash | best individual-book quotes | 0.25 Kelly, per-bet cap 2%", "odds_mode": "best", "origin": "legacy", "policy_family": "locked primary cash", "selection_rule": "max_edge", "staking": "kelly", "strategy_id": "S010", "study_status": "exploratory_replay_of_already_examined_2025_26_no_new_holdout"}</a:t>
            </a:r>
          </a:p>
          <a:p/>
          <a:p>
            <a:r>
              <a:t>S011: Original neural-network forecast No bets: the earlier validation selected cash. 0 per trade; all starting 100,000 stays in cash. No borrowing; no betting exposure. No quotes used for a trade. Starting capital 100,000 stays 100,000 throughout the replay.</a:t>
            </a:r>
          </a:p>
          <a:p>
            <a:r>
              <a:t>Example: Starting capital 100,000 stays 100,000 throughout the replay.</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calibration-selected MLP: validation selected no admissible positive-return rule; the frozen threshold is 1,000,000 and this configuration remains entirely in cash.", "diagnostic": false, "fixed_stake": 1000.0, "kelly_fraction": 0.25, "max_bet_fraction": 0.02, "max_odds": null, "min_edge": 1000000.0, "min_odds": null, "model_key": "first_calibration", "model_label": "First-study calibration-selected MLP", "name": "First-study calibration-selected MLP | locked primary cash | Bet365 reference quotes | flat 1,000", "odds_mode": "reference", "origin": "legacy", "policy_family": "locked primary cash", "selection_rule": "max_edge", "staking": "fixed", "strategy_id": "S011", "study_status": "exploratory_replay_of_already_examined_2025_26_no_new_holdout"}</a:t>
            </a:r>
          </a:p>
          <a:p/>
          <a:p>
            <a:r>
              <a:t>S012: Original neural-network forecast No bets: the earlier validation selected cash. 0 per trade; all starting 100,000 stays in cash. No borrowing; no betting exposure. No quotes used for a trade. Starting capital 100,000 stays 100,000 throughout the replay.</a:t>
            </a:r>
          </a:p>
          <a:p>
            <a:r>
              <a:t>Example: Starting capital 100,000 stays 100,000 throughout the replay.</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calibration-selected MLP: validation selected no admissible positive-return rule; the frozen threshold is 1,000,000 and this configuration remains entirely in cash.", "diagnostic": false, "fixed_stake": 1000.0, "kelly_fraction": 0.25, "max_bet_fraction": 0.02, "max_odds": null, "min_edge": 1000000.0, "min_odds": null, "model_key": "first_calibration", "model_label": "First-study calibration-selected MLP", "name": "First-study calibration-selected MLP | locked primary cash | Bet365 reference quotes | 0.25 Kelly, per-bet cap 2%", "odds_mode": "reference", "origin": "legacy", "policy_family": "locked primary cash", "selection_rule": "max_edge", "staking": "kelly", "strategy_id": "S012", "study_status": "exploratory_replay_of_already_examined_2025_26_no_new_holdout"}</a:t>
            </a:r>
          </a:p>
          <a:p/>
          <a:p>
            <a:r>
              <a:t>S013: Original neural-network forecast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calibration-selected MLP; max_edge selection among the allowed outcomes at best individual-book quotes. Require selected model expected return strictly above 5%; stake flat 1,000.", "diagnostic": false, "fixed_stake": 1000.0, "kelly_fraction": 0.25, "max_bet_fraction": 0.02, "max_odds": null, "min_edge": 0.05, "min_odds": null, "model_key": "first_calibration", "model_label": "First-study calibration-selected MLP", "name": "First-study calibration-selected MLP | predeclared 5% edge | best individual-book quotes | flat 1,000", "odds_mode": "best", "origin": "legacy", "policy_family": "predeclared 5% edge", "selection_rule": "max_edge", "staking": "fixed", "strategy_id": "S013", "study_status": "exploratory_replay_of_already_examined_2025_26_no_new_holdout"}</a:t>
            </a:r>
          </a:p>
          <a:p/>
          <a:p>
            <a:r>
              <a:t>S014: Original neural-network forecast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calibration-selected MLP;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"first_calibration", "model_label": "First-study calibration-selected MLP", "name": "First-study calibration-selected MLP | predeclared 5% edge | best individual-book quotes | 0.25 Kelly, per-bet cap 2%", "odds_mode": "best", "origin": "legacy", "policy_family": "predeclared 5% edge", "selection_rule": "max_edge", "staking": "kelly", "strategy_id": "S014", "study_status": "exploratory_replay_of_already_examined_2025_26_no_new_holdout"}</a:t>
            </a:r>
          </a:p>
          <a:p/>
          <a:p>
            <a:r>
              <a:t>S015: Original neural-network forecast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calibration-selected MLP; max_edge selection among the allowed outcomes at Bet365 reference quotes. Require selected model expected return strictly above 5%; stake flat 1,000.", "diagnostic": false, "fixed_stake": 1000.0, "kelly_fraction": 0.25, "max_bet_fraction": 0.02, "max_odds": null, "min_edge": 0.05, "min_odds": null, "model_key": "first_calibration", "model_label": "First-study calibration-selected MLP", "name": "First-study calibration-selected MLP | predeclared 5% edge | Bet365 reference quotes | flat 1,000", "odds_mode": "reference", "origin": "legacy", "policy_family": "predeclared 5% edge", "selection_rule": "max_edge", "staking": "fixed", "strategy_id": "S015", "study_status": "exploratory_replay_of_already_examined_2025_26_no_new_holdout"}</a:t>
            </a:r>
          </a:p>
          <a:p/>
          <a:p>
            <a:r>
              <a:t>S016: Original neural-network forecast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calibration-selected MLP; max_edge selection among the allowed outcomes at Bet365 reference quotes. Require selected model expected return strictly above 5%; stake 0.25 Kelly, per-bet cap 2%.", "diagnostic": false, "fixed_stake": 1000.0, "kelly_fraction": 0.25, "max_bet_fraction": 0.02, "max_odds": null, "min_edge": 0.05, "min_odds": null, "model_key": "first_calibration", "model_label": "First-study calibration-selected MLP", "name": "First-study calibration-selected MLP | predeclared 5% edge | Bet365 reference quotes | 0.25 Kelly, per-bet cap 2%", "odds_mode": "reference", "origin": "legacy", "policy_family": "predeclared 5% edge", "selection_rule": "max_edge", "staking": "kelly", "strategy_id": "S016", "study_status": "exploratory_replay_of_already_examined_2025_26_no_new_holdout"}</a:t>
            </a:r>
          </a:p>
          <a:p/>
          <a:p>
            <a:r>
              <a:t>S017: Team form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team; max_edge selection among the allowed outcomes at best individual-book quotes. Require selected model expected return strictly above 5%; stake flat 1,000.", "diagnostic": false, "fixed_stake": 1000.0, "kelly_fraction": 0.25, "max_bet_fraction": 0.02, "max_odds": null, "min_edge": 0.05, "min_odds": null, "model_key": "logit_team_only", "model_label": "Rolling logistic: team", "name": "Rolling logistic: team | predeclared 5% edge | best individual-book quotes | flat 1,000", "odds_mode": "best", "origin": "legacy", "policy_family": "predeclared 5% edge", "selection_rule": "max_edge", "staking": "fixed", "strategy_id": "S017", "study_status": "exploratory_replay_of_already_examined_2025_26_no_new_holdout"}</a:t>
            </a:r>
          </a:p>
          <a:p/>
          <a:p>
            <a:r>
              <a:t>S018: Team form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team;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"logit_team_only", "model_label": "Rolling logistic: team", "name": "Rolling logistic: team | predeclared 5% edge | best individual-book quotes | 0.25 Kelly, per-bet cap 2%", "odds_mode": "best", "origin": "legacy", "policy_family": "predeclared 5% edge", "selection_rule": "max_edge", "staking": "kelly", "strategy_id": "S018", "study_status": "exploratory_replay_of_already_examined_2025_26_no_new_holdout"}</a:t>
            </a:r>
          </a:p>
          <a:p/>
          <a:p>
            <a:r>
              <a:t>S019: Team form + chance quality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team + xG; max_edge selection among the allowed outcomes at best individual-book quotes. Require selected model expected return strictly above 5%; stake flat 1,000.", "diagnostic": false, "fixed_stake": 1000.0, "kelly_fraction": 0.25, "max_bet_fraction": 0.02, "max_odds": null, "min_edge": 0.05, "min_odds": null, "model_key": "logit_team_xg", "model_label": "Rolling logistic: team + xG", "name": "Rolling logistic: team + xG | predeclared 5% edge | best individual-book quotes | flat 1,000", "odds_mode": "best", "origin": "legacy", "policy_family": "predeclared 5% edge", "selection_rule": "max_edge", "staking": "fixed", "strategy_id": "S019", "study_status": "exploratory_replay_of_already_examined_2025_26_no_new_holdout"}</a:t>
            </a:r>
          </a:p>
          <a:p/>
          <a:p>
            <a:r>
              <a:t>S020: Team form + chance quality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team + xG;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"logit_team_xg", "model_label": "Rolling logistic: team + xG", "name": "Rolling logistic: team + xG | predeclared 5% edge | best individual-book quotes | 0.25 Kelly, per-bet cap 2%", "odds_mode": "best", "origin": "legacy", "policy_family": "predeclared 5% edge", "selection_rule": "max_edge", "staking": "kelly", "strategy_id": "S020", "study_status": "exploratory_replay_of_already_examined_2025_26_no_new_holdout"}</a:t>
            </a:r>
          </a:p>
          <a:p/>
          <a:p>
            <a:r>
              <a:t>S021: Team form + player form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team + player; max_edge selection among the allowed outcomes at best individual-book quotes. Require selected model expected return strictly above 5%; stake flat 1,000.", "diagnostic": false, "fixed_stake": 1000.0, "kelly_fraction": 0.25, "max_bet_fraction": 0.02, "max_odds": null, "min_edge": 0.05, "min_odds": null, "model_key": "logit_team_players", "model_label": "Rolling logistic: team + player", "name": "Rolling logistic: team + player | predeclared 5% edge | best individual-book quotes | flat 1,000", "odds_mode": "best", "origin": "legacy", "policy_family": "predeclared 5% edge", "selection_rule": "max_edge", "staking": "fixed", "strategy_id": "S021", "study_status": "exploratory_replay_of_already_examined_2025_26_no_new_holdout"}</a:t>
            </a:r>
          </a:p>
          <a:p/>
          <a:p>
            <a:r>
              <a:t>S022: Team form + player form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team + player;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"logit_team_players", "model_label": "Rolling logistic: team + player", "name": "Rolling logistic: team + player | predeclared 5% edge | best individual-book quotes | 0.25 Kelly, per-bet cap 2%", "odds_mode": "best", "origin": "legacy", "policy_family": "predeclared 5% edge", "selection_rule": "max_edge", "staking": "kelly", "strategy_id": "S022",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S023: Team + chance quality + player form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combined; max_edge selection among the allowed outcomes at best individual-book quotes. Require selected model expected return strictly above 5%; stake flat 1,000.", "diagnostic": false, "fixed_stake": 1000.0, "kelly_fraction": 0.25, "max_bet_fraction": 0.02, "max_odds": null, "min_edge": 0.05, "min_odds": null, "model_key": "logit_combined", "model_label": "Rolling logistic: combined", "name": "Rolling logistic: combined | predeclared 5% edge | best individual-book quotes | flat 1,000", "odds_mode": "best", "origin": "legacy", "policy_family": "predeclared 5% edge", "selection_rule": "max_edge", "staking": "fixed", "strategy_id": "S023", "study_status": "exploratory_replay_of_already_examined_2025_26_no_new_holdout"}</a:t>
            </a:r>
          </a:p>
          <a:p/>
          <a:p>
            <a:r>
              <a:t>S024: Team + chance quality + player form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combined;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"logit_combined", "model_label": "Rolling logistic: combined", "name": "Rolling logistic: combined | predeclared 5% edge | best individual-book quotes | 0.25 Kelly, per-bet cap 2%", "odds_mode": "best", "origin": "legacy", "policy_family": "predeclared 5% edge", "selection_rule": "max_edge", "staking": "kelly", "strategy_id": "S024", "study_status": "exploratory_replay_of_already_examined_2025_26_no_new_holdout"}</a:t>
            </a:r>
          </a:p>
          <a:p/>
          <a:p>
            <a:r>
              <a:t>S052: Team + chance quality + player form Among home win, draw, away win, pick the largest estimated return p×O−1; bet only above 5%. 1% of cash at the start of that match date per bet. If all same-date requests exceed available cash, shrink every request by the same proportion. At most one bet per match; no borrowing or use of same-date winnings. Highest archived individual-bookmaker odds for the chosen outcome. Cash 100,000 → 1,000 per bet; cash 80,000 → 800 per bet, before shared cash reduction.</a:t>
            </a:r>
          </a:p>
          <a:p>
            <a:r>
              <a:t>Example: Cash 100,000 → 1,000 per bet; cash 80,000 → 800 per bet, before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combined; max_edge selection among the allowed outcomes at best individual-book quotes. Require selected model expected return strictly above 5%; stake dynamic 1% of date-start capital.", "diagnostic": false, "fixed_stake": 1000.0, "kelly_fraction": 0.25, "max_bet_fraction": 0.02, "max_odds": null, "min_edge": 0.05, "min_odds": null, "model_key": "logit_combined", "model_label": "Rolling logistic: combined", "name": "Rolling logistic: combined | dynamic 1% stake | best individual-book quotes | dynamic 1% of date-start capital", "odds_mode": "best", "origin": "new", "policy_family": "dynamic 1% stake", "selection_rule": "max_edge", "staking": "dynamic_fraction", "strategy_id": "S052", "study_status": "exploratory_replay_of_already_examined_2025_26_no_new_holdout"}</a:t>
            </a:r>
          </a:p>
          <a:p/>
          <a:p>
            <a:r>
              <a:t>S055: Team + chance quality + player form Among home win, draw, away win, pick the largest estimated return p×O−1; bet only above 5%. Eighth Kelly: B × min(1%, 0.125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0.125 × 10% capped at 1% requests 1,000 before shared date/cash reduction.</a:t>
            </a:r>
          </a:p>
          <a:p>
            <a:r>
              <a:t>Example: B=100,000, p=40%, O=3: full Kelly=10%; 0.125 × 10% capped at 1% requests 1,000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combined; max_edge selection among the allowed outcomes at best individual-book quotes. Require selected model expected return strictly above 5%; stake 0.125 Kelly, per-bet cap 1%.", "diagnostic": false, "fixed_stake": 1000.0, "kelly_fraction": 0.125, "max_bet_fraction": 0.01, "max_odds": null, "min_edge": 0.05, "min_odds": null, "model_key": "logit_combined", "model_label": "Rolling logistic: combined", "name": "Rolling logistic: combined | eighth Kelly, cap 1% | best individual-book quotes | 0.125 Kelly, per-bet cap 1%", "odds_mode": "best", "origin": "new", "policy_family": "eighth Kelly, cap 1%", "selection_rule": "max_edge", "staking": "kelly", "strategy_id": "S055", "study_status": "exploratory_replay_of_already_examined_2025_26_no_new_holdout"}</a:t>
            </a:r>
          </a:p>
          <a:p/>
          <a:p>
            <a:r>
              <a:t>S056: Team + chance quality + player form Among home win, draw, away win, pick the largest estimated return p×O−1; bet only above 5%. Half Kelly: B × min(2%, 0.5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0.5 × 10% capped at 2% requests 2,000 before shared date/cash reduction.</a:t>
            </a:r>
          </a:p>
          <a:p>
            <a:r>
              <a:t>Example: B=100,000, p=40%, O=3: full Kelly=10%; 0.5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combined; max_edge selection among the allowed outcomes at best individual-book quotes. Require selected model expected return strictly above 5%; stake 0.5 Kelly, per-bet cap 2%.", "diagnostic": false, "fixed_stake": 1000.0, "kelly_fraction": 0.5, "max_bet_fraction": 0.02, "max_odds": null, "min_edge": 0.05, "min_odds": null, "model_key": "logit_combined", "model_label": "Rolling logistic: combined", "name": "Rolling logistic: combined | half Kelly, cap 2% | best individual-book quotes | 0.5 Kelly, per-bet cap 2%", "odds_mode": "best", "origin": "new", "policy_family": "half Kelly, cap 2%", "selection_rule": "max_edge", "staking": "kelly", "strategy_id": "S056", "study_status": "exploratory_replay_of_already_examined_2025_26_no_new_holdout"}</a:t>
            </a:r>
          </a:p>
          <a:p/>
          <a:p>
            <a:r>
              <a:t>S025: Bookmaker odds + team form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team; max_edge selection among the allowed outcomes at best individual-book quotes. Require selected model expected return strictly above 5%; stake flat 1,000.", "diagnostic": false, "fixed_stake": 1000.0, "kelly_fraction": 0.25, "max_bet_fraction": 0.02, "max_odds": null, "min_edge": 0.05, "min_odds": null, "model_key": "residual_team_only", "model_label": "Rolling market residual: team", "name": "Rolling market residual: team | predeclared 5% edge | best individual-book quotes | flat 1,000", "odds_mode": "best", "origin": "legacy", "policy_family": "predeclared 5% edge", "selection_rule": "max_edge", "staking": "fixed", "strategy_id": "S025", "study_status": "exploratory_replay_of_already_examined_2025_26_no_new_holdout"}</a:t>
            </a:r>
          </a:p>
          <a:p/>
          <a:p>
            <a:r>
              <a:t>S026: Bookmaker odds + team form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team;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"residual_team_only", "model_label": "Rolling market residual: team", "name": "Rolling market residual: team | predeclared 5% edge | best individual-book quotes | 0.25 Kelly, per-bet cap 2%", "odds_mode": "best", "origin": "legacy", "policy_family": "predeclared 5% edge", "selection_rule": "max_edge", "staking": "kelly", "strategy_id": "S026", "study_status": "exploratory_replay_of_already_examined_2025_26_no_new_holdout"}</a:t>
            </a:r>
          </a:p>
          <a:p/>
          <a:p>
            <a:r>
              <a:t>S027: Bookmaker odds + team/chance quality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team + xG; max_edge selection among the allowed outcomes at best individual-book quotes. Require selected model expected return strictly above 5%; stake flat 1,000.", "diagnostic": false, "fixed_stake": 1000.0, "kelly_fraction": 0.25, "max_bet_fraction": 0.02, "max_odds": null, "min_edge": 0.05, "min_odds": null, "model_key": "residual_team_xg", "model_label": "Rolling market residual: team + xG", "name": "Rolling market residual: team + xG | predeclared 5% edge | best individual-book quotes | flat 1,000", "odds_mode": "best", "origin": "legacy", "policy_family": "predeclared 5% edge", "selection_rule": "max_edge", "staking": "fixed", "strategy_id": "S027", "study_status": "exploratory_replay_of_already_examined_2025_26_no_new_holdout"}</a:t>
            </a:r>
          </a:p>
          <a:p/>
          <a:p>
            <a:r>
              <a:t>S028: Bookmaker odds + team/chance quality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team + xG;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"residual_team_xg", "model_label": "Rolling market residual: team + xG", "name": "Rolling market residual: team + xG | predeclared 5% edge | best individual-book quotes | 0.25 Kelly, per-bet cap 2%", "odds_mode": "best", "origin": "legacy", "policy_family": "predeclared 5% edge", "selection_rule": "max_edge", "staking": "kelly", "strategy_id": "S028", "study_status": "exploratory_replay_of_already_examined_2025_26_no_new_holdout"}</a:t>
            </a:r>
          </a:p>
          <a:p/>
          <a:p>
            <a:r>
              <a:t>S029: Bookmaker odds + team/player form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team + player; max_edge selection among the allowed outcomes at best individual-book quotes. Require selected model expected return strictly above 5%; stake flat 1,000.", "diagnostic": false, "fixed_stake": 1000.0, "kelly_fraction": 0.25, "max_bet_fraction": 0.02, "max_odds": null, "min_edge": 0.05, "min_odds": null, "model_key": "residual_team_players", "model_label": "Rolling market residual: team + player", "name": "Rolling market residual: team + player | predeclared 5% edge | best individual-book quotes | flat 1,000", "odds_mode": "best", "origin": "legacy", "policy_family": "predeclared 5% edge", "selection_rule": "max_edge", "staking": "fixed", "strategy_id": "S029", "study_status": "exploratory_replay_of_already_examined_2025_26_no_new_holdout"}</a:t>
            </a:r>
          </a:p>
          <a:p/>
          <a:p>
            <a:r>
              <a:t>S030: Bookmaker odds + team/player form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team + player;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"residual_team_players", "model_label": "Rolling market residual: team + player", "name": "Rolling market residual: team + player | predeclared 5% edge | best individual-book quotes | 0.25 Kelly, per-bet cap 2%", "odds_mode": "best", "origin": "legacy", "policy_family": "predeclared 5% edge", "selection_rule": "max_edge", "staking": "kelly", "strategy_id": "S030", "study_status": "exploratory_replay_of_already_examined_2025_26_no_new_holdout"}</a:t>
            </a:r>
          </a:p>
          <a:p/>
          <a:p>
            <a:r>
              <a:t>S031: Bookmaker odds + team/chance/player form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combined; max_edge selection among the allowed outcomes at best individual-book quotes. Require selected model expected return strictly above 5%; stake flat 1,000.", "diagnostic": false, "fixed_stake": 1000.0, "kelly_fraction": 0.25, "max_bet_fraction": 0.02, "max_odds": null, "min_edge": 0.05, "min_odds": null, "model_key": "residual_combined", "model_label": "Rolling market residual: combined", "name": "Rolling market residual: combined | predeclared 5% edge | best individual-book quotes | flat 1,000", "odds_mode": "best", "origin": "legacy", "policy_family": "predeclared 5% edge", "selection_rule": "max_edge", "staking": "fixed", "strategy_id": "S031", "study_status": "exploratory_replay_of_already_examined_2025_26_no_new_holdout"}</a:t>
            </a:r>
          </a:p>
          <a:p/>
          <a:p>
            <a:r>
              <a:t>S032: Bookmaker odds + team/chance/player form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combined;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"residual_combined", "model_label": "Rolling market residual: combined", "name": "Rolling market residual: combined | predeclared 5% edge | best individual-book quotes | 0.25 Kelly, per-bet cap 2%", "odds_mode": "best", "origin": "legacy", "policy_family": "predeclared 5% edge", "selection_rule": "max_edge", "staking": "kelly", "strategy_id": "S032", "study_status": "exploratory_replay_of_already_examined_2025_26_no_new_holdout"}</a:t>
            </a:r>
          </a:p>
          <a:p/>
          <a:p>
            <a:r>
              <a:t>S053: Bookmaker odds + team/chance/player form Among home win, draw, away win, pick the largest estimated return p×O−1; bet only above 5%. 1% of cash at the start of that match date per bet. If all same-date requests exceed available cash, shrink every request by the same proportion. At most one bet per match; no borrowing or use of same-date winnings. Highest archived individual-bookmaker odds for the chosen outcome. Cash 100,000 → 1,000 per bet; cash 80,000 → 800 per bet, before shared cash reduction.</a:t>
            </a:r>
          </a:p>
          <a:p>
            <a:r>
              <a:t>Example: Cash 100,000 → 1,000 per bet; cash 80,000 → 800 per bet, before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combined; max_edge selection among the allowed outcomes at best individual-book quotes. Require selected model expected return strictly above 5%; stake dynamic 1% of date-start capital.", "diagnostic": false, "fixed_stake": 1000.0, "kelly_fraction": 0.25, "max_bet_fraction": 0.02, "max_odds": null, "min_edge": 0.05, "min_odds": null, "model_key": "residual_combined", "model_label": "Rolling market residual: combined", "name": "Rolling market residual: combined | dynamic 1% stake | best individual-book quotes | dynamic 1% of date-start capital", "odds_mode": "best", "origin": "new", "policy_family": "dynamic 1% stake", "selection_rule": "max_edge", "staking": "dynamic_fraction", "strategy_id": "S053", "study_status": "exploratory_replay_of_already_examined_2025_26_no_new_holdout"}</a:t>
            </a:r>
          </a:p>
          <a:p/>
          <a:p>
            <a:r>
              <a:t>S057: Bookmaker odds + team/chance/player form Among home win, draw, away win, pick the largest estimated return p×O−1; bet only above 5%. Eighth Kelly: B × min(1%, 0.125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0.125 × 10% capped at 1% requests 1,000 before shared date/cash reduction.</a:t>
            </a:r>
          </a:p>
          <a:p>
            <a:r>
              <a:t>Example: B=100,000, p=40%, O=3: full Kelly=10%; 0.125 × 10% capped at 1% requests 1,000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combined; max_edge selection among the allowed outcomes at best individual-book quotes. Require selected model expected return strictly above 5%; stake 0.125 Kelly, per-bet cap 1%.", "diagnostic": false, "fixed_stake": 1000.0, "kelly_fraction": 0.125, "max_bet_fraction": 0.01, "max_odds": null, "min_edge": 0.05, "min_odds": null, "model_key": "residual_combined", "model_label": "Rolling market residual: combined", "name": "Rolling market residual: combined | eighth Kelly, cap 1% | best individual-book quotes | 0.125 Kelly, per-bet cap 1%", "odds_mode": "best", "origin": "new", "policy_family": "eighth Kelly, cap 1%", "selection_rule": "max_edge", "staking": "kelly", "strategy_id": "S057",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S058: Bookmaker odds + team/chance/player form Among home win, draw, away win, pick the largest estimated return p×O−1; bet only above 5%. Half Kelly: B × min(2%, 0.5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0.5 × 10% capped at 2% requests 2,000 before shared date/cash reduction.</a:t>
            </a:r>
          </a:p>
          <a:p>
            <a:r>
              <a:t>Example: B=100,000, p=40%, O=3: full Kelly=10%; 0.5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combined; max_edge selection among the allowed outcomes at best individual-book quotes. Require selected model expected return strictly above 5%; stake 0.5 Kelly, per-bet cap 2%.", "diagnostic": false, "fixed_stake": 1000.0, "kelly_fraction": 0.5, "max_bet_fraction": 0.02, "max_odds": null, "min_edge": 0.05, "min_odds": null, "model_key": "residual_combined", "model_label": "Rolling market residual: combined", "name": "Rolling market residual: combined | half Kelly, cap 2% | best individual-book quotes | 0.5 Kelly, per-bet cap 2%", "odds_mode": "best", "origin": "new", "policy_family": "half Kelly, cap 2%", "selection_rule": "max_edge", "staking": "kelly", "strategy_id": "S058", "study_status": "exploratory_replay_of_already_examined_2025_26_no_new_holdout"}</a:t>
            </a:r>
          </a:p>
          <a:p/>
          <a:p>
            <a:r>
              <a:t>S033: Past home/draw/away frequencies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training-class frequency; max_edge selection among the allowed outcomes at best individual-book quotes. Require selected model expected return strictly above 5%; stake flat 1,000.", "diagnostic": false, "fixed_stake": 1000.0, "kelly_fraction": 0.25, "max_bet_fraction": 0.02, "max_odds": null, "min_edge": 0.05, "min_odds": null, "model_key": "baseline_class_frequency", "model_label": "Rolling training-class frequency", "name": "Rolling training-class frequency | predeclared 5% edge | best individual-book quotes | flat 1,000", "odds_mode": "best", "origin": "legacy", "policy_family": "predeclared 5% edge", "selection_rule": "max_edge", "staking": "fixed", "strategy_id": "S033", "study_status": "exploratory_replay_of_already_examined_2025_26_no_new_holdout"}</a:t>
            </a:r>
          </a:p>
          <a:p/>
          <a:p>
            <a:r>
              <a:t>S034: Past home/draw/away frequencies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training-class frequency;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"baseline_class_frequency", "model_label": "Rolling training-class frequency", "name": "Rolling training-class frequency | predeclared 5% edge | best individual-book quotes | 0.25 Kelly, per-bet cap 2%", "odds_mode": "best", "origin": "legacy", "policy_family": "predeclared 5% edge", "selection_rule": "max_edge", "staking": "kelly", "strategy_id": "S034", "study_status": "exploratory_replay_of_already_examined_2025_26_no_new_holdout"}</a:t>
            </a:r>
          </a:p>
          <a:p/>
          <a:p>
            <a:r>
              <a:t>S035: Bookmaker probabilities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"Raw de-vigged Bet365 market; max_edge selection among the allowed outcomes at best individual-book quotes. Require selected model expected return strictly above 5%; stake flat 1,000.", "diagnostic": false, "fixed_stake": 1000.0, "kelly_fraction": 0.25, "max_bet_fraction": 0.02, "max_odds": null, "min_edge": 0.05, "min_odds": null, "model_key": "baseline_market_only", "model_label": "Raw de-vigged Bet365 market", "name": "Raw de-vigged Bet365 market | predeclared 5% edge | best individual-book quotes | flat 1,000", "odds_mode": "best", "origin": "legacy", "policy_family": "predeclared 5% edge", "selection_rule": "max_edge", "staking": "fixed", "strategy_id": "S035", "study_status": "exploratory_replay_of_already_examined_2025_26_no_new_holdout"}</a:t>
            </a:r>
          </a:p>
          <a:p/>
          <a:p>
            <a:r>
              <a:t>S036: Bookmaker probabilities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"Raw de-vigged Bet365 market;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"baseline_market_only", "model_label": "Raw de-vigged Bet365 market", "name": "Raw de-vigged Bet365 market | predeclared 5% edge | best individual-book quotes | 0.25 Kelly, per-bet cap 2%", "odds_mode": "best", "origin": "legacy", "policy_family": "predeclared 5% edge", "selection_rule": "max_edge", "staking": "kelly", "strategy_id": "S036", "study_status": "exploratory_replay_of_already_examined_2025_26_no_new_holdout"}</a:t>
            </a:r>
          </a:p>
          <a:p/>
          <a:p>
            <a:r>
              <a:t>S037: Calibrated bookmaker probabilities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"Temperature-calibrated Bet365 market; max_edge selection among the allowed outcomes at best individual-book quotes. Require selected model expected return strictly above 5%; stake flat 1,000.", "diagnostic": false, "fixed_stake": 1000.0, "kelly_fraction": 0.25, "max_bet_fraction": 0.02, "max_odds": null, "min_edge": 0.05, "min_odds": null, "model_key": "market_temperature", "model_label": "Temperature-calibrated Bet365 market", "name": "Temperature-calibrated Bet365 market | predeclared 5% edge | best individual-book quotes | flat 1,000", "odds_mode": "best", "origin": "legacy", "policy_family": "predeclared 5% edge", "selection_rule": "max_edge", "staking": "fixed", "strategy_id": "S037", "study_status": "exploratory_replay_of_already_examined_2025_26_no_new_holdout"}</a:t>
            </a:r>
          </a:p>
          <a:p/>
          <a:p>
            <a:r>
              <a:t>S038: Calibrated bookmaker probabilities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"Temperature-calibrated Bet365 market;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"market_temperature", "model_label": "Temperature-calibrated Bet365 market", "name": "Temperature-calibrated Bet365 market | predeclared 5% edge | best individual-book quotes | 0.25 Kelly, per-bet cap 2%", "odds_mode": "best", "origin": "legacy", "policy_family": "predeclared 5% edge", "selection_rule": "max_edge", "staking": "kelly", "strategy_id": "S038", "study_status": "exploratory_replay_of_already_examined_2025_26_no_new_holdout"}</a:t>
            </a:r>
          </a:p>
          <a:p/>
          <a:p>
            <a:r>
              <a:t>S039: Bookmaker probabilities Bet on home win in every priced match; no return filter.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"bankroll_fraction": 0.01, "cash_only": false, "consensus_min": null, "consensus_model_keys": [], "date_cap_fraction": null, "description": "Back H on every priced fixture at its best archived individual-book quote, with flat stake 1,000 and no edge filter; market probability is descriptive only.", "diagnostic": false, "fixed_stake": 1000.0, "kelly_fraction": 0.25, "max_bet_fraction": 0.02, "max_odds": null, "min_edge": null, "min_odds": null, "model_key": "baseline_market_only", "model_label": "Raw de-vigged Bet365 market", "name": "Always H | best quotes | flat 1,000", "odds_mode": "best", "origin": "new", "policy_family": "unconditional class benchmark", "selection_rule": "fixed_outcome", "staking": "fixed", "strategy_id": "S039", "study_status": "exploratory_replay_of_already_examined_2025_26_no_new_holdout"}</a:t>
            </a:r>
          </a:p>
          <a:p/>
          <a:p>
            <a:r>
              <a:t>S040: Bookmaker probabilities Bet on draw in every priced match; no return filter.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["D"], "bankroll_fraction": 0.01, "cash_only": false, "consensus_min": null, "consensus_model_keys": [], "date_cap_fraction": null, "description": "Back D on every priced fixture at its best archived individual-book quote, with flat stake 1,000 and no edge filter; market probability is descriptive only.", "diagnostic": false, "fixed_stake": 1000.0, "kelly_fraction": 0.25, "max_bet_fraction": 0.02, "max_odds": null, "min_edge": null, "min_odds": null, "model_key": "baseline_market_only", "model_label": "Raw de-vigged Bet365 market", "name": "Always D | best quotes | flat 1,000", "odds_mode": "best", "origin": "new", "policy_family": "unconditional class benchmark", "selection_rule": "fixed_outcome", "staking": "fixed", "strategy_id": "S040", "study_status": "exploratory_replay_of_already_examined_2025_26_no_new_holdout"}</a:t>
            </a:r>
          </a:p>
          <a:p/>
          <a:p>
            <a:r>
              <a:t>S041: Bookmaker probabilities Bet on away win in every priced match; no return filter.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["A"], "bankroll_fraction": 0.01, "cash_only": false, "consensus_min": null, "consensus_model_keys": [], "date_cap_fraction": null, "description": "Back A on every priced fixture at its best archived individual-book quote, with flat stake 1,000 and no edge filter; market probability is descriptive only.", "diagnostic": false, "fixed_stake": 1000.0, "kelly_fraction": 0.25, "max_bet_fraction": 0.02, "max_odds": null, "min_edge": null, "min_odds": null, "model_key": "baseline_market_only", "model_label": "Raw de-vigged Bet365 market", "name": "Always A | best quotes | flat 1,000", "odds_mode": "best", "origin": "new", "policy_family": "unconditional class benchmark", "selection_rule": "fixed_outcome", "staking": "fixed", "strategy_id": "S041", "study_status": "exploratory_replay_of_already_examined_2025_26_no_new_holdout"}</a:t>
            </a:r>
          </a:p>
          <a:p/>
          <a:p>
            <a:r>
              <a:t>S042: Bookmaker probabilities Back the home/draw/away result with the highest bookmaker probability; no return filter.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"Choose the highest raw de-vigged Bet365 probability, then use that outcome's best archived quote and flat stake 1,000; no edge filter.", "diagnostic": false, "fixed_stake": 1000.0, "kelly_fraction": 0.25, "max_bet_fraction": 0.02, "max_odds": null, "min_edge": null, "min_odds": null, "model_key": "baseline_market_only", "model_label": "Raw de-vigged Bet365 market", "name": "Market favorite | best quotes | flat 1,000", "odds_mode": "best", "origin": "new", "policy_family": "unconditional market benchmark", "selection_rule": "market_favorite", "staking": "fixed", "strategy_id": "S042",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S043: Bookmaker probabilities Back the home/draw/away result with the lowest bookmaker probability; no return filter.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"Choose the lowest raw de-vigged Bet365 probability, then use that outcome's best archived quote and flat stake 1,000; no edge filter.", "diagnostic": false, "fixed_stake": 1000.0, "kelly_fraction": 0.25, "max_bet_fraction": 0.02, "max_odds": null, "min_edge": null, "min_odds": null, "model_key": "baseline_market_only", "model_label": "Raw de-vigged Bet365 market", "name": "Market underdog | best quotes | flat 1,000", "odds_mode": "best", "origin": "new", "policy_family": "unconditional market benchmark", "selection_rule": "market_underdog", "staking": "fixed", "strategy_id": "S043", "study_status": "exploratory_replay_of_already_examined_2025_26_no_new_holdout"}</a:t>
            </a:r>
          </a:p>
          <a:p/>
          <a:p>
            <a:r>
              <a:t>S044: Team + chance quality + player form Back the home/draw/away result with the highest model probability; no return filter.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"Choose Rolling logistic: combined's highest-probability outcome at its best archived quote; flat stake 1,000 with no edge filter.", "diagnostic": false, "fixed_stake": 1000.0, "kelly_fraction": 0.25, "max_bet_fraction": 0.02, "max_odds": null, "min_edge": null, "min_odds": null, "model_key": "logit_combined", "model_label": "Rolling logistic: combined", "name": "Rolling logistic: combined | unconditional model favorite | best individual-book quotes | flat 1,000", "odds_mode": "best", "origin": "new", "policy_family": "unconditional model favorite", "selection_rule": "model_favorite", "staking": "fixed", "strategy_id": "S044", "study_status": "exploratory_replay_of_already_examined_2025_26_no_new_holdout"}</a:t>
            </a:r>
          </a:p>
          <a:p/>
          <a:p>
            <a:r>
              <a:t>S045: Bookmaker odds + team/chance/player form Back the home/draw/away result with the highest model probability; no return filter.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"Choose Rolling market residual: combined's highest-probability outcome at its best archived quote; flat stake 1,000 with no edge filter.", "diagnostic": false, "fixed_stake": 1000.0, "kelly_fraction": 0.25, "max_bet_fraction": 0.02, "max_odds": null, "min_edge": null, "min_odds": null, "model_key": "residual_combined", "model_label": "Rolling market residual: combined", "name": "Rolling market residual: combined | unconditional model favorite | best individual-book quotes | flat 1,000", "odds_mode": "best", "origin": "new", "policy_family": "unconditional model favorite", "selection_rule": "model_favorite", "staking": "fixed", "strategy_id": "S045", "study_status": "exploratory_replay_of_already_examined_2025_26_no_new_holdout"}</a:t>
            </a:r>
          </a:p>
          <a:p/>
          <a:p>
            <a:r>
              <a:t>S046: Average of four team/player forecasts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"Equal-weight mean of four rolling logistic probabilities; max_edge selection among the allowed outcomes at best individual-book quotes. Require selected model expected return strictly above 5%; stake flat 1,000.", "diagnostic": false, "fixed_stake": 1000.0, "kelly_fraction": 0.25, "max_bet_fraction": 0.02, "max_odds": null, "min_edge": 0.05, "min_odds": null, "model_key": "ensemble_logit4", "model_label": "Equal-weight mean of four rolling logistic probabilities", "name": "Equal-weight mean of four rolling logistic probabilities | ensemble 5% edge | best individual-book quotes | flat 1,000", "odds_mode": "best", "origin": "new", "policy_family": "ensemble 5% edge", "selection_rule": "max_edge", "staking": "fixed", "strategy_id": "S046", "study_status": "exploratory_replay_of_already_examined_2025_26_no_new_holdout"}</a:t>
            </a:r>
          </a:p>
          <a:p/>
          <a:p>
            <a:r>
              <a:t>S047: Average of four team/player forecasts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"Equal-weight mean of four rolling logistic probabilities;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"ensemble_logit4", "model_label": "Equal-weight mean of four rolling logistic probabilities", "name": "Equal-weight mean of four rolling logistic probabilities | ensemble 5% edge | best individual-book quotes | 0.25 Kelly, per-bet cap 2%", "odds_mode": "best", "origin": "new", "policy_family": "ensemble 5% edge", "selection_rule": "max_edge", "staking": "kelly", "strategy_id": "S047", "study_status": "exploratory_replay_of_already_examined_2025_26_no_new_holdout"}</a:t>
            </a:r>
          </a:p>
          <a:p/>
          <a:p>
            <a:r>
              <a:t>S048: Average of eight learned forecasts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"Equal-weight mean of all eight rolling learned probabilities; max_edge selection among the allowed outcomes at best individual-book quotes. Require selected model expected return strictly above 5%; stake flat 1,000.",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ensemble 5% edge | best individual-book quotes | flat 1,000", "odds_mode": "best", "origin": "new", "policy_family": "ensemble 5% edge", "selection_rule": "max_edge", "staking": "fixed", "strategy_id": "S048", "study_status": "exploratory_replay_of_already_examined_2025_26_no_new_holdout"}</a:t>
            </a:r>
          </a:p>
          <a:p/>
          <a:p>
            <a:r>
              <a:t>S049: Average of eight learned forecasts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"Equal-weight mean of all eight rolling learned probabilities;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ensemble 5% edge | best individual-book quotes | 0.25 Kelly, per-bet cap 2%", "odds_mode": "best", "origin": "new", "policy_family": "ensemble 5% edge", "selection_rule": "max_edge", "staking": "kelly", "strategy_id": "S049", "study_status": "exploratory_replay_of_already_examined_2025_26_no_new_holdout"}</a:t>
            </a:r>
          </a:p>
          <a:p/>
          <a:p>
            <a:r>
              <a:t>S054: Average of eight learned forecasts Among home win, draw, away win, pick the largest estimated return p×O−1; bet only above 5%. 1% of cash at the start of that match date per bet. If all same-date requests exceed available cash, shrink every request by the same proportion. At most one bet per match; no borrowing or use of same-date winnings. Highest archived individual-bookmaker odds for the chosen outcome. Cash 100,000 → 1,000 per bet; cash 80,000 → 800 per bet, before shared cash reduction.</a:t>
            </a:r>
          </a:p>
          <a:p>
            <a:r>
              <a:t>Example: Cash 100,000 → 1,000 per bet; cash 80,000 → 800 per bet, before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"Equal-weight mean of all eight rolling learned probabilities; max_edge selection among the allowed outcomes at best individual-book quotes. Require selected model expected return strictly above 5%; stake dynamic 1% of date-start capital.",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dynamic 1% stake | best individual-book quotes | dynamic 1% of date-start capital", "odds_mode": "best", "origin": "new", "policy_family": "dynamic 1% stake", "selection_rule": "max_edge", "staking": "dynamic_fraction", "strategy_id": "S054", "study_status": "exploratory_replay_of_already_examined_2025_26_no_new_holdout"}</a:t>
            </a:r>
          </a:p>
          <a:p/>
          <a:p>
            <a:r>
              <a:t>S050: Half combined forecast, half bookmaker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"50/50 combined logistic and raw de-vigged market probabilities; max_edge selection among the allowed outcomes at best individual-book quotes. Require selected model expected return strictly above 5%; stake flat 1,000.", "diagnostic": false, "fixed_stake": 1000.0, "kelly_fraction": 0.25, "max_bet_fraction": 0.02, "max_odds": null, "min_edge": 0.05, "min_odds": null, "model_key": "ensemble_market_blend", "model_label": "50/50 combined logistic and raw de-vigged market probabilities", "name": "50/50 combined logistic and raw de-vigged market probabilities | ensemble 5% edge | best individual-book quotes | flat 1,000", "odds_mode": "best", "origin": "new", "policy_family": "ensemble 5% edge", "selection_rule": "max_edge", "staking": "fixed", "strategy_id": "S050", "study_status": "exploratory_replay_of_already_examined_2025_26_no_new_holdout"}</a:t>
            </a:r>
          </a:p>
          <a:p/>
          <a:p>
            <a:r>
              <a:t>S051: Half combined forecast, half bookmaker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"50/50 combined logistic and raw de-vigged market probabilities;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"ensemble_market_blend", "model_label": "50/50 combined logistic and raw de-vigged market probabilities", "name": "50/50 combined logistic and raw de-vigged market probabilities | ensemble 5% edge | best individual-book quotes | 0.25 Kelly, per-bet cap 2%", "odds_mode": "best", "origin": "new", "policy_family": "ensemble 5% edge", "selection_rule": "max_edge", "staking": "kelly", "strategy_id": "S051", "study_status": "exploratory_replay_of_already_examined_2025_26_no_new_holdout"}</a:t>
            </a:r>
          </a:p>
          <a:p/>
          <a:p>
            <a:r>
              <a:t>S059: Team + chance quality + player form Among home win, draw, away win, pick the largest estimated return p×O−1; bet only above 5%. Quarter Kelly: B × min(2%, 0.25 × max(0, p×O−1)/(O−1)); B = date-start cash. All bets on one date together use at most 10% of date-start cash; shrink every request by the same proportion if necessary.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0.1, "description": "Select Rolling logistic: combined's maximum edge strictly above 5%. Use quarter Kelly capped at 2% per bet, then uniformly scale all same-date requests to at most 10% of date-start capital.", "diagnostic": false, "fixed_stake": 1000.0, "kelly_fraction": 0.25, "max_bet_fraction": 0.02, "max_odds": null, "min_edge": 0.05, "min_odds": null, "model_key": "logit_combined", "model_label": "Rolling logistic: combined", "name": "Rolling logistic: combined | quarter Kelly, 10% date budget | best individual-book quotes | 0.25 Kelly, per-bet cap 2%", "odds_mode": "best", "origin": "new", "policy_family": "quarter Kelly, 10% date budget", "selection_rule": "max_edge", "staking": "kelly", "strategy_id": "S059",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S060: Bookmaker odds + team/chance/player form Among home win, draw, away win, pick the largest estimated return p×O−1; bet only above 5%. Quarter Kelly: B × min(2%, 0.25 × max(0, p×O−1)/(O−1)); B = date-start cash. All bets on one date together use at most 10% of date-start cash; shrink every request by the same proportion if necessary.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0.1, "description": "Select Rolling market residual: combined's maximum edge strictly above 5%. Use quarter Kelly capped at 2% per bet, then uniformly scale all same-date requests to at most 10% of date-start capital.", "diagnostic": false, "fixed_stake": 1000.0, "kelly_fraction": 0.25, "max_bet_fraction": 0.02, "max_odds": null, "min_edge": 0.05, "min_odds": null, "model_key": "residual_combined", "model_label": "Rolling market residual: combined", "name": "Rolling market residual: combined | quarter Kelly, 10% date budget | best individual-book quotes | 0.25 Kelly, per-bet cap 2%", "odds_mode": "best", "origin": "new", "policy_family": "quarter Kelly, 10% date budget", "selection_rule": "max_edge", "staking": "kelly", "strategy_id": "S060", "study_status": "exploratory_replay_of_already_examined_2025_26_no_new_holdout"}</a:t>
            </a:r>
          </a:p>
          <a:p/>
          <a:p>
            <a:r>
              <a:t>S061: Average of eight learned forecasts Among home win, draw, away win, pick the largest estimated return p×O−1; bet only above 5%. Quarter Kelly: B × min(2%, 0.25 × max(0, p×O−1)/(O−1)); B = date-start cash. All bets on one date together use at most 10% of date-start cash; shrink every request by the same proportion if necessary.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0.1, "description": "Select Equal-weight mean of all eight rolling learned probabilities's maximum edge strictly above 5%. Use quarter Kelly capped at 2% per bet, then uniformly scale all same-date requests to at most 10% of date-start capital.",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quarter Kelly, 10% date budget | best individual-book quotes | 0.25 Kelly, per-bet cap 2%", "odds_mode": "best", "origin": "new", "policy_family": "quarter Kelly, 10% date budget", "selection_rule": "max_edge", "staking": "kelly", "strategy_id": "S061", "study_status": "exploratory_replay_of_already_examined_2025_26_no_new_holdout"}</a:t>
            </a:r>
          </a:p>
          <a:p/>
          <a:p>
            <a:r>
              <a:t>S062: Average of eight learned forecasts Among home win, draw, away win, pick the largest estimated return p×O−1; bet only above 5%. 1,000 per bet: 1% of INITIAL 100,000; the amount stays fixed as cash changes. Then require at least 6 of 8 models to give the chosen outcome a positive estimated return at these odds.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6, "consensus_model_keys": ["logit_team_only", "logit_team_xg", "logit_team_players", "logit_combined", "residual_team_only", "residual_team_xg", "residual_team_players", "residual_combined"], "date_cap_fraction": null, "description": "Choose the mean-eight maximum-edge outcome strictly above 5%; retain it only if at least six of the eight individual rolling learned models have strictly positive edge at that same selected best quote. A failed vote means no bet, without searching another class.",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six-of-eight consensus | best individual-book quotes | flat 1,000", "odds_mode": "best", "origin": "new", "policy_family": "six-of-eight consensus", "selection_rule": "max_edge", "staking": "fixed", "strategy_id": "S062", "study_status": "exploratory_replay_of_already_examined_2025_26_no_new_holdout"}</a:t>
            </a:r>
          </a:p>
          <a:p/>
          <a:p>
            <a:r>
              <a:t>S063: Average of eight learned forecasts Among home win, draw, away win, pick the largest estimated return p×O−1; bet only above 5%. Quarter Kelly: B × min(2%, 0.25 × max(0, p×O−1)/(O−1)); B = date-start cash. Then require at least 6 of 8 models to give the chosen outcome a positive estimated return at these odds.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6, "consensus_model_keys": ["logit_team_only", "logit_team_xg", "logit_team_players", "logit_combined", "residual_team_only", "residual_team_xg", "residual_team_players", "residual_combined"], "date_cap_fraction": null, "description": "Choose the mean-eight maximum-edge outcome strictly above 5%; retain it only if at least six of the eight individual rolling learned models have strictly positive edge at that same selected best quote. A failed vote means no bet, without searching another class.",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six-of-eight consensus | best individual-book quotes | 0.25 Kelly, per-bet cap 2%", "odds_mode": "best", "origin": "new", "policy_family": "six-of-eight consensus", "selection_rule": "max_edge", "staking": "kelly", "strategy_id": "S063", "study_status": "exploratory_replay_of_already_examined_2025_26_no_new_holdout"}</a:t>
            </a:r>
          </a:p>
          <a:p/>
          <a:p>
            <a:r>
              <a:t>S064: Average of eight learned forecasts Among home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"bankroll_fraction": 0.01, "cash_only": false, "consensus_min": null, "consensus_model_keys": [], "date_cap_fraction": null, "description": "Restrict candidates to outcome H before maximizing mean-eight edge; require strict edge above 5% and use flat stake 1,000 at its best archived quote.",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5% edge, H only | best individual-book quotes | flat 1,000", "odds_mode": "best", "origin": "new", "policy_family": "5% edge, H only", "selection_rule": "max_edge", "staking": "fixed", "strategy_id": "S064", "study_status": "exploratory_replay_of_already_examined_2025_26_no_new_holdout"}</a:t>
            </a:r>
          </a:p>
          <a:p/>
          <a:p>
            <a:r>
              <a:t>S065: Average of eight learned forecasts Among draw,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["D"], "bankroll_fraction": 0.01, "cash_only": false, "consensus_min": null, "consensus_model_keys": [], "date_cap_fraction": null, "description": "Restrict candidates to outcome D before maximizing mean-eight edge; require strict edge above 5% and use flat stake 1,000 at its best archived quote.",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5% edge, D only | best individual-book quotes | flat 1,000", "odds_mode": "best", "origin": "new", "policy_family": "5% edge, D only", "selection_rule": "max_edge", "staking": "fixed", "strategy_id": "S065", "study_status": "exploratory_replay_of_already_examined_2025_26_no_new_holdout"}</a:t>
            </a:r>
          </a:p>
          <a:p/>
          <a:p>
            <a:r>
              <a:t>S066: Average of eight learned forecasts Among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["A"], "bankroll_fraction": 0.01, "cash_only": false, "consensus_min": null, "consensus_model_keys": [], "date_cap_fraction": null, "description": "Restrict candidates to outcome A before maximizing mean-eight edge; require strict edge above 5% and use flat stake 1,000 at its best archived quote.",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5% edge, A only | best individual-book quotes | flat 1,000", "odds_mode": "best", "origin": "new", "policy_family": "5% edge, A only", "selection_rule": "max_edge", "staking": "fixed", "strategy_id": "S066", "study_status": "exploratory_replay_of_already_examined_2025_26_no_new_holdout"}</a:t>
            </a:r>
          </a:p>
          <a:p/>
          <a:p>
            <a:r>
              <a:t>S067: Team + chance quality + player form Among home win, draw, away win, pick the largest estimated return p×O−1; bet only above 10%.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combined; max_edge selection among the allowed outcomes at best individual-book quotes. Require selected model expected return strictly above 10%; stake flat 1,000.", "diagnostic": false, "fixed_stake": 1000.0, "kelly_fraction": 0.25, "max_bet_fraction": 0.02, "max_odds": null, "min_edge": 0.1, "min_odds": null, "model_key": "logit_combined", "model_label": "Rolling logistic: combined", "name": "Rolling logistic: combined | 10% edge | best individual-book quotes | flat 1,000", "odds_mode": "best", "origin": "new", "policy_family": "10% edge", "selection_rule": "max_edge", "staking": "fixed", "strategy_id": "S067", "study_status": "exploratory_replay_of_already_examined_2025_26_no_new_holdout"}</a:t>
            </a:r>
          </a:p>
          <a:p/>
          <a:p>
            <a:r>
              <a:t>S068: Bookmaker odds + team/chance/player form Among home win, draw, away win, pick the largest estimated return p×O−1; bet only above 10%.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combined; max_edge selection among the allowed outcomes at best individual-book quotes. Require selected model expected return strictly above 10%; stake flat 1,000.", "diagnostic": false, "fixed_stake": 1000.0, "kelly_fraction": 0.25, "max_bet_fraction": 0.02, "max_odds": null, "min_edge": 0.1, "min_odds": null, "model_key": "residual_combined", "model_label": "Rolling market residual: combined", "name": "Rolling market residual: combined | 10% edge | best individual-book quotes | flat 1,000", "odds_mode": "best", "origin": "new", "policy_family": "10% edge", "selection_rule": "max_edge", "staking": "fixed", "strategy_id": "S068",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S069: Average of eight learned forecasts Among home win, draw, away win, pick the largest estimated return p×O−1; bet only above 10%.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"Equal-weight mean of all eight rolling learned probabilities; max_edge selection among the allowed outcomes at best individual-book quotes. Require selected model expected return strictly above 10%; stake flat 1,000.", "diagnostic": false, "fixed_stake": 1000.0, "kelly_fraction": 0.25, "max_bet_fraction": 0.02, "max_odds": null, "min_edge": 0.1, "min_odds": null, "model_key": "ensemble_learned8", "model_label": "Equal-weight mean of all eight rolling learned probabilities", "name": "Equal-weight mean of all eight rolling learned probabilities | 10% edge | best individual-book quotes | flat 1,000", "odds_mode": "best", "origin": "new", "policy_family": "10% edge", "selection_rule": "max_edge", "staking": "fixed", "strategy_id": "S069", "study_status": "exploratory_replay_of_already_examined_2025_26_no_new_holdout"}</a:t>
            </a:r>
          </a:p>
          <a:p/>
          <a:p>
            <a:r>
              <a:t>S070: Team + chance quality + player form Among home win, draw, away win, pick the largest estimated return p×O−1; bet only above 5%. 1,000 per bet: 1% of INITIAL 100,000; the amount stays fixed as cash changes. First keep decimal odds from 1.5 to 5, inclusive.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"Retain only outcomes with inclusive best-quote decimal odds from 1.5 to 5 before maximizing Rolling logistic: combined's edge. Require selected edge strictly above 5%; flat stake 1,000.", "diagnostic": false, "fixed_stake": 1000.0, "kelly_fraction": 0.25, "max_bet_fraction": 0.02, "max_odds": 5.0, "min_edge": 0.05, "min_odds": 1.5, "model_key": "logit_combined", "model_label": "Rolling logistic: combined", "name": "Rolling logistic: combined | 5% edge, odds 1.5–5 | best individual-book quotes | flat 1,000", "odds_mode": "best", "origin": "new", "policy_family": "5% edge, odds 1.5–5", "selection_rule": "max_edge", "staking": "fixed", "strategy_id": "S070", "study_status": "exploratory_replay_of_already_examined_2025_26_no_new_holdout"}</a:t>
            </a:r>
          </a:p>
          <a:p/>
          <a:p>
            <a:r>
              <a:t>S071: Bookmaker odds + team/chance/player form Among home win, draw, away win, pick the largest estimated return p×O−1; bet only above 5%. 1,000 per bet: 1% of INITIAL 100,000; the amount stays fixed as cash changes. First keep decimal odds from 1.5 to 5, inclusive.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"Retain only outcomes with inclusive best-quote decimal odds from 1.5 to 5 before maximizing Rolling market residual: combined's edge. Require selected edge strictly above 5%; flat stake 1,000.", "diagnostic": false, "fixed_stake": 1000.0, "kelly_fraction": 0.25, "max_bet_fraction": 0.02, "max_odds": 5.0, "min_edge": 0.05, "min_odds": 1.5, "model_key": "residual_combined", "model_label": "Rolling market residual: combined", "name": "Rolling market residual: combined | 5% edge, odds 1.5–5 | best individual-book quotes | flat 1,000", "odds_mode": "best", "origin": "new", "policy_family": "5% edge, odds 1.5–5", "selection_rule": "max_edge", "staking": "fixed", "strategy_id": "S071", "study_status": "exploratory_replay_of_already_examined_2025_26_no_new_holdout"}</a:t>
            </a:r>
          </a:p>
          <a:p/>
          <a:p>
            <a:r>
              <a:t>S072: Average of eight learned forecasts Among home win, draw, away win, pick the largest estimated return p×O−1; bet only above 5%. 1,000 per bet: 1% of INITIAL 100,000; the amount stays fixed as cash changes. First keep decimal odds from 1.5 to 5, inclusive.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"Retain only outcomes with inclusive best-quote decimal odds from 1.5 to 5 before maximizing Equal-weight mean of all eight rolling learned probabilities's edge. Require selected edge strictly above 5%; flat stake 1,000.", "diagnostic": false, "fixed_stake": 1000.0, "kelly_fraction": 0.25, "max_bet_fraction": 0.02, "max_odds": 5.0, "min_edge": 0.05, "min_odds": 1.5, "model_key": "ensemble_learned8", "model_label": "Equal-weight mean of all eight rolling learned probabilities", "name": "Equal-weight mean of all eight rolling learned probabilities | 5% edge, odds 1.5–5 | best individual-book quotes | flat 1,000", "odds_mode": "best", "origin": "new", "policy_family": "5% edge, odds 1.5–5", "selection_rule": "max_edge", "staking": "fixed", "strategy_id": "S072", "study_status": "exploratory_replay_of_already_examined_2025_26_no_new_holdout"}</a:t>
            </a:r>
          </a:p>
          <a:p/>
          <a:p>
            <a:r>
              <a:t>S073: Original SVM forecast Among home win, draw, away win, pick the largest estimated return p×O−1; bet only above 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accuracy-selected SVM validation-candidate rule with edge strictly above 0% (p × odds − 1 &gt; 0), best individual-book quotes and flat stake 1,000. This is an exploratory diagnostic replay on an already examined season, not the selected primary strategy.", "diagnostic": true, "fixed_stake": 1000.0, "kelly_fraction": 0.25, "max_bet_fraction": 0.02, "max_odds": null, "min_edge": 0.0, "min_odds": null, "model_key": "first_accuracy", "model_label": "First-study accuracy-selected SVM", "name": "First-study accuracy-selected SVM | historical threshold diagnostic 0% | best individual-book quotes | flat 1,000", "odds_mode": "best", "origin": "legacy_diagnostic", "policy_family": "historical threshold diagnostic 0%", "selection_rule": "max_edge", "staking": "fixed", "strategy_id": "S073", "study_status": "exploratory_replay_of_already_examined_2025_26_no_new_holdout"}</a:t>
            </a:r>
          </a:p>
          <a:p/>
          <a:p>
            <a:r>
              <a:t>S074: Original SVM forecast Among home win, draw, away win, pick the largest estimated return p×O−1; bet only above 2.5%.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accuracy-selected SVM validation-candidate rule with edge strictly above 2.5% (p × odds − 1 &gt; 0.025), best individual-book quotes and flat stake 1,000. This is an exploratory diagnostic replay on an already examined season, not the selected primary strategy.", "diagnostic": true, "fixed_stake": 1000.0, "kelly_fraction": 0.25, "max_bet_fraction": 0.02, "max_odds": null, "min_edge": 0.025, "min_odds": null, "model_key": "first_accuracy", "model_label": "First-study accuracy-selected SVM", "name": "First-study accuracy-selected SVM | historical threshold diagnostic 2.5% | best individual-book quotes | flat 1,000", "odds_mode": "best", "origin": "legacy_diagnostic", "policy_family": "historical threshold diagnostic 2.5%", "selection_rule": "max_edge", "staking": "fixed", "strategy_id": "S074", "study_status": "exploratory_replay_of_already_examined_2025_26_no_new_holdout"}</a:t>
            </a:r>
          </a:p>
          <a:p/>
          <a:p>
            <a:r>
              <a:t>S075: Original SVM forecast Among home win, draw, away win, pick the largest estimated return p×O−1; bet only above 7.5%.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accuracy-selected SVM validation-candidate rule with edge strictly above 7.5% (p × odds − 1 &gt; 0.075), best individual-book quotes and flat stake 1,000. This is an exploratory diagnostic replay on an already examined season, not the selected primary strategy.", "diagnostic": true, "fixed_stake": 1000.0, "kelly_fraction": 0.25, "max_bet_fraction": 0.02, "max_odds": null, "min_edge": 0.075, "min_odds": null, "model_key": "first_accuracy", "model_label": "First-study accuracy-selected SVM", "name": "First-study accuracy-selected SVM | historical threshold diagnostic 7.5% | best individual-book quotes | flat 1,000", "odds_mode": "best", "origin": "legacy_diagnostic", "policy_family": "historical threshold diagnostic 7.5%", "selection_rule": "max_edge", "staking": "fixed", "strategy_id": "S075", "study_status": "exploratory_replay_of_already_examined_2025_26_no_new_holdout"}</a:t>
            </a:r>
          </a:p>
          <a:p/>
          <a:p>
            <a:r>
              <a:t>S076: Original SVM forecast Among home win, draw, away win, pick the largest estimated return p×O−1; bet only above 10%.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accuracy-selected SVM validation-candidate rule with edge strictly above 10% (p × odds − 1 &gt; 0.1), best individual-book quotes and flat stake 1,000. This is an exploratory diagnostic replay on an already examined season, not the selected primary strategy.", "diagnostic": true, "fixed_stake": 1000.0, "kelly_fraction": 0.25, "max_bet_fraction": 0.02, "max_odds": null, "min_edge": 0.1, "min_odds": null, "model_key": "first_accuracy", "model_label": "First-study accuracy-selected SVM", "name": "First-study accuracy-selected SVM | historical threshold diagnostic 10% | best individual-book quotes | flat 1,000", "odds_mode": "best", "origin": "legacy_diagnostic", "policy_family": "historical threshold diagnostic 10%", "selection_rule": "max_edge", "staking": "fixed", "strategy_id": "S076",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S077: Original SVM forecast Among home win, draw, away win, pick the largest estimated return p×O−1; bet only above 15%.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accuracy-selected SVM validation-candidate rule with edge strictly above 15% (p × odds − 1 &gt; 0.15), best individual-book quotes and flat stake 1,000. This is an exploratory diagnostic replay on an already examined season, not the selected primary strategy.", "diagnostic": true, "fixed_stake": 1000.0, "kelly_fraction": 0.25, "max_bet_fraction": 0.02, "max_odds": null, "min_edge": 0.15, "min_odds": null, "model_key": "first_accuracy", "model_label": "First-study accuracy-selected SVM", "name": "First-study accuracy-selected SVM | historical threshold diagnostic 15% | best individual-book quotes | flat 1,000", "odds_mode": "best", "origin": "legacy_diagnostic", "policy_family": "historical threshold diagnostic 15%", "selection_rule": "max_edge", "staking": "fixed", "strategy_id": "S077", "study_status": "exploratory_replay_of_already_examined_2025_26_no_new_holdout"}</a:t>
            </a:r>
          </a:p>
          <a:p/>
          <a:p>
            <a:r>
              <a:t>S078: Original SVM forecast Among home win, draw, away win, pick the largest estimated return p×O−1; bet only above 20%.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accuracy-selected SVM validation-candidate rule with edge strictly above 20% (p × odds − 1 &gt; 0.2), best individual-book quotes and flat stake 1,000. This is an exploratory diagnostic replay on an already examined season, not the selected primary strategy.", "diagnostic": true, "fixed_stake": 1000.0, "kelly_fraction": 0.25, "max_bet_fraction": 0.02, "max_odds": null, "min_edge": 0.2, "min_odds": null, "model_key": "first_accuracy", "model_label": "First-study accuracy-selected SVM", "name": "First-study accuracy-selected SVM | historical threshold diagnostic 20% | best individual-book quotes | flat 1,000", "odds_mode": "best", "origin": "legacy_diagnostic", "policy_family": "historical threshold diagnostic 20%", "selection_rule": "max_edge", "staking": "fixed", "strategy_id": "S078", "study_status": "exploratory_replay_of_already_examined_2025_26_no_new_holdout"}</a:t>
            </a:r>
          </a:p>
          <a:p/>
          <a:p>
            <a:r>
              <a:t>S079: Original neural-network forecast Among home win, draw, away win, pick the largest estimated return p×O−1; bet only above 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calibration-selected MLP validation-candidate rule with edge strictly above 0% (p × odds − 1 &gt; 0), best individual-book quotes and flat stake 1,000. This is an exploratory diagnostic replay on an already examined season, not the selected primary strategy.", "diagnostic": true, "fixed_stake": 1000.0, "kelly_fraction": 0.25, "max_bet_fraction": 0.02, "max_odds": null, "min_edge": 0.0, "min_odds": null, "model_key": "first_calibration", "model_label": "First-study calibration-selected MLP", "name": "First-study calibration-selected MLP | historical threshold diagnostic 0% | best individual-book quotes | flat 1,000", "odds_mode": "best", "origin": "legacy_diagnostic", "policy_family": "historical threshold diagnostic 0%", "selection_rule": "max_edge", "staking": "fixed", "strategy_id": "S079", "study_status": "exploratory_replay_of_already_examined_2025_26_no_new_holdout"}</a:t>
            </a:r>
          </a:p>
          <a:p/>
          <a:p>
            <a:r>
              <a:t>S080: Original neural-network forecast Among home win, draw, away win, pick the largest estimated return p×O−1; bet only above 2.5%.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calibration-selected MLP validation-candidate rule with edge strictly above 2.5% (p × odds − 1 &gt; 0.025), best individual-book quotes and flat stake 1,000. This is an exploratory diagnostic replay on an already examined season, not the selected primary strategy.", "diagnostic": true, "fixed_stake": 1000.0, "kelly_fraction": 0.25, "max_bet_fraction": 0.02, "max_odds": null, "min_edge": 0.025, "min_odds": null, "model_key": "first_calibration", "model_label": "First-study calibration-selected MLP", "name": "First-study calibration-selected MLP | historical threshold diagnostic 2.5% | best individual-book quotes | flat 1,000", "odds_mode": "best", "origin": "legacy_diagnostic", "policy_family": "historical threshold diagnostic 2.5%", "selection_rule": "max_edge", "staking": "fixed", "strategy_id": "S080", "study_status": "exploratory_replay_of_already_examined_2025_26_no_new_holdout"}</a:t>
            </a:r>
          </a:p>
          <a:p/>
          <a:p>
            <a:r>
              <a:t>S081: Original neural-network forecast Among home win, draw, away win, pick the largest estimated return p×O−1; bet only above 7.5%.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calibration-selected MLP validation-candidate rule with edge strictly above 7.5% (p × odds − 1 &gt; 0.075), best individual-book quotes and flat stake 1,000. This is an exploratory diagnostic replay on an already examined season, not the selected primary strategy.", "diagnostic": true, "fixed_stake": 1000.0, "kelly_fraction": 0.25, "max_bet_fraction": 0.02, "max_odds": null, "min_edge": 0.075, "min_odds": null, "model_key": "first_calibration", "model_label": "First-study calibration-selected MLP", "name": "First-study calibration-selected MLP | historical threshold diagnostic 7.5% | best individual-book quotes | flat 1,000", "odds_mode": "best", "origin": "legacy_diagnostic", "policy_family": "historical threshold diagnostic 7.5%", "selection_rule": "max_edge", "staking": "fixed", "strategy_id": "S081", "study_status": "exploratory_replay_of_already_examined_2025_26_no_new_holdout"}</a:t>
            </a:r>
          </a:p>
          <a:p/>
          <a:p>
            <a:r>
              <a:t>S082: Original neural-network forecast Among home win, draw, away win, pick the largest estimated return p×O−1; bet only above 10%.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calibration-selected MLP validation-candidate rule with edge strictly above 10% (p × odds − 1 &gt; 0.1), best individual-book quotes and flat stake 1,000. This is an exploratory diagnostic replay on an already examined season, not the selected primary strategy.", "diagnostic": true, "fixed_stake": 1000.0, "kelly_fraction": 0.25, "max_bet_fraction": 0.02, "max_odds": null, "min_edge": 0.1, "min_odds": null, "model_key": "first_calibration", "model_label": "First-study calibration-selected MLP", "name": "First-study calibration-selected MLP | historical threshold diagnostic 10% | best individual-book quotes | flat 1,000", "odds_mode": "best", "origin": "legacy_diagnostic", "policy_family": "historical threshold diagnostic 10%", "selection_rule": "max_edge", "staking": "fixed", "strategy_id": "S082", "study_status": "exploratory_replay_of_already_examined_2025_26_no_new_holdout"}</a:t>
            </a:r>
          </a:p>
          <a:p/>
          <a:p>
            <a:r>
              <a:t>S083: Original neural-network forecast Among home win, draw, away win, pick the largest estimated return p×O−1; bet only above 15%.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calibration-selected MLP validation-candidate rule with edge strictly above 15% (p × odds − 1 &gt; 0.15), best individual-book quotes and flat stake 1,000. This is an exploratory diagnostic replay on an already examined season, not the selected primary strategy.", "diagnostic": true, "fixed_stake": 1000.0, "kelly_fraction": 0.25, "max_bet_fraction": 0.02, "max_odds": null, "min_edge": 0.15, "min_odds": null, "model_key": "first_calibration", "model_label": "First-study calibration-selected MLP", "name": "First-study calibration-selected MLP | historical threshold diagnostic 15% | best individual-book quotes | flat 1,000", "odds_mode": "best", "origin": "legacy_diagnostic", "policy_family": "historical threshold diagnostic 15%", "selection_rule": "max_edge", "staking": "fixed", "strategy_id": "S083", "study_status": "exploratory_replay_of_already_examined_2025_26_no_new_holdout"}</a:t>
            </a:r>
          </a:p>
          <a:p/>
          <a:p>
            <a:r>
              <a:t>S084: Original neural-network forecast Among home win, draw, away win, pick the largest estimated return p×O−1; bet only above 20%.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calibration-selected MLP validation-candidate rule with edge strictly above 20% (p × odds − 1 &gt; 0.2), best individual-book quotes and flat stake 1,000. This is an exploratory diagnostic replay on an already examined season, not the selected primary strategy.", "diagnostic": true, "fixed_stake": 1000.0, "kelly_fraction": 0.25, "max_bet_fraction": 0.02, "max_odds": null, "min_edge": 0.2, "min_odds": null, "model_key": "first_calibration", "model_label": "First-study calibration-selected MLP", "name": "First-study calibration-selected MLP | historical threshold diagnostic 20% | best individual-book quotes | flat 1,000", "odds_mode": "best", "origin": "legacy_diagnostic", "policy_family": "historical threshold diagnostic 20%", "selection_rule": "max_edge", "staking": "fixed", "strategy_id": "S084",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P001: Team form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Logistic regression; choose the allowed H/D/A outcome with maximum p × odds − 1 at the best archived individual-book quote. Trade only for edge strictly greater than 5%; request flat 1,000. H/D/A order resolves ties.", "diagnostic": true, "feature_group": "team_control", "fixed_stake": 1000.0, "kelly_fraction": 0.25, "max_bet_fraction": 0.02, "max_odds": null, "min_edge": 0.05, "min_odds": null, "model_key": "pm_logistic_team_control", "model_label": "Matched team control | Logistic regression", "model_type": "logistic", "name": "Matched team control | Logistic regression | best | flat 1,000", "odds_mode": "best", "origin": "new_player_model_study", "policy_family": "frozen 5% player-study diagnostic", "selection_rule": "max_edge", "staking": "fixed", "strategy_id": "P001", "study_status": "exploratory_previously_inspected_history_not_new_holdout_or_selected_live_betting_policy"}</a:t>
            </a:r>
          </a:p>
          <a:p/>
          <a:p>
            <a:r>
              <a:t>P002: Team form (logistic)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Logistic regression; choose the allowed H/D/A outcome with maximum p × odds − 1 at the best archived individual-book quote. Trade only for edge strictly greater than 5%; request quarter Kelly capped at 2% of date-start cash per bet. H/D/A order resolves ties.", "diagnostic": true, "feature_group": "team_control", "fixed_stake": 1000.0, "kelly_fraction": 0.25, "max_bet_fraction": 0.02, "max_odds": null, "min_edge": 0.05, "min_odds": null, "model_key": "pm_logistic_team_control", "model_label": "Matched team control | Logistic regression", "model_type": "logistic", "name": "Matched team control | Logistic regression | best | quarter Kelly capped at 2% of date-start cash per bet", "odds_mode": "best", "origin": "new_player_model_study", "policy_family": "frozen 5% player-study diagnostic", "selection_rule": "max_edge", "staking": "kelly", "strategy_id": "P002", "study_status": "exploratory_previously_inspected_history_not_new_holdout_or_selected_live_betting_policy"}</a:t>
            </a:r>
          </a:p>
          <a:p/>
          <a:p>
            <a:r>
              <a:t>P003: Team form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Logistic regression; choose the allowed H/D/A outcome with maximum p × odds − 1 at the archived Bet365 reference quote. Trade only for edge strictly greater than 5%; request flat 1,000. H/D/A order resolves ties.", "diagnostic": true, "feature_group": "team_control", "fixed_stake": 1000.0, "kelly_fraction": 0.25, "max_bet_fraction": 0.02, "max_odds": null, "min_edge": 0.05, "min_odds": null, "model_key": "pm_logistic_team_control", "model_label": "Matched team control | Logistic regression", "model_type": "logistic", "name": "Matched team control | Logistic regression | reference | flat 1,000", "odds_mode": "reference", "origin": "new_player_model_study", "policy_family": "frozen 5% player-study diagnostic", "selection_rule": "max_edge", "staking": "fixed", "strategy_id": "P003", "study_status": "exploratory_previously_inspected_history_not_new_holdout_or_selected_live_betting_policy"}</a:t>
            </a:r>
          </a:p>
          <a:p/>
          <a:p>
            <a:r>
              <a:t>P004: Team form (logistic)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Logistic regression; choose the allowed H/D/A outcome with maximum p × odds − 1 at the archived Bet365 reference quote. Trade only for edge strictly greater than 5%; request quarter Kelly capped at 2% of date-start cash per bet. H/D/A order resolves ties.", "diagnostic": true, "feature_group": "team_control", "fixed_stake": 1000.0, "kelly_fraction": 0.25, "max_bet_fraction": 0.02, "max_odds": null, "min_edge": 0.05, "min_odds": null, "model_key": "pm_logistic_team_control", "model_label": "Matched team control | Logistic regression", "model_type": "logistic", "name": "Matched team control | Logistic regression | reference | quarter Kelly capped at 2% of date-start cash per bet", "odds_mode": "reference", "origin": "new_player_model_study", "policy_family": "frozen 5% player-study diagnostic", "selection_rule": "max_edge", "staking": "kelly", "strategy_id": "P004", "study_status": "exploratory_previously_inspected_history_not_new_holdout_or_selected_live_betting_policy"}</a:t>
            </a:r>
          </a:p>
          <a:p/>
          <a:p>
            <a:r>
              <a:t>P005: Team form (boosted trees)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Histogram gradient boosting; choose the allowed H/D/A outcome with maximum p × odds − 1 at the best archived individual-book quote. Trade only for edge strictly greater than 5%; request flat 1,000. H/D/A order resolves ties.", "diagnostic": true, "feature_group": "team_control", "fixed_stake": 1000.0, "kelly_fraction": 0.25, "max_bet_fraction": 0.02, "max_odds": null, "min_edge": 0.05, "min_odds": null, "model_key": "pm_hist_boost_team_control", "model_label": "Matched team control | Histogram gradient boosting", "model_type": "hist_boost", "name": "Matched team control | Histogram gradient boosting | best | flat 1,000", "odds_mode": "best", "origin": "new_player_model_study", "policy_family": "frozen 5% player-study diagnostic", "selection_rule": "max_edge", "staking": "fixed", "strategy_id": "P005", "study_status": "exploratory_previously_inspected_history_not_new_holdout_or_selected_live_betting_policy"}</a:t>
            </a:r>
          </a:p>
          <a:p/>
          <a:p>
            <a:r>
              <a:t>P006: Team form (boosted trees)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Histogram gradient boosting; choose the allowed H/D/A outcome with maximum p × odds − 1 at the best archived individual-book quote. Trade only for edge strictly greater than 5%; request quarter Kelly capped at 2% of date-start cash per bet. H/D/A order resolves ties.", "diagnostic": true, "feature_group": "team_control", "fixed_stake": 1000.0, "kelly_fraction": 0.25, "max_bet_fraction": 0.02, "max_odds": null, "min_edge": 0.05, "min_odds": null, "model_key": "pm_hist_boost_team_control", "model_label": "Matched team control | Histogram gradient boosting", "model_type": "hist_boost", "name": "Matched team control | Histogram gradient boosting | best | quarter Kelly capped at 2% of date-start cash per bet", "odds_mode": "best", "origin": "new_player_model_study", "policy_family": "frozen 5% player-study diagnostic", "selection_rule": "max_edge", "staking": "kelly", "strategy_id": "P006", "study_status": "exploratory_previously_inspected_history_not_new_holdout_or_selected_live_betting_policy"}</a:t>
            </a:r>
          </a:p>
          <a:p/>
          <a:p>
            <a:r>
              <a:t>P007: Team form (boosted trees)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Histogram gradient boosting; choose the allowed H/D/A outcome with maximum p × odds − 1 at the archived Bet365 reference quote. Trade only for edge strictly greater than 5%; request flat 1,000. H/D/A order resolves ties.", "diagnostic": true, "feature_group": "team_control", "fixed_stake": 1000.0, "kelly_fraction": 0.25, "max_bet_fraction": 0.02, "max_odds": null, "min_edge": 0.05, "min_odds": null, "model_key": "pm_hist_boost_team_control", "model_label": "Matched team control | Histogram gradient boosting", "model_type": "hist_boost", "name": "Matched team control | Histogram gradient boosting | reference | flat 1,000", "odds_mode": "reference", "origin": "new_player_model_study", "policy_family": "frozen 5% player-study diagnostic", "selection_rule": "max_edge", "staking": "fixed", "strategy_id": "P007", "study_status": "exploratory_previously_inspected_history_not_new_holdout_or_selected_live_betting_policy"}</a:t>
            </a:r>
          </a:p>
          <a:p/>
          <a:p>
            <a:r>
              <a:t>P008: Team form (boosted trees)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Histogram gradient boosting; choose the allowed H/D/A outcome with maximum p × odds − 1 at the archived Bet365 reference quote. Trade only for edge strictly greater than 5%; request quarter Kelly capped at 2% of date-start cash per bet. H/D/A order resolves ties.", "diagnostic": true, "feature_group": "team_control", "fixed_stake": 1000.0, "kelly_fraction": 0.25, "max_bet_fraction": 0.02, "max_odds": null, "min_edge": 0.05, "min_odds": null, "model_key": "pm_hist_boost_team_control", "model_label": "Matched team control | Histogram gradient boosting", "model_type": "hist_boost", "name": "Matched team control | Histogram gradient boosting | reference | quarter Kelly capped at 2% of date-start cash per bet", "odds_mode": "reference", "origin": "new_player_model_study", "policy_family": "frozen 5% player-study diagnostic", "selection_rule": "max_edge", "staking": "kelly", "strategy_id": "P008", "study_status": "exploratory_previously_inspected_history_not_new_holdout_or_selected_live_betting_policy"}</a:t>
            </a:r>
          </a:p>
          <a:p/>
          <a:p>
            <a:r>
              <a:t>P009: Player form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Logistic regression; choose the allowed H/D/A outcome with maximum p × odds − 1 at the best archived individual-book quote. Trade only for edge strictly greater than 5%; request flat 1,000. H/D/A order resolves ties.", "diagnostic": true, "feature_group": "player_form", "fixed_stake": 1000.0, "kelly_fraction": 0.25, "max_bet_fraction": 0.02, "max_odds": null, "min_edge": 0.05, "min_odds": null, "model_key": "pm_logistic_player_form", "model_label": "Player form only | Logistic regression", "model_type": "logistic", "name": "Player form only | Logistic regression | best | flat 1,000", "odds_mode": "best", "origin": "new_player_model_study", "policy_family": "frozen 5% player-study diagnostic", "selection_rule": "max_edge", "staking": "fixed", "strategy_id": "P009", "study_status": "exploratory_previously_inspected_history_not_new_holdout_or_selected_live_betting_policy"}</a:t>
            </a:r>
          </a:p>
          <a:p/>
          <a:p>
            <a:r>
              <a:t>P010: Player form (logistic)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Logistic regression; choose the allowed H/D/A outcome with maximum p × odds − 1 at the best archived individual-book quote. Trade only for edge strictly greater than 5%; request quarter Kelly capped at 2% of date-start cash per bet. H/D/A order resolves ties.", "diagnostic": true, "feature_group": "player_form", "fixed_stake": 1000.0, "kelly_fraction": 0.25, "max_bet_fraction": 0.02, "max_odds": null, "min_edge": 0.05, "min_odds": null, "model_key": "pm_logistic_player_form", "model_label": "Player form only | Logistic regression", "model_type": "logistic", "name": "Player form only | Logistic regression | best | quarter Kelly capped at 2% of date-start cash per bet", "odds_mode": "best", "origin": "new_player_model_study", "policy_family": "frozen 5% player-study diagnostic", "selection_rule": "max_edge", "staking": "kelly", "strategy_id": "P010", "study_status": "exploratory_previously_inspected_history_not_new_holdout_or_selected_live_betting_policy"}</a:t>
            </a:r>
          </a:p>
          <a:p/>
          <a:p>
            <a:r>
              <a:t>P011: Player form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Logistic regression; choose the allowed H/D/A outcome with maximum p × odds − 1 at the archived Bet365 reference quote. Trade only for edge strictly greater than 5%; request flat 1,000. H/D/A order resolves ties.", "diagnostic": true, "feature_group": "player_form", "fixed_stake": 1000.0, "kelly_fraction": 0.25, "max_bet_fraction": 0.02, "max_odds": null, "min_edge": 0.05, "min_odds": null, "model_key": "pm_logistic_player_form", "model_label": "Player form only | Logistic regression", "model_type": "logistic", "name": "Player form only | Logistic regression | reference | flat 1,000", "odds_mode": "reference", "origin": "new_player_model_study", "policy_family": "frozen 5% player-study diagnostic", "selection_rule": "max_edge", "staking": "fixed", "strategy_id": "P011", "study_status": "exploratory_previously_inspected_history_not_new_holdout_or_selected_live_betting_policy"}</a:t>
            </a:r>
          </a:p>
          <a:p/>
          <a:p>
            <a:r>
              <a:t>P012: Player form (logistic)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Logistic regression; choose the allowed H/D/A outcome with maximum p × odds − 1 at the archived Bet365 reference quote. Trade only for edge strictly greater than 5%; request quarter Kelly capped at 2% of date-start cash per bet. H/D/A order resolves ties.", "diagnostic": true, "feature_group": "player_form", "fixed_stake": 1000.0, "kelly_fraction": 0.25, "max_bet_fraction": 0.02, "max_odds": null, "min_edge": 0.05, "min_odds": null, "model_key": "pm_logistic_player_form", "model_label": "Player form only | Logistic regression", "model_type": "logistic", "name": "Player form only | Logistic regression | reference | quarter Kelly capped at 2% of date-start cash per bet", "odds_mode": "reference", "origin": "new_player_model_study", "policy_family": "frozen 5% player-study diagnostic", "selection_rule": "max_edge", "staking": "kelly", "strategy_id": "P012", "study_status": "exploratory_previously_inspected_history_not_new_holdout_or_selected_live_betting_policy"}</a:t>
            </a:r>
          </a:p>
          <a:p/>
          <a:p>
            <a:r>
              <a:t>P013: Player form (boosted trees)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Histogram gradient boosting; choose the allowed H/D/A outcome with maximum p × odds − 1 at the best archived individual-book quote. Trade only for edge strictly greater than 5%; request flat 1,000. H/D/A order resolves ties.", "diagnostic": true, "feature_group": "player_form", "fixed_stake": 1000.0, "kelly_fraction": 0.25, "max_bet_fraction": 0.02, "max_odds": null, "min_edge": 0.05, "min_odds": null, "model_key": "pm_hist_boost_player_form", "model_label": "Player form only | Histogram gradient boosting", "model_type": "hist_boost", "name": "Player form only | Histogram gradient boosting | best | flat 1,000", "odds_mode": "best", "origin": "new_player_model_study", "policy_family": "frozen 5% player-study diagnostic", "selection_rule": "max_edge", "staking": "fixed", "strategy_id": "P013", "study_status": "exploratory_previously_inspected_history_not_new_holdout_or_selected_live_betting_policy"}</a:t>
            </a:r>
          </a:p>
          <a:p/>
          <a:p>
            <a:r>
              <a:t>P014: Player form (boosted trees)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Histogram gradient boosting; choose the allowed H/D/A outcome with maximum p × odds − 1 at the best archived individual-book quote. Trade only for edge strictly greater than 5%; request quarter Kelly capped at 2% of date-start cash per bet. H/D/A order resolves ties.", "diagnostic": true, "feature_group": "player_form", "fixed_stake": 1000.0, "kelly_fraction": 0.25, "max_bet_fraction": 0.02, "max_odds": null, "min_edge": 0.05, "min_odds": null, "model_key": "pm_hist_boost_player_form", "model_label": "Player form only | Histogram gradient boosting", "model_type": "hist_boost", "name": "Player form only | Histogram gradient boosting | best | quarter Kelly capped at 2% of date-start cash per bet", "odds_mode": "best", "origin": "new_player_model_study", "policy_family": "frozen 5% player-study diagnostic", "selection_rule": "max_edge", "staking": "kelly", "strategy_id": "P014", "study_status": "exploratory_previously_inspected_history_not_new_holdout_or_selected_live_betting_policy"}</a:t>
            </a:r>
          </a:p>
          <a:p/>
          <a:p>
            <a:r>
              <a:t>P015: Player form (boosted trees)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Histogram gradient boosting; choose the allowed H/D/A outcome with maximum p × odds − 1 at the archived Bet365 reference quote. Trade only for edge strictly greater than 5%; request flat 1,000. H/D/A order resolves ties.", "diagnostic": true, "feature_group": "player_form", "fixed_stake": 1000.0, "kelly_fraction": 0.25, "max_bet_fraction": 0.02, "max_odds": null, "min_edge": 0.05, "min_odds": null, "model_key": "pm_hist_boost_player_form", "model_label": "Player form only | Histogram gradient boosting", "model_type": "hist_boost", "name": "Player form only | Histogram gradient boosting | reference | flat 1,000", "odds_mode": "reference", "origin": "new_player_model_study", "policy_family": "frozen 5% player-study diagnostic", "selection_rule": "max_edge", "staking": "fixed", "strategy_id": "P015", "study_status": "exploratory_previously_inspected_history_not_new_holdout_or_selected_live_betting_policy"}</a:t>
            </a:r>
          </a:p>
          <a:p/>
          <a:p>
            <a:r>
              <a:t>P016: Player form (boosted trees)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Histogram gradient boosting; choose the allowed H/D/A outcome with maximum p × odds − 1 at the archived Bet365 reference quote. Trade only for edge strictly greater than 5%; request quarter Kelly capped at 2% of date-start cash per bet. H/D/A order resolves ties.", "diagnostic": true, "feature_group": "player_form", "fixed_stake": 1000.0, "kelly_fraction": 0.25, "max_bet_fraction": 0.02, "max_odds": null, "min_edge": 0.05, "min_odds": null, "model_key": "pm_hist_boost_player_form", "model_label": "Player form only | Histogram gradient boosting", "model_type": "hist_boost", "name": "Player form only | Histogram gradient boosting | reference | quarter Kelly capped at 2% of date-start cash per bet", "odds_mode": "reference", "origin": "new_player_model_study", "policy_family": "frozen 5% player-study diagnostic", "selection_rule": "max_edge", "staking": "kelly", "strategy_id": "P016", "study_status": "exploratory_previously_inspected_history_not_new_holdout_or_selected_live_betting_policy"}</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P017: Player form + estimated XI/depth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Logistic regression; choose the allowed H/D/A outcome with maximum p × odds − 1 at the best archived individual-book quote. Trade only for edge strictly greater than 5%; request flat 1,000. H/D/A order resolves ties.", "diagnostic": true, "feature_group": "player_squad", "fixed_stake": 1000.0, "kelly_fraction": 0.25, "max_bet_fraction": 0.02, "max_odds": null, "min_edge": 0.05, "min_odds": null, "model_key": "pm_logistic_player_squad", "model_label": "Player form + projected XI + depth | Logistic regression", "model_type": "logistic", "name": "Player form + projected XI + depth | Logistic regression | best | flat 1,000", "odds_mode": "best", "origin": "new_player_model_study", "policy_family": "frozen 5% player-study diagnostic", "selection_rule": "max_edge", "staking": "fixed", "strategy_id": "P017", "study_status": "exploratory_previously_inspected_history_not_new_holdout_or_selected_live_betting_policy"}</a:t>
            </a:r>
          </a:p>
          <a:p/>
          <a:p>
            <a:r>
              <a:t>P018: Player form + estimated XI/depth (logistic)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Logistic regression; choose the allowed H/D/A outcome with maximum p × odds − 1 at the best archived individual-book quote. Trade only for edge strictly greater than 5%; request quarter Kelly capped at 2% of date-start cash per bet. H/D/A order resolves ties.", "diagnostic": true, "feature_group": "player_squad", "fixed_stake": 1000.0, "kelly_fraction": 0.25, "max_bet_fraction": 0.02, "max_odds": null, "min_edge": 0.05, "min_odds": null, "model_key": "pm_logistic_player_squad", "model_label": "Player form + projected XI + depth | Logistic regression", "model_type": "logistic", "name": "Player form + projected XI + depth | Logistic regression | best | quarter Kelly capped at 2% of date-start cash per bet", "odds_mode": "best", "origin": "new_player_model_study", "policy_family": "frozen 5% player-study diagnostic", "selection_rule": "max_edge", "staking": "kelly", "strategy_id": "P018", "study_status": "exploratory_previously_inspected_history_not_new_holdout_or_selected_live_betting_policy"}</a:t>
            </a:r>
          </a:p>
          <a:p/>
          <a:p>
            <a:r>
              <a:t>P019: Player form + estimated XI/depth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Logistic regression; choose the allowed H/D/A outcome with maximum p × odds − 1 at the archived Bet365 reference quote. Trade only for edge strictly greater than 5%; request flat 1,000. H/D/A order resolves ties.", "diagnostic": true, "feature_group": "player_squad", "fixed_stake": 1000.0, "kelly_fraction": 0.25, "max_bet_fraction": 0.02, "max_odds": null, "min_edge": 0.05, "min_odds": null, "model_key": "pm_logistic_player_squad", "model_label": "Player form + projected XI + depth | Logistic regression", "model_type": "logistic", "name": "Player form + projected XI + depth | Logistic regression | reference | flat 1,000", "odds_mode": "reference", "origin": "new_player_model_study", "policy_family": "frozen 5% player-study diagnostic", "selection_rule": "max_edge", "staking": "fixed", "strategy_id": "P019", "study_status": "exploratory_previously_inspected_history_not_new_holdout_or_selected_live_betting_policy"}</a:t>
            </a:r>
          </a:p>
          <a:p/>
          <a:p>
            <a:r>
              <a:t>P020: Player form + estimated XI/depth (logistic)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Logistic regression; choose the allowed H/D/A outcome with maximum p × odds − 1 at the archived Bet365 reference quote. Trade only for edge strictly greater than 5%; request quarter Kelly capped at 2% of date-start cash per bet. H/D/A order resolves ties.", "diagnostic": true, "feature_group": "player_squad", "fixed_stake": 1000.0, "kelly_fraction": 0.25, "max_bet_fraction": 0.02, "max_odds": null, "min_edge": 0.05, "min_odds": null, "model_key": "pm_logistic_player_squad", "model_label": "Player form + projected XI + depth | Logistic regression", "model_type": "logistic", "name": "Player form + projected XI + depth | Logistic regression | reference | quarter Kelly capped at 2% of date-start cash per bet", "odds_mode": "reference", "origin": "new_player_model_study", "policy_family": "frozen 5% player-study diagnostic", "selection_rule": "max_edge", "staking": "kelly", "strategy_id": "P020", "study_status": "exploratory_previously_inspected_history_not_new_holdout_or_selected_live_betting_policy"}</a:t>
            </a:r>
          </a:p>
          <a:p/>
          <a:p>
            <a:r>
              <a:t>P021: Player form + estimated XI/depth (trees)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Histogram gradient boosting; choose the allowed H/D/A outcome with maximum p × odds − 1 at the best archived individual-book quote. Trade only for edge strictly greater than 5%; request flat 1,000. H/D/A order resolves ties.", "diagnostic": true, "feature_group": "player_squad", "fixed_stake": 1000.0, "kelly_fraction": 0.25, "max_bet_fraction": 0.02, "max_odds": null, "min_edge": 0.05, "min_odds": null, "model_key": "pm_hist_boost_player_squad", "model_label": "Player form + projected XI + depth | Histogram gradient boosting", "model_type": "hist_boost", "name": "Player form + projected XI + depth | Histogram gradient boosting | best | flat 1,000", "odds_mode": "best", "origin": "new_player_model_study", "policy_family": "frozen 5% player-study diagnostic", "selection_rule": "max_edge", "staking": "fixed", "strategy_id": "P021", "study_status": "exploratory_previously_inspected_history_not_new_holdout_or_selected_live_betting_policy"}</a:t>
            </a:r>
          </a:p>
          <a:p/>
          <a:p>
            <a:r>
              <a:t>P022: Player form + estimated XI/depth (trees)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Histogram gradient boosting; choose the allowed H/D/A outcome with maximum p × odds − 1 at the best archived individual-book quote. Trade only for edge strictly greater than 5%; request quarter Kelly capped at 2% of date-start cash per bet. H/D/A order resolves ties.", "diagnostic": true, "feature_group": "player_squad", "fixed_stake": 1000.0, "kelly_fraction": 0.25, "max_bet_fraction": 0.02, "max_odds": null, "min_edge": 0.05, "min_odds": null, "model_key": "pm_hist_boost_player_squad", "model_label": "Player form + projected XI + depth | Histogram gradient boosting", "model_type": "hist_boost", "name": "Player form + projected XI + depth | Histogram gradient boosting | best | quarter Kelly capped at 2% of date-start cash per bet", "odds_mode": "best", "origin": "new_player_model_study", "policy_family": "frozen 5% player-study diagnostic", "selection_rule": "max_edge", "staking": "kelly", "strategy_id": "P022", "study_status": "exploratory_previously_inspected_history_not_new_holdout_or_selected_live_betting_policy"}</a:t>
            </a:r>
          </a:p>
          <a:p/>
          <a:p>
            <a:r>
              <a:t>P023: Player form + estimated XI/depth (trees)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Histogram gradient boosting; choose the allowed H/D/A outcome with maximum p × odds − 1 at the archived Bet365 reference quote. Trade only for edge strictly greater than 5%; request flat 1,000. H/D/A order resolves ties.", "diagnostic": true, "feature_group": "player_squad", "fixed_stake": 1000.0, "kelly_fraction": 0.25, "max_bet_fraction": 0.02, "max_odds": null, "min_edge": 0.05, "min_odds": null, "model_key": "pm_hist_boost_player_squad", "model_label": "Player form + projected XI + depth | Histogram gradient boosting", "model_type": "hist_boost", "name": "Player form + projected XI + depth | Histogram gradient boosting | reference | flat 1,000", "odds_mode": "reference", "origin": "new_player_model_study", "policy_family": "frozen 5% player-study diagnostic", "selection_rule": "max_edge", "staking": "fixed", "strategy_id": "P023", "study_status": "exploratory_previously_inspected_history_not_new_holdout_or_selected_live_betting_policy"}</a:t>
            </a:r>
          </a:p>
          <a:p/>
          <a:p>
            <a:r>
              <a:t>P024: Player form + estimated XI/depth (trees)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Histogram gradient boosting; choose the allowed H/D/A outcome with maximum p × odds − 1 at the archived Bet365 reference quote. Trade only for edge strictly greater than 5%; request quarter Kelly capped at 2% of date-start cash per bet. H/D/A order resolves ties.", "diagnostic": true, "feature_group": "player_squad", "fixed_stake": 1000.0, "kelly_fraction": 0.25, "max_bet_fraction": 0.02, "max_odds": null, "min_edge": 0.05, "min_odds": null, "model_key": "pm_hist_boost_player_squad", "model_label": "Player form + projected XI + depth | Histogram gradient boosting", "model_type": "hist_boost", "name": "Player form + projected XI + depth | Histogram gradient boosting | reference | quarter Kelly capped at 2% of date-start cash per bet", "odds_mode": "reference", "origin": "new_player_model_study", "policy_family": "frozen 5% player-study diagnostic", "selection_rule": "max_edge", "staking": "kelly", "strategy_id": "P024", "study_status": "exploratory_previously_inspected_history_not_new_holdout_or_selected_live_betting_policy"}</a:t>
            </a:r>
          </a:p>
          <a:p/>
          <a:p>
            <a:r>
              <a:t>P025: Team + player form/XI/depth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Logistic regression; choose the allowed H/D/A outcome with maximum p × odds − 1 at the best archived individual-book quote. Trade only for edge strictly greater than 5%; request flat 1,000. H/D/A order resolves ties.", "diagnostic": true, "feature_group": "team_player_squad", "fixed_stake": 1000.0, "kelly_fraction": 0.25, "max_bet_fraction": 0.02, "max_odds": null, "min_edge": 0.05, "min_odds": null, "model_key": "pm_logistic_team_player_squad", "model_label": "Team + full player block | Logistic regression", "model_type": "logistic", "name": "Team + full player block | Logistic regression | best | flat 1,000", "odds_mode": "best", "origin": "new_player_model_study", "policy_family": "frozen 5% player-study diagnostic", "selection_rule": "max_edge", "staking": "fixed", "strategy_id": "P025", "study_status": "exploratory_previously_inspected_history_not_new_holdout_or_selected_live_betting_policy"}</a:t>
            </a:r>
          </a:p>
          <a:p/>
          <a:p>
            <a:r>
              <a:t>P026: Team + player form/XI/depth (logistic)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Logistic regression; choose the allowed H/D/A outcome with maximum p × odds − 1 at the best archived individual-book quote. Trade only for edge strictly greater than 5%; request quarter Kelly capped at 2% of date-start cash per bet. H/D/A order resolves ties.", "diagnostic": true, "feature_group": "team_player_squad", "fixed_stake": 1000.0, "kelly_fraction": 0.25, "max_bet_fraction": 0.02, "max_odds": null, "min_edge": 0.05, "min_odds": null, "model_key": "pm_logistic_team_player_squad", "model_label": "Team + full player block | Logistic regression", "model_type": "logistic", "name": "Team + full player block | Logistic regression | best | quarter Kelly capped at 2% of date-start cash per bet", "odds_mode": "best", "origin": "new_player_model_study", "policy_family": "frozen 5% player-study diagnostic", "selection_rule": "max_edge", "staking": "kelly", "strategy_id": "P026", "study_status": "exploratory_previously_inspected_history_not_new_holdout_or_selected_live_betting_policy"}</a:t>
            </a:r>
          </a:p>
          <a:p/>
          <a:p>
            <a:r>
              <a:t>P027: Team + player form/XI/depth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Logistic regression; choose the allowed H/D/A outcome with maximum p × odds − 1 at the archived Bet365 reference quote. Trade only for edge strictly greater than 5%; request flat 1,000. H/D/A order resolves ties.", "diagnostic": true, "feature_group": "team_player_squad", "fixed_stake": 1000.0, "kelly_fraction": 0.25, "max_bet_fraction": 0.02, "max_odds": null, "min_edge": 0.05, "min_odds": null, "model_key": "pm_logistic_team_player_squad", "model_label": "Team + full player block | Logistic regression", "model_type": "logistic", "name": "Team + full player block | Logistic regression | reference | flat 1,000", "odds_mode": "reference", "origin": "new_player_model_study", "policy_family": "frozen 5% player-study diagnostic", "selection_rule": "max_edge", "staking": "fixed", "strategy_id": "P027", "study_status": "exploratory_previously_inspected_history_not_new_holdout_or_selected_live_betting_policy"}</a:t>
            </a:r>
          </a:p>
          <a:p/>
          <a:p>
            <a:r>
              <a:t>P028: Team + player form/XI/depth (logistic)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Logistic regression; choose the allowed H/D/A outcome with maximum p × odds − 1 at the archived Bet365 reference quote. Trade only for edge strictly greater than 5%; request quarter Kelly capped at 2% of date-start cash per bet. H/D/A order resolves ties.", "diagnostic": true, "feature_group": "team_player_squad", "fixed_stake": 1000.0, "kelly_fraction": 0.25, "max_bet_fraction": 0.02, "max_odds": null, "min_edge": 0.05, "min_odds": null, "model_key": "pm_logistic_team_player_squad", "model_label": "Team + full player block | Logistic regression", "model_type": "logistic", "name": "Team + full player block | Logistic regression | reference | quarter Kelly capped at 2% of date-start cash per bet", "odds_mode": "reference", "origin": "new_player_model_study", "policy_family": "frozen 5% player-study diagnostic", "selection_rule": "max_edge", "staking": "kelly", "strategy_id": "P028", "study_status": "exploratory_previously_inspected_history_not_new_holdout_or_selected_live_betting_policy"}</a:t>
            </a:r>
          </a:p>
          <a:p/>
          <a:p>
            <a:r>
              <a:t>P029: Team + player form/XI/depth (trees)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Histogram gradient boosting; choose the allowed H/D/A outcome with maximum p × odds − 1 at the best archived individual-book quote. Trade only for edge strictly greater than 5%; request flat 1,000. H/D/A order resolves ties.", "diagnostic": true, "feature_group": "team_player_squad", "fixed_stake": 1000.0, "kelly_fraction": 0.25, "max_bet_fraction": 0.02, "max_odds": null, "min_edge": 0.05, "min_odds": null, "model_key": "pm_hist_boost_team_player_squad", "model_label": "Team + full player block | Histogram gradient boosting", "model_type": "hist_boost", "name": "Team + full player block | Histogram gradient boosting | best | flat 1,000", "odds_mode": "best", "origin": "new_player_model_study", "policy_family": "frozen 5% player-study diagnostic", "selection_rule": "max_edge", "staking": "fixed", "strategy_id": "P029", "study_status": "exploratory_previously_inspected_history_not_new_holdout_or_selected_live_betting_policy"}</a:t>
            </a:r>
          </a:p>
          <a:p/>
          <a:p>
            <a:r>
              <a:t>P030: Team + player form/XI/depth (trees)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Histogram gradient boosting; choose the allowed H/D/A outcome with maximum p × odds − 1 at the best archived individual-book quote. Trade only for edge strictly greater than 5%; request quarter Kelly capped at 2% of date-start cash per bet. H/D/A order resolves ties.", "diagnostic": true, "feature_group": "team_player_squad", "fixed_stake": 1000.0, "kelly_fraction": 0.25, "max_bet_fraction": 0.02, "max_odds": null, "min_edge": 0.05, "min_odds": null, "model_key": "pm_hist_boost_team_player_squad", "model_label": "Team + full player block | Histogram gradient boosting", "model_type": "hist_boost", "name": "Team + full player block | Histogram gradient boosting | best | quarter Kelly capped at 2% of date-start cash per bet", "odds_mode": "best", "origin": "new_player_model_study", "policy_family": "frozen 5% player-study diagnostic", "selection_rule": "max_edge", "staking": "kelly", "strategy_id": "P030", "study_status": "exploratory_previously_inspected_history_not_new_holdout_or_selected_live_betting_policy"}</a:t>
            </a:r>
          </a:p>
          <a:p/>
          <a:p>
            <a:r>
              <a:t>P031: Team + player form/XI/depth (trees)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Histogram gradient boosting; choose the allowed H/D/A outcome with maximum p × odds − 1 at the archived Bet365 reference quote. Trade only for edge strictly greater than 5%; request flat 1,000. H/D/A order resolves ties.", "diagnostic": true, "feature_group": "team_player_squad", "fixed_stake": 1000.0, "kelly_fraction": 0.25, "max_bet_fraction": 0.02, "max_odds": null, "min_edge": 0.05, "min_odds": null, "model_key": "pm_hist_boost_team_player_squad", "model_label": "Team + full player block | Histogram gradient boosting", "model_type": "hist_boost", "name": "Team + full player block | Histogram gradient boosting | reference | flat 1,000", "odds_mode": "reference", "origin": "new_player_model_study", "policy_family": "frozen 5% player-study diagnostic", "selection_rule": "max_edge", "staking": "fixed", "strategy_id": "P031", "study_status": "exploratory_previously_inspected_history_not_new_holdout_or_selected_live_betting_policy"}</a:t>
            </a:r>
          </a:p>
          <a:p/>
          <a:p>
            <a:r>
              <a:t>P032: Team + player form/XI/depth (trees)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Histogram gradient boosting; choose the allowed H/D/A outcome with maximum p × odds − 1 at the archived Bet365 reference quote. Trade only for edge strictly greater than 5%; request quarter Kelly capped at 2% of date-start cash per bet. H/D/A order resolves ties.", "diagnostic": true, "feature_group": "team_player_squad", "fixed_stake": 1000.0, "kelly_fraction": 0.25, "max_bet_fraction": 0.02, "max_odds": null, "min_edge": 0.05, "min_odds": null, "model_key": "pm_hist_boost_team_player_squad", "model_label": "Team + full player block | Histogram gradient boosting", "model_type": "hist_boost", "name": "Team + full player block | Histogram gradient boosting | reference | quarter Kelly capped at 2% of date-start cash per bet", "odds_mode": "reference", "origin": "new_player_model_study", "policy_family": "frozen 5% player-study diagnostic", "selection_rule": "max_edge", "staking": "kelly", "strategy_id": "P032", "study_status": "exploratory_previously_inspected_history_not_new_holdout_or_selected_live_betting_policy"}</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1-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STATISTICAL ARBITRAGE | FINAL REPORT AND PRESENTATION</a:t>
            </a:r>
          </a:p>
        </p:txBody>
      </p:sp>
      <p:sp>
        <p:nvSpPr>
          <p:cNvPr id="3" name="slide001-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Machine learning for sports betting</a:t>
            </a:r>
          </a:p>
        </p:txBody>
      </p:sp>
      <p:sp>
        <p:nvSpPr>
          <p:cNvPr id="4" name="slide001-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NBA and English Premier League: accuracy, calibration and archived-price returns.</a:t>
            </a:r>
          </a:p>
        </p:txBody>
      </p:sp>
      <p:sp>
        <p:nvSpPr>
          <p:cNvPr id="5" name="slide001-element000-text"/>
          <p:cNvSpPr txBox="1"/>
          <p:nvPr/>
        </p:nvSpPr>
        <p:spPr>
          <a:xfrm>
            <a:off x="594360" y="1965960"/>
            <a:ext cx="13414248" cy="685800"/>
          </a:xfrm>
          <a:prstGeom prst="rect">
            <a:avLst/>
          </a:prstGeom>
          <a:noFill/>
        </p:spPr>
        <p:txBody>
          <a:bodyPr wrap="square" lIns="0" rIns="0" tIns="0" bIns="0" anchor="t">
            <a:noAutofit/>
          </a:bodyPr>
          <a:lstStyle/>
          <a:p>
            <a:pPr algn="ctr">
              <a:lnSpc>
                <a:spcPct val="100000"/>
              </a:lnSpc>
              <a:spcBef>
                <a:spcPts val="0"/>
              </a:spcBef>
              <a:spcAft>
                <a:spcPts val="0"/>
              </a:spcAft>
            </a:pPr>
            <a:r>
              <a:rPr sz="3200" b="1">
                <a:solidFill>
                  <a:srgbClr val="11243A"/>
                </a:solidFill>
                <a:latin typeface="Arial"/>
              </a:rPr>
              <a:t>Aman Dhillon  •  Panagiotis Housos</a:t>
            </a:r>
          </a:p>
        </p:txBody>
      </p:sp>
      <p:sp>
        <p:nvSpPr>
          <p:cNvPr id="6" name="slide001-element001-text"/>
          <p:cNvSpPr txBox="1"/>
          <p:nvPr/>
        </p:nvSpPr>
        <p:spPr>
          <a:xfrm>
            <a:off x="594360" y="2926080"/>
            <a:ext cx="13414248" cy="594360"/>
          </a:xfrm>
          <a:prstGeom prst="rect">
            <a:avLst/>
          </a:prstGeom>
          <a:noFill/>
        </p:spPr>
        <p:txBody>
          <a:bodyPr wrap="square" lIns="0" rIns="0" tIns="0" bIns="0" anchor="t">
            <a:noAutofit/>
          </a:bodyPr>
          <a:lstStyle/>
          <a:p>
            <a:pPr algn="ctr">
              <a:lnSpc>
                <a:spcPct val="100000"/>
              </a:lnSpc>
              <a:spcBef>
                <a:spcPts val="0"/>
              </a:spcBef>
              <a:spcAft>
                <a:spcPts val="0"/>
              </a:spcAft>
            </a:pPr>
            <a:r>
              <a:rPr sz="2600" b="0">
                <a:solidFill>
                  <a:srgbClr val="11243A"/>
                </a:solidFill>
                <a:latin typeface="Arial"/>
              </a:rPr>
              <a:t>Supervisor: Daniel Totouom-Tangho</a:t>
            </a:r>
          </a:p>
        </p:txBody>
      </p:sp>
      <p:sp>
        <p:nvSpPr>
          <p:cNvPr id="7" name="slide001-element002-text"/>
          <p:cNvSpPr txBox="1"/>
          <p:nvPr/>
        </p:nvSpPr>
        <p:spPr>
          <a:xfrm>
            <a:off x="594360" y="4005072"/>
            <a:ext cx="13414248" cy="502920"/>
          </a:xfrm>
          <a:prstGeom prst="rect">
            <a:avLst/>
          </a:prstGeom>
          <a:noFill/>
        </p:spPr>
        <p:txBody>
          <a:bodyPr wrap="square" lIns="0" rIns="0" tIns="0" bIns="0" anchor="t">
            <a:noAutofit/>
          </a:bodyPr>
          <a:lstStyle/>
          <a:p>
            <a:pPr algn="ctr">
              <a:lnSpc>
                <a:spcPct val="100000"/>
              </a:lnSpc>
              <a:spcBef>
                <a:spcPts val="0"/>
              </a:spcBef>
              <a:spcAft>
                <a:spcPts val="0"/>
              </a:spcAft>
            </a:pPr>
            <a:r>
              <a:rPr sz="2200" b="0">
                <a:solidFill>
                  <a:srgbClr val="536578"/>
                </a:solidFill>
                <a:latin typeface="Arial"/>
              </a:rPr>
              <a:t>Statistical Arbitrage  |  Final project  |  23 October 2026</a:t>
            </a:r>
          </a:p>
        </p:txBody>
      </p:sp>
      <p:sp>
        <p:nvSpPr>
          <p:cNvPr id="8" name="slide001-element003-card-background"/>
          <p:cNvSpPr/>
          <p:nvPr/>
        </p:nvSpPr>
        <p:spPr>
          <a:xfrm>
            <a:off x="594360" y="5577840"/>
            <a:ext cx="425196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lide001-element003-card-accent"/>
          <p:cNvSpPr/>
          <p:nvPr/>
        </p:nvSpPr>
        <p:spPr>
          <a:xfrm>
            <a:off x="594360" y="5577840"/>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01-element003-card-label"/>
          <p:cNvSpPr txBox="1"/>
          <p:nvPr/>
        </p:nvSpPr>
        <p:spPr>
          <a:xfrm>
            <a:off x="749808" y="5687568"/>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PART 1</a:t>
            </a:r>
          </a:p>
        </p:txBody>
      </p:sp>
      <p:sp>
        <p:nvSpPr>
          <p:cNvPr id="11" name="slide001-element003-card-value"/>
          <p:cNvSpPr txBox="1"/>
          <p:nvPr/>
        </p:nvSpPr>
        <p:spPr>
          <a:xfrm>
            <a:off x="749808" y="5943600"/>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Methodology</a:t>
            </a:r>
          </a:p>
        </p:txBody>
      </p:sp>
      <p:sp>
        <p:nvSpPr>
          <p:cNvPr id="12" name="slide001-element003-card-detail"/>
          <p:cNvSpPr txBox="1"/>
          <p:nvPr/>
        </p:nvSpPr>
        <p:spPr>
          <a:xfrm>
            <a:off x="749808" y="6473952"/>
            <a:ext cx="394106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The shared prediction-to-betting framework</a:t>
            </a:r>
          </a:p>
        </p:txBody>
      </p:sp>
      <p:sp>
        <p:nvSpPr>
          <p:cNvPr id="13" name="slide001-element004-card-background"/>
          <p:cNvSpPr/>
          <p:nvPr/>
        </p:nvSpPr>
        <p:spPr>
          <a:xfrm>
            <a:off x="5175504" y="5577840"/>
            <a:ext cx="425196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01-element004-card-accent"/>
          <p:cNvSpPr/>
          <p:nvPr/>
        </p:nvSpPr>
        <p:spPr>
          <a:xfrm>
            <a:off x="5175504" y="5577840"/>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ide001-element004-card-label"/>
          <p:cNvSpPr txBox="1"/>
          <p:nvPr/>
        </p:nvSpPr>
        <p:spPr>
          <a:xfrm>
            <a:off x="5330952" y="5687568"/>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PART 2</a:t>
            </a:r>
          </a:p>
        </p:txBody>
      </p:sp>
      <p:sp>
        <p:nvSpPr>
          <p:cNvPr id="16" name="slide001-element004-card-value"/>
          <p:cNvSpPr txBox="1"/>
          <p:nvPr/>
        </p:nvSpPr>
        <p:spPr>
          <a:xfrm>
            <a:off x="5330952" y="5943600"/>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NBA results</a:t>
            </a:r>
          </a:p>
        </p:txBody>
      </p:sp>
      <p:sp>
        <p:nvSpPr>
          <p:cNvPr id="17" name="slide001-element004-card-detail"/>
          <p:cNvSpPr txBox="1"/>
          <p:nvPr/>
        </p:nvSpPr>
        <p:spPr>
          <a:xfrm>
            <a:off x="5330952" y="6473952"/>
            <a:ext cx="394106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Aman Dhillon</a:t>
            </a:r>
          </a:p>
        </p:txBody>
      </p:sp>
      <p:sp>
        <p:nvSpPr>
          <p:cNvPr id="18" name="slide001-element005-card-background"/>
          <p:cNvSpPr/>
          <p:nvPr/>
        </p:nvSpPr>
        <p:spPr>
          <a:xfrm>
            <a:off x="9756648" y="5577840"/>
            <a:ext cx="425196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ide001-element005-card-accent"/>
          <p:cNvSpPr/>
          <p:nvPr/>
        </p:nvSpPr>
        <p:spPr>
          <a:xfrm>
            <a:off x="9756648" y="5577840"/>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01-element005-card-label"/>
          <p:cNvSpPr txBox="1"/>
          <p:nvPr/>
        </p:nvSpPr>
        <p:spPr>
          <a:xfrm>
            <a:off x="9912096" y="5687568"/>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PART 3</a:t>
            </a:r>
          </a:p>
        </p:txBody>
      </p:sp>
      <p:sp>
        <p:nvSpPr>
          <p:cNvPr id="21" name="slide001-element005-card-value"/>
          <p:cNvSpPr txBox="1"/>
          <p:nvPr/>
        </p:nvSpPr>
        <p:spPr>
          <a:xfrm>
            <a:off x="9912096" y="5943600"/>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Premier League</a:t>
            </a:r>
          </a:p>
        </p:txBody>
      </p:sp>
      <p:sp>
        <p:nvSpPr>
          <p:cNvPr id="22" name="slide001-element005-card-detail"/>
          <p:cNvSpPr txBox="1"/>
          <p:nvPr/>
        </p:nvSpPr>
        <p:spPr>
          <a:xfrm>
            <a:off x="9912096" y="6473952"/>
            <a:ext cx="394106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Panagiotis Housos</a:t>
            </a:r>
          </a:p>
        </p:txBody>
      </p:sp>
      <p:cxnSp>
        <p:nvCxnSpPr>
          <p:cNvPr id="23" name="slide001-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24" name="slide001-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ML_Sports_Betting_Project_Proposal.pdf | Full paths in notes</a:t>
            </a:r>
          </a:p>
        </p:txBody>
      </p:sp>
      <p:sp>
        <p:nvSpPr>
          <p:cNvPr id="25" name="slide001-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2-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COMMON METHODOLOGY | NBA AND PREMIER LEAGUE</a:t>
            </a:r>
          </a:p>
        </p:txBody>
      </p:sp>
      <p:sp>
        <p:nvSpPr>
          <p:cNvPr id="3" name="slide002-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Common methodology: from past games to bets</a:t>
            </a:r>
          </a:p>
        </p:txBody>
      </p:sp>
      <p:sp>
        <p:nvSpPr>
          <p:cNvPr id="4" name="slide002-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The proposal compares calibration-based and accuracy-based model selection. Implementation differs where the sports require it.</a:t>
            </a:r>
          </a:p>
        </p:txBody>
      </p:sp>
      <p:sp>
        <p:nvSpPr>
          <p:cNvPr id="5" name="slide002-element000-rect"/>
          <p:cNvSpPr/>
          <p:nvPr/>
        </p:nvSpPr>
        <p:spPr>
          <a:xfrm>
            <a:off x="594360" y="1965960"/>
            <a:ext cx="3154680" cy="29718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02-element001-text"/>
          <p:cNvSpPr txBox="1"/>
          <p:nvPr/>
        </p:nvSpPr>
        <p:spPr>
          <a:xfrm>
            <a:off x="758952" y="2267712"/>
            <a:ext cx="2816352" cy="429768"/>
          </a:xfrm>
          <a:prstGeom prst="rect">
            <a:avLst/>
          </a:prstGeom>
          <a:noFill/>
        </p:spPr>
        <p:txBody>
          <a:bodyPr wrap="square" lIns="0" rIns="0" tIns="0" bIns="0" anchor="t">
            <a:noAutofit/>
          </a:bodyPr>
          <a:lstStyle/>
          <a:p>
            <a:pPr algn="l">
              <a:lnSpc>
                <a:spcPct val="100000"/>
              </a:lnSpc>
              <a:spcBef>
                <a:spcPts val="0"/>
              </a:spcBef>
              <a:spcAft>
                <a:spcPts val="0"/>
              </a:spcAft>
            </a:pPr>
            <a:r>
              <a:rPr sz="2000" b="1">
                <a:solidFill>
                  <a:srgbClr val="0D897D"/>
                </a:solidFill>
                <a:latin typeface="Arial"/>
              </a:rPr>
              <a:t>1  Earlier games</a:t>
            </a:r>
          </a:p>
        </p:txBody>
      </p:sp>
      <p:sp>
        <p:nvSpPr>
          <p:cNvPr id="7" name="slide002-element002-text"/>
          <p:cNvSpPr txBox="1"/>
          <p:nvPr/>
        </p:nvSpPr>
        <p:spPr>
          <a:xfrm>
            <a:off x="758952" y="2999232"/>
            <a:ext cx="2816352" cy="1572768"/>
          </a:xfrm>
          <a:prstGeom prst="rect">
            <a:avLst/>
          </a:prstGeom>
          <a:noFill/>
        </p:spPr>
        <p:txBody>
          <a:bodyPr wrap="square" lIns="0" rIns="0" tIns="0" bIns="0" anchor="t">
            <a:noAutofit/>
          </a:bodyPr>
          <a:lstStyle/>
          <a:p>
            <a:pPr algn="l">
              <a:lnSpc>
                <a:spcPct val="100000"/>
              </a:lnSpc>
              <a:spcBef>
                <a:spcPts val="0"/>
              </a:spcBef>
              <a:spcAft>
                <a:spcPts val="0"/>
              </a:spcAft>
            </a:pPr>
            <a:r>
              <a:rPr sz="1900" b="0">
                <a:solidFill>
                  <a:srgbClr val="11243A"/>
                </a:solidFill>
                <a:latin typeface="Arial"/>
              </a:rPr>
              <a:t>Earlier team stats</a:t>
            </a:r>
          </a:p>
          <a:p>
            <a:pPr algn="l">
              <a:lnSpc>
                <a:spcPct val="100000"/>
              </a:lnSpc>
              <a:spcBef>
                <a:spcPts val="0"/>
              </a:spcBef>
              <a:spcAft>
                <a:spcPts val="0"/>
              </a:spcAft>
            </a:pPr>
            <a:r>
              <a:rPr sz="1900" b="0">
                <a:solidFill>
                  <a:srgbClr val="11243A"/>
                </a:solidFill>
                <a:latin typeface="Arial"/>
              </a:rPr>
              <a:t>Prior-season strength</a:t>
            </a:r>
          </a:p>
          <a:p>
            <a:pPr algn="l">
              <a:lnSpc>
                <a:spcPct val="100000"/>
              </a:lnSpc>
              <a:spcBef>
                <a:spcPts val="0"/>
              </a:spcBef>
              <a:spcAft>
                <a:spcPts val="0"/>
              </a:spcAft>
            </a:pPr>
            <a:r>
              <a:rPr sz="1900" b="0">
                <a:solidFill>
                  <a:srgbClr val="11243A"/>
                </a:solidFill>
                <a:latin typeface="Arial"/>
              </a:rPr>
              <a:t>Player/xG extensions</a:t>
            </a:r>
          </a:p>
        </p:txBody>
      </p:sp>
      <p:sp>
        <p:nvSpPr>
          <p:cNvPr id="8" name="slide002-element003-rect"/>
          <p:cNvSpPr/>
          <p:nvPr/>
        </p:nvSpPr>
        <p:spPr>
          <a:xfrm>
            <a:off x="4050791" y="1965960"/>
            <a:ext cx="3154680" cy="29718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lide002-element004-text"/>
          <p:cNvSpPr txBox="1"/>
          <p:nvPr/>
        </p:nvSpPr>
        <p:spPr>
          <a:xfrm>
            <a:off x="4215383" y="2267712"/>
            <a:ext cx="2816352" cy="429768"/>
          </a:xfrm>
          <a:prstGeom prst="rect">
            <a:avLst/>
          </a:prstGeom>
          <a:noFill/>
        </p:spPr>
        <p:txBody>
          <a:bodyPr wrap="square" lIns="0" rIns="0" tIns="0" bIns="0" anchor="t">
            <a:noAutofit/>
          </a:bodyPr>
          <a:lstStyle/>
          <a:p>
            <a:pPr algn="l">
              <a:lnSpc>
                <a:spcPct val="100000"/>
              </a:lnSpc>
              <a:spcBef>
                <a:spcPts val="0"/>
              </a:spcBef>
              <a:spcAft>
                <a:spcPts val="0"/>
              </a:spcAft>
            </a:pPr>
            <a:r>
              <a:rPr sz="2000" b="1">
                <a:solidFill>
                  <a:srgbClr val="0D897D"/>
                </a:solidFill>
                <a:latin typeface="Arial"/>
              </a:rPr>
              <a:t>2  Probabilities</a:t>
            </a:r>
          </a:p>
        </p:txBody>
      </p:sp>
      <p:sp>
        <p:nvSpPr>
          <p:cNvPr id="10" name="slide002-element005-text"/>
          <p:cNvSpPr txBox="1"/>
          <p:nvPr/>
        </p:nvSpPr>
        <p:spPr>
          <a:xfrm>
            <a:off x="4215383" y="2999232"/>
            <a:ext cx="2816352" cy="1572768"/>
          </a:xfrm>
          <a:prstGeom prst="rect">
            <a:avLst/>
          </a:prstGeom>
          <a:noFill/>
        </p:spPr>
        <p:txBody>
          <a:bodyPr wrap="square" lIns="0" rIns="0" tIns="0" bIns="0" anchor="t">
            <a:noAutofit/>
          </a:bodyPr>
          <a:lstStyle/>
          <a:p>
            <a:pPr algn="l">
              <a:lnSpc>
                <a:spcPct val="100000"/>
              </a:lnSpc>
              <a:spcBef>
                <a:spcPts val="0"/>
              </a:spcBef>
              <a:spcAft>
                <a:spcPts val="0"/>
              </a:spcAft>
            </a:pPr>
            <a:r>
              <a:rPr sz="1900" b="0">
                <a:solidFill>
                  <a:srgbClr val="11243A"/>
                </a:solidFill>
                <a:latin typeface="Arial"/>
              </a:rPr>
              <a:t>NBA: home / away</a:t>
            </a:r>
          </a:p>
          <a:p>
            <a:pPr algn="l">
              <a:lnSpc>
                <a:spcPct val="100000"/>
              </a:lnSpc>
              <a:spcBef>
                <a:spcPts val="0"/>
              </a:spcBef>
              <a:spcAft>
                <a:spcPts val="0"/>
              </a:spcAft>
            </a:pPr>
            <a:r>
              <a:rPr sz="1900" b="0">
                <a:solidFill>
                  <a:srgbClr val="11243A"/>
                </a:solidFill>
                <a:latin typeface="Arial"/>
              </a:rPr>
              <a:t>EPL: home / draw / away</a:t>
            </a:r>
          </a:p>
          <a:p>
            <a:pPr algn="l">
              <a:lnSpc>
                <a:spcPct val="100000"/>
              </a:lnSpc>
              <a:spcBef>
                <a:spcPts val="0"/>
              </a:spcBef>
              <a:spcAft>
                <a:spcPts val="0"/>
              </a:spcAft>
            </a:pPr>
            <a:r>
              <a:rPr sz="1900" b="0">
                <a:solidFill>
                  <a:srgbClr val="11243A"/>
                </a:solidFill>
                <a:latin typeface="Arial"/>
              </a:rPr>
              <a:t>Exclude target inputs</a:t>
            </a:r>
          </a:p>
        </p:txBody>
      </p:sp>
      <p:sp>
        <p:nvSpPr>
          <p:cNvPr id="11" name="slide002-element006-rect"/>
          <p:cNvSpPr/>
          <p:nvPr/>
        </p:nvSpPr>
        <p:spPr>
          <a:xfrm>
            <a:off x="7507223" y="1965960"/>
            <a:ext cx="3154680" cy="29718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2-element007-text"/>
          <p:cNvSpPr txBox="1"/>
          <p:nvPr/>
        </p:nvSpPr>
        <p:spPr>
          <a:xfrm>
            <a:off x="7671815" y="2267712"/>
            <a:ext cx="2816352" cy="429768"/>
          </a:xfrm>
          <a:prstGeom prst="rect">
            <a:avLst/>
          </a:prstGeom>
          <a:noFill/>
        </p:spPr>
        <p:txBody>
          <a:bodyPr wrap="square" lIns="0" rIns="0" tIns="0" bIns="0" anchor="t">
            <a:noAutofit/>
          </a:bodyPr>
          <a:lstStyle/>
          <a:p>
            <a:pPr algn="l">
              <a:lnSpc>
                <a:spcPct val="100000"/>
              </a:lnSpc>
              <a:spcBef>
                <a:spcPts val="0"/>
              </a:spcBef>
              <a:spcAft>
                <a:spcPts val="0"/>
              </a:spcAft>
            </a:pPr>
            <a:r>
              <a:rPr sz="2000" b="1">
                <a:solidFill>
                  <a:srgbClr val="0D897D"/>
                </a:solidFill>
                <a:latin typeface="Arial"/>
              </a:rPr>
              <a:t>3  Model selection</a:t>
            </a:r>
          </a:p>
        </p:txBody>
      </p:sp>
      <p:sp>
        <p:nvSpPr>
          <p:cNvPr id="13" name="slide002-element008-text"/>
          <p:cNvSpPr txBox="1"/>
          <p:nvPr/>
        </p:nvSpPr>
        <p:spPr>
          <a:xfrm>
            <a:off x="7671815" y="2999232"/>
            <a:ext cx="2816352" cy="1572768"/>
          </a:xfrm>
          <a:prstGeom prst="rect">
            <a:avLst/>
          </a:prstGeom>
          <a:noFill/>
        </p:spPr>
        <p:txBody>
          <a:bodyPr wrap="square" lIns="0" rIns="0" tIns="0" bIns="0" anchor="t">
            <a:noAutofit/>
          </a:bodyPr>
          <a:lstStyle/>
          <a:p>
            <a:pPr algn="l">
              <a:lnSpc>
                <a:spcPct val="100000"/>
              </a:lnSpc>
              <a:spcBef>
                <a:spcPts val="0"/>
              </a:spcBef>
              <a:spcAft>
                <a:spcPts val="0"/>
              </a:spcAft>
            </a:pPr>
            <a:r>
              <a:rPr sz="1900" b="0">
                <a:solidFill>
                  <a:srgbClr val="11243A"/>
                </a:solidFill>
                <a:latin typeface="Arial"/>
              </a:rPr>
              <a:t>Accuracy branch</a:t>
            </a:r>
          </a:p>
          <a:p>
            <a:pPr algn="l">
              <a:lnSpc>
                <a:spcPct val="100000"/>
              </a:lnSpc>
              <a:spcBef>
                <a:spcPts val="0"/>
              </a:spcBef>
              <a:spcAft>
                <a:spcPts val="0"/>
              </a:spcAft>
            </a:pPr>
            <a:r>
              <a:rPr sz="1900" b="0">
                <a:solidFill>
                  <a:srgbClr val="11243A"/>
                </a:solidFill>
                <a:latin typeface="Arial"/>
              </a:rPr>
              <a:t>Calibration-error branch</a:t>
            </a:r>
          </a:p>
          <a:p>
            <a:pPr algn="l">
              <a:lnSpc>
                <a:spcPct val="100000"/>
              </a:lnSpc>
              <a:spcBef>
                <a:spcPts val="0"/>
              </a:spcBef>
              <a:spcAft>
                <a:spcPts val="0"/>
              </a:spcAft>
            </a:pPr>
            <a:r>
              <a:rPr sz="1900" b="0">
                <a:solidFill>
                  <a:srgbClr val="11243A"/>
                </a:solidFill>
                <a:latin typeface="Arial"/>
              </a:rPr>
              <a:t>Later-season evaluation</a:t>
            </a:r>
          </a:p>
        </p:txBody>
      </p:sp>
      <p:sp>
        <p:nvSpPr>
          <p:cNvPr id="14" name="slide002-element009-rect"/>
          <p:cNvSpPr/>
          <p:nvPr/>
        </p:nvSpPr>
        <p:spPr>
          <a:xfrm>
            <a:off x="10963656" y="1965960"/>
            <a:ext cx="3154680" cy="29718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ide002-element010-text"/>
          <p:cNvSpPr txBox="1"/>
          <p:nvPr/>
        </p:nvSpPr>
        <p:spPr>
          <a:xfrm>
            <a:off x="11128248" y="2267712"/>
            <a:ext cx="2816352" cy="429768"/>
          </a:xfrm>
          <a:prstGeom prst="rect">
            <a:avLst/>
          </a:prstGeom>
          <a:noFill/>
        </p:spPr>
        <p:txBody>
          <a:bodyPr wrap="square" lIns="0" rIns="0" tIns="0" bIns="0" anchor="t">
            <a:noAutofit/>
          </a:bodyPr>
          <a:lstStyle/>
          <a:p>
            <a:pPr algn="l">
              <a:lnSpc>
                <a:spcPct val="100000"/>
              </a:lnSpc>
              <a:spcBef>
                <a:spcPts val="0"/>
              </a:spcBef>
              <a:spcAft>
                <a:spcPts val="0"/>
              </a:spcAft>
            </a:pPr>
            <a:r>
              <a:rPr sz="2000" b="1">
                <a:solidFill>
                  <a:srgbClr val="0D897D"/>
                </a:solidFill>
                <a:latin typeface="Arial"/>
              </a:rPr>
              <a:t>4  Betting rule</a:t>
            </a:r>
          </a:p>
        </p:txBody>
      </p:sp>
      <p:sp>
        <p:nvSpPr>
          <p:cNvPr id="16" name="slide002-element011-text"/>
          <p:cNvSpPr txBox="1"/>
          <p:nvPr/>
        </p:nvSpPr>
        <p:spPr>
          <a:xfrm>
            <a:off x="11128248" y="2999232"/>
            <a:ext cx="2816352" cy="1572768"/>
          </a:xfrm>
          <a:prstGeom prst="rect">
            <a:avLst/>
          </a:prstGeom>
          <a:noFill/>
        </p:spPr>
        <p:txBody>
          <a:bodyPr wrap="square" lIns="0" rIns="0" tIns="0" bIns="0" anchor="t">
            <a:noAutofit/>
          </a:bodyPr>
          <a:lstStyle/>
          <a:p>
            <a:pPr algn="l">
              <a:lnSpc>
                <a:spcPct val="100000"/>
              </a:lnSpc>
              <a:spcBef>
                <a:spcPts val="0"/>
              </a:spcBef>
              <a:spcAft>
                <a:spcPts val="0"/>
              </a:spcAft>
            </a:pPr>
            <a:r>
              <a:rPr sz="1900" b="0">
                <a:solidFill>
                  <a:srgbClr val="11243A"/>
                </a:solidFill>
                <a:latin typeface="Arial"/>
              </a:rPr>
              <a:t>Compare probabilities</a:t>
            </a:r>
          </a:p>
          <a:p>
            <a:pPr algn="l">
              <a:lnSpc>
                <a:spcPct val="100000"/>
              </a:lnSpc>
              <a:spcBef>
                <a:spcPts val="0"/>
              </a:spcBef>
              <a:spcAft>
                <a:spcPts val="0"/>
              </a:spcAft>
            </a:pPr>
            <a:r>
              <a:rPr sz="1900" b="0">
                <a:solidFill>
                  <a:srgbClr val="11243A"/>
                </a:solidFill>
                <a:latin typeface="Arial"/>
              </a:rPr>
              <a:t>with archived odds</a:t>
            </a:r>
          </a:p>
          <a:p>
            <a:pPr algn="l">
              <a:lnSpc>
                <a:spcPct val="100000"/>
              </a:lnSpc>
              <a:spcBef>
                <a:spcPts val="0"/>
              </a:spcBef>
              <a:spcAft>
                <a:spcPts val="0"/>
              </a:spcAft>
            </a:pPr>
            <a:r>
              <a:rPr sz="1900" b="0">
                <a:solidFill>
                  <a:srgbClr val="11243A"/>
                </a:solidFill>
                <a:latin typeface="Arial"/>
              </a:rPr>
              <a:t>Apply explicit stake rules</a:t>
            </a:r>
          </a:p>
        </p:txBody>
      </p:sp>
      <p:sp>
        <p:nvSpPr>
          <p:cNvPr id="17" name="slide002-element012-text"/>
          <p:cNvSpPr txBox="1"/>
          <p:nvPr/>
        </p:nvSpPr>
        <p:spPr>
          <a:xfrm>
            <a:off x="594360" y="5486400"/>
            <a:ext cx="13350240" cy="548640"/>
          </a:xfrm>
          <a:prstGeom prst="rect">
            <a:avLst/>
          </a:prstGeom>
          <a:noFill/>
        </p:spPr>
        <p:txBody>
          <a:bodyPr wrap="square" lIns="0" rIns="0" tIns="0" bIns="0" anchor="t">
            <a:noAutofit/>
          </a:bodyPr>
          <a:lstStyle/>
          <a:p>
            <a:pPr algn="l">
              <a:lnSpc>
                <a:spcPct val="100000"/>
              </a:lnSpc>
              <a:spcBef>
                <a:spcPts val="0"/>
              </a:spcBef>
              <a:spcAft>
                <a:spcPts val="0"/>
              </a:spcAft>
            </a:pPr>
            <a:r>
              <a:rPr sz="2400" b="1">
                <a:solidFill>
                  <a:srgbClr val="0D897D"/>
                </a:solidFill>
                <a:latin typeface="Arial"/>
              </a:rPr>
              <a:t>Estimated return per unit staked = model probability × decimal odds − 1</a:t>
            </a:r>
          </a:p>
        </p:txBody>
      </p:sp>
      <p:sp>
        <p:nvSpPr>
          <p:cNvPr id="18" name="slide002-element013-text"/>
          <p:cNvSpPr txBox="1"/>
          <p:nvPr/>
        </p:nvSpPr>
        <p:spPr>
          <a:xfrm>
            <a:off x="594360" y="6428232"/>
            <a:ext cx="13350240" cy="822960"/>
          </a:xfrm>
          <a:prstGeom prst="rect">
            <a:avLst/>
          </a:prstGeom>
          <a:noFill/>
        </p:spPr>
        <p:txBody>
          <a:bodyPr wrap="square" lIns="0" rIns="0" tIns="0" bIns="0" anchor="t">
            <a:noAutofit/>
          </a:bodyPr>
          <a:lstStyle/>
          <a:p>
            <a:pPr algn="l">
              <a:lnSpc>
                <a:spcPct val="100000"/>
              </a:lnSpc>
              <a:spcBef>
                <a:spcPts val="0"/>
              </a:spcBef>
              <a:spcAft>
                <a:spcPts val="0"/>
              </a:spcAft>
            </a:pPr>
            <a:r>
              <a:rPr sz="2100" b="0">
                <a:solidFill>
                  <a:srgbClr val="11243A"/>
                </a:solidFill>
                <a:latin typeface="Arial"/>
              </a:rPr>
              <a:t>We test whether better probability estimates improve betting outcomes.</a:t>
            </a:r>
          </a:p>
          <a:p>
            <a:pPr algn="l">
              <a:lnSpc>
                <a:spcPct val="100000"/>
              </a:lnSpc>
              <a:spcBef>
                <a:spcPts val="0"/>
              </a:spcBef>
              <a:spcAft>
                <a:spcPts val="0"/>
              </a:spcAft>
            </a:pPr>
            <a:r>
              <a:rPr sz="2100" b="0">
                <a:solidFill>
                  <a:srgbClr val="11243A"/>
                </a:solidFill>
                <a:latin typeface="Arial"/>
              </a:rPr>
              <a:t>A higher classification accuracy or smaller calibration error does not guarantee a profitable price.</a:t>
            </a:r>
          </a:p>
        </p:txBody>
      </p:sp>
      <p:cxnSp>
        <p:nvCxnSpPr>
          <p:cNvPr id="19" name="slide002-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20" name="slide002-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Data.ipynb; METHODOLOGY.md; ML_Sports_Betting_Project_Proposal.pdf | Full paths in notes</a:t>
            </a:r>
          </a:p>
        </p:txBody>
      </p:sp>
      <p:sp>
        <p:nvSpPr>
          <p:cNvPr id="21" name="slide002-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3-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COMMON METHODOLOGY | NBA AND PREMIER LEAGUE</a:t>
            </a:r>
          </a:p>
        </p:txBody>
      </p:sp>
      <p:sp>
        <p:nvSpPr>
          <p:cNvPr id="3" name="slide003-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Common metrics; explicit league differences</a:t>
            </a:r>
          </a:p>
        </p:txBody>
      </p:sp>
      <p:sp>
        <p:nvSpPr>
          <p:cNvPr id="4" name="slide003-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Compare outcomes within each league. Keep the financial denominators and funding conventions separate.</a:t>
            </a:r>
          </a:p>
        </p:txBody>
      </p:sp>
      <p:sp>
        <p:nvSpPr>
          <p:cNvPr id="5" name="slide003-element000-table-r00-c00-cell"/>
          <p:cNvSpPr/>
          <p:nvPr/>
        </p:nvSpPr>
        <p:spPr>
          <a:xfrm>
            <a:off x="594360" y="1883664"/>
            <a:ext cx="2951134" cy="67056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03-element000-table-r00-c00-text"/>
          <p:cNvSpPr txBox="1"/>
          <p:nvPr/>
        </p:nvSpPr>
        <p:spPr>
          <a:xfrm>
            <a:off x="685800" y="1956816"/>
            <a:ext cx="2768254" cy="52425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Setting</a:t>
            </a:r>
          </a:p>
        </p:txBody>
      </p:sp>
      <p:sp>
        <p:nvSpPr>
          <p:cNvPr id="7" name="slide003-element000-table-r00-c01-cell"/>
          <p:cNvSpPr/>
          <p:nvPr/>
        </p:nvSpPr>
        <p:spPr>
          <a:xfrm>
            <a:off x="3545494" y="1883664"/>
            <a:ext cx="5231556" cy="67056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03-element000-table-r00-c01-text"/>
          <p:cNvSpPr txBox="1"/>
          <p:nvPr/>
        </p:nvSpPr>
        <p:spPr>
          <a:xfrm>
            <a:off x="3636934" y="1956816"/>
            <a:ext cx="5048676" cy="52425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NBA implementation</a:t>
            </a:r>
          </a:p>
        </p:txBody>
      </p:sp>
      <p:sp>
        <p:nvSpPr>
          <p:cNvPr id="9" name="slide003-element000-table-r00-c02-cell"/>
          <p:cNvSpPr/>
          <p:nvPr/>
        </p:nvSpPr>
        <p:spPr>
          <a:xfrm>
            <a:off x="8777051" y="1883664"/>
            <a:ext cx="5231556" cy="67056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03-element000-table-r00-c02-text"/>
          <p:cNvSpPr txBox="1"/>
          <p:nvPr/>
        </p:nvSpPr>
        <p:spPr>
          <a:xfrm>
            <a:off x="8868491" y="1956816"/>
            <a:ext cx="5048676" cy="52425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Premier League implementation</a:t>
            </a:r>
          </a:p>
        </p:txBody>
      </p:sp>
      <p:sp>
        <p:nvSpPr>
          <p:cNvPr id="11" name="slide003-element000-table-r01-c00-cell"/>
          <p:cNvSpPr/>
          <p:nvPr/>
        </p:nvSpPr>
        <p:spPr>
          <a:xfrm>
            <a:off x="594360" y="2554224"/>
            <a:ext cx="2951134" cy="67056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3-element000-table-r01-c00-text"/>
          <p:cNvSpPr txBox="1"/>
          <p:nvPr/>
        </p:nvSpPr>
        <p:spPr>
          <a:xfrm>
            <a:off x="685800" y="2627376"/>
            <a:ext cx="2768254" cy="524256"/>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Outcome space</a:t>
            </a:r>
          </a:p>
        </p:txBody>
      </p:sp>
      <p:sp>
        <p:nvSpPr>
          <p:cNvPr id="13" name="slide003-element000-table-r01-c01-cell"/>
          <p:cNvSpPr/>
          <p:nvPr/>
        </p:nvSpPr>
        <p:spPr>
          <a:xfrm>
            <a:off x="3545494" y="2554224"/>
            <a:ext cx="5231556" cy="67056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03-element000-table-r01-c01-text"/>
          <p:cNvSpPr txBox="1"/>
          <p:nvPr/>
        </p:nvSpPr>
        <p:spPr>
          <a:xfrm>
            <a:off x="3636934" y="2627376"/>
            <a:ext cx="5048676" cy="524256"/>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Home / away</a:t>
            </a:r>
          </a:p>
        </p:txBody>
      </p:sp>
      <p:sp>
        <p:nvSpPr>
          <p:cNvPr id="15" name="slide003-element000-table-r01-c02-cell"/>
          <p:cNvSpPr/>
          <p:nvPr/>
        </p:nvSpPr>
        <p:spPr>
          <a:xfrm>
            <a:off x="8777051" y="2554224"/>
            <a:ext cx="5231556" cy="67056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03-element000-table-r01-c02-text"/>
          <p:cNvSpPr txBox="1"/>
          <p:nvPr/>
        </p:nvSpPr>
        <p:spPr>
          <a:xfrm>
            <a:off x="8868491" y="2627376"/>
            <a:ext cx="5048676" cy="524256"/>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Home / draw / away</a:t>
            </a:r>
          </a:p>
        </p:txBody>
      </p:sp>
      <p:sp>
        <p:nvSpPr>
          <p:cNvPr id="17" name="slide003-element000-table-r02-c00-cell"/>
          <p:cNvSpPr/>
          <p:nvPr/>
        </p:nvSpPr>
        <p:spPr>
          <a:xfrm>
            <a:off x="594360" y="3224784"/>
            <a:ext cx="2951134" cy="67056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03-element000-table-r02-c00-text"/>
          <p:cNvSpPr txBox="1"/>
          <p:nvPr/>
        </p:nvSpPr>
        <p:spPr>
          <a:xfrm>
            <a:off x="685800" y="3297936"/>
            <a:ext cx="2768254" cy="524256"/>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Calibration criterion</a:t>
            </a:r>
          </a:p>
        </p:txBody>
      </p:sp>
      <p:sp>
        <p:nvSpPr>
          <p:cNvPr id="19" name="slide003-element000-table-r02-c01-cell"/>
          <p:cNvSpPr/>
          <p:nvPr/>
        </p:nvSpPr>
        <p:spPr>
          <a:xfrm>
            <a:off x="3545494" y="3224784"/>
            <a:ext cx="5231556" cy="67056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03-element000-table-r02-c01-text"/>
          <p:cNvSpPr txBox="1"/>
          <p:nvPr/>
        </p:nvSpPr>
        <p:spPr>
          <a:xfrm>
            <a:off x="3636934" y="3297936"/>
            <a:ext cx="5048676" cy="524256"/>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20 bins; score set to 1 if fewer than 16 bins are occupied</a:t>
            </a:r>
          </a:p>
        </p:txBody>
      </p:sp>
      <p:sp>
        <p:nvSpPr>
          <p:cNvPr id="21" name="slide003-element000-table-r02-c02-cell"/>
          <p:cNvSpPr/>
          <p:nvPr/>
        </p:nvSpPr>
        <p:spPr>
          <a:xfrm>
            <a:off x="8777051" y="3224784"/>
            <a:ext cx="5231556" cy="67056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03-element000-table-r02-c02-text"/>
          <p:cNvSpPr txBox="1"/>
          <p:nvPr/>
        </p:nvSpPr>
        <p:spPr>
          <a:xfrm>
            <a:off x="8868491" y="3297936"/>
            <a:ext cx="5048676" cy="524256"/>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Mean classwise ECE over 3 classes; 10 bins; no occupancy penalty</a:t>
            </a:r>
          </a:p>
        </p:txBody>
      </p:sp>
      <p:sp>
        <p:nvSpPr>
          <p:cNvPr id="23" name="slide003-element000-table-r03-c00-cell"/>
          <p:cNvSpPr/>
          <p:nvPr/>
        </p:nvSpPr>
        <p:spPr>
          <a:xfrm>
            <a:off x="594360" y="3895344"/>
            <a:ext cx="2951134" cy="67056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03-element000-table-r03-c00-text"/>
          <p:cNvSpPr txBox="1"/>
          <p:nvPr/>
        </p:nvSpPr>
        <p:spPr>
          <a:xfrm>
            <a:off x="685800" y="3968496"/>
            <a:ext cx="2768254" cy="524256"/>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Post-fit calibration</a:t>
            </a:r>
          </a:p>
        </p:txBody>
      </p:sp>
      <p:sp>
        <p:nvSpPr>
          <p:cNvPr id="25" name="slide003-element000-table-r03-c01-cell"/>
          <p:cNvSpPr/>
          <p:nvPr/>
        </p:nvSpPr>
        <p:spPr>
          <a:xfrm>
            <a:off x="3545494" y="3895344"/>
            <a:ext cx="5231556" cy="67056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03-element000-table-r03-c01-text"/>
          <p:cNvSpPr txBox="1"/>
          <p:nvPr/>
        </p:nvSpPr>
        <p:spPr>
          <a:xfrm>
            <a:off x="3636934" y="3968496"/>
            <a:ext cx="5048676" cy="524256"/>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No separate held-out temperature fit</a:t>
            </a:r>
          </a:p>
        </p:txBody>
      </p:sp>
      <p:sp>
        <p:nvSpPr>
          <p:cNvPr id="27" name="slide003-element000-table-r03-c02-cell"/>
          <p:cNvSpPr/>
          <p:nvPr/>
        </p:nvSpPr>
        <p:spPr>
          <a:xfrm>
            <a:off x="8777051" y="3895344"/>
            <a:ext cx="5231556" cy="67056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03-element000-table-r03-c02-text"/>
          <p:cNvSpPr txBox="1"/>
          <p:nvPr/>
        </p:nvSpPr>
        <p:spPr>
          <a:xfrm>
            <a:off x="8868491" y="3968496"/>
            <a:ext cx="5048676" cy="524256"/>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Both initial branches receive held-out temperature scaling</a:t>
            </a:r>
          </a:p>
        </p:txBody>
      </p:sp>
      <p:sp>
        <p:nvSpPr>
          <p:cNvPr id="29" name="slide003-element000-table-r04-c00-cell"/>
          <p:cNvSpPr/>
          <p:nvPr/>
        </p:nvSpPr>
        <p:spPr>
          <a:xfrm>
            <a:off x="594360" y="4565904"/>
            <a:ext cx="2951134" cy="67056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03-element000-table-r04-c00-text"/>
          <p:cNvSpPr txBox="1"/>
          <p:nvPr/>
        </p:nvSpPr>
        <p:spPr>
          <a:xfrm>
            <a:off x="685800" y="4639056"/>
            <a:ext cx="2768254" cy="524256"/>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Stake and starting cash</a:t>
            </a:r>
          </a:p>
        </p:txBody>
      </p:sp>
      <p:sp>
        <p:nvSpPr>
          <p:cNvPr id="31" name="slide003-element000-table-r04-c01-cell"/>
          <p:cNvSpPr/>
          <p:nvPr/>
        </p:nvSpPr>
        <p:spPr>
          <a:xfrm>
            <a:off x="3545494" y="4565904"/>
            <a:ext cx="5231556" cy="67056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03-element000-table-r04-c01-text"/>
          <p:cNvSpPr txBox="1"/>
          <p:nvPr/>
        </p:nvSpPr>
        <p:spPr>
          <a:xfrm>
            <a:off x="3636934" y="4639056"/>
            <a:ext cx="5048676" cy="524256"/>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100 fixed or 1/8 Kelly; start 10,000</a:t>
            </a:r>
          </a:p>
        </p:txBody>
      </p:sp>
      <p:sp>
        <p:nvSpPr>
          <p:cNvPr id="33" name="slide003-element000-table-r04-c02-cell"/>
          <p:cNvSpPr/>
          <p:nvPr/>
        </p:nvSpPr>
        <p:spPr>
          <a:xfrm>
            <a:off x="8777051" y="4565904"/>
            <a:ext cx="5231556" cy="67056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03-element000-table-r04-c02-text"/>
          <p:cNvSpPr txBox="1"/>
          <p:nvPr/>
        </p:nvSpPr>
        <p:spPr>
          <a:xfrm>
            <a:off x="8868491" y="4639056"/>
            <a:ext cx="5048676" cy="524256"/>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1,000 fixed or capped Kelly;</a:t>
            </a:r>
          </a:p>
          <a:p>
            <a:pPr algn="l">
              <a:lnSpc>
                <a:spcPct val="100000"/>
              </a:lnSpc>
              <a:spcBef>
                <a:spcPts val="0"/>
              </a:spcBef>
              <a:spcAft>
                <a:spcPts val="0"/>
              </a:spcAft>
            </a:pPr>
            <a:r>
              <a:rPr sz="1700" b="0">
                <a:solidFill>
                  <a:srgbClr val="11243A"/>
                </a:solidFill>
                <a:latin typeface="Arial"/>
              </a:rPr>
              <a:t>start 100,000 in expanded accounts</a:t>
            </a:r>
          </a:p>
        </p:txBody>
      </p:sp>
      <p:sp>
        <p:nvSpPr>
          <p:cNvPr id="35" name="slide003-element000-table-r05-c00-cell"/>
          <p:cNvSpPr/>
          <p:nvPr/>
        </p:nvSpPr>
        <p:spPr>
          <a:xfrm>
            <a:off x="594360" y="5236464"/>
            <a:ext cx="2951134" cy="67056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03-element000-table-r05-c00-text"/>
          <p:cNvSpPr txBox="1"/>
          <p:nvPr/>
        </p:nvSpPr>
        <p:spPr>
          <a:xfrm>
            <a:off x="685800" y="5309616"/>
            <a:ext cx="2768254" cy="524256"/>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Funding</a:t>
            </a:r>
          </a:p>
        </p:txBody>
      </p:sp>
      <p:sp>
        <p:nvSpPr>
          <p:cNvPr id="37" name="slide003-element000-table-r05-c01-cell"/>
          <p:cNvSpPr/>
          <p:nvPr/>
        </p:nvSpPr>
        <p:spPr>
          <a:xfrm>
            <a:off x="3545494" y="5236464"/>
            <a:ext cx="5231556" cy="67056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03-element000-table-r05-c01-text"/>
          <p:cNvSpPr txBox="1"/>
          <p:nvPr/>
        </p:nvSpPr>
        <p:spPr>
          <a:xfrm>
            <a:off x="3636934" y="5309616"/>
            <a:ext cx="5048676" cy="524256"/>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Game-by-game settlement</a:t>
            </a:r>
          </a:p>
        </p:txBody>
      </p:sp>
      <p:sp>
        <p:nvSpPr>
          <p:cNvPr id="39" name="slide003-element000-table-r05-c02-cell"/>
          <p:cNvSpPr/>
          <p:nvPr/>
        </p:nvSpPr>
        <p:spPr>
          <a:xfrm>
            <a:off x="8777051" y="5236464"/>
            <a:ext cx="5231556" cy="67056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03-element000-table-r05-c02-text"/>
          <p:cNvSpPr txBox="1"/>
          <p:nvPr/>
        </p:nvSpPr>
        <p:spPr>
          <a:xfrm>
            <a:off x="8868491" y="5309616"/>
            <a:ext cx="5048676" cy="524256"/>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Joint date-start cash allocation before settlement</a:t>
            </a:r>
          </a:p>
        </p:txBody>
      </p:sp>
      <p:sp>
        <p:nvSpPr>
          <p:cNvPr id="41" name="slide003-element001-text"/>
          <p:cNvSpPr txBox="1"/>
          <p:nvPr/>
        </p:nvSpPr>
        <p:spPr>
          <a:xfrm>
            <a:off x="594360" y="6245352"/>
            <a:ext cx="13350240" cy="438912"/>
          </a:xfrm>
          <a:prstGeom prst="rect">
            <a:avLst/>
          </a:prstGeom>
          <a:noFill/>
        </p:spPr>
        <p:txBody>
          <a:bodyPr wrap="square" lIns="0" rIns="0" tIns="0" bIns="0" anchor="t">
            <a:noAutofit/>
          </a:bodyPr>
          <a:lstStyle/>
          <a:p>
            <a:pPr algn="l">
              <a:lnSpc>
                <a:spcPct val="100000"/>
              </a:lnSpc>
              <a:spcBef>
                <a:spcPts val="0"/>
              </a:spcBef>
              <a:spcAft>
                <a:spcPts val="0"/>
              </a:spcAft>
            </a:pPr>
            <a:r>
              <a:rPr sz="2200" b="1">
                <a:solidFill>
                  <a:srgbClr val="0D897D"/>
                </a:solidFill>
                <a:latin typeface="Arial"/>
              </a:rPr>
              <a:t>Capital return = profit / initial cash.     Stake ROI (yield) = profit / total money staked.</a:t>
            </a:r>
          </a:p>
        </p:txBody>
      </p:sp>
      <p:sp>
        <p:nvSpPr>
          <p:cNvPr id="42" name="slide003-element002-text"/>
          <p:cNvSpPr txBox="1"/>
          <p:nvPr/>
        </p:nvSpPr>
        <p:spPr>
          <a:xfrm>
            <a:off x="594360" y="6931152"/>
            <a:ext cx="13350240" cy="475488"/>
          </a:xfrm>
          <a:prstGeom prst="rect">
            <a:avLst/>
          </a:prstGeom>
          <a:noFill/>
        </p:spPr>
        <p:txBody>
          <a:bodyPr wrap="square" lIns="0" rIns="0" tIns="0" bIns="0" anchor="t">
            <a:noAutofit/>
          </a:bodyPr>
          <a:lstStyle/>
          <a:p>
            <a:pPr algn="l">
              <a:lnSpc>
                <a:spcPct val="100000"/>
              </a:lnSpc>
              <a:spcBef>
                <a:spcPts val="0"/>
              </a:spcBef>
              <a:spcAft>
                <a:spcPts val="0"/>
              </a:spcAft>
            </a:pPr>
            <a:r>
              <a:rPr sz="1700" b="0">
                <a:solidFill>
                  <a:srgbClr val="536578"/>
                </a:solidFill>
                <a:latin typeface="Arial"/>
              </a:rPr>
              <a:t>The NBA source calls capital return “ROI”. We relabel it here. Forecast accuracy is also different from the hit ratio of selected bets.</a:t>
            </a:r>
          </a:p>
        </p:txBody>
      </p:sp>
      <p:cxnSp>
        <p:nvCxnSpPr>
          <p:cNvPr id="43" name="slide003-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44" name="slide003-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Data.ipynb; metrics.py; METHODOLOGY.md | Full paths in notes</a:t>
            </a:r>
          </a:p>
        </p:txBody>
      </p:sp>
      <p:sp>
        <p:nvSpPr>
          <p:cNvPr id="45" name="slide003-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4-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NBA RESULTS | AMAN DHILLON</a:t>
            </a:r>
          </a:p>
        </p:txBody>
      </p:sp>
      <p:sp>
        <p:nvSpPr>
          <p:cNvPr id="3" name="slide004-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NBA: data and model selection</a:t>
            </a:r>
          </a:p>
        </p:txBody>
      </p:sp>
      <p:sp>
        <p:nvSpPr>
          <p:cNvPr id="4" name="slide004-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Team box-score differences are lagged; each team's first ten appearances are excluded as prediction targets.</a:t>
            </a:r>
          </a:p>
        </p:txBody>
      </p:sp>
      <p:sp>
        <p:nvSpPr>
          <p:cNvPr id="5" name="slide004-element000-card-background"/>
          <p:cNvSpPr/>
          <p:nvPr/>
        </p:nvSpPr>
        <p:spPr>
          <a:xfrm>
            <a:off x="594360" y="1883664"/>
            <a:ext cx="425196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04-element000-card-accent"/>
          <p:cNvSpPr/>
          <p:nvPr/>
        </p:nvSpPr>
        <p:spPr>
          <a:xfrm>
            <a:off x="594360" y="1883664"/>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ide004-element000-card-label"/>
          <p:cNvSpPr txBox="1"/>
          <p:nvPr/>
        </p:nvSpPr>
        <p:spPr>
          <a:xfrm>
            <a:off x="749808" y="1993392"/>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ELIGIBLE GAME ROWS</a:t>
            </a:r>
          </a:p>
        </p:txBody>
      </p:sp>
      <p:sp>
        <p:nvSpPr>
          <p:cNvPr id="8" name="slide004-element000-card-value"/>
          <p:cNvSpPr txBox="1"/>
          <p:nvPr/>
        </p:nvSpPr>
        <p:spPr>
          <a:xfrm>
            <a:off x="749808" y="2249424"/>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14,471</a:t>
            </a:r>
          </a:p>
        </p:txBody>
      </p:sp>
      <p:sp>
        <p:nvSpPr>
          <p:cNvPr id="9" name="slide004-element000-card-detail"/>
          <p:cNvSpPr txBox="1"/>
          <p:nvPr/>
        </p:nvSpPr>
        <p:spPr>
          <a:xfrm>
            <a:off x="749808" y="2779776"/>
            <a:ext cx="394106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Across the supplied historical sample</a:t>
            </a:r>
          </a:p>
        </p:txBody>
      </p:sp>
      <p:sp>
        <p:nvSpPr>
          <p:cNvPr id="10" name="slide004-element001-card-background"/>
          <p:cNvSpPr/>
          <p:nvPr/>
        </p:nvSpPr>
        <p:spPr>
          <a:xfrm>
            <a:off x="5175504" y="1883664"/>
            <a:ext cx="425196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ide004-element001-card-accent"/>
          <p:cNvSpPr/>
          <p:nvPr/>
        </p:nvSpPr>
        <p:spPr>
          <a:xfrm>
            <a:off x="5175504" y="1883664"/>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4-element001-card-label"/>
          <p:cNvSpPr txBox="1"/>
          <p:nvPr/>
        </p:nvSpPr>
        <p:spPr>
          <a:xfrm>
            <a:off x="5330952" y="1993392"/>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FEATURE SCREENING</a:t>
            </a:r>
          </a:p>
        </p:txBody>
      </p:sp>
      <p:sp>
        <p:nvSpPr>
          <p:cNvPr id="13" name="slide004-element001-card-value"/>
          <p:cNvSpPr txBox="1"/>
          <p:nvPr/>
        </p:nvSpPr>
        <p:spPr>
          <a:xfrm>
            <a:off x="5330952" y="2249424"/>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26 → 25 → 9</a:t>
            </a:r>
          </a:p>
        </p:txBody>
      </p:sp>
      <p:sp>
        <p:nvSpPr>
          <p:cNvPr id="14" name="slide004-element001-card-detail"/>
          <p:cNvSpPr txBox="1"/>
          <p:nvPr/>
        </p:nvSpPr>
        <p:spPr>
          <a:xfrm>
            <a:off x="5330952" y="2779776"/>
            <a:ext cx="394106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Candidate → drift-screened → nonredundant</a:t>
            </a:r>
          </a:p>
        </p:txBody>
      </p:sp>
      <p:sp>
        <p:nvSpPr>
          <p:cNvPr id="15" name="slide004-element002-card-background"/>
          <p:cNvSpPr/>
          <p:nvPr/>
        </p:nvSpPr>
        <p:spPr>
          <a:xfrm>
            <a:off x="9756648" y="1883664"/>
            <a:ext cx="425196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04-element002-card-accent"/>
          <p:cNvSpPr/>
          <p:nvPr/>
        </p:nvSpPr>
        <p:spPr>
          <a:xfrm>
            <a:off x="9756648" y="1883664"/>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ide004-element002-card-label"/>
          <p:cNvSpPr txBox="1"/>
          <p:nvPr/>
        </p:nvSpPr>
        <p:spPr>
          <a:xfrm>
            <a:off x="9912096" y="1993392"/>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BETTING EVALUATION</a:t>
            </a:r>
          </a:p>
        </p:txBody>
      </p:sp>
      <p:sp>
        <p:nvSpPr>
          <p:cNvPr id="18" name="slide004-element002-card-value"/>
          <p:cNvSpPr txBox="1"/>
          <p:nvPr/>
        </p:nvSpPr>
        <p:spPr>
          <a:xfrm>
            <a:off x="9912096" y="2249424"/>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1,074</a:t>
            </a:r>
          </a:p>
        </p:txBody>
      </p:sp>
      <p:sp>
        <p:nvSpPr>
          <p:cNvPr id="19" name="slide004-element002-card-detail"/>
          <p:cNvSpPr txBox="1"/>
          <p:nvPr/>
        </p:nvSpPr>
        <p:spPr>
          <a:xfrm>
            <a:off x="9912096" y="2779776"/>
            <a:ext cx="394106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2018/19 games with odds</a:t>
            </a:r>
          </a:p>
        </p:txBody>
      </p:sp>
      <p:sp>
        <p:nvSpPr>
          <p:cNvPr id="20" name="slide004-element003-table-r00-c00-cell"/>
          <p:cNvSpPr/>
          <p:nvPr/>
        </p:nvSpPr>
        <p:spPr>
          <a:xfrm>
            <a:off x="594360" y="3767328"/>
            <a:ext cx="3085277" cy="64008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ide004-element003-table-r00-c00-text"/>
          <p:cNvSpPr txBox="1"/>
          <p:nvPr/>
        </p:nvSpPr>
        <p:spPr>
          <a:xfrm>
            <a:off x="685800" y="3840480"/>
            <a:ext cx="2902397" cy="49377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Selection branch</a:t>
            </a:r>
          </a:p>
        </p:txBody>
      </p:sp>
      <p:sp>
        <p:nvSpPr>
          <p:cNvPr id="22" name="slide004-element003-table-r00-c01-cell"/>
          <p:cNvSpPr/>
          <p:nvPr/>
        </p:nvSpPr>
        <p:spPr>
          <a:xfrm>
            <a:off x="3679637" y="3767328"/>
            <a:ext cx="3353562" cy="64008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lide004-element003-table-r00-c01-text"/>
          <p:cNvSpPr txBox="1"/>
          <p:nvPr/>
        </p:nvSpPr>
        <p:spPr>
          <a:xfrm>
            <a:off x="3771077" y="3840480"/>
            <a:ext cx="3170682" cy="49377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Chosen model</a:t>
            </a:r>
          </a:p>
        </p:txBody>
      </p:sp>
      <p:sp>
        <p:nvSpPr>
          <p:cNvPr id="24" name="slide004-element003-table-r00-c02-cell"/>
          <p:cNvSpPr/>
          <p:nvPr/>
        </p:nvSpPr>
        <p:spPr>
          <a:xfrm>
            <a:off x="7033199" y="3767328"/>
            <a:ext cx="2414564" cy="64008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lide004-element003-table-r00-c02-text"/>
          <p:cNvSpPr txBox="1"/>
          <p:nvPr/>
        </p:nvSpPr>
        <p:spPr>
          <a:xfrm>
            <a:off x="7124639" y="3840480"/>
            <a:ext cx="2231684" cy="49377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Selected inputs</a:t>
            </a:r>
          </a:p>
        </p:txBody>
      </p:sp>
      <p:sp>
        <p:nvSpPr>
          <p:cNvPr id="26" name="slide004-element003-table-r00-c03-cell"/>
          <p:cNvSpPr/>
          <p:nvPr/>
        </p:nvSpPr>
        <p:spPr>
          <a:xfrm>
            <a:off x="9447763" y="3767328"/>
            <a:ext cx="4560844" cy="64008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lide004-element003-table-r00-c03-text"/>
          <p:cNvSpPr txBox="1"/>
          <p:nvPr/>
        </p:nvSpPr>
        <p:spPr>
          <a:xfrm>
            <a:off x="9539203" y="3840480"/>
            <a:ext cx="4377964" cy="49377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2017/18 selection criterion</a:t>
            </a:r>
          </a:p>
        </p:txBody>
      </p:sp>
      <p:sp>
        <p:nvSpPr>
          <p:cNvPr id="28" name="slide004-element003-table-r01-c00-cell"/>
          <p:cNvSpPr/>
          <p:nvPr/>
        </p:nvSpPr>
        <p:spPr>
          <a:xfrm>
            <a:off x="594360" y="4407408"/>
            <a:ext cx="3085277" cy="64008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lide004-element003-table-r01-c00-text"/>
          <p:cNvSpPr txBox="1"/>
          <p:nvPr/>
        </p:nvSpPr>
        <p:spPr>
          <a:xfrm>
            <a:off x="685800" y="4480560"/>
            <a:ext cx="2902397" cy="49377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Calibration</a:t>
            </a:r>
          </a:p>
        </p:txBody>
      </p:sp>
      <p:sp>
        <p:nvSpPr>
          <p:cNvPr id="30" name="slide004-element003-table-r01-c01-cell"/>
          <p:cNvSpPr/>
          <p:nvPr/>
        </p:nvSpPr>
        <p:spPr>
          <a:xfrm>
            <a:off x="3679637" y="4407408"/>
            <a:ext cx="3353562" cy="64008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lide004-element003-table-r01-c01-text"/>
          <p:cNvSpPr txBox="1"/>
          <p:nvPr/>
        </p:nvSpPr>
        <p:spPr>
          <a:xfrm>
            <a:off x="3771077" y="4480560"/>
            <a:ext cx="3170682" cy="49377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Logistic regression</a:t>
            </a:r>
          </a:p>
        </p:txBody>
      </p:sp>
      <p:sp>
        <p:nvSpPr>
          <p:cNvPr id="32" name="slide004-element003-table-r01-c02-cell"/>
          <p:cNvSpPr/>
          <p:nvPr/>
        </p:nvSpPr>
        <p:spPr>
          <a:xfrm>
            <a:off x="7033199" y="4407408"/>
            <a:ext cx="2414564" cy="64008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lide004-element003-table-r01-c02-text"/>
          <p:cNvSpPr txBox="1"/>
          <p:nvPr/>
        </p:nvSpPr>
        <p:spPr>
          <a:xfrm>
            <a:off x="7124639" y="4480560"/>
            <a:ext cx="2231684" cy="49377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2</a:t>
            </a:r>
          </a:p>
        </p:txBody>
      </p:sp>
      <p:sp>
        <p:nvSpPr>
          <p:cNvPr id="34" name="slide004-element003-table-r01-c03-cell"/>
          <p:cNvSpPr/>
          <p:nvPr/>
        </p:nvSpPr>
        <p:spPr>
          <a:xfrm>
            <a:off x="9447763" y="4407408"/>
            <a:ext cx="4560844" cy="64008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lide004-element003-table-r01-c03-text"/>
          <p:cNvSpPr txBox="1"/>
          <p:nvPr/>
        </p:nvSpPr>
        <p:spPr>
          <a:xfrm>
            <a:off x="9539203" y="4480560"/>
            <a:ext cx="4377964" cy="49377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Penalised ECE 4.31%</a:t>
            </a:r>
          </a:p>
        </p:txBody>
      </p:sp>
      <p:sp>
        <p:nvSpPr>
          <p:cNvPr id="36" name="slide004-element003-table-r02-c00-cell"/>
          <p:cNvSpPr/>
          <p:nvPr/>
        </p:nvSpPr>
        <p:spPr>
          <a:xfrm>
            <a:off x="594360" y="5047488"/>
            <a:ext cx="3085277" cy="64008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lide004-element003-table-r02-c00-text"/>
          <p:cNvSpPr txBox="1"/>
          <p:nvPr/>
        </p:nvSpPr>
        <p:spPr>
          <a:xfrm>
            <a:off x="685800" y="5120640"/>
            <a:ext cx="2902397" cy="49377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Accuracy</a:t>
            </a:r>
          </a:p>
        </p:txBody>
      </p:sp>
      <p:sp>
        <p:nvSpPr>
          <p:cNvPr id="38" name="slide004-element003-table-r02-c01-cell"/>
          <p:cNvSpPr/>
          <p:nvPr/>
        </p:nvSpPr>
        <p:spPr>
          <a:xfrm>
            <a:off x="3679637" y="5047488"/>
            <a:ext cx="3353562" cy="64008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lide004-element003-table-r02-c01-text"/>
          <p:cNvSpPr txBox="1"/>
          <p:nvPr/>
        </p:nvSpPr>
        <p:spPr>
          <a:xfrm>
            <a:off x="3771077" y="5120640"/>
            <a:ext cx="3170682" cy="49377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SVM</a:t>
            </a:r>
          </a:p>
        </p:txBody>
      </p:sp>
      <p:sp>
        <p:nvSpPr>
          <p:cNvPr id="40" name="slide004-element003-table-r02-c02-cell"/>
          <p:cNvSpPr/>
          <p:nvPr/>
        </p:nvSpPr>
        <p:spPr>
          <a:xfrm>
            <a:off x="7033199" y="5047488"/>
            <a:ext cx="2414564" cy="64008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lide004-element003-table-r02-c02-text"/>
          <p:cNvSpPr txBox="1"/>
          <p:nvPr/>
        </p:nvSpPr>
        <p:spPr>
          <a:xfrm>
            <a:off x="7124639" y="5120640"/>
            <a:ext cx="2231684" cy="49377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4</a:t>
            </a:r>
          </a:p>
        </p:txBody>
      </p:sp>
      <p:sp>
        <p:nvSpPr>
          <p:cNvPr id="42" name="slide004-element003-table-r02-c03-cell"/>
          <p:cNvSpPr/>
          <p:nvPr/>
        </p:nvSpPr>
        <p:spPr>
          <a:xfrm>
            <a:off x="9447763" y="5047488"/>
            <a:ext cx="4560844" cy="64008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lide004-element003-table-r02-c03-text"/>
          <p:cNvSpPr txBox="1"/>
          <p:nvPr/>
        </p:nvSpPr>
        <p:spPr>
          <a:xfrm>
            <a:off x="9539203" y="5120640"/>
            <a:ext cx="4377964" cy="49377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Accuracy 66.33%</a:t>
            </a:r>
          </a:p>
        </p:txBody>
      </p:sp>
      <p:sp>
        <p:nvSpPr>
          <p:cNvPr id="44" name="slide004-element004-text"/>
          <p:cNvSpPr txBox="1"/>
          <p:nvPr/>
        </p:nvSpPr>
        <p:spPr>
          <a:xfrm>
            <a:off x="594360" y="6172200"/>
            <a:ext cx="13350240" cy="868680"/>
          </a:xfrm>
          <a:prstGeom prst="rect">
            <a:avLst/>
          </a:prstGeom>
          <a:noFill/>
        </p:spPr>
        <p:txBody>
          <a:bodyPr wrap="square" lIns="0" rIns="0" tIns="0" bIns="0" anchor="t">
            <a:noAutofit/>
          </a:bodyPr>
          <a:lstStyle/>
          <a:p>
            <a:pPr algn="l">
              <a:lnSpc>
                <a:spcPct val="100000"/>
              </a:lnSpc>
              <a:spcBef>
                <a:spcPts val="0"/>
              </a:spcBef>
              <a:spcAft>
                <a:spcPts val="0"/>
              </a:spcAft>
            </a:pPr>
            <a:r>
              <a:rPr sz="1900" b="0">
                <a:solidFill>
                  <a:srgbClr val="536578"/>
                </a:solidFill>
                <a:latin typeface="Arial"/>
              </a:rPr>
              <a:t>Train: 2014/15–2015/16  →  tune: 2016/17  →  family selection: 2017/18  →  bet: 2018/19.</a:t>
            </a:r>
          </a:p>
          <a:p>
            <a:pPr algn="l">
              <a:lnSpc>
                <a:spcPct val="100000"/>
              </a:lnSpc>
              <a:spcBef>
                <a:spcPts val="0"/>
              </a:spcBef>
              <a:spcAft>
                <a:spcPts val="0"/>
              </a:spcAft>
            </a:pPr>
            <a:r>
              <a:rPr sz="1900" b="0">
                <a:solidFill>
                  <a:srgbClr val="536578"/>
                </a:solidFill>
                <a:latin typeface="Arial"/>
              </a:rPr>
              <a:t>The two branches use different selected feature sets; the row scores are not joint metrics of one fitted model.</a:t>
            </a:r>
          </a:p>
        </p:txBody>
      </p:sp>
      <p:cxnSp>
        <p:nvCxnSpPr>
          <p:cNvPr id="45" name="slide004-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46" name="slide004-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Data.ipynb | Full paths in notes</a:t>
            </a:r>
          </a:p>
        </p:txBody>
      </p:sp>
      <p:sp>
        <p:nvSpPr>
          <p:cNvPr id="47" name="slide004-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5-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NBA RESULTS | AMAN DHILLON</a:t>
            </a:r>
          </a:p>
        </p:txBody>
      </p:sp>
      <p:sp>
        <p:nvSpPr>
          <p:cNvPr id="3" name="slide005-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NBA: saved 2018/19 betting results</a:t>
            </a:r>
          </a:p>
        </p:txBody>
      </p:sp>
      <p:sp>
        <p:nvSpPr>
          <p:cNvPr id="4" name="slide005-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Four rules, each starting with 10,000. Fixed 100 stakes equal 1% of initial capital.</a:t>
            </a:r>
          </a:p>
        </p:txBody>
      </p:sp>
      <p:sp>
        <p:nvSpPr>
          <p:cNvPr id="5" name="slide005-element000-table-r00-c00-cell"/>
          <p:cNvSpPr/>
          <p:nvPr/>
        </p:nvSpPr>
        <p:spPr>
          <a:xfrm>
            <a:off x="594360" y="1883664"/>
            <a:ext cx="2951134" cy="448056"/>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05-element000-table-r00-c00-text"/>
          <p:cNvSpPr txBox="1"/>
          <p:nvPr/>
        </p:nvSpPr>
        <p:spPr>
          <a:xfrm>
            <a:off x="685800" y="1956816"/>
            <a:ext cx="2768254" cy="301752"/>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Branch / model</a:t>
            </a:r>
          </a:p>
        </p:txBody>
      </p:sp>
      <p:sp>
        <p:nvSpPr>
          <p:cNvPr id="7" name="slide005-element000-table-r00-c01-cell"/>
          <p:cNvSpPr/>
          <p:nvPr/>
        </p:nvSpPr>
        <p:spPr>
          <a:xfrm>
            <a:off x="3545494" y="1883664"/>
            <a:ext cx="1877994" cy="448056"/>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05-element000-table-r00-c01-text"/>
          <p:cNvSpPr txBox="1"/>
          <p:nvPr/>
        </p:nvSpPr>
        <p:spPr>
          <a:xfrm>
            <a:off x="3636934" y="1956816"/>
            <a:ext cx="1695114" cy="301752"/>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Stake rule</a:t>
            </a:r>
          </a:p>
        </p:txBody>
      </p:sp>
      <p:sp>
        <p:nvSpPr>
          <p:cNvPr id="9" name="slide005-element000-table-r00-c02-cell"/>
          <p:cNvSpPr/>
          <p:nvPr/>
        </p:nvSpPr>
        <p:spPr>
          <a:xfrm>
            <a:off x="5423489" y="1883664"/>
            <a:ext cx="2280422" cy="448056"/>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05-element000-table-r00-c02-text"/>
          <p:cNvSpPr txBox="1"/>
          <p:nvPr/>
        </p:nvSpPr>
        <p:spPr>
          <a:xfrm>
            <a:off x="5514929" y="1956816"/>
            <a:ext cx="2097542" cy="301752"/>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Final capital</a:t>
            </a:r>
          </a:p>
        </p:txBody>
      </p:sp>
      <p:sp>
        <p:nvSpPr>
          <p:cNvPr id="11" name="slide005-element000-table-r00-c03-cell"/>
          <p:cNvSpPr/>
          <p:nvPr/>
        </p:nvSpPr>
        <p:spPr>
          <a:xfrm>
            <a:off x="7703911" y="1883664"/>
            <a:ext cx="2146279" cy="448056"/>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5-element000-table-r00-c03-text"/>
          <p:cNvSpPr txBox="1"/>
          <p:nvPr/>
        </p:nvSpPr>
        <p:spPr>
          <a:xfrm>
            <a:off x="7795351" y="1956816"/>
            <a:ext cx="1963399" cy="301752"/>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Capital return</a:t>
            </a:r>
          </a:p>
        </p:txBody>
      </p:sp>
      <p:sp>
        <p:nvSpPr>
          <p:cNvPr id="13" name="slide005-element000-table-r00-c04-cell"/>
          <p:cNvSpPr/>
          <p:nvPr/>
        </p:nvSpPr>
        <p:spPr>
          <a:xfrm>
            <a:off x="9850191" y="1883664"/>
            <a:ext cx="2280422" cy="448056"/>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05-element000-table-r00-c04-text"/>
          <p:cNvSpPr txBox="1"/>
          <p:nvPr/>
        </p:nvSpPr>
        <p:spPr>
          <a:xfrm>
            <a:off x="9941631" y="1956816"/>
            <a:ext cx="2097542" cy="301752"/>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Trade frequency</a:t>
            </a:r>
          </a:p>
        </p:txBody>
      </p:sp>
      <p:sp>
        <p:nvSpPr>
          <p:cNvPr id="15" name="slide005-element000-table-r00-c05-cell"/>
          <p:cNvSpPr/>
          <p:nvPr/>
        </p:nvSpPr>
        <p:spPr>
          <a:xfrm>
            <a:off x="12130613" y="1883664"/>
            <a:ext cx="1877994" cy="448056"/>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05-element000-table-r00-c05-text"/>
          <p:cNvSpPr txBox="1"/>
          <p:nvPr/>
        </p:nvSpPr>
        <p:spPr>
          <a:xfrm>
            <a:off x="12222053" y="1956816"/>
            <a:ext cx="1695114" cy="301752"/>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Hit ratio</a:t>
            </a:r>
          </a:p>
        </p:txBody>
      </p:sp>
      <p:sp>
        <p:nvSpPr>
          <p:cNvPr id="17" name="slide005-element000-table-r01-c00-cell"/>
          <p:cNvSpPr/>
          <p:nvPr/>
        </p:nvSpPr>
        <p:spPr>
          <a:xfrm>
            <a:off x="594360" y="2331720"/>
            <a:ext cx="2951134"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05-element000-table-r01-c00-text"/>
          <p:cNvSpPr txBox="1"/>
          <p:nvPr/>
        </p:nvSpPr>
        <p:spPr>
          <a:xfrm>
            <a:off x="685800" y="2404872"/>
            <a:ext cx="276825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Calibration (LR)</a:t>
            </a:r>
          </a:p>
        </p:txBody>
      </p:sp>
      <p:sp>
        <p:nvSpPr>
          <p:cNvPr id="19" name="slide005-element000-table-r01-c01-cell"/>
          <p:cNvSpPr/>
          <p:nvPr/>
        </p:nvSpPr>
        <p:spPr>
          <a:xfrm>
            <a:off x="3545494" y="2331720"/>
            <a:ext cx="1877994"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05-element000-table-r01-c01-text"/>
          <p:cNvSpPr txBox="1"/>
          <p:nvPr/>
        </p:nvSpPr>
        <p:spPr>
          <a:xfrm>
            <a:off x="3636934" y="2404872"/>
            <a:ext cx="169511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100 fixed</a:t>
            </a:r>
          </a:p>
        </p:txBody>
      </p:sp>
      <p:sp>
        <p:nvSpPr>
          <p:cNvPr id="21" name="slide005-element000-table-r01-c02-cell"/>
          <p:cNvSpPr/>
          <p:nvPr/>
        </p:nvSpPr>
        <p:spPr>
          <a:xfrm>
            <a:off x="5423489" y="2331720"/>
            <a:ext cx="2280422"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05-element000-table-r01-c02-text"/>
          <p:cNvSpPr txBox="1"/>
          <p:nvPr/>
        </p:nvSpPr>
        <p:spPr>
          <a:xfrm>
            <a:off x="5514929" y="2404872"/>
            <a:ext cx="2097542"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10,097.74</a:t>
            </a:r>
          </a:p>
        </p:txBody>
      </p:sp>
      <p:sp>
        <p:nvSpPr>
          <p:cNvPr id="23" name="slide005-element000-table-r01-c03-cell"/>
          <p:cNvSpPr/>
          <p:nvPr/>
        </p:nvSpPr>
        <p:spPr>
          <a:xfrm>
            <a:off x="7703911" y="2331720"/>
            <a:ext cx="2146279"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05-element000-table-r01-c03-text"/>
          <p:cNvSpPr txBox="1"/>
          <p:nvPr/>
        </p:nvSpPr>
        <p:spPr>
          <a:xfrm>
            <a:off x="7795351" y="2404872"/>
            <a:ext cx="1963399"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0.98%</a:t>
            </a:r>
          </a:p>
        </p:txBody>
      </p:sp>
      <p:sp>
        <p:nvSpPr>
          <p:cNvPr id="25" name="slide005-element000-table-r01-c04-cell"/>
          <p:cNvSpPr/>
          <p:nvPr/>
        </p:nvSpPr>
        <p:spPr>
          <a:xfrm>
            <a:off x="9850191" y="2331720"/>
            <a:ext cx="2280422"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05-element000-table-r01-c04-text"/>
          <p:cNvSpPr txBox="1"/>
          <p:nvPr/>
        </p:nvSpPr>
        <p:spPr>
          <a:xfrm>
            <a:off x="9941631" y="2404872"/>
            <a:ext cx="2097542"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85.3%</a:t>
            </a:r>
          </a:p>
        </p:txBody>
      </p:sp>
      <p:sp>
        <p:nvSpPr>
          <p:cNvPr id="27" name="slide005-element000-table-r01-c05-cell"/>
          <p:cNvSpPr/>
          <p:nvPr/>
        </p:nvSpPr>
        <p:spPr>
          <a:xfrm>
            <a:off x="12130613" y="2331720"/>
            <a:ext cx="1877994"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05-element000-table-r01-c05-text"/>
          <p:cNvSpPr txBox="1"/>
          <p:nvPr/>
        </p:nvSpPr>
        <p:spPr>
          <a:xfrm>
            <a:off x="12222053" y="2404872"/>
            <a:ext cx="169511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38.0%</a:t>
            </a:r>
          </a:p>
        </p:txBody>
      </p:sp>
      <p:sp>
        <p:nvSpPr>
          <p:cNvPr id="29" name="slide005-element000-table-r02-c00-cell"/>
          <p:cNvSpPr/>
          <p:nvPr/>
        </p:nvSpPr>
        <p:spPr>
          <a:xfrm>
            <a:off x="594360" y="2779776"/>
            <a:ext cx="2951134"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05-element000-table-r02-c00-text"/>
          <p:cNvSpPr txBox="1"/>
          <p:nvPr/>
        </p:nvSpPr>
        <p:spPr>
          <a:xfrm>
            <a:off x="685800" y="2852928"/>
            <a:ext cx="276825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Calibration (LR)</a:t>
            </a:r>
          </a:p>
        </p:txBody>
      </p:sp>
      <p:sp>
        <p:nvSpPr>
          <p:cNvPr id="31" name="slide005-element000-table-r02-c01-cell"/>
          <p:cNvSpPr/>
          <p:nvPr/>
        </p:nvSpPr>
        <p:spPr>
          <a:xfrm>
            <a:off x="3545494" y="2779776"/>
            <a:ext cx="1877994"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05-element000-table-r02-c01-text"/>
          <p:cNvSpPr txBox="1"/>
          <p:nvPr/>
        </p:nvSpPr>
        <p:spPr>
          <a:xfrm>
            <a:off x="3636934" y="2852928"/>
            <a:ext cx="169511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1/8 Kelly</a:t>
            </a:r>
          </a:p>
        </p:txBody>
      </p:sp>
      <p:sp>
        <p:nvSpPr>
          <p:cNvPr id="33" name="slide005-element000-table-r02-c02-cell"/>
          <p:cNvSpPr/>
          <p:nvPr/>
        </p:nvSpPr>
        <p:spPr>
          <a:xfrm>
            <a:off x="5423489" y="2779776"/>
            <a:ext cx="2280422"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05-element000-table-r02-c02-text"/>
          <p:cNvSpPr txBox="1"/>
          <p:nvPr/>
        </p:nvSpPr>
        <p:spPr>
          <a:xfrm>
            <a:off x="5514929" y="2852928"/>
            <a:ext cx="2097542"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6,500.40</a:t>
            </a:r>
          </a:p>
        </p:txBody>
      </p:sp>
      <p:sp>
        <p:nvSpPr>
          <p:cNvPr id="35" name="slide005-element000-table-r02-c03-cell"/>
          <p:cNvSpPr/>
          <p:nvPr/>
        </p:nvSpPr>
        <p:spPr>
          <a:xfrm>
            <a:off x="7703911" y="2779776"/>
            <a:ext cx="2146279"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05-element000-table-r02-c03-text"/>
          <p:cNvSpPr txBox="1"/>
          <p:nvPr/>
        </p:nvSpPr>
        <p:spPr>
          <a:xfrm>
            <a:off x="7795351" y="2852928"/>
            <a:ext cx="1963399"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-35.00%</a:t>
            </a:r>
          </a:p>
        </p:txBody>
      </p:sp>
      <p:sp>
        <p:nvSpPr>
          <p:cNvPr id="37" name="slide005-element000-table-r02-c04-cell"/>
          <p:cNvSpPr/>
          <p:nvPr/>
        </p:nvSpPr>
        <p:spPr>
          <a:xfrm>
            <a:off x="9850191" y="2779776"/>
            <a:ext cx="2280422"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05-element000-table-r02-c04-text"/>
          <p:cNvSpPr txBox="1"/>
          <p:nvPr/>
        </p:nvSpPr>
        <p:spPr>
          <a:xfrm>
            <a:off x="9941631" y="2852928"/>
            <a:ext cx="2097542"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85.3%</a:t>
            </a:r>
          </a:p>
        </p:txBody>
      </p:sp>
      <p:sp>
        <p:nvSpPr>
          <p:cNvPr id="39" name="slide005-element000-table-r02-c05-cell"/>
          <p:cNvSpPr/>
          <p:nvPr/>
        </p:nvSpPr>
        <p:spPr>
          <a:xfrm>
            <a:off x="12130613" y="2779776"/>
            <a:ext cx="1877994"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05-element000-table-r02-c05-text"/>
          <p:cNvSpPr txBox="1"/>
          <p:nvPr/>
        </p:nvSpPr>
        <p:spPr>
          <a:xfrm>
            <a:off x="12222053" y="2852928"/>
            <a:ext cx="169511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38.0%</a:t>
            </a:r>
          </a:p>
        </p:txBody>
      </p:sp>
      <p:sp>
        <p:nvSpPr>
          <p:cNvPr id="41" name="slide005-element000-table-r03-c00-cell"/>
          <p:cNvSpPr/>
          <p:nvPr/>
        </p:nvSpPr>
        <p:spPr>
          <a:xfrm>
            <a:off x="594360" y="3227832"/>
            <a:ext cx="2951134"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05-element000-table-r03-c00-text"/>
          <p:cNvSpPr txBox="1"/>
          <p:nvPr/>
        </p:nvSpPr>
        <p:spPr>
          <a:xfrm>
            <a:off x="685800" y="3300984"/>
            <a:ext cx="276825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Accuracy (SVM)</a:t>
            </a:r>
          </a:p>
        </p:txBody>
      </p:sp>
      <p:sp>
        <p:nvSpPr>
          <p:cNvPr id="43" name="slide005-element000-table-r03-c01-cell"/>
          <p:cNvSpPr/>
          <p:nvPr/>
        </p:nvSpPr>
        <p:spPr>
          <a:xfrm>
            <a:off x="3545494" y="3227832"/>
            <a:ext cx="1877994"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05-element000-table-r03-c01-text"/>
          <p:cNvSpPr txBox="1"/>
          <p:nvPr/>
        </p:nvSpPr>
        <p:spPr>
          <a:xfrm>
            <a:off x="3636934" y="3300984"/>
            <a:ext cx="169511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100 fixed</a:t>
            </a:r>
          </a:p>
        </p:txBody>
      </p:sp>
      <p:sp>
        <p:nvSpPr>
          <p:cNvPr id="45" name="slide005-element000-table-r03-c02-cell"/>
          <p:cNvSpPr/>
          <p:nvPr/>
        </p:nvSpPr>
        <p:spPr>
          <a:xfrm>
            <a:off x="5423489" y="3227832"/>
            <a:ext cx="2280422"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05-element000-table-r03-c02-text"/>
          <p:cNvSpPr txBox="1"/>
          <p:nvPr/>
        </p:nvSpPr>
        <p:spPr>
          <a:xfrm>
            <a:off x="5514929" y="3300984"/>
            <a:ext cx="2097542"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12,502.98</a:t>
            </a:r>
          </a:p>
        </p:txBody>
      </p:sp>
      <p:sp>
        <p:nvSpPr>
          <p:cNvPr id="47" name="slide005-element000-table-r03-c03-cell"/>
          <p:cNvSpPr/>
          <p:nvPr/>
        </p:nvSpPr>
        <p:spPr>
          <a:xfrm>
            <a:off x="7703911" y="3227832"/>
            <a:ext cx="2146279"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05-element000-table-r03-c03-text"/>
          <p:cNvSpPr txBox="1"/>
          <p:nvPr/>
        </p:nvSpPr>
        <p:spPr>
          <a:xfrm>
            <a:off x="7795351" y="3300984"/>
            <a:ext cx="1963399"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25.03%</a:t>
            </a:r>
          </a:p>
        </p:txBody>
      </p:sp>
      <p:sp>
        <p:nvSpPr>
          <p:cNvPr id="49" name="slide005-element000-table-r03-c04-cell"/>
          <p:cNvSpPr/>
          <p:nvPr/>
        </p:nvSpPr>
        <p:spPr>
          <a:xfrm>
            <a:off x="9850191" y="3227832"/>
            <a:ext cx="2280422"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05-element000-table-r03-c04-text"/>
          <p:cNvSpPr txBox="1"/>
          <p:nvPr/>
        </p:nvSpPr>
        <p:spPr>
          <a:xfrm>
            <a:off x="9941631" y="3300984"/>
            <a:ext cx="2097542"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88.6%</a:t>
            </a:r>
          </a:p>
        </p:txBody>
      </p:sp>
      <p:sp>
        <p:nvSpPr>
          <p:cNvPr id="51" name="slide005-element000-table-r03-c05-cell"/>
          <p:cNvSpPr/>
          <p:nvPr/>
        </p:nvSpPr>
        <p:spPr>
          <a:xfrm>
            <a:off x="12130613" y="3227832"/>
            <a:ext cx="1877994"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05-element000-table-r03-c05-text"/>
          <p:cNvSpPr txBox="1"/>
          <p:nvPr/>
        </p:nvSpPr>
        <p:spPr>
          <a:xfrm>
            <a:off x="12222053" y="3300984"/>
            <a:ext cx="169511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34.9%</a:t>
            </a:r>
          </a:p>
        </p:txBody>
      </p:sp>
      <p:sp>
        <p:nvSpPr>
          <p:cNvPr id="53" name="slide005-element000-table-r04-c00-cell"/>
          <p:cNvSpPr/>
          <p:nvPr/>
        </p:nvSpPr>
        <p:spPr>
          <a:xfrm>
            <a:off x="594360" y="3675888"/>
            <a:ext cx="2951134"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05-element000-table-r04-c00-text"/>
          <p:cNvSpPr txBox="1"/>
          <p:nvPr/>
        </p:nvSpPr>
        <p:spPr>
          <a:xfrm>
            <a:off x="685800" y="3749040"/>
            <a:ext cx="276825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Accuracy (SVM)</a:t>
            </a:r>
          </a:p>
        </p:txBody>
      </p:sp>
      <p:sp>
        <p:nvSpPr>
          <p:cNvPr id="55" name="slide005-element000-table-r04-c01-cell"/>
          <p:cNvSpPr/>
          <p:nvPr/>
        </p:nvSpPr>
        <p:spPr>
          <a:xfrm>
            <a:off x="3545494" y="3675888"/>
            <a:ext cx="1877994"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05-element000-table-r04-c01-text"/>
          <p:cNvSpPr txBox="1"/>
          <p:nvPr/>
        </p:nvSpPr>
        <p:spPr>
          <a:xfrm>
            <a:off x="3636934" y="3749040"/>
            <a:ext cx="169511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1/8 Kelly</a:t>
            </a:r>
          </a:p>
        </p:txBody>
      </p:sp>
      <p:sp>
        <p:nvSpPr>
          <p:cNvPr id="57" name="slide005-element000-table-r04-c02-cell"/>
          <p:cNvSpPr/>
          <p:nvPr/>
        </p:nvSpPr>
        <p:spPr>
          <a:xfrm>
            <a:off x="5423489" y="3675888"/>
            <a:ext cx="2280422"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05-element000-table-r04-c02-text"/>
          <p:cNvSpPr txBox="1"/>
          <p:nvPr/>
        </p:nvSpPr>
        <p:spPr>
          <a:xfrm>
            <a:off x="5514929" y="3749040"/>
            <a:ext cx="2097542"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4,488.59</a:t>
            </a:r>
          </a:p>
        </p:txBody>
      </p:sp>
      <p:sp>
        <p:nvSpPr>
          <p:cNvPr id="59" name="slide005-element000-table-r04-c03-cell"/>
          <p:cNvSpPr/>
          <p:nvPr/>
        </p:nvSpPr>
        <p:spPr>
          <a:xfrm>
            <a:off x="7703911" y="3675888"/>
            <a:ext cx="2146279"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05-element000-table-r04-c03-text"/>
          <p:cNvSpPr txBox="1"/>
          <p:nvPr/>
        </p:nvSpPr>
        <p:spPr>
          <a:xfrm>
            <a:off x="7795351" y="3749040"/>
            <a:ext cx="1963399"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-55.11%</a:t>
            </a:r>
          </a:p>
        </p:txBody>
      </p:sp>
      <p:sp>
        <p:nvSpPr>
          <p:cNvPr id="61" name="slide005-element000-table-r04-c04-cell"/>
          <p:cNvSpPr/>
          <p:nvPr/>
        </p:nvSpPr>
        <p:spPr>
          <a:xfrm>
            <a:off x="9850191" y="3675888"/>
            <a:ext cx="2280422"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05-element000-table-r04-c04-text"/>
          <p:cNvSpPr txBox="1"/>
          <p:nvPr/>
        </p:nvSpPr>
        <p:spPr>
          <a:xfrm>
            <a:off x="9941631" y="3749040"/>
            <a:ext cx="2097542"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88.6%</a:t>
            </a:r>
          </a:p>
        </p:txBody>
      </p:sp>
      <p:sp>
        <p:nvSpPr>
          <p:cNvPr id="63" name="slide005-element000-table-r04-c05-cell"/>
          <p:cNvSpPr/>
          <p:nvPr/>
        </p:nvSpPr>
        <p:spPr>
          <a:xfrm>
            <a:off x="12130613" y="3675888"/>
            <a:ext cx="1877994"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05-element000-table-r04-c05-text"/>
          <p:cNvSpPr txBox="1"/>
          <p:nvPr/>
        </p:nvSpPr>
        <p:spPr>
          <a:xfrm>
            <a:off x="12222053" y="3749040"/>
            <a:ext cx="169511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34.9%</a:t>
            </a:r>
          </a:p>
        </p:txBody>
      </p:sp>
      <p:pic>
        <p:nvPicPr>
          <p:cNvPr id="65" name="slide005-element001-image-image" descr="nba_core_capital.png"/>
          <p:cNvPicPr>
            <a:picLocks noChangeAspect="1"/>
          </p:cNvPicPr>
          <p:nvPr/>
        </p:nvPicPr>
        <p:blipFill>
          <a:blip r:embed="rId2"/>
          <a:stretch>
            <a:fillRect/>
          </a:stretch>
        </p:blipFill>
        <p:spPr>
          <a:xfrm>
            <a:off x="1540699" y="4407408"/>
            <a:ext cx="5834001" cy="2514600"/>
          </a:xfrm>
          <a:prstGeom prst="rect">
            <a:avLst/>
          </a:prstGeom>
        </p:spPr>
      </p:pic>
      <p:sp>
        <p:nvSpPr>
          <p:cNvPr id="66" name="slide005-element002-text"/>
          <p:cNvSpPr txBox="1"/>
          <p:nvPr/>
        </p:nvSpPr>
        <p:spPr>
          <a:xfrm>
            <a:off x="8641080" y="4480560"/>
            <a:ext cx="5349240" cy="2267712"/>
          </a:xfrm>
          <a:prstGeom prst="rect">
            <a:avLst/>
          </a:prstGeom>
          <a:noFill/>
        </p:spPr>
        <p:txBody>
          <a:bodyPr wrap="square" lIns="0" rIns="0" tIns="0" bIns="0" anchor="t">
            <a:noAutofit/>
          </a:bodyPr>
          <a:lstStyle/>
          <a:p>
            <a:pPr algn="l">
              <a:lnSpc>
                <a:spcPct val="100000"/>
              </a:lnSpc>
              <a:spcBef>
                <a:spcPts val="0"/>
              </a:spcBef>
              <a:spcAft>
                <a:spcPts val="0"/>
              </a:spcAft>
            </a:pPr>
            <a:r>
              <a:rPr sz="1900" b="0">
                <a:solidFill>
                  <a:srgbClr val="11243A"/>
                </a:solidFill>
                <a:latin typeface="Arial"/>
              </a:rPr>
              <a:t>Home value is checked first.</a:t>
            </a:r>
          </a:p>
          <a:p>
            <a:pPr algn="l">
              <a:lnSpc>
                <a:spcPct val="100000"/>
              </a:lnSpc>
              <a:spcBef>
                <a:spcPts val="0"/>
              </a:spcBef>
              <a:spcAft>
                <a:spcPts val="0"/>
              </a:spcAft>
            </a:pPr>
            <a:r>
              <a:rPr sz="1900" b="0">
                <a:solidFill>
                  <a:srgbClr val="11243A"/>
                </a:solidFill>
                <a:latin typeface="Arial"/>
              </a:rPr>
              <a:t>Otherwise check away value.</a:t>
            </a:r>
          </a:p>
          <a:p>
            <a:pPr algn="l">
              <a:lnSpc>
                <a:spcPct val="100000"/>
              </a:lnSpc>
              <a:spcBef>
                <a:spcPts val="0"/>
              </a:spcBef>
              <a:spcAft>
                <a:spcPts val="0"/>
              </a:spcAft>
            </a:pPr>
            <a:r>
              <a:rPr sz="1900" b="0">
                <a:solidFill>
                  <a:srgbClr val="11243A"/>
                </a:solidFill>
                <a:latin typeface="Arial"/>
              </a:rPr>
              <a:t>Kelly uses 1/8 of full Kelly,</a:t>
            </a:r>
          </a:p>
          <a:p>
            <a:pPr algn="l">
              <a:lnSpc>
                <a:spcPct val="100000"/>
              </a:lnSpc>
              <a:spcBef>
                <a:spcPts val="0"/>
              </a:spcBef>
              <a:spcAft>
                <a:spcPts val="0"/>
              </a:spcAft>
            </a:pPr>
            <a:r>
              <a:rPr sz="1900" b="0">
                <a:solidFill>
                  <a:srgbClr val="11243A"/>
                </a:solidFill>
                <a:latin typeface="Arial"/>
              </a:rPr>
              <a:t>limited to available cash.</a:t>
            </a:r>
          </a:p>
          <a:p>
            <a:pPr algn="l">
              <a:lnSpc>
                <a:spcPct val="100000"/>
              </a:lnSpc>
              <a:spcBef>
                <a:spcPts val="0"/>
              </a:spcBef>
              <a:spcAft>
                <a:spcPts val="0"/>
              </a:spcAft>
            </a:pPr>
            <a:r>
              <a:rPr sz="1900" b="0">
                <a:solidFill>
                  <a:srgbClr val="11243A"/>
                </a:solidFill>
                <a:latin typeface="Arial"/>
              </a:rPr>
              <a:t>Both saved Kelly outcomes lose.</a:t>
            </a:r>
          </a:p>
        </p:txBody>
      </p:sp>
      <p:sp>
        <p:nvSpPr>
          <p:cNvPr id="67" name="slide005-element003-text"/>
          <p:cNvSpPr txBox="1"/>
          <p:nvPr/>
        </p:nvSpPr>
        <p:spPr>
          <a:xfrm>
            <a:off x="594360" y="7150608"/>
            <a:ext cx="13350240" cy="310896"/>
          </a:xfrm>
          <a:prstGeom prst="rect">
            <a:avLst/>
          </a:prstGeom>
          <a:noFill/>
        </p:spPr>
        <p:txBody>
          <a:bodyPr wrap="square" lIns="0" rIns="0" tIns="0" bIns="0" anchor="t">
            <a:noAutofit/>
          </a:bodyPr>
          <a:lstStyle/>
          <a:p>
            <a:pPr algn="l">
              <a:lnSpc>
                <a:spcPct val="100000"/>
              </a:lnSpc>
              <a:spcBef>
                <a:spcPts val="0"/>
              </a:spcBef>
              <a:spcAft>
                <a:spcPts val="0"/>
              </a:spcAft>
            </a:pPr>
            <a:r>
              <a:rPr sz="1400" b="0">
                <a:solidFill>
                  <a:srgbClr val="B44949"/>
                </a:solidFill>
                <a:latin typeface="Arial"/>
              </a:rPr>
              <a:t>Saved notebook results: LR reproduced to cents. SVM replay did not match; its saved results are reported, not independently verified.</a:t>
            </a:r>
          </a:p>
        </p:txBody>
      </p:sp>
      <p:cxnSp>
        <p:nvCxnSpPr>
          <p:cNvPr id="68" name="slide005-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69" name="slide005-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Data.ipynb; nba_evidence.json | Full paths in notes</a:t>
            </a:r>
          </a:p>
        </p:txBody>
      </p:sp>
      <p:sp>
        <p:nvSpPr>
          <p:cNvPr id="70" name="slide005-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6-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NBA RESULTS | AMAN DHILLON</a:t>
            </a:r>
          </a:p>
        </p:txBody>
      </p:sp>
      <p:sp>
        <p:nvSpPr>
          <p:cNvPr id="3" name="slide006-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NBA: nine-season annual robustness</a:t>
            </a:r>
          </a:p>
        </p:txBody>
      </p:sp>
      <p:sp>
        <p:nvSpPr>
          <p:cNvPr id="4" name="slide006-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Each season starts a fresh 10,000 account with fixed 100 requests. Annual paths are not one funded continuous portfolio.</a:t>
            </a:r>
          </a:p>
        </p:txBody>
      </p:sp>
      <p:sp>
        <p:nvSpPr>
          <p:cNvPr id="5" name="slide006-element000-card-background"/>
          <p:cNvSpPr/>
          <p:nvPr/>
        </p:nvSpPr>
        <p:spPr>
          <a:xfrm>
            <a:off x="594360" y="1865376"/>
            <a:ext cx="4251960" cy="13716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06-element000-card-accent"/>
          <p:cNvSpPr/>
          <p:nvPr/>
        </p:nvSpPr>
        <p:spPr>
          <a:xfrm>
            <a:off x="594360" y="1865376"/>
            <a:ext cx="50292" cy="137160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ide006-element000-card-label"/>
          <p:cNvSpPr txBox="1"/>
          <p:nvPr/>
        </p:nvSpPr>
        <p:spPr>
          <a:xfrm>
            <a:off x="749808" y="1975104"/>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CALIBRATION-BRANCH MEAN</a:t>
            </a:r>
          </a:p>
        </p:txBody>
      </p:sp>
      <p:sp>
        <p:nvSpPr>
          <p:cNvPr id="8" name="slide006-element000-card-value"/>
          <p:cNvSpPr txBox="1"/>
          <p:nvPr/>
        </p:nvSpPr>
        <p:spPr>
          <a:xfrm>
            <a:off x="749808" y="2231136"/>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-17.34%</a:t>
            </a:r>
          </a:p>
        </p:txBody>
      </p:sp>
      <p:sp>
        <p:nvSpPr>
          <p:cNvPr id="9" name="slide006-element000-card-detail"/>
          <p:cNvSpPr txBox="1"/>
          <p:nvPr/>
        </p:nvSpPr>
        <p:spPr>
          <a:xfrm>
            <a:off x="749808" y="2761488"/>
            <a:ext cx="3941064" cy="43891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Mean annual capital return</a:t>
            </a:r>
          </a:p>
        </p:txBody>
      </p:sp>
      <p:sp>
        <p:nvSpPr>
          <p:cNvPr id="10" name="slide006-element001-card-background"/>
          <p:cNvSpPr/>
          <p:nvPr/>
        </p:nvSpPr>
        <p:spPr>
          <a:xfrm>
            <a:off x="5175504" y="1865376"/>
            <a:ext cx="4251960" cy="13716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ide006-element001-card-accent"/>
          <p:cNvSpPr/>
          <p:nvPr/>
        </p:nvSpPr>
        <p:spPr>
          <a:xfrm>
            <a:off x="5175504" y="1865376"/>
            <a:ext cx="50292" cy="137160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6-element001-card-label"/>
          <p:cNvSpPr txBox="1"/>
          <p:nvPr/>
        </p:nvSpPr>
        <p:spPr>
          <a:xfrm>
            <a:off x="5330952" y="1975104"/>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ACCURACY-BRANCH MEAN</a:t>
            </a:r>
          </a:p>
        </p:txBody>
      </p:sp>
      <p:sp>
        <p:nvSpPr>
          <p:cNvPr id="13" name="slide006-element001-card-value"/>
          <p:cNvSpPr txBox="1"/>
          <p:nvPr/>
        </p:nvSpPr>
        <p:spPr>
          <a:xfrm>
            <a:off x="5330952" y="2231136"/>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-9.49%</a:t>
            </a:r>
          </a:p>
        </p:txBody>
      </p:sp>
      <p:sp>
        <p:nvSpPr>
          <p:cNvPr id="14" name="slide006-element001-card-detail"/>
          <p:cNvSpPr txBox="1"/>
          <p:nvPr/>
        </p:nvSpPr>
        <p:spPr>
          <a:xfrm>
            <a:off x="5330952" y="2761488"/>
            <a:ext cx="3941064" cy="43891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Mean annual capital return</a:t>
            </a:r>
          </a:p>
        </p:txBody>
      </p:sp>
      <p:sp>
        <p:nvSpPr>
          <p:cNvPr id="15" name="slide006-element002-card-background"/>
          <p:cNvSpPr/>
          <p:nvPr/>
        </p:nvSpPr>
        <p:spPr>
          <a:xfrm>
            <a:off x="9756648" y="1865376"/>
            <a:ext cx="4251960" cy="13716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06-element002-card-accent"/>
          <p:cNvSpPr/>
          <p:nvPr/>
        </p:nvSpPr>
        <p:spPr>
          <a:xfrm>
            <a:off x="9756648" y="1865376"/>
            <a:ext cx="50292" cy="137160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ide006-element002-card-label"/>
          <p:cNvSpPr txBox="1"/>
          <p:nvPr/>
        </p:nvSpPr>
        <p:spPr>
          <a:xfrm>
            <a:off x="9912096" y="1975104"/>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CALIBRATION WINS</a:t>
            </a:r>
          </a:p>
        </p:txBody>
      </p:sp>
      <p:sp>
        <p:nvSpPr>
          <p:cNvPr id="18" name="slide006-element002-card-value"/>
          <p:cNvSpPr txBox="1"/>
          <p:nvPr/>
        </p:nvSpPr>
        <p:spPr>
          <a:xfrm>
            <a:off x="9912096" y="2231136"/>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3 / 9</a:t>
            </a:r>
          </a:p>
        </p:txBody>
      </p:sp>
      <p:sp>
        <p:nvSpPr>
          <p:cNvPr id="19" name="slide006-element002-card-detail"/>
          <p:cNvSpPr txBox="1"/>
          <p:nvPr/>
        </p:nvSpPr>
        <p:spPr>
          <a:xfrm>
            <a:off x="9912096" y="2761488"/>
            <a:ext cx="3941064" cy="43891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Both branches use logistic regression here</a:t>
            </a:r>
          </a:p>
        </p:txBody>
      </p:sp>
      <p:pic>
        <p:nvPicPr>
          <p:cNvPr id="20" name="slide006-element003-image-image" descr="nba_annual_returns.png"/>
          <p:cNvPicPr>
            <a:picLocks noChangeAspect="1"/>
          </p:cNvPicPr>
          <p:nvPr/>
        </p:nvPicPr>
        <p:blipFill>
          <a:blip r:embed="rId2"/>
          <a:stretch>
            <a:fillRect/>
          </a:stretch>
        </p:blipFill>
        <p:spPr>
          <a:xfrm>
            <a:off x="2426726" y="3547872"/>
            <a:ext cx="9749515" cy="3246120"/>
          </a:xfrm>
          <a:prstGeom prst="rect">
            <a:avLst/>
          </a:prstGeom>
        </p:spPr>
      </p:pic>
      <p:sp>
        <p:nvSpPr>
          <p:cNvPr id="21" name="slide006-element004-text"/>
          <p:cNvSpPr txBox="1"/>
          <p:nvPr/>
        </p:nvSpPr>
        <p:spPr>
          <a:xfrm>
            <a:off x="594360" y="7059168"/>
            <a:ext cx="13350240" cy="429768"/>
          </a:xfrm>
          <a:prstGeom prst="rect">
            <a:avLst/>
          </a:prstGeom>
          <a:noFill/>
        </p:spPr>
        <p:txBody>
          <a:bodyPr wrap="square" lIns="0" rIns="0" tIns="0" bIns="0" anchor="t">
            <a:noAutofit/>
          </a:bodyPr>
          <a:lstStyle/>
          <a:p>
            <a:pPr algn="l">
              <a:lnSpc>
                <a:spcPct val="100000"/>
              </a:lnSpc>
              <a:spcBef>
                <a:spcPts val="0"/>
              </a:spcBef>
              <a:spcAft>
                <a:spcPts val="0"/>
              </a:spcAft>
            </a:pPr>
            <a:r>
              <a:rPr sz="1600" b="0">
                <a:solidFill>
                  <a:srgbClr val="536578"/>
                </a:solidFill>
                <a:latin typeface="Arial"/>
              </a:rPr>
              <a:t>This extension reselects features but does not repeat the four-family search. The annual variation does not support a dependable profit advantage.</a:t>
            </a:r>
          </a:p>
        </p:txBody>
      </p:sp>
      <p:cxnSp>
        <p:nvCxnSpPr>
          <p:cNvPr id="22" name="slide006-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23" name="slide006-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Data.ipynb; nba_evidence.json | Full paths in notes</a:t>
            </a:r>
          </a:p>
        </p:txBody>
      </p:sp>
      <p:sp>
        <p:nvSpPr>
          <p:cNvPr id="24" name="slide006-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7-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PREMIER LEAGUE RESULTS | PANAGIOTIS HOUSOS</a:t>
            </a:r>
          </a:p>
        </p:txBody>
      </p:sp>
      <p:sp>
        <p:nvSpPr>
          <p:cNvPr id="3" name="slide007-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the proposal's accuracy–calibration comparison</a:t>
            </a:r>
          </a:p>
        </p:txBody>
      </p:sp>
      <p:sp>
        <p:nvSpPr>
          <p:cNvPr id="4" name="slide007-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The first experiment evaluates 374 matches in 2025/26 after separate tuning, calibration, family selection and strategy validation.</a:t>
            </a:r>
          </a:p>
        </p:txBody>
      </p:sp>
      <p:sp>
        <p:nvSpPr>
          <p:cNvPr id="5" name="slide007-element000-table-r00-c00-cell"/>
          <p:cNvSpPr/>
          <p:nvPr/>
        </p:nvSpPr>
        <p:spPr>
          <a:xfrm>
            <a:off x="594360" y="1874519"/>
            <a:ext cx="4542739" cy="53721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07-element000-table-r00-c00-text"/>
          <p:cNvSpPr txBox="1"/>
          <p:nvPr/>
        </p:nvSpPr>
        <p:spPr>
          <a:xfrm>
            <a:off x="685800" y="1947672"/>
            <a:ext cx="4359859" cy="39090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Probability model</a:t>
            </a:r>
          </a:p>
        </p:txBody>
      </p:sp>
      <p:sp>
        <p:nvSpPr>
          <p:cNvPr id="7" name="slide007-element000-table-r00-c01-cell"/>
          <p:cNvSpPr/>
          <p:nvPr/>
        </p:nvSpPr>
        <p:spPr>
          <a:xfrm>
            <a:off x="5137099" y="1874519"/>
            <a:ext cx="1777593" cy="53721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07-element000-table-r00-c01-text"/>
          <p:cNvSpPr txBox="1"/>
          <p:nvPr/>
        </p:nvSpPr>
        <p:spPr>
          <a:xfrm>
            <a:off x="5228539" y="1947672"/>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Accuracy</a:t>
            </a:r>
          </a:p>
        </p:txBody>
      </p:sp>
      <p:sp>
        <p:nvSpPr>
          <p:cNvPr id="9" name="slide007-element000-table-r00-c02-cell"/>
          <p:cNvSpPr/>
          <p:nvPr/>
        </p:nvSpPr>
        <p:spPr>
          <a:xfrm>
            <a:off x="6914692" y="1874519"/>
            <a:ext cx="1777593" cy="53721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07-element000-table-r00-c02-text"/>
          <p:cNvSpPr txBox="1"/>
          <p:nvPr/>
        </p:nvSpPr>
        <p:spPr>
          <a:xfrm>
            <a:off x="7006132" y="1947672"/>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ECE 10</a:t>
            </a:r>
          </a:p>
        </p:txBody>
      </p:sp>
      <p:sp>
        <p:nvSpPr>
          <p:cNvPr id="11" name="slide007-element000-table-r00-c03-cell"/>
          <p:cNvSpPr/>
          <p:nvPr/>
        </p:nvSpPr>
        <p:spPr>
          <a:xfrm>
            <a:off x="8692286" y="1874519"/>
            <a:ext cx="1777593" cy="53721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7-element000-table-r00-c03-text"/>
          <p:cNvSpPr txBox="1"/>
          <p:nvPr/>
        </p:nvSpPr>
        <p:spPr>
          <a:xfrm>
            <a:off x="8783726" y="1947672"/>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Log loss</a:t>
            </a:r>
          </a:p>
        </p:txBody>
      </p:sp>
      <p:sp>
        <p:nvSpPr>
          <p:cNvPr id="13" name="slide007-element000-table-r01-c00-cell"/>
          <p:cNvSpPr/>
          <p:nvPr/>
        </p:nvSpPr>
        <p:spPr>
          <a:xfrm>
            <a:off x="594360" y="2411729"/>
            <a:ext cx="4542739" cy="53721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07-element000-table-r01-c00-text"/>
          <p:cNvSpPr txBox="1"/>
          <p:nvPr/>
        </p:nvSpPr>
        <p:spPr>
          <a:xfrm>
            <a:off x="685800" y="2484882"/>
            <a:ext cx="4359859"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Accuracy-selected SVM</a:t>
            </a:r>
          </a:p>
        </p:txBody>
      </p:sp>
      <p:sp>
        <p:nvSpPr>
          <p:cNvPr id="15" name="slide007-element000-table-r01-c01-cell"/>
          <p:cNvSpPr/>
          <p:nvPr/>
        </p:nvSpPr>
        <p:spPr>
          <a:xfrm>
            <a:off x="5137099" y="2411729"/>
            <a:ext cx="1777593" cy="53721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07-element000-table-r01-c01-text"/>
          <p:cNvSpPr txBox="1"/>
          <p:nvPr/>
        </p:nvSpPr>
        <p:spPr>
          <a:xfrm>
            <a:off x="5228539" y="2484882"/>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48.13%</a:t>
            </a:r>
          </a:p>
        </p:txBody>
      </p:sp>
      <p:sp>
        <p:nvSpPr>
          <p:cNvPr id="17" name="slide007-element000-table-r01-c02-cell"/>
          <p:cNvSpPr/>
          <p:nvPr/>
        </p:nvSpPr>
        <p:spPr>
          <a:xfrm>
            <a:off x="6914692" y="2411729"/>
            <a:ext cx="1777593" cy="53721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07-element000-table-r01-c02-text"/>
          <p:cNvSpPr txBox="1"/>
          <p:nvPr/>
        </p:nvSpPr>
        <p:spPr>
          <a:xfrm>
            <a:off x="7006132" y="2484882"/>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6.20%</a:t>
            </a:r>
          </a:p>
        </p:txBody>
      </p:sp>
      <p:sp>
        <p:nvSpPr>
          <p:cNvPr id="19" name="slide007-element000-table-r01-c03-cell"/>
          <p:cNvSpPr/>
          <p:nvPr/>
        </p:nvSpPr>
        <p:spPr>
          <a:xfrm>
            <a:off x="8692286" y="2411729"/>
            <a:ext cx="1777593" cy="53721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07-element000-table-r01-c03-text"/>
          <p:cNvSpPr txBox="1"/>
          <p:nvPr/>
        </p:nvSpPr>
        <p:spPr>
          <a:xfrm>
            <a:off x="8783726" y="2484882"/>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1.0763</a:t>
            </a:r>
          </a:p>
        </p:txBody>
      </p:sp>
      <p:sp>
        <p:nvSpPr>
          <p:cNvPr id="21" name="slide007-element000-table-r02-c00-cell"/>
          <p:cNvSpPr/>
          <p:nvPr/>
        </p:nvSpPr>
        <p:spPr>
          <a:xfrm>
            <a:off x="594360" y="2948939"/>
            <a:ext cx="4542739" cy="53721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07-element000-table-r02-c00-text"/>
          <p:cNvSpPr txBox="1"/>
          <p:nvPr/>
        </p:nvSpPr>
        <p:spPr>
          <a:xfrm>
            <a:off x="685800" y="3022091"/>
            <a:ext cx="4359859"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Calibration-selected MLP</a:t>
            </a:r>
          </a:p>
        </p:txBody>
      </p:sp>
      <p:sp>
        <p:nvSpPr>
          <p:cNvPr id="23" name="slide007-element000-table-r02-c01-cell"/>
          <p:cNvSpPr/>
          <p:nvPr/>
        </p:nvSpPr>
        <p:spPr>
          <a:xfrm>
            <a:off x="5137099" y="2948939"/>
            <a:ext cx="1777593" cy="53721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07-element000-table-r02-c01-text"/>
          <p:cNvSpPr txBox="1"/>
          <p:nvPr/>
        </p:nvSpPr>
        <p:spPr>
          <a:xfrm>
            <a:off x="5228539" y="3022091"/>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44.39%</a:t>
            </a:r>
          </a:p>
        </p:txBody>
      </p:sp>
      <p:sp>
        <p:nvSpPr>
          <p:cNvPr id="25" name="slide007-element000-table-r02-c02-cell"/>
          <p:cNvSpPr/>
          <p:nvPr/>
        </p:nvSpPr>
        <p:spPr>
          <a:xfrm>
            <a:off x="6914692" y="2948939"/>
            <a:ext cx="1777593" cy="53721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07-element000-table-r02-c02-text"/>
          <p:cNvSpPr txBox="1"/>
          <p:nvPr/>
        </p:nvSpPr>
        <p:spPr>
          <a:xfrm>
            <a:off x="7006132" y="3022091"/>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4.16%</a:t>
            </a:r>
          </a:p>
        </p:txBody>
      </p:sp>
      <p:sp>
        <p:nvSpPr>
          <p:cNvPr id="27" name="slide007-element000-table-r02-c03-cell"/>
          <p:cNvSpPr/>
          <p:nvPr/>
        </p:nvSpPr>
        <p:spPr>
          <a:xfrm>
            <a:off x="8692286" y="2948939"/>
            <a:ext cx="1777593" cy="53721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07-element000-table-r02-c03-text"/>
          <p:cNvSpPr txBox="1"/>
          <p:nvPr/>
        </p:nvSpPr>
        <p:spPr>
          <a:xfrm>
            <a:off x="8783726" y="3022091"/>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1.0564</a:t>
            </a:r>
          </a:p>
        </p:txBody>
      </p:sp>
      <p:sp>
        <p:nvSpPr>
          <p:cNvPr id="29" name="slide007-element000-table-r03-c00-cell"/>
          <p:cNvSpPr/>
          <p:nvPr/>
        </p:nvSpPr>
        <p:spPr>
          <a:xfrm>
            <a:off x="594360" y="3486150"/>
            <a:ext cx="4542739" cy="53721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07-element000-table-r03-c00-text"/>
          <p:cNvSpPr txBox="1"/>
          <p:nvPr/>
        </p:nvSpPr>
        <p:spPr>
          <a:xfrm>
            <a:off x="685800" y="3559302"/>
            <a:ext cx="4359859"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Bet365 market benchmark</a:t>
            </a:r>
          </a:p>
        </p:txBody>
      </p:sp>
      <p:sp>
        <p:nvSpPr>
          <p:cNvPr id="31" name="slide007-element000-table-r03-c01-cell"/>
          <p:cNvSpPr/>
          <p:nvPr/>
        </p:nvSpPr>
        <p:spPr>
          <a:xfrm>
            <a:off x="5137099" y="3486150"/>
            <a:ext cx="1777593" cy="53721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07-element000-table-r03-c01-text"/>
          <p:cNvSpPr txBox="1"/>
          <p:nvPr/>
        </p:nvSpPr>
        <p:spPr>
          <a:xfrm>
            <a:off x="5228539" y="3559302"/>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48.66%</a:t>
            </a:r>
          </a:p>
        </p:txBody>
      </p:sp>
      <p:sp>
        <p:nvSpPr>
          <p:cNvPr id="33" name="slide007-element000-table-r03-c02-cell"/>
          <p:cNvSpPr/>
          <p:nvPr/>
        </p:nvSpPr>
        <p:spPr>
          <a:xfrm>
            <a:off x="6914692" y="3486150"/>
            <a:ext cx="1777593" cy="53721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07-element000-table-r03-c02-text"/>
          <p:cNvSpPr txBox="1"/>
          <p:nvPr/>
        </p:nvSpPr>
        <p:spPr>
          <a:xfrm>
            <a:off x="7006132" y="3559302"/>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4.36%</a:t>
            </a:r>
          </a:p>
        </p:txBody>
      </p:sp>
      <p:sp>
        <p:nvSpPr>
          <p:cNvPr id="35" name="slide007-element000-table-r03-c03-cell"/>
          <p:cNvSpPr/>
          <p:nvPr/>
        </p:nvSpPr>
        <p:spPr>
          <a:xfrm>
            <a:off x="8692286" y="3486150"/>
            <a:ext cx="1777593" cy="53721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07-element000-table-r03-c03-text"/>
          <p:cNvSpPr txBox="1"/>
          <p:nvPr/>
        </p:nvSpPr>
        <p:spPr>
          <a:xfrm>
            <a:off x="8783726" y="3559302"/>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1.0191</a:t>
            </a:r>
          </a:p>
        </p:txBody>
      </p:sp>
      <p:sp>
        <p:nvSpPr>
          <p:cNvPr id="37" name="slide007-element001-card-background"/>
          <p:cNvSpPr/>
          <p:nvPr/>
        </p:nvSpPr>
        <p:spPr>
          <a:xfrm>
            <a:off x="10835640" y="1874519"/>
            <a:ext cx="3154680" cy="214884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07-element001-card-accent"/>
          <p:cNvSpPr/>
          <p:nvPr/>
        </p:nvSpPr>
        <p:spPr>
          <a:xfrm>
            <a:off x="10835640" y="1874519"/>
            <a:ext cx="50292" cy="214884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lide007-element001-card-label"/>
          <p:cNvSpPr txBox="1"/>
          <p:nvPr/>
        </p:nvSpPr>
        <p:spPr>
          <a:xfrm>
            <a:off x="10991088" y="1984248"/>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PRIMARY POLICIES</a:t>
            </a:r>
          </a:p>
        </p:txBody>
      </p:sp>
      <p:sp>
        <p:nvSpPr>
          <p:cNvPr id="40" name="slide007-element001-card-value"/>
          <p:cNvSpPr txBox="1"/>
          <p:nvPr/>
        </p:nvSpPr>
        <p:spPr>
          <a:xfrm>
            <a:off x="10991088" y="2240279"/>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Hold cash</a:t>
            </a:r>
          </a:p>
        </p:txBody>
      </p:sp>
      <p:sp>
        <p:nvSpPr>
          <p:cNvPr id="41" name="slide007-element001-card-detail"/>
          <p:cNvSpPr txBox="1"/>
          <p:nvPr/>
        </p:nvSpPr>
        <p:spPr>
          <a:xfrm>
            <a:off x="10991088" y="2770632"/>
            <a:ext cx="2843784" cy="121615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Neither branch found an admissible positive-return validation threshold.</a:t>
            </a:r>
          </a:p>
        </p:txBody>
      </p:sp>
      <p:sp>
        <p:nvSpPr>
          <p:cNvPr id="42" name="slide007-element002-text"/>
          <p:cNvSpPr txBox="1"/>
          <p:nvPr/>
        </p:nvSpPr>
        <p:spPr>
          <a:xfrm>
            <a:off x="594360" y="4416552"/>
            <a:ext cx="13350240" cy="365760"/>
          </a:xfrm>
          <a:prstGeom prst="rect">
            <a:avLst/>
          </a:prstGeom>
          <a:noFill/>
        </p:spPr>
        <p:txBody>
          <a:bodyPr wrap="square" lIns="0" rIns="0" tIns="0" bIns="0" anchor="t">
            <a:noAutofit/>
          </a:bodyPr>
          <a:lstStyle/>
          <a:p>
            <a:pPr algn="l">
              <a:lnSpc>
                <a:spcPct val="100000"/>
              </a:lnSpc>
              <a:spcBef>
                <a:spcPts val="0"/>
              </a:spcBef>
              <a:spcAft>
                <a:spcPts val="0"/>
              </a:spcAft>
            </a:pPr>
            <a:r>
              <a:rPr sz="1600" b="1">
                <a:solidFill>
                  <a:srgbClr val="0D897D"/>
                </a:solidFill>
                <a:latin typeface="Arial"/>
              </a:rPr>
              <a:t>SECONDARY DIAGNOSTIC: predeclared 5% edge, best archived quotes, 1,000 flat stakes from 100,000</a:t>
            </a:r>
          </a:p>
        </p:txBody>
      </p:sp>
      <p:sp>
        <p:nvSpPr>
          <p:cNvPr id="43" name="slide007-element003-table-r00-c00-cell"/>
          <p:cNvSpPr/>
          <p:nvPr/>
        </p:nvSpPr>
        <p:spPr>
          <a:xfrm>
            <a:off x="594360" y="4965192"/>
            <a:ext cx="2951134" cy="5486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07-element003-table-r00-c00-text"/>
          <p:cNvSpPr txBox="1"/>
          <p:nvPr/>
        </p:nvSpPr>
        <p:spPr>
          <a:xfrm>
            <a:off x="685800" y="5038344"/>
            <a:ext cx="2768254" cy="402335"/>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Model</a:t>
            </a:r>
          </a:p>
        </p:txBody>
      </p:sp>
      <p:sp>
        <p:nvSpPr>
          <p:cNvPr id="45" name="slide007-element003-table-r00-c01-cell"/>
          <p:cNvSpPr/>
          <p:nvPr/>
        </p:nvSpPr>
        <p:spPr>
          <a:xfrm>
            <a:off x="3545494" y="4965192"/>
            <a:ext cx="1743852" cy="5486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07-element003-table-r00-c01-text"/>
          <p:cNvSpPr txBox="1"/>
          <p:nvPr/>
        </p:nvSpPr>
        <p:spPr>
          <a:xfrm>
            <a:off x="3636934" y="5038344"/>
            <a:ext cx="1560972" cy="402335"/>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Bets</a:t>
            </a:r>
          </a:p>
        </p:txBody>
      </p:sp>
      <p:sp>
        <p:nvSpPr>
          <p:cNvPr id="47" name="slide007-element003-table-r00-c02-cell"/>
          <p:cNvSpPr/>
          <p:nvPr/>
        </p:nvSpPr>
        <p:spPr>
          <a:xfrm>
            <a:off x="5289346" y="4965192"/>
            <a:ext cx="2951134" cy="5486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07-element003-table-r00-c02-text"/>
          <p:cNvSpPr txBox="1"/>
          <p:nvPr/>
        </p:nvSpPr>
        <p:spPr>
          <a:xfrm>
            <a:off x="5380786" y="5038344"/>
            <a:ext cx="2768254" cy="402335"/>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Profit</a:t>
            </a:r>
          </a:p>
        </p:txBody>
      </p:sp>
      <p:sp>
        <p:nvSpPr>
          <p:cNvPr id="49" name="slide007-element003-table-r00-c03-cell"/>
          <p:cNvSpPr/>
          <p:nvPr/>
        </p:nvSpPr>
        <p:spPr>
          <a:xfrm>
            <a:off x="8240481" y="4965192"/>
            <a:ext cx="2816992" cy="5486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07-element003-table-r00-c03-text"/>
          <p:cNvSpPr txBox="1"/>
          <p:nvPr/>
        </p:nvSpPr>
        <p:spPr>
          <a:xfrm>
            <a:off x="8331921" y="5038344"/>
            <a:ext cx="2634112" cy="402335"/>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Stake ROI</a:t>
            </a:r>
          </a:p>
        </p:txBody>
      </p:sp>
      <p:sp>
        <p:nvSpPr>
          <p:cNvPr id="51" name="slide007-element003-table-r00-c04-cell"/>
          <p:cNvSpPr/>
          <p:nvPr/>
        </p:nvSpPr>
        <p:spPr>
          <a:xfrm>
            <a:off x="11057473" y="4965192"/>
            <a:ext cx="2951134" cy="5486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07-element003-table-r00-c04-text"/>
          <p:cNvSpPr txBox="1"/>
          <p:nvPr/>
        </p:nvSpPr>
        <p:spPr>
          <a:xfrm>
            <a:off x="11148913" y="5038344"/>
            <a:ext cx="2768254" cy="402335"/>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Capital return</a:t>
            </a:r>
          </a:p>
        </p:txBody>
      </p:sp>
      <p:sp>
        <p:nvSpPr>
          <p:cNvPr id="53" name="slide007-element003-table-r01-c00-cell"/>
          <p:cNvSpPr/>
          <p:nvPr/>
        </p:nvSpPr>
        <p:spPr>
          <a:xfrm>
            <a:off x="594360" y="5513831"/>
            <a:ext cx="2951134"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07-element003-table-r01-c00-text"/>
          <p:cNvSpPr txBox="1"/>
          <p:nvPr/>
        </p:nvSpPr>
        <p:spPr>
          <a:xfrm>
            <a:off x="685800" y="5586983"/>
            <a:ext cx="2768254" cy="4023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SVM</a:t>
            </a:r>
          </a:p>
        </p:txBody>
      </p:sp>
      <p:sp>
        <p:nvSpPr>
          <p:cNvPr id="55" name="slide007-element003-table-r01-c01-cell"/>
          <p:cNvSpPr/>
          <p:nvPr/>
        </p:nvSpPr>
        <p:spPr>
          <a:xfrm>
            <a:off x="3545494" y="5513831"/>
            <a:ext cx="174385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07-element003-table-r01-c01-text"/>
          <p:cNvSpPr txBox="1"/>
          <p:nvPr/>
        </p:nvSpPr>
        <p:spPr>
          <a:xfrm>
            <a:off x="3636934" y="5586983"/>
            <a:ext cx="1560972" cy="4023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371</a:t>
            </a:r>
          </a:p>
        </p:txBody>
      </p:sp>
      <p:sp>
        <p:nvSpPr>
          <p:cNvPr id="57" name="slide007-element003-table-r01-c02-cell"/>
          <p:cNvSpPr/>
          <p:nvPr/>
        </p:nvSpPr>
        <p:spPr>
          <a:xfrm>
            <a:off x="5289346" y="5513831"/>
            <a:ext cx="2951134"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07-element003-table-r01-c02-text"/>
          <p:cNvSpPr txBox="1"/>
          <p:nvPr/>
        </p:nvSpPr>
        <p:spPr>
          <a:xfrm>
            <a:off x="5380786" y="5586983"/>
            <a:ext cx="2768254" cy="4023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-8,330</a:t>
            </a:r>
          </a:p>
        </p:txBody>
      </p:sp>
      <p:sp>
        <p:nvSpPr>
          <p:cNvPr id="59" name="slide007-element003-table-r01-c03-cell"/>
          <p:cNvSpPr/>
          <p:nvPr/>
        </p:nvSpPr>
        <p:spPr>
          <a:xfrm>
            <a:off x="8240481" y="5513831"/>
            <a:ext cx="281699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07-element003-table-r01-c03-text"/>
          <p:cNvSpPr txBox="1"/>
          <p:nvPr/>
        </p:nvSpPr>
        <p:spPr>
          <a:xfrm>
            <a:off x="8331921" y="5586983"/>
            <a:ext cx="2634112" cy="4023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-2.25%</a:t>
            </a:r>
          </a:p>
        </p:txBody>
      </p:sp>
      <p:sp>
        <p:nvSpPr>
          <p:cNvPr id="61" name="slide007-element003-table-r01-c04-cell"/>
          <p:cNvSpPr/>
          <p:nvPr/>
        </p:nvSpPr>
        <p:spPr>
          <a:xfrm>
            <a:off x="11057473" y="5513831"/>
            <a:ext cx="2951134"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07-element003-table-r01-c04-text"/>
          <p:cNvSpPr txBox="1"/>
          <p:nvPr/>
        </p:nvSpPr>
        <p:spPr>
          <a:xfrm>
            <a:off x="11148913" y="5586983"/>
            <a:ext cx="2768254" cy="4023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-8.33%</a:t>
            </a:r>
          </a:p>
        </p:txBody>
      </p:sp>
      <p:sp>
        <p:nvSpPr>
          <p:cNvPr id="63" name="slide007-element003-table-r02-c00-cell"/>
          <p:cNvSpPr/>
          <p:nvPr/>
        </p:nvSpPr>
        <p:spPr>
          <a:xfrm>
            <a:off x="594360" y="6062472"/>
            <a:ext cx="2951134"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07-element003-table-r02-c00-text"/>
          <p:cNvSpPr txBox="1"/>
          <p:nvPr/>
        </p:nvSpPr>
        <p:spPr>
          <a:xfrm>
            <a:off x="685800" y="6135624"/>
            <a:ext cx="2768254" cy="4023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MLP</a:t>
            </a:r>
          </a:p>
        </p:txBody>
      </p:sp>
      <p:sp>
        <p:nvSpPr>
          <p:cNvPr id="65" name="slide007-element003-table-r02-c01-cell"/>
          <p:cNvSpPr/>
          <p:nvPr/>
        </p:nvSpPr>
        <p:spPr>
          <a:xfrm>
            <a:off x="3545494" y="6062472"/>
            <a:ext cx="174385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07-element003-table-r02-c01-text"/>
          <p:cNvSpPr txBox="1"/>
          <p:nvPr/>
        </p:nvSpPr>
        <p:spPr>
          <a:xfrm>
            <a:off x="3636934" y="6135624"/>
            <a:ext cx="1560972" cy="4023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333</a:t>
            </a:r>
          </a:p>
        </p:txBody>
      </p:sp>
      <p:sp>
        <p:nvSpPr>
          <p:cNvPr id="67" name="slide007-element003-table-r02-c02-cell"/>
          <p:cNvSpPr/>
          <p:nvPr/>
        </p:nvSpPr>
        <p:spPr>
          <a:xfrm>
            <a:off x="5289346" y="6062472"/>
            <a:ext cx="2951134"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07-element003-table-r02-c02-text"/>
          <p:cNvSpPr txBox="1"/>
          <p:nvPr/>
        </p:nvSpPr>
        <p:spPr>
          <a:xfrm>
            <a:off x="5380786" y="6135624"/>
            <a:ext cx="2768254" cy="4023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1,370</a:t>
            </a:r>
          </a:p>
        </p:txBody>
      </p:sp>
      <p:sp>
        <p:nvSpPr>
          <p:cNvPr id="69" name="slide007-element003-table-r02-c03-cell"/>
          <p:cNvSpPr/>
          <p:nvPr/>
        </p:nvSpPr>
        <p:spPr>
          <a:xfrm>
            <a:off x="8240481" y="6062472"/>
            <a:ext cx="281699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07-element003-table-r02-c03-text"/>
          <p:cNvSpPr txBox="1"/>
          <p:nvPr/>
        </p:nvSpPr>
        <p:spPr>
          <a:xfrm>
            <a:off x="8331921" y="6135624"/>
            <a:ext cx="2634112" cy="4023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0.41%</a:t>
            </a:r>
          </a:p>
        </p:txBody>
      </p:sp>
      <p:sp>
        <p:nvSpPr>
          <p:cNvPr id="71" name="slide007-element003-table-r02-c04-cell"/>
          <p:cNvSpPr/>
          <p:nvPr/>
        </p:nvSpPr>
        <p:spPr>
          <a:xfrm>
            <a:off x="11057473" y="6062472"/>
            <a:ext cx="2951134"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07-element003-table-r02-c04-text"/>
          <p:cNvSpPr txBox="1"/>
          <p:nvPr/>
        </p:nvSpPr>
        <p:spPr>
          <a:xfrm>
            <a:off x="11148913" y="6135624"/>
            <a:ext cx="2768254" cy="4023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1.37%</a:t>
            </a:r>
          </a:p>
        </p:txBody>
      </p:sp>
      <p:sp>
        <p:nvSpPr>
          <p:cNvPr id="73" name="slide007-element004-text"/>
          <p:cNvSpPr txBox="1"/>
          <p:nvPr/>
        </p:nvSpPr>
        <p:spPr>
          <a:xfrm>
            <a:off x="594360" y="7059168"/>
            <a:ext cx="13350240" cy="420624"/>
          </a:xfrm>
          <a:prstGeom prst="rect">
            <a:avLst/>
          </a:prstGeom>
          <a:noFill/>
        </p:spPr>
        <p:txBody>
          <a:bodyPr wrap="square" lIns="0" rIns="0" tIns="0" bIns="0" anchor="t">
            <a:noAutofit/>
          </a:bodyPr>
          <a:lstStyle/>
          <a:p>
            <a:pPr algn="l">
              <a:lnSpc>
                <a:spcPct val="100000"/>
              </a:lnSpc>
              <a:spcBef>
                <a:spcPts val="0"/>
              </a:spcBef>
              <a:spcAft>
                <a:spcPts val="0"/>
              </a:spcAft>
            </a:pPr>
            <a:r>
              <a:rPr sz="1600" b="0">
                <a:solidFill>
                  <a:srgbClr val="536578"/>
                </a:solidFill>
                <a:latin typeface="Arial"/>
              </a:rPr>
              <a:t>The MLP's +0.41% stake ROI is uncertain: its conditional 95% interval includes zero. The following EPL extensions are exploratory.</a:t>
            </a:r>
          </a:p>
        </p:txBody>
      </p:sp>
      <p:cxnSp>
        <p:nvCxnSpPr>
          <p:cNvPr id="74" name="slide007-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75" name="slide007-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RESULTS.md; classification_scores.csv; metrics.csv | Full paths in notes</a:t>
            </a:r>
          </a:p>
        </p:txBody>
      </p:sp>
      <p:sp>
        <p:nvSpPr>
          <p:cNvPr id="76" name="slide007-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8-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PREMIER LEAGUE RESULTS | PANAGIOTIS HOUSOS</a:t>
            </a:r>
          </a:p>
        </p:txBody>
      </p:sp>
      <p:sp>
        <p:nvSpPr>
          <p:cNvPr id="3" name="slide008-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money progression of all 116 strategies</a:t>
            </a:r>
          </a:p>
        </p:txBody>
      </p:sp>
      <p:sp>
        <p:nvSpPr>
          <p:cNvPr id="4" name="slide008-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2025/26 is the common season available for every account. Each starts with 100,000 monetary units.</a:t>
            </a:r>
          </a:p>
        </p:txBody>
      </p:sp>
      <p:pic>
        <p:nvPicPr>
          <p:cNvPr id="5" name="slide008-element000-image-image" descr="epl_all_116.png"/>
          <p:cNvPicPr>
            <a:picLocks noChangeAspect="1"/>
          </p:cNvPicPr>
          <p:nvPr/>
        </p:nvPicPr>
        <p:blipFill>
          <a:blip r:embed="rId2"/>
          <a:stretch>
            <a:fillRect/>
          </a:stretch>
        </p:blipFill>
        <p:spPr>
          <a:xfrm>
            <a:off x="594360" y="1940351"/>
            <a:ext cx="13414248" cy="4815240"/>
          </a:xfrm>
          <a:prstGeom prst="rect">
            <a:avLst/>
          </a:prstGeom>
        </p:spPr>
      </p:pic>
      <p:sp>
        <p:nvSpPr>
          <p:cNvPr id="6" name="slide008-element001-text"/>
          <p:cNvSpPr txBox="1"/>
          <p:nvPr/>
        </p:nvSpPr>
        <p:spPr>
          <a:xfrm>
            <a:off x="594360" y="7059168"/>
            <a:ext cx="13350240" cy="457200"/>
          </a:xfrm>
          <a:prstGeom prst="rect">
            <a:avLst/>
          </a:prstGeom>
          <a:noFill/>
        </p:spPr>
        <p:txBody>
          <a:bodyPr wrap="square" lIns="0" rIns="0" tIns="0" bIns="0" anchor="t">
            <a:noAutofit/>
          </a:bodyPr>
          <a:lstStyle/>
          <a:p>
            <a:pPr algn="l">
              <a:lnSpc>
                <a:spcPct val="100000"/>
              </a:lnSpc>
              <a:spcBef>
                <a:spcPts val="0"/>
              </a:spcBef>
              <a:spcAft>
                <a:spcPts val="0"/>
              </a:spcAft>
            </a:pPr>
            <a:r>
              <a:rPr sz="1700" b="0">
                <a:solidFill>
                  <a:srgbClr val="536578"/>
                </a:solidFill>
                <a:latin typeface="Arial"/>
              </a:rPr>
              <a:t>All 84 original and 32 new rules are included. The next model pages label their separate four-year statistics explicitly.</a:t>
            </a:r>
          </a:p>
        </p:txBody>
      </p:sp>
      <p:cxnSp>
        <p:nvCxnSpPr>
          <p:cNvPr id="7" name="slide008-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8" name="slide008-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graph_equity_2025_all.csv | Full paths in notes</a:t>
            </a:r>
          </a:p>
        </p:txBody>
      </p:sp>
      <p:sp>
        <p:nvSpPr>
          <p:cNvPr id="9" name="slide008-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9-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MODEL AND TRADING RULE | S029</a:t>
            </a:r>
          </a:p>
        </p:txBody>
      </p:sp>
      <p:sp>
        <p:nvSpPr>
          <p:cNvPr id="3" name="slide009-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best prediction model: odds + team/player form</a:t>
            </a:r>
          </a:p>
        </p:txBody>
      </p:sp>
      <p:sp>
        <p:nvSpPr>
          <p:cNvPr id="4" name="slide009-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Lowest prediction error among the learned models on the same four-year sample. Trading statistics: 2022/23–2025/26, 1,470 matches.</a:t>
            </a:r>
          </a:p>
        </p:txBody>
      </p:sp>
      <p:sp>
        <p:nvSpPr>
          <p:cNvPr id="5" name="slide009-element000-text"/>
          <p:cNvSpPr txBox="1"/>
          <p:nvPr/>
        </p:nvSpPr>
        <p:spPr>
          <a:xfrm>
            <a:off x="594360" y="1938528"/>
            <a:ext cx="630936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WHAT IT DOES</a:t>
            </a:r>
          </a:p>
        </p:txBody>
      </p:sp>
      <p:sp>
        <p:nvSpPr>
          <p:cNvPr id="6" name="slide009-element001-text"/>
          <p:cNvSpPr txBox="1"/>
          <p:nvPr/>
        </p:nvSpPr>
        <p:spPr>
          <a:xfrm>
            <a:off x="594360" y="2395728"/>
            <a:ext cx="6309360" cy="1325880"/>
          </a:xfrm>
          <a:prstGeom prst="rect">
            <a:avLst/>
          </a:prstGeom>
          <a:noFill/>
        </p:spPr>
        <p:txBody>
          <a:bodyPr wrap="square" lIns="0" rIns="0" tIns="0" bIns="0" anchor="t">
            <a:noAutofit/>
          </a:bodyPr>
          <a:lstStyle/>
          <a:p>
            <a:pPr algn="l">
              <a:lnSpc>
                <a:spcPct val="100000"/>
              </a:lnSpc>
              <a:spcBef>
                <a:spcPts val="0"/>
              </a:spcBef>
              <a:spcAft>
                <a:spcPts val="0"/>
              </a:spcAft>
            </a:pPr>
            <a:r>
              <a:rPr sz="2200" b="0">
                <a:solidFill>
                  <a:srgbClr val="11243A"/>
                </a:solidFill>
                <a:latin typeface="Arial"/>
              </a:rPr>
              <a:t>Starts with bookmaker probabilities, then adjusts them using earlier team results and player form.</a:t>
            </a:r>
          </a:p>
        </p:txBody>
      </p:sp>
      <p:sp>
        <p:nvSpPr>
          <p:cNvPr id="7" name="slide009-element002-text"/>
          <p:cNvSpPr txBox="1"/>
          <p:nvPr/>
        </p:nvSpPr>
        <p:spPr>
          <a:xfrm>
            <a:off x="594360" y="3867912"/>
            <a:ext cx="630936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WHEN AND HOW MUCH IT BETS</a:t>
            </a:r>
          </a:p>
        </p:txBody>
      </p:sp>
      <p:sp>
        <p:nvSpPr>
          <p:cNvPr id="8" name="slide009-element003-text"/>
          <p:cNvSpPr txBox="1"/>
          <p:nvPr/>
        </p:nvSpPr>
        <p:spPr>
          <a:xfrm>
            <a:off x="594360" y="4343400"/>
            <a:ext cx="6309360" cy="1993392"/>
          </a:xfrm>
          <a:prstGeom prst="rect">
            <a:avLst/>
          </a:prstGeom>
          <a:noFill/>
        </p:spPr>
        <p:txBody>
          <a:bodyPr wrap="square" lIns="0" rIns="0" tIns="0" bIns="0" anchor="t">
            <a:noAutofit/>
          </a:bodyPr>
          <a:lstStyle/>
          <a:p>
            <a:pPr algn="l">
              <a:lnSpc>
                <a:spcPct val="100000"/>
              </a:lnSpc>
              <a:spcBef>
                <a:spcPts val="0"/>
              </a:spcBef>
              <a:spcAft>
                <a:spcPts val="0"/>
              </a:spcAft>
            </a:pPr>
            <a:r>
              <a:rPr sz="2100" b="0">
                <a:solidFill>
                  <a:srgbClr val="11243A"/>
                </a:solidFill>
                <a:latin typeface="Arial"/>
              </a:rPr>
              <a:t>Choose home, draw or away with the highest estimated return.</a:t>
            </a:r>
          </a:p>
          <a:p>
            <a:pPr algn="l">
              <a:lnSpc>
                <a:spcPct val="100000"/>
              </a:lnSpc>
              <a:spcBef>
                <a:spcPts val="0"/>
              </a:spcBef>
              <a:spcAft>
                <a:spcPts val="0"/>
              </a:spcAft>
            </a:pPr>
            <a:r>
              <a:rPr sz="2100" b="0">
                <a:solidFill>
                  <a:srgbClr val="11243A"/>
                </a:solidFill>
                <a:latin typeface="Arial"/>
              </a:rPr>
              <a:t>Bet only when the model estimates a return above 5%.</a:t>
            </a:r>
          </a:p>
          <a:p>
            <a:pPr algn="l">
              <a:lnSpc>
                <a:spcPct val="100000"/>
              </a:lnSpc>
              <a:spcBef>
                <a:spcPts val="0"/>
              </a:spcBef>
              <a:spcAft>
                <a:spcPts val="0"/>
              </a:spcAft>
            </a:pPr>
            <a:r>
              <a:rPr sz="2100" b="0">
                <a:solidFill>
                  <a:srgbClr val="11243A"/>
                </a:solidFill>
                <a:latin typeface="Arial"/>
              </a:rPr>
              <a:t>Request 1,000 per bet: 1% of the initial 100,000.</a:t>
            </a:r>
          </a:p>
        </p:txBody>
      </p:sp>
      <p:sp>
        <p:nvSpPr>
          <p:cNvPr id="9" name="slide009-element004-text"/>
          <p:cNvSpPr txBox="1"/>
          <p:nvPr/>
        </p:nvSpPr>
        <p:spPr>
          <a:xfrm>
            <a:off x="594360" y="6519672"/>
            <a:ext cx="6309360" cy="457200"/>
          </a:xfrm>
          <a:prstGeom prst="rect">
            <a:avLst/>
          </a:prstGeom>
          <a:noFill/>
        </p:spPr>
        <p:txBody>
          <a:bodyPr wrap="square" lIns="0" rIns="0" tIns="0" bIns="0" anchor="t">
            <a:noAutofit/>
          </a:bodyPr>
          <a:lstStyle/>
          <a:p>
            <a:pPr algn="l">
              <a:lnSpc>
                <a:spcPct val="100000"/>
              </a:lnSpc>
              <a:spcBef>
                <a:spcPts val="0"/>
              </a:spcBef>
              <a:spcAft>
                <a:spcPts val="0"/>
              </a:spcAft>
            </a:pPr>
            <a:r>
              <a:rPr sz="1600" b="0">
                <a:solidFill>
                  <a:srgbClr val="536578"/>
                </a:solidFill>
                <a:latin typeface="Arial"/>
              </a:rPr>
              <a:t>Forecast accuracy: 54.15%  |  Prediction loss: 0.9693</a:t>
            </a:r>
          </a:p>
        </p:txBody>
      </p:sp>
      <p:sp>
        <p:nvSpPr>
          <p:cNvPr id="10" name="slide009-element005-card-background"/>
          <p:cNvSpPr/>
          <p:nvPr/>
        </p:nvSpPr>
        <p:spPr>
          <a:xfrm>
            <a:off x="7360920" y="1901952"/>
            <a:ext cx="315468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ide009-element005-card-accent"/>
          <p:cNvSpPr/>
          <p:nvPr/>
        </p:nvSpPr>
        <p:spPr>
          <a:xfrm>
            <a:off x="7360920" y="1901952"/>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9-element005-card-label"/>
          <p:cNvSpPr txBox="1"/>
          <p:nvPr/>
        </p:nvSpPr>
        <p:spPr>
          <a:xfrm>
            <a:off x="7516368" y="2011680"/>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ENDING CAPITAL</a:t>
            </a:r>
          </a:p>
        </p:txBody>
      </p:sp>
      <p:sp>
        <p:nvSpPr>
          <p:cNvPr id="13" name="slide009-element005-card-value"/>
          <p:cNvSpPr txBox="1"/>
          <p:nvPr/>
        </p:nvSpPr>
        <p:spPr>
          <a:xfrm>
            <a:off x="7516368" y="2267712"/>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123,340</a:t>
            </a:r>
          </a:p>
        </p:txBody>
      </p:sp>
      <p:sp>
        <p:nvSpPr>
          <p:cNvPr id="14" name="slide009-element005-card-detail"/>
          <p:cNvSpPr txBox="1"/>
          <p:nvPr/>
        </p:nvSpPr>
        <p:spPr>
          <a:xfrm>
            <a:off x="7516368" y="2798064"/>
            <a:ext cx="284378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Started at 100,000</a:t>
            </a:r>
          </a:p>
        </p:txBody>
      </p:sp>
      <p:sp>
        <p:nvSpPr>
          <p:cNvPr id="15" name="slide009-element006-card-background"/>
          <p:cNvSpPr/>
          <p:nvPr/>
        </p:nvSpPr>
        <p:spPr>
          <a:xfrm>
            <a:off x="10835640" y="1901952"/>
            <a:ext cx="315468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09-element006-card-accent"/>
          <p:cNvSpPr/>
          <p:nvPr/>
        </p:nvSpPr>
        <p:spPr>
          <a:xfrm>
            <a:off x="10835640" y="1901952"/>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ide009-element006-card-label"/>
          <p:cNvSpPr txBox="1"/>
          <p:nvPr/>
        </p:nvSpPr>
        <p:spPr>
          <a:xfrm>
            <a:off x="10991088" y="2011680"/>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RETURN ON INITIAL CAPITAL</a:t>
            </a:r>
          </a:p>
        </p:txBody>
      </p:sp>
      <p:sp>
        <p:nvSpPr>
          <p:cNvPr id="18" name="slide009-element006-card-value"/>
          <p:cNvSpPr txBox="1"/>
          <p:nvPr/>
        </p:nvSpPr>
        <p:spPr>
          <a:xfrm>
            <a:off x="10991088" y="2267712"/>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23.34%</a:t>
            </a:r>
          </a:p>
        </p:txBody>
      </p:sp>
      <p:sp>
        <p:nvSpPr>
          <p:cNvPr id="19" name="slide009-element006-card-detail"/>
          <p:cNvSpPr txBox="1"/>
          <p:nvPr/>
        </p:nvSpPr>
        <p:spPr>
          <a:xfrm>
            <a:off x="10991088" y="2798064"/>
            <a:ext cx="284378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Four-year account</a:t>
            </a:r>
          </a:p>
        </p:txBody>
      </p:sp>
      <p:sp>
        <p:nvSpPr>
          <p:cNvPr id="20" name="slide009-element007-table-r00-c00-cell"/>
          <p:cNvSpPr/>
          <p:nvPr/>
        </p:nvSpPr>
        <p:spPr>
          <a:xfrm>
            <a:off x="7360920" y="3703320"/>
            <a:ext cx="3977639" cy="437605"/>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ide009-element007-table-r00-c00-text"/>
          <p:cNvSpPr txBox="1"/>
          <p:nvPr/>
        </p:nvSpPr>
        <p:spPr>
          <a:xfrm>
            <a:off x="7452360" y="3776472"/>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Trading statistic</a:t>
            </a:r>
          </a:p>
        </p:txBody>
      </p:sp>
      <p:sp>
        <p:nvSpPr>
          <p:cNvPr id="22" name="slide009-element007-table-r00-c01-cell"/>
          <p:cNvSpPr/>
          <p:nvPr/>
        </p:nvSpPr>
        <p:spPr>
          <a:xfrm>
            <a:off x="11338560" y="3703320"/>
            <a:ext cx="2651760" cy="437605"/>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lide009-element007-table-r00-c01-text"/>
          <p:cNvSpPr txBox="1"/>
          <p:nvPr/>
        </p:nvSpPr>
        <p:spPr>
          <a:xfrm>
            <a:off x="11430000" y="3776472"/>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Result</a:t>
            </a:r>
          </a:p>
        </p:txBody>
      </p:sp>
      <p:sp>
        <p:nvSpPr>
          <p:cNvPr id="24" name="slide009-element007-table-r01-c00-cell"/>
          <p:cNvSpPr/>
          <p:nvPr/>
        </p:nvSpPr>
        <p:spPr>
          <a:xfrm>
            <a:off x="7360920" y="4140925"/>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lide009-element007-table-r01-c00-text"/>
          <p:cNvSpPr txBox="1"/>
          <p:nvPr/>
        </p:nvSpPr>
        <p:spPr>
          <a:xfrm>
            <a:off x="7452360" y="4214077"/>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Bets / trading frequency</a:t>
            </a:r>
          </a:p>
        </p:txBody>
      </p:sp>
      <p:sp>
        <p:nvSpPr>
          <p:cNvPr id="26" name="slide009-element007-table-r01-c01-cell"/>
          <p:cNvSpPr/>
          <p:nvPr/>
        </p:nvSpPr>
        <p:spPr>
          <a:xfrm>
            <a:off x="11338560" y="4140925"/>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lide009-element007-table-r01-c01-text"/>
          <p:cNvSpPr txBox="1"/>
          <p:nvPr/>
        </p:nvSpPr>
        <p:spPr>
          <a:xfrm>
            <a:off x="11430000" y="4214077"/>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1,147 / 78.03%</a:t>
            </a:r>
          </a:p>
        </p:txBody>
      </p:sp>
      <p:sp>
        <p:nvSpPr>
          <p:cNvPr id="28" name="slide009-element007-table-r02-c00-cell"/>
          <p:cNvSpPr/>
          <p:nvPr/>
        </p:nvSpPr>
        <p:spPr>
          <a:xfrm>
            <a:off x="7360920" y="4578531"/>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lide009-element007-table-r02-c00-text"/>
          <p:cNvSpPr txBox="1"/>
          <p:nvPr/>
        </p:nvSpPr>
        <p:spPr>
          <a:xfrm>
            <a:off x="7452360" y="4651683"/>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Hit ratio: bets won</a:t>
            </a:r>
          </a:p>
        </p:txBody>
      </p:sp>
      <p:sp>
        <p:nvSpPr>
          <p:cNvPr id="30" name="slide009-element007-table-r02-c01-cell"/>
          <p:cNvSpPr/>
          <p:nvPr/>
        </p:nvSpPr>
        <p:spPr>
          <a:xfrm>
            <a:off x="11338560" y="4578531"/>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lide009-element007-table-r02-c01-text"/>
          <p:cNvSpPr txBox="1"/>
          <p:nvPr/>
        </p:nvSpPr>
        <p:spPr>
          <a:xfrm>
            <a:off x="11430000" y="4651683"/>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31.04%</a:t>
            </a:r>
          </a:p>
        </p:txBody>
      </p:sp>
      <p:sp>
        <p:nvSpPr>
          <p:cNvPr id="32" name="slide009-element007-table-r03-c00-cell"/>
          <p:cNvSpPr/>
          <p:nvPr/>
        </p:nvSpPr>
        <p:spPr>
          <a:xfrm>
            <a:off x="7360920" y="5016137"/>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lide009-element007-table-r03-c00-text"/>
          <p:cNvSpPr txBox="1"/>
          <p:nvPr/>
        </p:nvSpPr>
        <p:spPr>
          <a:xfrm>
            <a:off x="7452360" y="5089289"/>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Expected gain per trade</a:t>
            </a:r>
          </a:p>
        </p:txBody>
      </p:sp>
      <p:sp>
        <p:nvSpPr>
          <p:cNvPr id="34" name="slide009-element007-table-r03-c01-cell"/>
          <p:cNvSpPr/>
          <p:nvPr/>
        </p:nvSpPr>
        <p:spPr>
          <a:xfrm>
            <a:off x="11338560" y="5016137"/>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lide009-element007-table-r03-c01-text"/>
          <p:cNvSpPr txBox="1"/>
          <p:nvPr/>
        </p:nvSpPr>
        <p:spPr>
          <a:xfrm>
            <a:off x="11430000" y="5089289"/>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852.95</a:t>
            </a:r>
          </a:p>
        </p:txBody>
      </p:sp>
      <p:sp>
        <p:nvSpPr>
          <p:cNvPr id="36" name="slide009-element007-table-r04-c00-cell"/>
          <p:cNvSpPr/>
          <p:nvPr/>
        </p:nvSpPr>
        <p:spPr>
          <a:xfrm>
            <a:off x="7360920" y="5453742"/>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lide009-element007-table-r04-c00-text"/>
          <p:cNvSpPr txBox="1"/>
          <p:nvPr/>
        </p:nvSpPr>
        <p:spPr>
          <a:xfrm>
            <a:off x="7452360" y="5526894"/>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Expected loss per trade</a:t>
            </a:r>
          </a:p>
        </p:txBody>
      </p:sp>
      <p:sp>
        <p:nvSpPr>
          <p:cNvPr id="38" name="slide009-element007-table-r04-c01-cell"/>
          <p:cNvSpPr/>
          <p:nvPr/>
        </p:nvSpPr>
        <p:spPr>
          <a:xfrm>
            <a:off x="11338560" y="5453742"/>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lide009-element007-table-r04-c01-text"/>
          <p:cNvSpPr txBox="1"/>
          <p:nvPr/>
        </p:nvSpPr>
        <p:spPr>
          <a:xfrm>
            <a:off x="11430000" y="5526894"/>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663.70</a:t>
            </a:r>
          </a:p>
        </p:txBody>
      </p:sp>
      <p:sp>
        <p:nvSpPr>
          <p:cNvPr id="40" name="slide009-element007-table-r05-c00-cell"/>
          <p:cNvSpPr/>
          <p:nvPr/>
        </p:nvSpPr>
        <p:spPr>
          <a:xfrm>
            <a:off x="7360920" y="5891348"/>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lide009-element007-table-r05-c00-text"/>
          <p:cNvSpPr txBox="1"/>
          <p:nvPr/>
        </p:nvSpPr>
        <p:spPr>
          <a:xfrm>
            <a:off x="7452360" y="5964500"/>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Profit / ROI on total stakes</a:t>
            </a:r>
          </a:p>
        </p:txBody>
      </p:sp>
      <p:sp>
        <p:nvSpPr>
          <p:cNvPr id="42" name="slide009-element007-table-r05-c01-cell"/>
          <p:cNvSpPr/>
          <p:nvPr/>
        </p:nvSpPr>
        <p:spPr>
          <a:xfrm>
            <a:off x="11338560" y="5891348"/>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lide009-element007-table-r05-c01-text"/>
          <p:cNvSpPr txBox="1"/>
          <p:nvPr/>
        </p:nvSpPr>
        <p:spPr>
          <a:xfrm>
            <a:off x="11430000" y="5964500"/>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23,340 / 2.03%</a:t>
            </a:r>
          </a:p>
        </p:txBody>
      </p:sp>
      <p:sp>
        <p:nvSpPr>
          <p:cNvPr id="44" name="slide009-element007-table-r06-c00-cell"/>
          <p:cNvSpPr/>
          <p:nvPr/>
        </p:nvSpPr>
        <p:spPr>
          <a:xfrm>
            <a:off x="7360920" y="6328954"/>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lide009-element007-table-r06-c00-text"/>
          <p:cNvSpPr txBox="1"/>
          <p:nvPr/>
        </p:nvSpPr>
        <p:spPr>
          <a:xfrm>
            <a:off x="7452360" y="6402106"/>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Largest drop from a prior peak</a:t>
            </a:r>
          </a:p>
        </p:txBody>
      </p:sp>
      <p:sp>
        <p:nvSpPr>
          <p:cNvPr id="46" name="slide009-element007-table-r06-c01-cell"/>
          <p:cNvSpPr/>
          <p:nvPr/>
        </p:nvSpPr>
        <p:spPr>
          <a:xfrm>
            <a:off x="11338560" y="6328954"/>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lide009-element007-table-r06-c01-text"/>
          <p:cNvSpPr txBox="1"/>
          <p:nvPr/>
        </p:nvSpPr>
        <p:spPr>
          <a:xfrm>
            <a:off x="11430000" y="6402106"/>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31.88%</a:t>
            </a:r>
          </a:p>
        </p:txBody>
      </p:sp>
      <p:sp>
        <p:nvSpPr>
          <p:cNvPr id="48" name="slide009-element008-text"/>
          <p:cNvSpPr txBox="1"/>
          <p:nvPr/>
        </p:nvSpPr>
        <p:spPr>
          <a:xfrm>
            <a:off x="594360" y="7150608"/>
            <a:ext cx="13350240" cy="320040"/>
          </a:xfrm>
          <a:prstGeom prst="rect">
            <a:avLst/>
          </a:prstGeom>
          <a:noFill/>
        </p:spPr>
        <p:txBody>
          <a:bodyPr wrap="square" lIns="0" rIns="0" tIns="0" bIns="0" anchor="t">
            <a:noAutofit/>
          </a:bodyPr>
          <a:lstStyle/>
          <a:p>
            <a:pPr algn="l">
              <a:lnSpc>
                <a:spcPct val="100000"/>
              </a:lnSpc>
              <a:spcBef>
                <a:spcPts val="0"/>
              </a:spcBef>
              <a:spcAft>
                <a:spcPts val="0"/>
              </a:spcAft>
            </a:pPr>
            <a:r>
              <a:rPr sz="1450" b="0">
                <a:solidFill>
                  <a:srgbClr val="536578"/>
                </a:solidFill>
                <a:latin typeface="Arial"/>
              </a:rPr>
              <a:t>Stakes can be reduced to available opening cash. Expected gain/loss are model estimates, not realized average wins/losses.</a:t>
            </a:r>
          </a:p>
        </p:txBody>
      </p:sp>
      <p:cxnSp>
        <p:nvCxnSpPr>
          <p:cNvPr id="49" name="slide009-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50" name="slide009-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predictions.parquet; metrics_continuous.parquet | Full paths in notes</a:t>
            </a:r>
          </a:p>
        </p:txBody>
      </p:sp>
      <p:sp>
        <p:nvSpPr>
          <p:cNvPr id="51" name="slide009-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0-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MODEL AND TRADING RULE | S033</a:t>
            </a:r>
          </a:p>
        </p:txBody>
      </p:sp>
      <p:sp>
        <p:nvSpPr>
          <p:cNvPr id="3" name="slide010-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simplest model: past result frequencies</a:t>
            </a:r>
          </a:p>
        </p:txBody>
      </p:sp>
      <p:sp>
        <p:nvSpPr>
          <p:cNvPr id="4" name="slide010-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No match-specific inputs: every game in a season gets the same three probabilities. Trading statistics: 2022/23–2025/26, 1,470 matches.</a:t>
            </a:r>
          </a:p>
        </p:txBody>
      </p:sp>
      <p:sp>
        <p:nvSpPr>
          <p:cNvPr id="5" name="slide010-element000-text"/>
          <p:cNvSpPr txBox="1"/>
          <p:nvPr/>
        </p:nvSpPr>
        <p:spPr>
          <a:xfrm>
            <a:off x="594360" y="1938528"/>
            <a:ext cx="630936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WHAT IT DOES</a:t>
            </a:r>
          </a:p>
        </p:txBody>
      </p:sp>
      <p:sp>
        <p:nvSpPr>
          <p:cNvPr id="6" name="slide010-element001-text"/>
          <p:cNvSpPr txBox="1"/>
          <p:nvPr/>
        </p:nvSpPr>
        <p:spPr>
          <a:xfrm>
            <a:off x="594360" y="2395728"/>
            <a:ext cx="6309360" cy="1325880"/>
          </a:xfrm>
          <a:prstGeom prst="rect">
            <a:avLst/>
          </a:prstGeom>
          <a:noFill/>
        </p:spPr>
        <p:txBody>
          <a:bodyPr wrap="square" lIns="0" rIns="0" tIns="0" bIns="0" anchor="t">
            <a:noAutofit/>
          </a:bodyPr>
          <a:lstStyle/>
          <a:p>
            <a:pPr algn="l">
              <a:lnSpc>
                <a:spcPct val="100000"/>
              </a:lnSpc>
              <a:spcBef>
                <a:spcPts val="0"/>
              </a:spcBef>
              <a:spcAft>
                <a:spcPts val="0"/>
              </a:spcAft>
            </a:pPr>
            <a:r>
              <a:rPr sz="2200" b="0">
                <a:solidFill>
                  <a:srgbClr val="11243A"/>
                </a:solidFill>
                <a:latin typeface="Arial"/>
              </a:rPr>
              <a:t>Counts how often home wins, draws and away wins happened in the training data. Uses those fractions for every game.</a:t>
            </a:r>
          </a:p>
        </p:txBody>
      </p:sp>
      <p:sp>
        <p:nvSpPr>
          <p:cNvPr id="7" name="slide010-element002-text"/>
          <p:cNvSpPr txBox="1"/>
          <p:nvPr/>
        </p:nvSpPr>
        <p:spPr>
          <a:xfrm>
            <a:off x="594360" y="3867912"/>
            <a:ext cx="630936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WHEN AND HOW MUCH IT BETS</a:t>
            </a:r>
          </a:p>
        </p:txBody>
      </p:sp>
      <p:sp>
        <p:nvSpPr>
          <p:cNvPr id="8" name="slide010-element003-text"/>
          <p:cNvSpPr txBox="1"/>
          <p:nvPr/>
        </p:nvSpPr>
        <p:spPr>
          <a:xfrm>
            <a:off x="594360" y="4343400"/>
            <a:ext cx="6309360" cy="1993392"/>
          </a:xfrm>
          <a:prstGeom prst="rect">
            <a:avLst/>
          </a:prstGeom>
          <a:noFill/>
        </p:spPr>
        <p:txBody>
          <a:bodyPr wrap="square" lIns="0" rIns="0" tIns="0" bIns="0" anchor="t">
            <a:noAutofit/>
          </a:bodyPr>
          <a:lstStyle/>
          <a:p>
            <a:pPr algn="l">
              <a:lnSpc>
                <a:spcPct val="100000"/>
              </a:lnSpc>
              <a:spcBef>
                <a:spcPts val="0"/>
              </a:spcBef>
              <a:spcAft>
                <a:spcPts val="0"/>
              </a:spcAft>
            </a:pPr>
            <a:r>
              <a:rPr sz="2100" b="0">
                <a:solidFill>
                  <a:srgbClr val="11243A"/>
                </a:solidFill>
                <a:latin typeface="Arial"/>
              </a:rPr>
              <a:t>Choose home, draw or away with the highest estimated return.</a:t>
            </a:r>
          </a:p>
          <a:p>
            <a:pPr algn="l">
              <a:lnSpc>
                <a:spcPct val="100000"/>
              </a:lnSpc>
              <a:spcBef>
                <a:spcPts val="0"/>
              </a:spcBef>
              <a:spcAft>
                <a:spcPts val="0"/>
              </a:spcAft>
            </a:pPr>
            <a:r>
              <a:rPr sz="2100" b="0">
                <a:solidFill>
                  <a:srgbClr val="11243A"/>
                </a:solidFill>
                <a:latin typeface="Arial"/>
              </a:rPr>
              <a:t>Bet only when the model estimates a return above 5%.</a:t>
            </a:r>
          </a:p>
          <a:p>
            <a:pPr algn="l">
              <a:lnSpc>
                <a:spcPct val="100000"/>
              </a:lnSpc>
              <a:spcBef>
                <a:spcPts val="0"/>
              </a:spcBef>
              <a:spcAft>
                <a:spcPts val="0"/>
              </a:spcAft>
            </a:pPr>
            <a:r>
              <a:rPr sz="2100" b="0">
                <a:solidFill>
                  <a:srgbClr val="11243A"/>
                </a:solidFill>
                <a:latin typeface="Arial"/>
              </a:rPr>
              <a:t>Request 1,000 per bet: 1% of the initial 100,000.</a:t>
            </a:r>
          </a:p>
        </p:txBody>
      </p:sp>
      <p:sp>
        <p:nvSpPr>
          <p:cNvPr id="9" name="slide010-element004-text"/>
          <p:cNvSpPr txBox="1"/>
          <p:nvPr/>
        </p:nvSpPr>
        <p:spPr>
          <a:xfrm>
            <a:off x="594360" y="6519672"/>
            <a:ext cx="6309360" cy="457200"/>
          </a:xfrm>
          <a:prstGeom prst="rect">
            <a:avLst/>
          </a:prstGeom>
          <a:noFill/>
        </p:spPr>
        <p:txBody>
          <a:bodyPr wrap="square" lIns="0" rIns="0" tIns="0" bIns="0" anchor="t">
            <a:noAutofit/>
          </a:bodyPr>
          <a:lstStyle/>
          <a:p>
            <a:pPr algn="l">
              <a:lnSpc>
                <a:spcPct val="100000"/>
              </a:lnSpc>
              <a:spcBef>
                <a:spcPts val="0"/>
              </a:spcBef>
              <a:spcAft>
                <a:spcPts val="0"/>
              </a:spcAft>
            </a:pPr>
            <a:r>
              <a:rPr sz="1600" b="0">
                <a:solidFill>
                  <a:srgbClr val="536578"/>
                </a:solidFill>
                <a:latin typeface="Arial"/>
              </a:rPr>
              <a:t>Forecast accuracy: 44.29%  |  Prediction loss: 1.0700</a:t>
            </a:r>
          </a:p>
        </p:txBody>
      </p:sp>
      <p:sp>
        <p:nvSpPr>
          <p:cNvPr id="10" name="slide010-element005-card-background"/>
          <p:cNvSpPr/>
          <p:nvPr/>
        </p:nvSpPr>
        <p:spPr>
          <a:xfrm>
            <a:off x="7360920" y="1901952"/>
            <a:ext cx="315468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ide010-element005-card-accent"/>
          <p:cNvSpPr/>
          <p:nvPr/>
        </p:nvSpPr>
        <p:spPr>
          <a:xfrm>
            <a:off x="7360920" y="1901952"/>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0-element005-card-label"/>
          <p:cNvSpPr txBox="1"/>
          <p:nvPr/>
        </p:nvSpPr>
        <p:spPr>
          <a:xfrm>
            <a:off x="7516368" y="2011680"/>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ENDING CAPITAL</a:t>
            </a:r>
          </a:p>
        </p:txBody>
      </p:sp>
      <p:sp>
        <p:nvSpPr>
          <p:cNvPr id="13" name="slide010-element005-card-value"/>
          <p:cNvSpPr txBox="1"/>
          <p:nvPr/>
        </p:nvSpPr>
        <p:spPr>
          <a:xfrm>
            <a:off x="7516368" y="2267712"/>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29,760</a:t>
            </a:r>
          </a:p>
        </p:txBody>
      </p:sp>
      <p:sp>
        <p:nvSpPr>
          <p:cNvPr id="14" name="slide010-element005-card-detail"/>
          <p:cNvSpPr txBox="1"/>
          <p:nvPr/>
        </p:nvSpPr>
        <p:spPr>
          <a:xfrm>
            <a:off x="7516368" y="2798064"/>
            <a:ext cx="284378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Started at 100,000</a:t>
            </a:r>
          </a:p>
        </p:txBody>
      </p:sp>
      <p:sp>
        <p:nvSpPr>
          <p:cNvPr id="15" name="slide010-element006-card-background"/>
          <p:cNvSpPr/>
          <p:nvPr/>
        </p:nvSpPr>
        <p:spPr>
          <a:xfrm>
            <a:off x="10835640" y="1901952"/>
            <a:ext cx="315468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0-element006-card-accent"/>
          <p:cNvSpPr/>
          <p:nvPr/>
        </p:nvSpPr>
        <p:spPr>
          <a:xfrm>
            <a:off x="10835640" y="1901952"/>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ide010-element006-card-label"/>
          <p:cNvSpPr txBox="1"/>
          <p:nvPr/>
        </p:nvSpPr>
        <p:spPr>
          <a:xfrm>
            <a:off x="10991088" y="2011680"/>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RETURN ON INITIAL CAPITAL</a:t>
            </a:r>
          </a:p>
        </p:txBody>
      </p:sp>
      <p:sp>
        <p:nvSpPr>
          <p:cNvPr id="18" name="slide010-element006-card-value"/>
          <p:cNvSpPr txBox="1"/>
          <p:nvPr/>
        </p:nvSpPr>
        <p:spPr>
          <a:xfrm>
            <a:off x="10991088" y="2267712"/>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-70.24%</a:t>
            </a:r>
          </a:p>
        </p:txBody>
      </p:sp>
      <p:sp>
        <p:nvSpPr>
          <p:cNvPr id="19" name="slide010-element006-card-detail"/>
          <p:cNvSpPr txBox="1"/>
          <p:nvPr/>
        </p:nvSpPr>
        <p:spPr>
          <a:xfrm>
            <a:off x="10991088" y="2798064"/>
            <a:ext cx="284378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Four-year account</a:t>
            </a:r>
          </a:p>
        </p:txBody>
      </p:sp>
      <p:sp>
        <p:nvSpPr>
          <p:cNvPr id="20" name="slide010-element007-table-r00-c00-cell"/>
          <p:cNvSpPr/>
          <p:nvPr/>
        </p:nvSpPr>
        <p:spPr>
          <a:xfrm>
            <a:off x="7360920" y="3703320"/>
            <a:ext cx="3977639" cy="437605"/>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ide010-element007-table-r00-c00-text"/>
          <p:cNvSpPr txBox="1"/>
          <p:nvPr/>
        </p:nvSpPr>
        <p:spPr>
          <a:xfrm>
            <a:off x="7452360" y="3776472"/>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Trading statistic</a:t>
            </a:r>
          </a:p>
        </p:txBody>
      </p:sp>
      <p:sp>
        <p:nvSpPr>
          <p:cNvPr id="22" name="slide010-element007-table-r00-c01-cell"/>
          <p:cNvSpPr/>
          <p:nvPr/>
        </p:nvSpPr>
        <p:spPr>
          <a:xfrm>
            <a:off x="11338560" y="3703320"/>
            <a:ext cx="2651760" cy="437605"/>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lide010-element007-table-r00-c01-text"/>
          <p:cNvSpPr txBox="1"/>
          <p:nvPr/>
        </p:nvSpPr>
        <p:spPr>
          <a:xfrm>
            <a:off x="11430000" y="3776472"/>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Result</a:t>
            </a:r>
          </a:p>
        </p:txBody>
      </p:sp>
      <p:sp>
        <p:nvSpPr>
          <p:cNvPr id="24" name="slide010-element007-table-r01-c00-cell"/>
          <p:cNvSpPr/>
          <p:nvPr/>
        </p:nvSpPr>
        <p:spPr>
          <a:xfrm>
            <a:off x="7360920" y="4140925"/>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lide010-element007-table-r01-c00-text"/>
          <p:cNvSpPr txBox="1"/>
          <p:nvPr/>
        </p:nvSpPr>
        <p:spPr>
          <a:xfrm>
            <a:off x="7452360" y="4214077"/>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Bets / trading frequency</a:t>
            </a:r>
          </a:p>
        </p:txBody>
      </p:sp>
      <p:sp>
        <p:nvSpPr>
          <p:cNvPr id="26" name="slide010-element007-table-r01-c01-cell"/>
          <p:cNvSpPr/>
          <p:nvPr/>
        </p:nvSpPr>
        <p:spPr>
          <a:xfrm>
            <a:off x="11338560" y="4140925"/>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lide010-element007-table-r01-c01-text"/>
          <p:cNvSpPr txBox="1"/>
          <p:nvPr/>
        </p:nvSpPr>
        <p:spPr>
          <a:xfrm>
            <a:off x="11430000" y="4214077"/>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1,447 / 98.44%</a:t>
            </a:r>
          </a:p>
        </p:txBody>
      </p:sp>
      <p:sp>
        <p:nvSpPr>
          <p:cNvPr id="28" name="slide010-element007-table-r02-c00-cell"/>
          <p:cNvSpPr/>
          <p:nvPr/>
        </p:nvSpPr>
        <p:spPr>
          <a:xfrm>
            <a:off x="7360920" y="4578531"/>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lide010-element007-table-r02-c00-text"/>
          <p:cNvSpPr txBox="1"/>
          <p:nvPr/>
        </p:nvSpPr>
        <p:spPr>
          <a:xfrm>
            <a:off x="7452360" y="4651683"/>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Hit ratio: bets won</a:t>
            </a:r>
          </a:p>
        </p:txBody>
      </p:sp>
      <p:sp>
        <p:nvSpPr>
          <p:cNvPr id="30" name="slide010-element007-table-r02-c01-cell"/>
          <p:cNvSpPr/>
          <p:nvPr/>
        </p:nvSpPr>
        <p:spPr>
          <a:xfrm>
            <a:off x="11338560" y="4578531"/>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lide010-element007-table-r02-c01-text"/>
          <p:cNvSpPr txBox="1"/>
          <p:nvPr/>
        </p:nvSpPr>
        <p:spPr>
          <a:xfrm>
            <a:off x="11430000" y="4651683"/>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23.01%</a:t>
            </a:r>
          </a:p>
        </p:txBody>
      </p:sp>
      <p:sp>
        <p:nvSpPr>
          <p:cNvPr id="32" name="slide010-element007-table-r03-c00-cell"/>
          <p:cNvSpPr/>
          <p:nvPr/>
        </p:nvSpPr>
        <p:spPr>
          <a:xfrm>
            <a:off x="7360920" y="5016137"/>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lide010-element007-table-r03-c00-text"/>
          <p:cNvSpPr txBox="1"/>
          <p:nvPr/>
        </p:nvSpPr>
        <p:spPr>
          <a:xfrm>
            <a:off x="7452360" y="5089289"/>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Expected gain per trade</a:t>
            </a:r>
          </a:p>
        </p:txBody>
      </p:sp>
      <p:sp>
        <p:nvSpPr>
          <p:cNvPr id="34" name="slide010-element007-table-r03-c01-cell"/>
          <p:cNvSpPr/>
          <p:nvPr/>
        </p:nvSpPr>
        <p:spPr>
          <a:xfrm>
            <a:off x="11338560" y="5016137"/>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lide010-element007-table-r03-c01-text"/>
          <p:cNvSpPr txBox="1"/>
          <p:nvPr/>
        </p:nvSpPr>
        <p:spPr>
          <a:xfrm>
            <a:off x="11430000" y="5089289"/>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1739.52</a:t>
            </a:r>
          </a:p>
        </p:txBody>
      </p:sp>
      <p:sp>
        <p:nvSpPr>
          <p:cNvPr id="36" name="slide010-element007-table-r04-c00-cell"/>
          <p:cNvSpPr/>
          <p:nvPr/>
        </p:nvSpPr>
        <p:spPr>
          <a:xfrm>
            <a:off x="7360920" y="5453742"/>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lide010-element007-table-r04-c00-text"/>
          <p:cNvSpPr txBox="1"/>
          <p:nvPr/>
        </p:nvSpPr>
        <p:spPr>
          <a:xfrm>
            <a:off x="7452360" y="5526894"/>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Expected loss per trade</a:t>
            </a:r>
          </a:p>
        </p:txBody>
      </p:sp>
      <p:sp>
        <p:nvSpPr>
          <p:cNvPr id="38" name="slide010-element007-table-r04-c01-cell"/>
          <p:cNvSpPr/>
          <p:nvPr/>
        </p:nvSpPr>
        <p:spPr>
          <a:xfrm>
            <a:off x="11338560" y="5453742"/>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lide010-element007-table-r04-c01-text"/>
          <p:cNvSpPr txBox="1"/>
          <p:nvPr/>
        </p:nvSpPr>
        <p:spPr>
          <a:xfrm>
            <a:off x="11430000" y="5526894"/>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611.96</a:t>
            </a:r>
          </a:p>
        </p:txBody>
      </p:sp>
      <p:sp>
        <p:nvSpPr>
          <p:cNvPr id="40" name="slide010-element007-table-r05-c00-cell"/>
          <p:cNvSpPr/>
          <p:nvPr/>
        </p:nvSpPr>
        <p:spPr>
          <a:xfrm>
            <a:off x="7360920" y="5891348"/>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lide010-element007-table-r05-c00-text"/>
          <p:cNvSpPr txBox="1"/>
          <p:nvPr/>
        </p:nvSpPr>
        <p:spPr>
          <a:xfrm>
            <a:off x="7452360" y="5964500"/>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Profit / ROI on total stakes</a:t>
            </a:r>
          </a:p>
        </p:txBody>
      </p:sp>
      <p:sp>
        <p:nvSpPr>
          <p:cNvPr id="42" name="slide010-element007-table-r05-c01-cell"/>
          <p:cNvSpPr/>
          <p:nvPr/>
        </p:nvSpPr>
        <p:spPr>
          <a:xfrm>
            <a:off x="11338560" y="5891348"/>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lide010-element007-table-r05-c01-text"/>
          <p:cNvSpPr txBox="1"/>
          <p:nvPr/>
        </p:nvSpPr>
        <p:spPr>
          <a:xfrm>
            <a:off x="11430000" y="5964500"/>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-70,240 / -4.85%</a:t>
            </a:r>
          </a:p>
        </p:txBody>
      </p:sp>
      <p:sp>
        <p:nvSpPr>
          <p:cNvPr id="44" name="slide010-element007-table-r06-c00-cell"/>
          <p:cNvSpPr/>
          <p:nvPr/>
        </p:nvSpPr>
        <p:spPr>
          <a:xfrm>
            <a:off x="7360920" y="6328954"/>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lide010-element007-table-r06-c00-text"/>
          <p:cNvSpPr txBox="1"/>
          <p:nvPr/>
        </p:nvSpPr>
        <p:spPr>
          <a:xfrm>
            <a:off x="7452360" y="6402106"/>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Largest drop from a prior peak</a:t>
            </a:r>
          </a:p>
        </p:txBody>
      </p:sp>
      <p:sp>
        <p:nvSpPr>
          <p:cNvPr id="46" name="slide010-element007-table-r06-c01-cell"/>
          <p:cNvSpPr/>
          <p:nvPr/>
        </p:nvSpPr>
        <p:spPr>
          <a:xfrm>
            <a:off x="11338560" y="6328954"/>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lide010-element007-table-r06-c01-text"/>
          <p:cNvSpPr txBox="1"/>
          <p:nvPr/>
        </p:nvSpPr>
        <p:spPr>
          <a:xfrm>
            <a:off x="11430000" y="6402106"/>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89.49%</a:t>
            </a:r>
          </a:p>
        </p:txBody>
      </p:sp>
      <p:sp>
        <p:nvSpPr>
          <p:cNvPr id="48" name="slide010-element008-text"/>
          <p:cNvSpPr txBox="1"/>
          <p:nvPr/>
        </p:nvSpPr>
        <p:spPr>
          <a:xfrm>
            <a:off x="594360" y="7150608"/>
            <a:ext cx="13350240" cy="320040"/>
          </a:xfrm>
          <a:prstGeom prst="rect">
            <a:avLst/>
          </a:prstGeom>
          <a:noFill/>
        </p:spPr>
        <p:txBody>
          <a:bodyPr wrap="square" lIns="0" rIns="0" tIns="0" bIns="0" anchor="t">
            <a:noAutofit/>
          </a:bodyPr>
          <a:lstStyle/>
          <a:p>
            <a:pPr algn="l">
              <a:lnSpc>
                <a:spcPct val="100000"/>
              </a:lnSpc>
              <a:spcBef>
                <a:spcPts val="0"/>
              </a:spcBef>
              <a:spcAft>
                <a:spcPts val="0"/>
              </a:spcAft>
            </a:pPr>
            <a:r>
              <a:rPr sz="1450" b="0">
                <a:solidFill>
                  <a:srgbClr val="536578"/>
                </a:solidFill>
                <a:latin typeface="Arial"/>
              </a:rPr>
              <a:t>Stakes can be reduced to available opening cash. Expected gain/loss are model estimates, not realized average wins/losses.</a:t>
            </a:r>
          </a:p>
        </p:txBody>
      </p:sp>
      <p:cxnSp>
        <p:nvCxnSpPr>
          <p:cNvPr id="49" name="slide010-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50" name="slide010-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predictions.parquet; metrics_continuous.parquet | Full paths in notes</a:t>
            </a:r>
          </a:p>
        </p:txBody>
      </p:sp>
      <p:sp>
        <p:nvSpPr>
          <p:cNvPr id="51" name="slide010-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1-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MODEL AND TRADING RULE | S017</a:t>
            </a:r>
          </a:p>
        </p:txBody>
      </p:sp>
      <p:sp>
        <p:nvSpPr>
          <p:cNvPr id="3" name="slide011-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team model: earlier team performance</a:t>
            </a:r>
          </a:p>
        </p:txBody>
      </p:sp>
      <p:sp>
        <p:nvSpPr>
          <p:cNvPr id="4" name="slide011-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Uses team performance and data-coverage controls; no player-performance or odds predictors. Trading statistics: 2022/23–2025/26, 1,470 matches.</a:t>
            </a:r>
          </a:p>
        </p:txBody>
      </p:sp>
      <p:sp>
        <p:nvSpPr>
          <p:cNvPr id="5" name="slide011-element000-text"/>
          <p:cNvSpPr txBox="1"/>
          <p:nvPr/>
        </p:nvSpPr>
        <p:spPr>
          <a:xfrm>
            <a:off x="594360" y="1938528"/>
            <a:ext cx="630936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WHAT IT DOES</a:t>
            </a:r>
          </a:p>
        </p:txBody>
      </p:sp>
      <p:sp>
        <p:nvSpPr>
          <p:cNvPr id="6" name="slide011-element001-text"/>
          <p:cNvSpPr txBox="1"/>
          <p:nvPr/>
        </p:nvSpPr>
        <p:spPr>
          <a:xfrm>
            <a:off x="594360" y="2395728"/>
            <a:ext cx="6309360" cy="1325880"/>
          </a:xfrm>
          <a:prstGeom prst="rect">
            <a:avLst/>
          </a:prstGeom>
          <a:noFill/>
        </p:spPr>
        <p:txBody>
          <a:bodyPr wrap="square" lIns="0" rIns="0" tIns="0" bIns="0" anchor="t">
            <a:noAutofit/>
          </a:bodyPr>
          <a:lstStyle/>
          <a:p>
            <a:pPr algn="l">
              <a:lnSpc>
                <a:spcPct val="100000"/>
              </a:lnSpc>
              <a:spcBef>
                <a:spcPts val="0"/>
              </a:spcBef>
              <a:spcAft>
                <a:spcPts val="0"/>
              </a:spcAft>
            </a:pPr>
            <a:r>
              <a:rPr sz="2200" b="0">
                <a:solidFill>
                  <a:srgbClr val="11243A"/>
                </a:solidFill>
                <a:latin typeface="Arial"/>
              </a:rPr>
              <a:t>Uses earlier goals, shots on target, corners, points, rest days and previous-season results to estimate home/draw/away chances.</a:t>
            </a:r>
          </a:p>
        </p:txBody>
      </p:sp>
      <p:sp>
        <p:nvSpPr>
          <p:cNvPr id="7" name="slide011-element002-text"/>
          <p:cNvSpPr txBox="1"/>
          <p:nvPr/>
        </p:nvSpPr>
        <p:spPr>
          <a:xfrm>
            <a:off x="594360" y="3867912"/>
            <a:ext cx="630936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WHEN AND HOW MUCH IT BETS</a:t>
            </a:r>
          </a:p>
        </p:txBody>
      </p:sp>
      <p:sp>
        <p:nvSpPr>
          <p:cNvPr id="8" name="slide011-element003-text"/>
          <p:cNvSpPr txBox="1"/>
          <p:nvPr/>
        </p:nvSpPr>
        <p:spPr>
          <a:xfrm>
            <a:off x="594360" y="4343400"/>
            <a:ext cx="6309360" cy="1993392"/>
          </a:xfrm>
          <a:prstGeom prst="rect">
            <a:avLst/>
          </a:prstGeom>
          <a:noFill/>
        </p:spPr>
        <p:txBody>
          <a:bodyPr wrap="square" lIns="0" rIns="0" tIns="0" bIns="0" anchor="t">
            <a:noAutofit/>
          </a:bodyPr>
          <a:lstStyle/>
          <a:p>
            <a:pPr algn="l">
              <a:lnSpc>
                <a:spcPct val="100000"/>
              </a:lnSpc>
              <a:spcBef>
                <a:spcPts val="0"/>
              </a:spcBef>
              <a:spcAft>
                <a:spcPts val="0"/>
              </a:spcAft>
            </a:pPr>
            <a:r>
              <a:rPr sz="2100" b="0">
                <a:solidFill>
                  <a:srgbClr val="11243A"/>
                </a:solidFill>
                <a:latin typeface="Arial"/>
              </a:rPr>
              <a:t>Choose home, draw or away with the highest estimated return.</a:t>
            </a:r>
          </a:p>
          <a:p>
            <a:pPr algn="l">
              <a:lnSpc>
                <a:spcPct val="100000"/>
              </a:lnSpc>
              <a:spcBef>
                <a:spcPts val="0"/>
              </a:spcBef>
              <a:spcAft>
                <a:spcPts val="0"/>
              </a:spcAft>
            </a:pPr>
            <a:r>
              <a:rPr sz="2100" b="0">
                <a:solidFill>
                  <a:srgbClr val="11243A"/>
                </a:solidFill>
                <a:latin typeface="Arial"/>
              </a:rPr>
              <a:t>Bet only when the model estimates a return above 5%.</a:t>
            </a:r>
          </a:p>
          <a:p>
            <a:pPr algn="l">
              <a:lnSpc>
                <a:spcPct val="100000"/>
              </a:lnSpc>
              <a:spcBef>
                <a:spcPts val="0"/>
              </a:spcBef>
              <a:spcAft>
                <a:spcPts val="0"/>
              </a:spcAft>
            </a:pPr>
            <a:r>
              <a:rPr sz="2100" b="0">
                <a:solidFill>
                  <a:srgbClr val="11243A"/>
                </a:solidFill>
                <a:latin typeface="Arial"/>
              </a:rPr>
              <a:t>Request 1,000 per bet: 1% of the initial 100,000.</a:t>
            </a:r>
          </a:p>
        </p:txBody>
      </p:sp>
      <p:sp>
        <p:nvSpPr>
          <p:cNvPr id="9" name="slide011-element004-text"/>
          <p:cNvSpPr txBox="1"/>
          <p:nvPr/>
        </p:nvSpPr>
        <p:spPr>
          <a:xfrm>
            <a:off x="594360" y="6519672"/>
            <a:ext cx="6309360" cy="457200"/>
          </a:xfrm>
          <a:prstGeom prst="rect">
            <a:avLst/>
          </a:prstGeom>
          <a:noFill/>
        </p:spPr>
        <p:txBody>
          <a:bodyPr wrap="square" lIns="0" rIns="0" tIns="0" bIns="0" anchor="t">
            <a:noAutofit/>
          </a:bodyPr>
          <a:lstStyle/>
          <a:p>
            <a:pPr algn="l">
              <a:lnSpc>
                <a:spcPct val="100000"/>
              </a:lnSpc>
              <a:spcBef>
                <a:spcPts val="0"/>
              </a:spcBef>
              <a:spcAft>
                <a:spcPts val="0"/>
              </a:spcAft>
            </a:pPr>
            <a:r>
              <a:rPr sz="1600" b="0">
                <a:solidFill>
                  <a:srgbClr val="536578"/>
                </a:solidFill>
                <a:latin typeface="Arial"/>
              </a:rPr>
              <a:t>Forecast accuracy: 52.93%  |  Prediction loss: 0.9876</a:t>
            </a:r>
          </a:p>
        </p:txBody>
      </p:sp>
      <p:sp>
        <p:nvSpPr>
          <p:cNvPr id="10" name="slide011-element005-card-background"/>
          <p:cNvSpPr/>
          <p:nvPr/>
        </p:nvSpPr>
        <p:spPr>
          <a:xfrm>
            <a:off x="7360920" y="1901952"/>
            <a:ext cx="315468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ide011-element005-card-accent"/>
          <p:cNvSpPr/>
          <p:nvPr/>
        </p:nvSpPr>
        <p:spPr>
          <a:xfrm>
            <a:off x="7360920" y="1901952"/>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1-element005-card-label"/>
          <p:cNvSpPr txBox="1"/>
          <p:nvPr/>
        </p:nvSpPr>
        <p:spPr>
          <a:xfrm>
            <a:off x="7516368" y="2011680"/>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ENDING CAPITAL</a:t>
            </a:r>
          </a:p>
        </p:txBody>
      </p:sp>
      <p:sp>
        <p:nvSpPr>
          <p:cNvPr id="13" name="slide011-element005-card-value"/>
          <p:cNvSpPr txBox="1"/>
          <p:nvPr/>
        </p:nvSpPr>
        <p:spPr>
          <a:xfrm>
            <a:off x="7516368" y="2267712"/>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119,790</a:t>
            </a:r>
          </a:p>
        </p:txBody>
      </p:sp>
      <p:sp>
        <p:nvSpPr>
          <p:cNvPr id="14" name="slide011-element005-card-detail"/>
          <p:cNvSpPr txBox="1"/>
          <p:nvPr/>
        </p:nvSpPr>
        <p:spPr>
          <a:xfrm>
            <a:off x="7516368" y="2798064"/>
            <a:ext cx="284378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Started at 100,000</a:t>
            </a:r>
          </a:p>
        </p:txBody>
      </p:sp>
      <p:sp>
        <p:nvSpPr>
          <p:cNvPr id="15" name="slide011-element006-card-background"/>
          <p:cNvSpPr/>
          <p:nvPr/>
        </p:nvSpPr>
        <p:spPr>
          <a:xfrm>
            <a:off x="10835640" y="1901952"/>
            <a:ext cx="315468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1-element006-card-accent"/>
          <p:cNvSpPr/>
          <p:nvPr/>
        </p:nvSpPr>
        <p:spPr>
          <a:xfrm>
            <a:off x="10835640" y="1901952"/>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ide011-element006-card-label"/>
          <p:cNvSpPr txBox="1"/>
          <p:nvPr/>
        </p:nvSpPr>
        <p:spPr>
          <a:xfrm>
            <a:off x="10991088" y="2011680"/>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RETURN ON INITIAL CAPITAL</a:t>
            </a:r>
          </a:p>
        </p:txBody>
      </p:sp>
      <p:sp>
        <p:nvSpPr>
          <p:cNvPr id="18" name="slide011-element006-card-value"/>
          <p:cNvSpPr txBox="1"/>
          <p:nvPr/>
        </p:nvSpPr>
        <p:spPr>
          <a:xfrm>
            <a:off x="10991088" y="2267712"/>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19.79%</a:t>
            </a:r>
          </a:p>
        </p:txBody>
      </p:sp>
      <p:sp>
        <p:nvSpPr>
          <p:cNvPr id="19" name="slide011-element006-card-detail"/>
          <p:cNvSpPr txBox="1"/>
          <p:nvPr/>
        </p:nvSpPr>
        <p:spPr>
          <a:xfrm>
            <a:off x="10991088" y="2798064"/>
            <a:ext cx="284378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Four-year account</a:t>
            </a:r>
          </a:p>
        </p:txBody>
      </p:sp>
      <p:sp>
        <p:nvSpPr>
          <p:cNvPr id="20" name="slide011-element007-table-r00-c00-cell"/>
          <p:cNvSpPr/>
          <p:nvPr/>
        </p:nvSpPr>
        <p:spPr>
          <a:xfrm>
            <a:off x="7360920" y="3703320"/>
            <a:ext cx="3977639" cy="437605"/>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ide011-element007-table-r00-c00-text"/>
          <p:cNvSpPr txBox="1"/>
          <p:nvPr/>
        </p:nvSpPr>
        <p:spPr>
          <a:xfrm>
            <a:off x="7452360" y="3776472"/>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Trading statistic</a:t>
            </a:r>
          </a:p>
        </p:txBody>
      </p:sp>
      <p:sp>
        <p:nvSpPr>
          <p:cNvPr id="22" name="slide011-element007-table-r00-c01-cell"/>
          <p:cNvSpPr/>
          <p:nvPr/>
        </p:nvSpPr>
        <p:spPr>
          <a:xfrm>
            <a:off x="11338560" y="3703320"/>
            <a:ext cx="2651760" cy="437605"/>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lide011-element007-table-r00-c01-text"/>
          <p:cNvSpPr txBox="1"/>
          <p:nvPr/>
        </p:nvSpPr>
        <p:spPr>
          <a:xfrm>
            <a:off x="11430000" y="3776472"/>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Result</a:t>
            </a:r>
          </a:p>
        </p:txBody>
      </p:sp>
      <p:sp>
        <p:nvSpPr>
          <p:cNvPr id="24" name="slide011-element007-table-r01-c00-cell"/>
          <p:cNvSpPr/>
          <p:nvPr/>
        </p:nvSpPr>
        <p:spPr>
          <a:xfrm>
            <a:off x="7360920" y="4140925"/>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lide011-element007-table-r01-c00-text"/>
          <p:cNvSpPr txBox="1"/>
          <p:nvPr/>
        </p:nvSpPr>
        <p:spPr>
          <a:xfrm>
            <a:off x="7452360" y="4214077"/>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Bets / trading frequency</a:t>
            </a:r>
          </a:p>
        </p:txBody>
      </p:sp>
      <p:sp>
        <p:nvSpPr>
          <p:cNvPr id="26" name="slide011-element007-table-r01-c01-cell"/>
          <p:cNvSpPr/>
          <p:nvPr/>
        </p:nvSpPr>
        <p:spPr>
          <a:xfrm>
            <a:off x="11338560" y="4140925"/>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lide011-element007-table-r01-c01-text"/>
          <p:cNvSpPr txBox="1"/>
          <p:nvPr/>
        </p:nvSpPr>
        <p:spPr>
          <a:xfrm>
            <a:off x="11430000" y="4214077"/>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1,241 / 84.42%</a:t>
            </a:r>
          </a:p>
        </p:txBody>
      </p:sp>
      <p:sp>
        <p:nvSpPr>
          <p:cNvPr id="28" name="slide011-element007-table-r02-c00-cell"/>
          <p:cNvSpPr/>
          <p:nvPr/>
        </p:nvSpPr>
        <p:spPr>
          <a:xfrm>
            <a:off x="7360920" y="4578531"/>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lide011-element007-table-r02-c00-text"/>
          <p:cNvSpPr txBox="1"/>
          <p:nvPr/>
        </p:nvSpPr>
        <p:spPr>
          <a:xfrm>
            <a:off x="7452360" y="4651683"/>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Hit ratio: bets won</a:t>
            </a:r>
          </a:p>
        </p:txBody>
      </p:sp>
      <p:sp>
        <p:nvSpPr>
          <p:cNvPr id="30" name="slide011-element007-table-r02-c01-cell"/>
          <p:cNvSpPr/>
          <p:nvPr/>
        </p:nvSpPr>
        <p:spPr>
          <a:xfrm>
            <a:off x="11338560" y="4578531"/>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lide011-element007-table-r02-c01-text"/>
          <p:cNvSpPr txBox="1"/>
          <p:nvPr/>
        </p:nvSpPr>
        <p:spPr>
          <a:xfrm>
            <a:off x="11430000" y="4651683"/>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29.57%</a:t>
            </a:r>
          </a:p>
        </p:txBody>
      </p:sp>
      <p:sp>
        <p:nvSpPr>
          <p:cNvPr id="32" name="slide011-element007-table-r03-c00-cell"/>
          <p:cNvSpPr/>
          <p:nvPr/>
        </p:nvSpPr>
        <p:spPr>
          <a:xfrm>
            <a:off x="7360920" y="5016137"/>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lide011-element007-table-r03-c00-text"/>
          <p:cNvSpPr txBox="1"/>
          <p:nvPr/>
        </p:nvSpPr>
        <p:spPr>
          <a:xfrm>
            <a:off x="7452360" y="5089289"/>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Expected gain per trade</a:t>
            </a:r>
          </a:p>
        </p:txBody>
      </p:sp>
      <p:sp>
        <p:nvSpPr>
          <p:cNvPr id="34" name="slide011-element007-table-r03-c01-cell"/>
          <p:cNvSpPr/>
          <p:nvPr/>
        </p:nvSpPr>
        <p:spPr>
          <a:xfrm>
            <a:off x="11338560" y="5016137"/>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lide011-element007-table-r03-c01-text"/>
          <p:cNvSpPr txBox="1"/>
          <p:nvPr/>
        </p:nvSpPr>
        <p:spPr>
          <a:xfrm>
            <a:off x="11430000" y="5089289"/>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962.54</a:t>
            </a:r>
          </a:p>
        </p:txBody>
      </p:sp>
      <p:sp>
        <p:nvSpPr>
          <p:cNvPr id="36" name="slide011-element007-table-r04-c00-cell"/>
          <p:cNvSpPr/>
          <p:nvPr/>
        </p:nvSpPr>
        <p:spPr>
          <a:xfrm>
            <a:off x="7360920" y="5453742"/>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lide011-element007-table-r04-c00-text"/>
          <p:cNvSpPr txBox="1"/>
          <p:nvPr/>
        </p:nvSpPr>
        <p:spPr>
          <a:xfrm>
            <a:off x="7452360" y="5526894"/>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Expected loss per trade</a:t>
            </a:r>
          </a:p>
        </p:txBody>
      </p:sp>
      <p:sp>
        <p:nvSpPr>
          <p:cNvPr id="38" name="slide011-element007-table-r04-c01-cell"/>
          <p:cNvSpPr/>
          <p:nvPr/>
        </p:nvSpPr>
        <p:spPr>
          <a:xfrm>
            <a:off x="11338560" y="5453742"/>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lide011-element007-table-r04-c01-text"/>
          <p:cNvSpPr txBox="1"/>
          <p:nvPr/>
        </p:nvSpPr>
        <p:spPr>
          <a:xfrm>
            <a:off x="11430000" y="5526894"/>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648.43</a:t>
            </a:r>
          </a:p>
        </p:txBody>
      </p:sp>
      <p:sp>
        <p:nvSpPr>
          <p:cNvPr id="40" name="slide011-element007-table-r05-c00-cell"/>
          <p:cNvSpPr/>
          <p:nvPr/>
        </p:nvSpPr>
        <p:spPr>
          <a:xfrm>
            <a:off x="7360920" y="5891348"/>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lide011-element007-table-r05-c00-text"/>
          <p:cNvSpPr txBox="1"/>
          <p:nvPr/>
        </p:nvSpPr>
        <p:spPr>
          <a:xfrm>
            <a:off x="7452360" y="5964500"/>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Profit / ROI on total stakes</a:t>
            </a:r>
          </a:p>
        </p:txBody>
      </p:sp>
      <p:sp>
        <p:nvSpPr>
          <p:cNvPr id="42" name="slide011-element007-table-r05-c01-cell"/>
          <p:cNvSpPr/>
          <p:nvPr/>
        </p:nvSpPr>
        <p:spPr>
          <a:xfrm>
            <a:off x="11338560" y="5891348"/>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lide011-element007-table-r05-c01-text"/>
          <p:cNvSpPr txBox="1"/>
          <p:nvPr/>
        </p:nvSpPr>
        <p:spPr>
          <a:xfrm>
            <a:off x="11430000" y="5964500"/>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19,790 / 1.59%</a:t>
            </a:r>
          </a:p>
        </p:txBody>
      </p:sp>
      <p:sp>
        <p:nvSpPr>
          <p:cNvPr id="44" name="slide011-element007-table-r06-c00-cell"/>
          <p:cNvSpPr/>
          <p:nvPr/>
        </p:nvSpPr>
        <p:spPr>
          <a:xfrm>
            <a:off x="7360920" y="6328954"/>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lide011-element007-table-r06-c00-text"/>
          <p:cNvSpPr txBox="1"/>
          <p:nvPr/>
        </p:nvSpPr>
        <p:spPr>
          <a:xfrm>
            <a:off x="7452360" y="6402106"/>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Largest drop from a prior peak</a:t>
            </a:r>
          </a:p>
        </p:txBody>
      </p:sp>
      <p:sp>
        <p:nvSpPr>
          <p:cNvPr id="46" name="slide011-element007-table-r06-c01-cell"/>
          <p:cNvSpPr/>
          <p:nvPr/>
        </p:nvSpPr>
        <p:spPr>
          <a:xfrm>
            <a:off x="11338560" y="6328954"/>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lide011-element007-table-r06-c01-text"/>
          <p:cNvSpPr txBox="1"/>
          <p:nvPr/>
        </p:nvSpPr>
        <p:spPr>
          <a:xfrm>
            <a:off x="11430000" y="6402106"/>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40.35%</a:t>
            </a:r>
          </a:p>
        </p:txBody>
      </p:sp>
      <p:sp>
        <p:nvSpPr>
          <p:cNvPr id="48" name="slide011-element008-text"/>
          <p:cNvSpPr txBox="1"/>
          <p:nvPr/>
        </p:nvSpPr>
        <p:spPr>
          <a:xfrm>
            <a:off x="594360" y="7150608"/>
            <a:ext cx="13350240" cy="320040"/>
          </a:xfrm>
          <a:prstGeom prst="rect">
            <a:avLst/>
          </a:prstGeom>
          <a:noFill/>
        </p:spPr>
        <p:txBody>
          <a:bodyPr wrap="square" lIns="0" rIns="0" tIns="0" bIns="0" anchor="t">
            <a:noAutofit/>
          </a:bodyPr>
          <a:lstStyle/>
          <a:p>
            <a:pPr algn="l">
              <a:lnSpc>
                <a:spcPct val="100000"/>
              </a:lnSpc>
              <a:spcBef>
                <a:spcPts val="0"/>
              </a:spcBef>
              <a:spcAft>
                <a:spcPts val="0"/>
              </a:spcAft>
            </a:pPr>
            <a:r>
              <a:rPr sz="1450" b="0">
                <a:solidFill>
                  <a:srgbClr val="536578"/>
                </a:solidFill>
                <a:latin typeface="Arial"/>
              </a:rPr>
              <a:t>Stakes can be reduced to available opening cash. Expected gain/loss are model estimates, not realized average wins/losses.</a:t>
            </a:r>
          </a:p>
        </p:txBody>
      </p:sp>
      <p:cxnSp>
        <p:nvCxnSpPr>
          <p:cNvPr id="49" name="slide011-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50" name="slide011-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predictions.parquet; metrics_continuous.parquet | Full paths in notes</a:t>
            </a:r>
          </a:p>
        </p:txBody>
      </p:sp>
      <p:sp>
        <p:nvSpPr>
          <p:cNvPr id="51" name="slide011-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2-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MODEL AND TRADING RULE | P009</a:t>
            </a:r>
          </a:p>
        </p:txBody>
      </p:sp>
      <p:sp>
        <p:nvSpPr>
          <p:cNvPr id="3" name="slide012-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player model: earlier Fantasy Premier League form</a:t>
            </a:r>
          </a:p>
        </p:txBody>
      </p:sp>
      <p:sp>
        <p:nvSpPr>
          <p:cNvPr id="4" name="slide012-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Uses previous player records; no team-strength or bookmaker-odds predictors. Trading statistics: 2022/23–2025/26, 1,470 matches.</a:t>
            </a:r>
          </a:p>
        </p:txBody>
      </p:sp>
      <p:sp>
        <p:nvSpPr>
          <p:cNvPr id="5" name="slide012-element000-text"/>
          <p:cNvSpPr txBox="1"/>
          <p:nvPr/>
        </p:nvSpPr>
        <p:spPr>
          <a:xfrm>
            <a:off x="594360" y="1938528"/>
            <a:ext cx="630936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WHAT IT DOES</a:t>
            </a:r>
          </a:p>
        </p:txBody>
      </p:sp>
      <p:sp>
        <p:nvSpPr>
          <p:cNvPr id="6" name="slide012-element001-text"/>
          <p:cNvSpPr txBox="1"/>
          <p:nvPr/>
        </p:nvSpPr>
        <p:spPr>
          <a:xfrm>
            <a:off x="594360" y="2395728"/>
            <a:ext cx="6309360" cy="1325880"/>
          </a:xfrm>
          <a:prstGeom prst="rect">
            <a:avLst/>
          </a:prstGeom>
          <a:noFill/>
        </p:spPr>
        <p:txBody>
          <a:bodyPr wrap="square" lIns="0" rIns="0" tIns="0" bIns="0" anchor="t">
            <a:noAutofit/>
          </a:bodyPr>
          <a:lstStyle/>
          <a:p>
            <a:pPr algn="l">
              <a:lnSpc>
                <a:spcPct val="100000"/>
              </a:lnSpc>
              <a:spcBef>
                <a:spcPts val="0"/>
              </a:spcBef>
              <a:spcAft>
                <a:spcPts val="0"/>
              </a:spcAft>
            </a:pPr>
            <a:r>
              <a:rPr sz="2200" b="0">
                <a:solidFill>
                  <a:srgbClr val="11243A"/>
                </a:solidFill>
                <a:latin typeface="Arial"/>
              </a:rPr>
              <a:t>Uses earlier FPL points, goals and assists.</a:t>
            </a:r>
          </a:p>
          <a:p>
            <a:pPr algn="l">
              <a:lnSpc>
                <a:spcPct val="100000"/>
              </a:lnSpc>
              <a:spcBef>
                <a:spcPts val="0"/>
              </a:spcBef>
              <a:spcAft>
                <a:spcPts val="0"/>
              </a:spcAft>
            </a:pPr>
            <a:r>
              <a:rPr sz="2200" b="0">
                <a:solidFill>
                  <a:srgbClr val="11243A"/>
                </a:solidFill>
                <a:latin typeface="Arial"/>
              </a:rPr>
              <a:t>Adds minutes and other player statistics.</a:t>
            </a:r>
          </a:p>
          <a:p>
            <a:pPr algn="l">
              <a:lnSpc>
                <a:spcPct val="100000"/>
              </a:lnSpc>
              <a:spcBef>
                <a:spcPts val="0"/>
              </a:spcBef>
              <a:spcAft>
                <a:spcPts val="0"/>
              </a:spcAft>
            </a:pPr>
            <a:r>
              <a:rPr sz="2200" b="0">
                <a:solidFill>
                  <a:srgbClr val="11243A"/>
                </a:solidFill>
                <a:latin typeface="Arial"/>
              </a:rPr>
              <a:t>Looks back over five and ten games.</a:t>
            </a:r>
          </a:p>
        </p:txBody>
      </p:sp>
      <p:sp>
        <p:nvSpPr>
          <p:cNvPr id="7" name="slide012-element002-text"/>
          <p:cNvSpPr txBox="1"/>
          <p:nvPr/>
        </p:nvSpPr>
        <p:spPr>
          <a:xfrm>
            <a:off x="594360" y="3867912"/>
            <a:ext cx="630936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WHEN AND HOW MUCH IT BETS</a:t>
            </a:r>
          </a:p>
        </p:txBody>
      </p:sp>
      <p:sp>
        <p:nvSpPr>
          <p:cNvPr id="8" name="slide012-element003-text"/>
          <p:cNvSpPr txBox="1"/>
          <p:nvPr/>
        </p:nvSpPr>
        <p:spPr>
          <a:xfrm>
            <a:off x="594360" y="4343400"/>
            <a:ext cx="6309360" cy="1993392"/>
          </a:xfrm>
          <a:prstGeom prst="rect">
            <a:avLst/>
          </a:prstGeom>
          <a:noFill/>
        </p:spPr>
        <p:txBody>
          <a:bodyPr wrap="square" lIns="0" rIns="0" tIns="0" bIns="0" anchor="t">
            <a:noAutofit/>
          </a:bodyPr>
          <a:lstStyle/>
          <a:p>
            <a:pPr algn="l">
              <a:lnSpc>
                <a:spcPct val="100000"/>
              </a:lnSpc>
              <a:spcBef>
                <a:spcPts val="0"/>
              </a:spcBef>
              <a:spcAft>
                <a:spcPts val="0"/>
              </a:spcAft>
            </a:pPr>
            <a:r>
              <a:rPr sz="2100" b="0">
                <a:solidFill>
                  <a:srgbClr val="11243A"/>
                </a:solidFill>
                <a:latin typeface="Arial"/>
              </a:rPr>
              <a:t>Choose home, draw or away with the highest estimated return.</a:t>
            </a:r>
          </a:p>
          <a:p>
            <a:pPr algn="l">
              <a:lnSpc>
                <a:spcPct val="100000"/>
              </a:lnSpc>
              <a:spcBef>
                <a:spcPts val="0"/>
              </a:spcBef>
              <a:spcAft>
                <a:spcPts val="0"/>
              </a:spcAft>
            </a:pPr>
            <a:r>
              <a:rPr sz="2100" b="0">
                <a:solidFill>
                  <a:srgbClr val="11243A"/>
                </a:solidFill>
                <a:latin typeface="Arial"/>
              </a:rPr>
              <a:t>Bet only when the model estimates a return above 5%.</a:t>
            </a:r>
          </a:p>
          <a:p>
            <a:pPr algn="l">
              <a:lnSpc>
                <a:spcPct val="100000"/>
              </a:lnSpc>
              <a:spcBef>
                <a:spcPts val="0"/>
              </a:spcBef>
              <a:spcAft>
                <a:spcPts val="0"/>
              </a:spcAft>
            </a:pPr>
            <a:r>
              <a:rPr sz="2100" b="0">
                <a:solidFill>
                  <a:srgbClr val="11243A"/>
                </a:solidFill>
                <a:latin typeface="Arial"/>
              </a:rPr>
              <a:t>Request 1,000 per bet: 1% of the initial 100,000.</a:t>
            </a:r>
          </a:p>
        </p:txBody>
      </p:sp>
      <p:sp>
        <p:nvSpPr>
          <p:cNvPr id="9" name="slide012-element004-text"/>
          <p:cNvSpPr txBox="1"/>
          <p:nvPr/>
        </p:nvSpPr>
        <p:spPr>
          <a:xfrm>
            <a:off x="594360" y="6519672"/>
            <a:ext cx="6309360" cy="457200"/>
          </a:xfrm>
          <a:prstGeom prst="rect">
            <a:avLst/>
          </a:prstGeom>
          <a:noFill/>
        </p:spPr>
        <p:txBody>
          <a:bodyPr wrap="square" lIns="0" rIns="0" tIns="0" bIns="0" anchor="t">
            <a:noAutofit/>
          </a:bodyPr>
          <a:lstStyle/>
          <a:p>
            <a:pPr algn="l">
              <a:lnSpc>
                <a:spcPct val="100000"/>
              </a:lnSpc>
              <a:spcBef>
                <a:spcPts val="0"/>
              </a:spcBef>
              <a:spcAft>
                <a:spcPts val="0"/>
              </a:spcAft>
            </a:pPr>
            <a:r>
              <a:rPr sz="1600" b="0">
                <a:solidFill>
                  <a:srgbClr val="536578"/>
                </a:solidFill>
                <a:latin typeface="Arial"/>
              </a:rPr>
              <a:t>Forecast accuracy: 50.07%  |  Prediction loss: 1.0218</a:t>
            </a:r>
          </a:p>
        </p:txBody>
      </p:sp>
      <p:sp>
        <p:nvSpPr>
          <p:cNvPr id="10" name="slide012-element005-card-background"/>
          <p:cNvSpPr/>
          <p:nvPr/>
        </p:nvSpPr>
        <p:spPr>
          <a:xfrm>
            <a:off x="7360920" y="1901952"/>
            <a:ext cx="315468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ide012-element005-card-accent"/>
          <p:cNvSpPr/>
          <p:nvPr/>
        </p:nvSpPr>
        <p:spPr>
          <a:xfrm>
            <a:off x="7360920" y="1901952"/>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2-element005-card-label"/>
          <p:cNvSpPr txBox="1"/>
          <p:nvPr/>
        </p:nvSpPr>
        <p:spPr>
          <a:xfrm>
            <a:off x="7516368" y="2011680"/>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ENDING CAPITAL</a:t>
            </a:r>
          </a:p>
        </p:txBody>
      </p:sp>
      <p:sp>
        <p:nvSpPr>
          <p:cNvPr id="13" name="slide012-element005-card-value"/>
          <p:cNvSpPr txBox="1"/>
          <p:nvPr/>
        </p:nvSpPr>
        <p:spPr>
          <a:xfrm>
            <a:off x="7516368" y="2267712"/>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0</a:t>
            </a:r>
          </a:p>
        </p:txBody>
      </p:sp>
      <p:sp>
        <p:nvSpPr>
          <p:cNvPr id="14" name="slide012-element005-card-detail"/>
          <p:cNvSpPr txBox="1"/>
          <p:nvPr/>
        </p:nvSpPr>
        <p:spPr>
          <a:xfrm>
            <a:off x="7516368" y="2798064"/>
            <a:ext cx="284378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Started at 100,000</a:t>
            </a:r>
          </a:p>
        </p:txBody>
      </p:sp>
      <p:sp>
        <p:nvSpPr>
          <p:cNvPr id="15" name="slide012-element006-card-background"/>
          <p:cNvSpPr/>
          <p:nvPr/>
        </p:nvSpPr>
        <p:spPr>
          <a:xfrm>
            <a:off x="10835640" y="1901952"/>
            <a:ext cx="315468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2-element006-card-accent"/>
          <p:cNvSpPr/>
          <p:nvPr/>
        </p:nvSpPr>
        <p:spPr>
          <a:xfrm>
            <a:off x="10835640" y="1901952"/>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ide012-element006-card-label"/>
          <p:cNvSpPr txBox="1"/>
          <p:nvPr/>
        </p:nvSpPr>
        <p:spPr>
          <a:xfrm>
            <a:off x="10991088" y="2011680"/>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RETURN ON INITIAL CAPITAL</a:t>
            </a:r>
          </a:p>
        </p:txBody>
      </p:sp>
      <p:sp>
        <p:nvSpPr>
          <p:cNvPr id="18" name="slide012-element006-card-value"/>
          <p:cNvSpPr txBox="1"/>
          <p:nvPr/>
        </p:nvSpPr>
        <p:spPr>
          <a:xfrm>
            <a:off x="10991088" y="2267712"/>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-100.00%</a:t>
            </a:r>
          </a:p>
        </p:txBody>
      </p:sp>
      <p:sp>
        <p:nvSpPr>
          <p:cNvPr id="19" name="slide012-element006-card-detail"/>
          <p:cNvSpPr txBox="1"/>
          <p:nvPr/>
        </p:nvSpPr>
        <p:spPr>
          <a:xfrm>
            <a:off x="10991088" y="2798064"/>
            <a:ext cx="284378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Four-year account</a:t>
            </a:r>
          </a:p>
        </p:txBody>
      </p:sp>
      <p:sp>
        <p:nvSpPr>
          <p:cNvPr id="20" name="slide012-element007-table-r00-c00-cell"/>
          <p:cNvSpPr/>
          <p:nvPr/>
        </p:nvSpPr>
        <p:spPr>
          <a:xfrm>
            <a:off x="7360920" y="3703320"/>
            <a:ext cx="3977639" cy="437605"/>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ide012-element007-table-r00-c00-text"/>
          <p:cNvSpPr txBox="1"/>
          <p:nvPr/>
        </p:nvSpPr>
        <p:spPr>
          <a:xfrm>
            <a:off x="7452360" y="3776472"/>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Trading statistic</a:t>
            </a:r>
          </a:p>
        </p:txBody>
      </p:sp>
      <p:sp>
        <p:nvSpPr>
          <p:cNvPr id="22" name="slide012-element007-table-r00-c01-cell"/>
          <p:cNvSpPr/>
          <p:nvPr/>
        </p:nvSpPr>
        <p:spPr>
          <a:xfrm>
            <a:off x="11338560" y="3703320"/>
            <a:ext cx="2651760" cy="437605"/>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lide012-element007-table-r00-c01-text"/>
          <p:cNvSpPr txBox="1"/>
          <p:nvPr/>
        </p:nvSpPr>
        <p:spPr>
          <a:xfrm>
            <a:off x="11430000" y="3776472"/>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Result</a:t>
            </a:r>
          </a:p>
        </p:txBody>
      </p:sp>
      <p:sp>
        <p:nvSpPr>
          <p:cNvPr id="24" name="slide012-element007-table-r01-c00-cell"/>
          <p:cNvSpPr/>
          <p:nvPr/>
        </p:nvSpPr>
        <p:spPr>
          <a:xfrm>
            <a:off x="7360920" y="4140925"/>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lide012-element007-table-r01-c00-text"/>
          <p:cNvSpPr txBox="1"/>
          <p:nvPr/>
        </p:nvSpPr>
        <p:spPr>
          <a:xfrm>
            <a:off x="7452360" y="4214077"/>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Bets / trading frequency</a:t>
            </a:r>
          </a:p>
        </p:txBody>
      </p:sp>
      <p:sp>
        <p:nvSpPr>
          <p:cNvPr id="26" name="slide012-element007-table-r01-c01-cell"/>
          <p:cNvSpPr/>
          <p:nvPr/>
        </p:nvSpPr>
        <p:spPr>
          <a:xfrm>
            <a:off x="11338560" y="4140925"/>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lide012-element007-table-r01-c01-text"/>
          <p:cNvSpPr txBox="1"/>
          <p:nvPr/>
        </p:nvSpPr>
        <p:spPr>
          <a:xfrm>
            <a:off x="11430000" y="4214077"/>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944 / 64.22%</a:t>
            </a:r>
          </a:p>
        </p:txBody>
      </p:sp>
      <p:sp>
        <p:nvSpPr>
          <p:cNvPr id="28" name="slide012-element007-table-r02-c00-cell"/>
          <p:cNvSpPr/>
          <p:nvPr/>
        </p:nvSpPr>
        <p:spPr>
          <a:xfrm>
            <a:off x="7360920" y="4578531"/>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lide012-element007-table-r02-c00-text"/>
          <p:cNvSpPr txBox="1"/>
          <p:nvPr/>
        </p:nvSpPr>
        <p:spPr>
          <a:xfrm>
            <a:off x="7452360" y="4651683"/>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Hit ratio: bets won</a:t>
            </a:r>
          </a:p>
        </p:txBody>
      </p:sp>
      <p:sp>
        <p:nvSpPr>
          <p:cNvPr id="30" name="slide012-element007-table-r02-c01-cell"/>
          <p:cNvSpPr/>
          <p:nvPr/>
        </p:nvSpPr>
        <p:spPr>
          <a:xfrm>
            <a:off x="11338560" y="4578531"/>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lide012-element007-table-r02-c01-text"/>
          <p:cNvSpPr txBox="1"/>
          <p:nvPr/>
        </p:nvSpPr>
        <p:spPr>
          <a:xfrm>
            <a:off x="11430000" y="4651683"/>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25.00%</a:t>
            </a:r>
          </a:p>
        </p:txBody>
      </p:sp>
      <p:sp>
        <p:nvSpPr>
          <p:cNvPr id="32" name="slide012-element007-table-r03-c00-cell"/>
          <p:cNvSpPr/>
          <p:nvPr/>
        </p:nvSpPr>
        <p:spPr>
          <a:xfrm>
            <a:off x="7360920" y="5016137"/>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lide012-element007-table-r03-c00-text"/>
          <p:cNvSpPr txBox="1"/>
          <p:nvPr/>
        </p:nvSpPr>
        <p:spPr>
          <a:xfrm>
            <a:off x="7452360" y="5089289"/>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Expected gain per trade</a:t>
            </a:r>
          </a:p>
        </p:txBody>
      </p:sp>
      <p:sp>
        <p:nvSpPr>
          <p:cNvPr id="34" name="slide012-element007-table-r03-c01-cell"/>
          <p:cNvSpPr/>
          <p:nvPr/>
        </p:nvSpPr>
        <p:spPr>
          <a:xfrm>
            <a:off x="11338560" y="5016137"/>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lide012-element007-table-r03-c01-text"/>
          <p:cNvSpPr txBox="1"/>
          <p:nvPr/>
        </p:nvSpPr>
        <p:spPr>
          <a:xfrm>
            <a:off x="11430000" y="5089289"/>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1098.04</a:t>
            </a:r>
          </a:p>
        </p:txBody>
      </p:sp>
      <p:sp>
        <p:nvSpPr>
          <p:cNvPr id="36" name="slide012-element007-table-r04-c00-cell"/>
          <p:cNvSpPr/>
          <p:nvPr/>
        </p:nvSpPr>
        <p:spPr>
          <a:xfrm>
            <a:off x="7360920" y="5453742"/>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lide012-element007-table-r04-c00-text"/>
          <p:cNvSpPr txBox="1"/>
          <p:nvPr/>
        </p:nvSpPr>
        <p:spPr>
          <a:xfrm>
            <a:off x="7452360" y="5526894"/>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Expected loss per trade</a:t>
            </a:r>
          </a:p>
        </p:txBody>
      </p:sp>
      <p:sp>
        <p:nvSpPr>
          <p:cNvPr id="38" name="slide012-element007-table-r04-c01-cell"/>
          <p:cNvSpPr/>
          <p:nvPr/>
        </p:nvSpPr>
        <p:spPr>
          <a:xfrm>
            <a:off x="11338560" y="5453742"/>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lide012-element007-table-r04-c01-text"/>
          <p:cNvSpPr txBox="1"/>
          <p:nvPr/>
        </p:nvSpPr>
        <p:spPr>
          <a:xfrm>
            <a:off x="11430000" y="5526894"/>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618.22</a:t>
            </a:r>
          </a:p>
        </p:txBody>
      </p:sp>
      <p:sp>
        <p:nvSpPr>
          <p:cNvPr id="40" name="slide012-element007-table-r05-c00-cell"/>
          <p:cNvSpPr/>
          <p:nvPr/>
        </p:nvSpPr>
        <p:spPr>
          <a:xfrm>
            <a:off x="7360920" y="5891348"/>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lide012-element007-table-r05-c00-text"/>
          <p:cNvSpPr txBox="1"/>
          <p:nvPr/>
        </p:nvSpPr>
        <p:spPr>
          <a:xfrm>
            <a:off x="7452360" y="5964500"/>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Profit / ROI on total stakes</a:t>
            </a:r>
          </a:p>
        </p:txBody>
      </p:sp>
      <p:sp>
        <p:nvSpPr>
          <p:cNvPr id="42" name="slide012-element007-table-r05-c01-cell"/>
          <p:cNvSpPr/>
          <p:nvPr/>
        </p:nvSpPr>
        <p:spPr>
          <a:xfrm>
            <a:off x="11338560" y="5891348"/>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lide012-element007-table-r05-c01-text"/>
          <p:cNvSpPr txBox="1"/>
          <p:nvPr/>
        </p:nvSpPr>
        <p:spPr>
          <a:xfrm>
            <a:off x="11430000" y="5964500"/>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-100,000 / -10.87%</a:t>
            </a:r>
          </a:p>
        </p:txBody>
      </p:sp>
      <p:sp>
        <p:nvSpPr>
          <p:cNvPr id="44" name="slide012-element007-table-r06-c00-cell"/>
          <p:cNvSpPr/>
          <p:nvPr/>
        </p:nvSpPr>
        <p:spPr>
          <a:xfrm>
            <a:off x="7360920" y="6328954"/>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lide012-element007-table-r06-c00-text"/>
          <p:cNvSpPr txBox="1"/>
          <p:nvPr/>
        </p:nvSpPr>
        <p:spPr>
          <a:xfrm>
            <a:off x="7452360" y="6402106"/>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Largest drop from a prior peak</a:t>
            </a:r>
          </a:p>
        </p:txBody>
      </p:sp>
      <p:sp>
        <p:nvSpPr>
          <p:cNvPr id="46" name="slide012-element007-table-r06-c01-cell"/>
          <p:cNvSpPr/>
          <p:nvPr/>
        </p:nvSpPr>
        <p:spPr>
          <a:xfrm>
            <a:off x="11338560" y="6328954"/>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lide012-element007-table-r06-c01-text"/>
          <p:cNvSpPr txBox="1"/>
          <p:nvPr/>
        </p:nvSpPr>
        <p:spPr>
          <a:xfrm>
            <a:off x="11430000" y="6402106"/>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100.00%</a:t>
            </a:r>
          </a:p>
        </p:txBody>
      </p:sp>
      <p:sp>
        <p:nvSpPr>
          <p:cNvPr id="48" name="slide012-element008-text"/>
          <p:cNvSpPr txBox="1"/>
          <p:nvPr/>
        </p:nvSpPr>
        <p:spPr>
          <a:xfrm>
            <a:off x="594360" y="7150608"/>
            <a:ext cx="13350240" cy="320040"/>
          </a:xfrm>
          <a:prstGeom prst="rect">
            <a:avLst/>
          </a:prstGeom>
          <a:noFill/>
        </p:spPr>
        <p:txBody>
          <a:bodyPr wrap="square" lIns="0" rIns="0" tIns="0" bIns="0" anchor="t">
            <a:noAutofit/>
          </a:bodyPr>
          <a:lstStyle/>
          <a:p>
            <a:pPr algn="l">
              <a:lnSpc>
                <a:spcPct val="100000"/>
              </a:lnSpc>
              <a:spcBef>
                <a:spcPts val="0"/>
              </a:spcBef>
              <a:spcAft>
                <a:spcPts val="0"/>
              </a:spcAft>
            </a:pPr>
            <a:r>
              <a:rPr sz="1450" b="0">
                <a:solidFill>
                  <a:srgbClr val="536578"/>
                </a:solidFill>
                <a:latin typeface="Arial"/>
              </a:rPr>
              <a:t>Stakes can be reduced to available opening cash. Expected gain/loss are model estimates, not realized average wins/losses.</a:t>
            </a:r>
          </a:p>
        </p:txBody>
      </p:sp>
      <p:cxnSp>
        <p:nvCxnSpPr>
          <p:cNvPr id="49" name="slide012-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50" name="slide012-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model_metrics_pooled.csv; metrics_continuous.parquet | Full paths in notes</a:t>
            </a:r>
          </a:p>
        </p:txBody>
      </p:sp>
      <p:sp>
        <p:nvSpPr>
          <p:cNvPr id="51" name="slide012-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3-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NBA APPENDIX | RULES AND CAPITAL</a:t>
            </a:r>
          </a:p>
        </p:txBody>
      </p:sp>
      <p:sp>
        <p:nvSpPr>
          <p:cNvPr id="3" name="slide013-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Appendix: the four NBA betting rules</a:t>
            </a:r>
          </a:p>
        </p:txBody>
      </p:sp>
      <p:sp>
        <p:nvSpPr>
          <p:cNvPr id="4" name="slide013-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One bet at most per game; settle sequentially. This is not the EPL joint same-date funding rule.</a:t>
            </a:r>
          </a:p>
        </p:txBody>
      </p:sp>
      <p:sp>
        <p:nvSpPr>
          <p:cNvPr id="5" name="slide013-element000-table-r00-c00-cell"/>
          <p:cNvSpPr/>
          <p:nvPr/>
        </p:nvSpPr>
        <p:spPr>
          <a:xfrm>
            <a:off x="594360" y="1901952"/>
            <a:ext cx="2816992" cy="70408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13-element000-table-r00-c00-text"/>
          <p:cNvSpPr txBox="1"/>
          <p:nvPr/>
        </p:nvSpPr>
        <p:spPr>
          <a:xfrm>
            <a:off x="685800" y="1975104"/>
            <a:ext cx="2634112" cy="557784"/>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Forecast branch</a:t>
            </a:r>
          </a:p>
        </p:txBody>
      </p:sp>
      <p:sp>
        <p:nvSpPr>
          <p:cNvPr id="7" name="slide013-element000-table-r00-c01-cell"/>
          <p:cNvSpPr/>
          <p:nvPr/>
        </p:nvSpPr>
        <p:spPr>
          <a:xfrm>
            <a:off x="3411352" y="1901952"/>
            <a:ext cx="2146279" cy="70408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13-element000-table-r00-c01-text"/>
          <p:cNvSpPr txBox="1"/>
          <p:nvPr/>
        </p:nvSpPr>
        <p:spPr>
          <a:xfrm>
            <a:off x="3502792" y="1975104"/>
            <a:ext cx="1963399" cy="557784"/>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Sizing rule</a:t>
            </a:r>
          </a:p>
        </p:txBody>
      </p:sp>
      <p:sp>
        <p:nvSpPr>
          <p:cNvPr id="9" name="slide013-element000-table-r00-c02-cell"/>
          <p:cNvSpPr/>
          <p:nvPr/>
        </p:nvSpPr>
        <p:spPr>
          <a:xfrm>
            <a:off x="5557631" y="1901952"/>
            <a:ext cx="4560844" cy="70408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13-element000-table-r00-c02-text"/>
          <p:cNvSpPr txBox="1"/>
          <p:nvPr/>
        </p:nvSpPr>
        <p:spPr>
          <a:xfrm>
            <a:off x="5649071" y="1975104"/>
            <a:ext cx="4377964" cy="557784"/>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Money requested per trade</a:t>
            </a:r>
          </a:p>
        </p:txBody>
      </p:sp>
      <p:sp>
        <p:nvSpPr>
          <p:cNvPr id="11" name="slide013-element000-table-r00-c03-cell"/>
          <p:cNvSpPr/>
          <p:nvPr/>
        </p:nvSpPr>
        <p:spPr>
          <a:xfrm>
            <a:off x="10118476" y="1901952"/>
            <a:ext cx="3890131" cy="70408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3-element000-table-r00-c03-text"/>
          <p:cNvSpPr txBox="1"/>
          <p:nvPr/>
        </p:nvSpPr>
        <p:spPr>
          <a:xfrm>
            <a:off x="10209916" y="1975104"/>
            <a:ext cx="3707251" cy="557784"/>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Entry rule</a:t>
            </a:r>
          </a:p>
        </p:txBody>
      </p:sp>
      <p:sp>
        <p:nvSpPr>
          <p:cNvPr id="13" name="slide013-element000-table-r01-c00-cell"/>
          <p:cNvSpPr/>
          <p:nvPr/>
        </p:nvSpPr>
        <p:spPr>
          <a:xfrm>
            <a:off x="594360" y="2606040"/>
            <a:ext cx="2816992" cy="70408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13-element000-table-r01-c00-text"/>
          <p:cNvSpPr txBox="1"/>
          <p:nvPr/>
        </p:nvSpPr>
        <p:spPr>
          <a:xfrm>
            <a:off x="685800" y="2679192"/>
            <a:ext cx="2634112"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Calibration / LR</a:t>
            </a:r>
          </a:p>
        </p:txBody>
      </p:sp>
      <p:sp>
        <p:nvSpPr>
          <p:cNvPr id="15" name="slide013-element000-table-r01-c01-cell"/>
          <p:cNvSpPr/>
          <p:nvPr/>
        </p:nvSpPr>
        <p:spPr>
          <a:xfrm>
            <a:off x="3411352" y="2606040"/>
            <a:ext cx="2146279" cy="70408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3-element000-table-r01-c01-text"/>
          <p:cNvSpPr txBox="1"/>
          <p:nvPr/>
        </p:nvSpPr>
        <p:spPr>
          <a:xfrm>
            <a:off x="3502792" y="2679192"/>
            <a:ext cx="1963399"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Fixed</a:t>
            </a:r>
          </a:p>
        </p:txBody>
      </p:sp>
      <p:sp>
        <p:nvSpPr>
          <p:cNvPr id="17" name="slide013-element000-table-r01-c02-cell"/>
          <p:cNvSpPr/>
          <p:nvPr/>
        </p:nvSpPr>
        <p:spPr>
          <a:xfrm>
            <a:off x="5557631" y="2606040"/>
            <a:ext cx="4560844" cy="70408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13-element000-table-r01-c02-text"/>
          <p:cNvSpPr txBox="1"/>
          <p:nvPr/>
        </p:nvSpPr>
        <p:spPr>
          <a:xfrm>
            <a:off x="5649071" y="2679192"/>
            <a:ext cx="4377964"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100 per bet = 1% of initial 10,000</a:t>
            </a:r>
          </a:p>
        </p:txBody>
      </p:sp>
      <p:sp>
        <p:nvSpPr>
          <p:cNvPr id="19" name="slide013-element000-table-r01-c03-cell"/>
          <p:cNvSpPr/>
          <p:nvPr/>
        </p:nvSpPr>
        <p:spPr>
          <a:xfrm>
            <a:off x="10118476" y="2606040"/>
            <a:ext cx="3890131" cy="70408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13-element000-table-r01-c03-text"/>
          <p:cNvSpPr txBox="1"/>
          <p:nvPr/>
        </p:nvSpPr>
        <p:spPr>
          <a:xfrm>
            <a:off x="10209916" y="2679192"/>
            <a:ext cx="3707251"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Home value first; otherwise away value</a:t>
            </a:r>
          </a:p>
        </p:txBody>
      </p:sp>
      <p:sp>
        <p:nvSpPr>
          <p:cNvPr id="21" name="slide013-element000-table-r02-c00-cell"/>
          <p:cNvSpPr/>
          <p:nvPr/>
        </p:nvSpPr>
        <p:spPr>
          <a:xfrm>
            <a:off x="594360" y="3310128"/>
            <a:ext cx="2816992" cy="70408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13-element000-table-r02-c00-text"/>
          <p:cNvSpPr txBox="1"/>
          <p:nvPr/>
        </p:nvSpPr>
        <p:spPr>
          <a:xfrm>
            <a:off x="685800" y="3383280"/>
            <a:ext cx="2634112"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Calibration / LR</a:t>
            </a:r>
          </a:p>
        </p:txBody>
      </p:sp>
      <p:sp>
        <p:nvSpPr>
          <p:cNvPr id="23" name="slide013-element000-table-r02-c01-cell"/>
          <p:cNvSpPr/>
          <p:nvPr/>
        </p:nvSpPr>
        <p:spPr>
          <a:xfrm>
            <a:off x="3411352" y="3310128"/>
            <a:ext cx="2146279" cy="70408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13-element000-table-r02-c01-text"/>
          <p:cNvSpPr txBox="1"/>
          <p:nvPr/>
        </p:nvSpPr>
        <p:spPr>
          <a:xfrm>
            <a:off x="3502792" y="3383280"/>
            <a:ext cx="1963399"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Eighth Kelly</a:t>
            </a:r>
          </a:p>
        </p:txBody>
      </p:sp>
      <p:sp>
        <p:nvSpPr>
          <p:cNvPr id="25" name="slide013-element000-table-r02-c02-cell"/>
          <p:cNvSpPr/>
          <p:nvPr/>
        </p:nvSpPr>
        <p:spPr>
          <a:xfrm>
            <a:off x="5557631" y="3310128"/>
            <a:ext cx="4560844" cy="70408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13-element000-table-r02-c02-text"/>
          <p:cNvSpPr txBox="1"/>
          <p:nvPr/>
        </p:nvSpPr>
        <p:spPr>
          <a:xfrm>
            <a:off x="5649071" y="3383280"/>
            <a:ext cx="4377964"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1/8 Kelly; variable; cap only available cash</a:t>
            </a:r>
          </a:p>
        </p:txBody>
      </p:sp>
      <p:sp>
        <p:nvSpPr>
          <p:cNvPr id="27" name="slide013-element000-table-r02-c03-cell"/>
          <p:cNvSpPr/>
          <p:nvPr/>
        </p:nvSpPr>
        <p:spPr>
          <a:xfrm>
            <a:off x="10118476" y="3310128"/>
            <a:ext cx="3890131" cy="70408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13-element000-table-r02-c03-text"/>
          <p:cNvSpPr txBox="1"/>
          <p:nvPr/>
        </p:nvSpPr>
        <p:spPr>
          <a:xfrm>
            <a:off x="10209916" y="3383280"/>
            <a:ext cx="3707251"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Home value first; otherwise away value</a:t>
            </a:r>
          </a:p>
        </p:txBody>
      </p:sp>
      <p:sp>
        <p:nvSpPr>
          <p:cNvPr id="29" name="slide013-element000-table-r03-c00-cell"/>
          <p:cNvSpPr/>
          <p:nvPr/>
        </p:nvSpPr>
        <p:spPr>
          <a:xfrm>
            <a:off x="594360" y="4014216"/>
            <a:ext cx="2816992" cy="70408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13-element000-table-r03-c00-text"/>
          <p:cNvSpPr txBox="1"/>
          <p:nvPr/>
        </p:nvSpPr>
        <p:spPr>
          <a:xfrm>
            <a:off x="685800" y="4087368"/>
            <a:ext cx="2634112"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Accuracy / SVM</a:t>
            </a:r>
          </a:p>
        </p:txBody>
      </p:sp>
      <p:sp>
        <p:nvSpPr>
          <p:cNvPr id="31" name="slide013-element000-table-r03-c01-cell"/>
          <p:cNvSpPr/>
          <p:nvPr/>
        </p:nvSpPr>
        <p:spPr>
          <a:xfrm>
            <a:off x="3411352" y="4014216"/>
            <a:ext cx="2146279" cy="70408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13-element000-table-r03-c01-text"/>
          <p:cNvSpPr txBox="1"/>
          <p:nvPr/>
        </p:nvSpPr>
        <p:spPr>
          <a:xfrm>
            <a:off x="3502792" y="4087368"/>
            <a:ext cx="1963399"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Fixed</a:t>
            </a:r>
          </a:p>
        </p:txBody>
      </p:sp>
      <p:sp>
        <p:nvSpPr>
          <p:cNvPr id="33" name="slide013-element000-table-r03-c02-cell"/>
          <p:cNvSpPr/>
          <p:nvPr/>
        </p:nvSpPr>
        <p:spPr>
          <a:xfrm>
            <a:off x="5557631" y="4014216"/>
            <a:ext cx="4560844" cy="70408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13-element000-table-r03-c02-text"/>
          <p:cNvSpPr txBox="1"/>
          <p:nvPr/>
        </p:nvSpPr>
        <p:spPr>
          <a:xfrm>
            <a:off x="5649071" y="4087368"/>
            <a:ext cx="4377964"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100 per bet = 1% of initial 10,000</a:t>
            </a:r>
          </a:p>
        </p:txBody>
      </p:sp>
      <p:sp>
        <p:nvSpPr>
          <p:cNvPr id="35" name="slide013-element000-table-r03-c03-cell"/>
          <p:cNvSpPr/>
          <p:nvPr/>
        </p:nvSpPr>
        <p:spPr>
          <a:xfrm>
            <a:off x="10118476" y="4014216"/>
            <a:ext cx="3890131" cy="70408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13-element000-table-r03-c03-text"/>
          <p:cNvSpPr txBox="1"/>
          <p:nvPr/>
        </p:nvSpPr>
        <p:spPr>
          <a:xfrm>
            <a:off x="10209916" y="4087368"/>
            <a:ext cx="3707251"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Home value first; otherwise away value</a:t>
            </a:r>
          </a:p>
        </p:txBody>
      </p:sp>
      <p:sp>
        <p:nvSpPr>
          <p:cNvPr id="37" name="slide013-element000-table-r04-c00-cell"/>
          <p:cNvSpPr/>
          <p:nvPr/>
        </p:nvSpPr>
        <p:spPr>
          <a:xfrm>
            <a:off x="594360" y="4718304"/>
            <a:ext cx="2816992" cy="70408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13-element000-table-r04-c00-text"/>
          <p:cNvSpPr txBox="1"/>
          <p:nvPr/>
        </p:nvSpPr>
        <p:spPr>
          <a:xfrm>
            <a:off x="685800" y="4791456"/>
            <a:ext cx="2634112"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Accuracy / SVM</a:t>
            </a:r>
          </a:p>
        </p:txBody>
      </p:sp>
      <p:sp>
        <p:nvSpPr>
          <p:cNvPr id="39" name="slide013-element000-table-r04-c01-cell"/>
          <p:cNvSpPr/>
          <p:nvPr/>
        </p:nvSpPr>
        <p:spPr>
          <a:xfrm>
            <a:off x="3411352" y="4718304"/>
            <a:ext cx="2146279" cy="70408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13-element000-table-r04-c01-text"/>
          <p:cNvSpPr txBox="1"/>
          <p:nvPr/>
        </p:nvSpPr>
        <p:spPr>
          <a:xfrm>
            <a:off x="3502792" y="4791456"/>
            <a:ext cx="1963399"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Eighth Kelly</a:t>
            </a:r>
          </a:p>
        </p:txBody>
      </p:sp>
      <p:sp>
        <p:nvSpPr>
          <p:cNvPr id="41" name="slide013-element000-table-r04-c02-cell"/>
          <p:cNvSpPr/>
          <p:nvPr/>
        </p:nvSpPr>
        <p:spPr>
          <a:xfrm>
            <a:off x="5557631" y="4718304"/>
            <a:ext cx="4560844" cy="70408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13-element000-table-r04-c02-text"/>
          <p:cNvSpPr txBox="1"/>
          <p:nvPr/>
        </p:nvSpPr>
        <p:spPr>
          <a:xfrm>
            <a:off x="5649071" y="4791456"/>
            <a:ext cx="4377964"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1/8 Kelly; variable; cap only available cash</a:t>
            </a:r>
          </a:p>
        </p:txBody>
      </p:sp>
      <p:sp>
        <p:nvSpPr>
          <p:cNvPr id="43" name="slide013-element000-table-r04-c03-cell"/>
          <p:cNvSpPr/>
          <p:nvPr/>
        </p:nvSpPr>
        <p:spPr>
          <a:xfrm>
            <a:off x="10118476" y="4718304"/>
            <a:ext cx="3890131" cy="70408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13-element000-table-r04-c03-text"/>
          <p:cNvSpPr txBox="1"/>
          <p:nvPr/>
        </p:nvSpPr>
        <p:spPr>
          <a:xfrm>
            <a:off x="10209916" y="4791456"/>
            <a:ext cx="3707251"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Home value first; otherwise away value</a:t>
            </a:r>
          </a:p>
        </p:txBody>
      </p:sp>
      <p:sp>
        <p:nvSpPr>
          <p:cNvPr id="45" name="slide013-element001-text"/>
          <p:cNvSpPr txBox="1"/>
          <p:nvPr/>
        </p:nvSpPr>
        <p:spPr>
          <a:xfrm>
            <a:off x="594360" y="5797296"/>
            <a:ext cx="13350240" cy="685800"/>
          </a:xfrm>
          <a:prstGeom prst="rect">
            <a:avLst/>
          </a:prstGeom>
          <a:noFill/>
        </p:spPr>
        <p:txBody>
          <a:bodyPr wrap="square" lIns="0" rIns="0" tIns="0" bIns="0" anchor="t">
            <a:noAutofit/>
          </a:bodyPr>
          <a:lstStyle/>
          <a:p>
            <a:pPr algn="l">
              <a:lnSpc>
                <a:spcPct val="100000"/>
              </a:lnSpc>
              <a:spcBef>
                <a:spcPts val="0"/>
              </a:spcBef>
              <a:spcAft>
                <a:spcPts val="0"/>
              </a:spcAft>
            </a:pPr>
            <a:r>
              <a:rPr sz="2100" b="1">
                <a:solidFill>
                  <a:srgbClr val="0D897D"/>
                </a:solidFill>
                <a:latin typeface="Arial"/>
              </a:rPr>
              <a:t>Eighth-Kelly stake = current cash × (1/8) × max(0, (probability × odds − 1) / (odds − 1)).</a:t>
            </a:r>
          </a:p>
        </p:txBody>
      </p:sp>
      <p:sp>
        <p:nvSpPr>
          <p:cNvPr id="46" name="slide013-element002-text"/>
          <p:cNvSpPr txBox="1"/>
          <p:nvPr/>
        </p:nvSpPr>
        <p:spPr>
          <a:xfrm>
            <a:off x="594360" y="6729984"/>
            <a:ext cx="13350240" cy="566928"/>
          </a:xfrm>
          <a:prstGeom prst="rect">
            <a:avLst/>
          </a:prstGeom>
          <a:noFill/>
        </p:spPr>
        <p:txBody>
          <a:bodyPr wrap="square" lIns="0" rIns="0" tIns="0" bIns="0" anchor="t">
            <a:noAutofit/>
          </a:bodyPr>
          <a:lstStyle/>
          <a:p>
            <a:pPr algn="l">
              <a:lnSpc>
                <a:spcPct val="100000"/>
              </a:lnSpc>
              <a:spcBef>
                <a:spcPts val="0"/>
              </a:spcBef>
              <a:spcAft>
                <a:spcPts val="0"/>
              </a:spcAft>
            </a:pPr>
            <a:r>
              <a:rPr sz="1800" b="0">
                <a:solidFill>
                  <a:srgbClr val="536578"/>
                </a:solidFill>
                <a:latin typeface="Arial"/>
              </a:rPr>
              <a:t>Do not add an EPL-style 2% cap to these source rules. A positive estimated return is a model claim, not a guaranteed gain.</a:t>
            </a:r>
          </a:p>
        </p:txBody>
      </p:sp>
      <p:cxnSp>
        <p:nvCxnSpPr>
          <p:cNvPr id="47" name="slide013-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48" name="slide013-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Data.ipynb | Full paths in notes</a:t>
            </a:r>
          </a:p>
        </p:txBody>
      </p:sp>
      <p:sp>
        <p:nvSpPr>
          <p:cNvPr id="49" name="slide013-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4-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APPENDIX | STRATEGY RULES AND CAPITAL</a:t>
            </a:r>
          </a:p>
        </p:txBody>
      </p:sp>
      <p:sp>
        <p:nvSpPr>
          <p:cNvPr id="3" name="slide014-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appendix: how much capital each rule uses</a:t>
            </a:r>
          </a:p>
        </p:txBody>
      </p:sp>
      <p:sp>
        <p:nvSpPr>
          <p:cNvPr id="4" name="slide014-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Stake means the amount requested for one bet. The next pages state the setting for every strategy.</a:t>
            </a:r>
          </a:p>
        </p:txBody>
      </p:sp>
      <p:sp>
        <p:nvSpPr>
          <p:cNvPr id="5" name="slide014-element000-table-r00-c00-cell"/>
          <p:cNvSpPr/>
          <p:nvPr/>
        </p:nvSpPr>
        <p:spPr>
          <a:xfrm>
            <a:off x="594360" y="1874519"/>
            <a:ext cx="2548707" cy="81153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14-element000-table-r00-c00-text"/>
          <p:cNvSpPr txBox="1"/>
          <p:nvPr/>
        </p:nvSpPr>
        <p:spPr>
          <a:xfrm>
            <a:off x="685800" y="1947672"/>
            <a:ext cx="2365827" cy="665225"/>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Stake type</a:t>
            </a:r>
          </a:p>
        </p:txBody>
      </p:sp>
      <p:sp>
        <p:nvSpPr>
          <p:cNvPr id="7" name="slide014-element000-table-r00-c01-cell"/>
          <p:cNvSpPr/>
          <p:nvPr/>
        </p:nvSpPr>
        <p:spPr>
          <a:xfrm>
            <a:off x="3143067" y="1874519"/>
            <a:ext cx="6170554" cy="81153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14-element000-table-r00-c01-text"/>
          <p:cNvSpPr txBox="1"/>
          <p:nvPr/>
        </p:nvSpPr>
        <p:spPr>
          <a:xfrm>
            <a:off x="3234507" y="1947672"/>
            <a:ext cx="5987674" cy="665225"/>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Plain meaning</a:t>
            </a:r>
          </a:p>
        </p:txBody>
      </p:sp>
      <p:sp>
        <p:nvSpPr>
          <p:cNvPr id="9" name="slide014-element000-table-r00-c02-cell"/>
          <p:cNvSpPr/>
          <p:nvPr/>
        </p:nvSpPr>
        <p:spPr>
          <a:xfrm>
            <a:off x="9313621" y="1874519"/>
            <a:ext cx="4694986" cy="81153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14-element000-table-r00-c02-text"/>
          <p:cNvSpPr txBox="1"/>
          <p:nvPr/>
        </p:nvSpPr>
        <p:spPr>
          <a:xfrm>
            <a:off x="9405061" y="1947672"/>
            <a:ext cx="4512106" cy="665225"/>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Example</a:t>
            </a:r>
          </a:p>
        </p:txBody>
      </p:sp>
      <p:sp>
        <p:nvSpPr>
          <p:cNvPr id="11" name="slide014-element000-table-r01-c00-cell"/>
          <p:cNvSpPr/>
          <p:nvPr/>
        </p:nvSpPr>
        <p:spPr>
          <a:xfrm>
            <a:off x="594360" y="2686050"/>
            <a:ext cx="2548707" cy="81153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4-element000-table-r01-c00-text"/>
          <p:cNvSpPr txBox="1"/>
          <p:nvPr/>
        </p:nvSpPr>
        <p:spPr>
          <a:xfrm>
            <a:off x="685800" y="2759202"/>
            <a:ext cx="2365827"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Fixed 1,000</a:t>
            </a:r>
          </a:p>
        </p:txBody>
      </p:sp>
      <p:sp>
        <p:nvSpPr>
          <p:cNvPr id="13" name="slide014-element000-table-r01-c01-cell"/>
          <p:cNvSpPr/>
          <p:nvPr/>
        </p:nvSpPr>
        <p:spPr>
          <a:xfrm>
            <a:off x="3143067" y="2686050"/>
            <a:ext cx="6170554" cy="81153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14-element000-table-r01-c01-text"/>
          <p:cNvSpPr txBox="1"/>
          <p:nvPr/>
        </p:nvSpPr>
        <p:spPr>
          <a:xfrm>
            <a:off x="3234507" y="2759202"/>
            <a:ext cx="5987674"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Same requested amount each bet: 1% of INITIAL 100,000</a:t>
            </a:r>
          </a:p>
        </p:txBody>
      </p:sp>
      <p:sp>
        <p:nvSpPr>
          <p:cNvPr id="15" name="slide014-element000-table-r01-c02-cell"/>
          <p:cNvSpPr/>
          <p:nvPr/>
        </p:nvSpPr>
        <p:spPr>
          <a:xfrm>
            <a:off x="9313621" y="2686050"/>
            <a:ext cx="4694986" cy="81153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4-element000-table-r01-c02-text"/>
          <p:cNvSpPr txBox="1"/>
          <p:nvPr/>
        </p:nvSpPr>
        <p:spPr>
          <a:xfrm>
            <a:off x="9405061" y="2759202"/>
            <a:ext cx="4512106"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Cash 80,000 → still request 1,000</a:t>
            </a:r>
          </a:p>
        </p:txBody>
      </p:sp>
      <p:sp>
        <p:nvSpPr>
          <p:cNvPr id="17" name="slide014-element000-table-r02-c00-cell"/>
          <p:cNvSpPr/>
          <p:nvPr/>
        </p:nvSpPr>
        <p:spPr>
          <a:xfrm>
            <a:off x="594360" y="3497579"/>
            <a:ext cx="2548707" cy="81153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14-element000-table-r02-c00-text"/>
          <p:cNvSpPr txBox="1"/>
          <p:nvPr/>
        </p:nvSpPr>
        <p:spPr>
          <a:xfrm>
            <a:off x="685800" y="3570732"/>
            <a:ext cx="2365827"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1% of current cash</a:t>
            </a:r>
          </a:p>
        </p:txBody>
      </p:sp>
      <p:sp>
        <p:nvSpPr>
          <p:cNvPr id="19" name="slide014-element000-table-r02-c01-cell"/>
          <p:cNvSpPr/>
          <p:nvPr/>
        </p:nvSpPr>
        <p:spPr>
          <a:xfrm>
            <a:off x="3143067" y="3497579"/>
            <a:ext cx="6170554" cy="81153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14-element000-table-r02-c01-text"/>
          <p:cNvSpPr txBox="1"/>
          <p:nvPr/>
        </p:nvSpPr>
        <p:spPr>
          <a:xfrm>
            <a:off x="3234507" y="3570732"/>
            <a:ext cx="5987674"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One percent of cash at the start of the match date</a:t>
            </a:r>
          </a:p>
        </p:txBody>
      </p:sp>
      <p:sp>
        <p:nvSpPr>
          <p:cNvPr id="21" name="slide014-element000-table-r02-c02-cell"/>
          <p:cNvSpPr/>
          <p:nvPr/>
        </p:nvSpPr>
        <p:spPr>
          <a:xfrm>
            <a:off x="9313621" y="3497579"/>
            <a:ext cx="4694986" cy="81153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14-element000-table-r02-c02-text"/>
          <p:cNvSpPr txBox="1"/>
          <p:nvPr/>
        </p:nvSpPr>
        <p:spPr>
          <a:xfrm>
            <a:off x="9405061" y="3570732"/>
            <a:ext cx="4512106"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Cash 80,000 → request 800</a:t>
            </a:r>
          </a:p>
        </p:txBody>
      </p:sp>
      <p:sp>
        <p:nvSpPr>
          <p:cNvPr id="23" name="slide014-element000-table-r03-c00-cell"/>
          <p:cNvSpPr/>
          <p:nvPr/>
        </p:nvSpPr>
        <p:spPr>
          <a:xfrm>
            <a:off x="594360" y="4309109"/>
            <a:ext cx="2548707" cy="81153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14-element000-table-r03-c00-text"/>
          <p:cNvSpPr txBox="1"/>
          <p:nvPr/>
        </p:nvSpPr>
        <p:spPr>
          <a:xfrm>
            <a:off x="685800" y="4382262"/>
            <a:ext cx="2365827"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Kelly sizing</a:t>
            </a:r>
          </a:p>
        </p:txBody>
      </p:sp>
      <p:sp>
        <p:nvSpPr>
          <p:cNvPr id="25" name="slide014-element000-table-r03-c01-cell"/>
          <p:cNvSpPr/>
          <p:nvPr/>
        </p:nvSpPr>
        <p:spPr>
          <a:xfrm>
            <a:off x="3143067" y="4309109"/>
            <a:ext cx="6170554" cy="81153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14-element000-table-r03-c01-text"/>
          <p:cNvSpPr txBox="1"/>
          <p:nvPr/>
        </p:nvSpPr>
        <p:spPr>
          <a:xfrm>
            <a:off x="3234507" y="4382262"/>
            <a:ext cx="5987674"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Amount varies with estimated advantage and odds; the listed % is a ceiling</a:t>
            </a:r>
          </a:p>
        </p:txBody>
      </p:sp>
      <p:sp>
        <p:nvSpPr>
          <p:cNvPr id="27" name="slide014-element000-table-r03-c02-cell"/>
          <p:cNvSpPr/>
          <p:nvPr/>
        </p:nvSpPr>
        <p:spPr>
          <a:xfrm>
            <a:off x="9313621" y="4309109"/>
            <a:ext cx="4694986" cy="81153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14-element000-table-r03-c02-text"/>
          <p:cNvSpPr txBox="1"/>
          <p:nvPr/>
        </p:nvSpPr>
        <p:spPr>
          <a:xfrm>
            <a:off x="9405061" y="4382262"/>
            <a:ext cx="4512106"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A 2% cap means at most 2,000 when cash is 100,000</a:t>
            </a:r>
          </a:p>
        </p:txBody>
      </p:sp>
      <p:sp>
        <p:nvSpPr>
          <p:cNvPr id="29" name="slide014-element001-text"/>
          <p:cNvSpPr txBox="1"/>
          <p:nvPr/>
        </p:nvSpPr>
        <p:spPr>
          <a:xfrm>
            <a:off x="594360" y="5468112"/>
            <a:ext cx="13350240" cy="685800"/>
          </a:xfrm>
          <a:prstGeom prst="rect">
            <a:avLst/>
          </a:prstGeom>
          <a:noFill/>
        </p:spPr>
        <p:txBody>
          <a:bodyPr wrap="square" lIns="0" rIns="0" tIns="0" bIns="0" anchor="t">
            <a:noAutofit/>
          </a:bodyPr>
          <a:lstStyle/>
          <a:p>
            <a:pPr algn="l">
              <a:lnSpc>
                <a:spcPct val="100000"/>
              </a:lnSpc>
              <a:spcBef>
                <a:spcPts val="0"/>
              </a:spcBef>
              <a:spcAft>
                <a:spcPts val="0"/>
              </a:spcAft>
            </a:pPr>
            <a:r>
              <a:rPr sz="2000" b="0">
                <a:solidFill>
                  <a:srgbClr val="11243A"/>
                </a:solidFill>
                <a:latin typeface="Arial"/>
              </a:rPr>
              <a:t>Kelly example: 100,000 cash, a 40% chance and odds of 3.</a:t>
            </a:r>
          </a:p>
          <a:p>
            <a:pPr algn="l">
              <a:lnSpc>
                <a:spcPct val="100000"/>
              </a:lnSpc>
              <a:spcBef>
                <a:spcPts val="0"/>
              </a:spcBef>
              <a:spcAft>
                <a:spcPts val="0"/>
              </a:spcAft>
            </a:pPr>
            <a:r>
              <a:rPr sz="2000" b="0">
                <a:solidFill>
                  <a:srgbClr val="11243A"/>
                </a:solidFill>
                <a:latin typeface="Arial"/>
              </a:rPr>
              <a:t>Quarter Kelly requests 2,500; a 2% cap reduces the bet to 2,000.</a:t>
            </a:r>
          </a:p>
        </p:txBody>
      </p:sp>
      <p:sp>
        <p:nvSpPr>
          <p:cNvPr id="30" name="slide014-element002-text"/>
          <p:cNvSpPr txBox="1"/>
          <p:nvPr/>
        </p:nvSpPr>
        <p:spPr>
          <a:xfrm>
            <a:off x="594360" y="6318504"/>
            <a:ext cx="13350240" cy="502920"/>
          </a:xfrm>
          <a:prstGeom prst="rect">
            <a:avLst/>
          </a:prstGeom>
          <a:noFill/>
        </p:spPr>
        <p:txBody>
          <a:bodyPr wrap="square" lIns="0" rIns="0" tIns="0" bIns="0" anchor="t">
            <a:noAutofit/>
          </a:bodyPr>
          <a:lstStyle/>
          <a:p>
            <a:pPr algn="l">
              <a:lnSpc>
                <a:spcPct val="100000"/>
              </a:lnSpc>
              <a:spcBef>
                <a:spcPts val="0"/>
              </a:spcBef>
              <a:spcAft>
                <a:spcPts val="0"/>
              </a:spcAft>
            </a:pPr>
            <a:r>
              <a:rPr sz="1700" b="0">
                <a:solidFill>
                  <a:srgbClr val="536578"/>
                </a:solidFill>
                <a:latin typeface="Arial"/>
              </a:rPr>
              <a:t>Kelly stake = opening cash × min(cap, Kelly fraction × (probability × odds − 1) / (odds − 1)).</a:t>
            </a:r>
          </a:p>
        </p:txBody>
      </p:sp>
      <p:sp>
        <p:nvSpPr>
          <p:cNvPr id="31" name="slide014-element003-text"/>
          <p:cNvSpPr txBox="1"/>
          <p:nvPr/>
        </p:nvSpPr>
        <p:spPr>
          <a:xfrm>
            <a:off x="594360" y="6940296"/>
            <a:ext cx="13350240" cy="548640"/>
          </a:xfrm>
          <a:prstGeom prst="rect">
            <a:avLst/>
          </a:prstGeom>
          <a:noFill/>
        </p:spPr>
        <p:txBody>
          <a:bodyPr wrap="square" lIns="0" rIns="0" tIns="0" bIns="0" anchor="t">
            <a:noAutofit/>
          </a:bodyPr>
          <a:lstStyle/>
          <a:p>
            <a:pPr algn="l">
              <a:lnSpc>
                <a:spcPct val="100000"/>
              </a:lnSpc>
              <a:spcBef>
                <a:spcPts val="0"/>
              </a:spcBef>
              <a:spcAft>
                <a:spcPts val="0"/>
              </a:spcAft>
            </a:pPr>
            <a:r>
              <a:rPr sz="1700" b="0">
                <a:solidFill>
                  <a:srgbClr val="536578"/>
                </a:solidFill>
                <a:latin typeface="Arial"/>
              </a:rPr>
              <a:t>All bets on a date share opening cash. Date caps apply to their combined stakes. Reduce all requests proportionally when needed; never borrow.</a:t>
            </a:r>
          </a:p>
        </p:txBody>
      </p:sp>
      <p:cxnSp>
        <p:nvCxnSpPr>
          <p:cNvPr id="32" name="slide014-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33" name="slide014-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engine.py; all_strategy_catalog.json | Full paths in notes</a:t>
            </a:r>
          </a:p>
        </p:txBody>
      </p:sp>
      <p:sp>
        <p:nvSpPr>
          <p:cNvPr id="34" name="slide014-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5-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APPENDIX | STRATEGY RULES AND CAPITAL</a:t>
            </a:r>
          </a:p>
        </p:txBody>
      </p:sp>
      <p:sp>
        <p:nvSpPr>
          <p:cNvPr id="3" name="slide015-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appendix: strategy rules (1/9)</a:t>
            </a:r>
          </a:p>
        </p:txBody>
      </p:sp>
      <p:sp>
        <p:nvSpPr>
          <p:cNvPr id="4" name="slide015-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15-element000-table-r00-c00-cell"/>
          <p:cNvSpPr/>
          <p:nvPr/>
        </p:nvSpPr>
        <p:spPr>
          <a:xfrm>
            <a:off x="594360" y="1847088"/>
            <a:ext cx="1609709" cy="5486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15-element000-table-r00-c00-text"/>
          <p:cNvSpPr txBox="1"/>
          <p:nvPr/>
        </p:nvSpPr>
        <p:spPr>
          <a:xfrm>
            <a:off x="685800" y="192024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15-element000-table-r00-c01-cell"/>
          <p:cNvSpPr/>
          <p:nvPr/>
        </p:nvSpPr>
        <p:spPr>
          <a:xfrm>
            <a:off x="2204069" y="1847088"/>
            <a:ext cx="3353562" cy="5486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15-element000-table-r00-c01-text"/>
          <p:cNvSpPr txBox="1"/>
          <p:nvPr/>
        </p:nvSpPr>
        <p:spPr>
          <a:xfrm>
            <a:off x="2295509" y="192024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15-element000-table-r00-c02-cell"/>
          <p:cNvSpPr/>
          <p:nvPr/>
        </p:nvSpPr>
        <p:spPr>
          <a:xfrm>
            <a:off x="5557631" y="1847088"/>
            <a:ext cx="3353562" cy="5486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15-element000-table-r00-c02-text"/>
          <p:cNvSpPr txBox="1"/>
          <p:nvPr/>
        </p:nvSpPr>
        <p:spPr>
          <a:xfrm>
            <a:off x="5649071" y="192024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15-element000-table-r00-c03-cell"/>
          <p:cNvSpPr/>
          <p:nvPr/>
        </p:nvSpPr>
        <p:spPr>
          <a:xfrm>
            <a:off x="8911193" y="1847088"/>
            <a:ext cx="3219419" cy="5486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5-element000-table-r00-c03-text"/>
          <p:cNvSpPr txBox="1"/>
          <p:nvPr/>
        </p:nvSpPr>
        <p:spPr>
          <a:xfrm>
            <a:off x="9002633" y="192024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15-element000-table-r00-c04-cell"/>
          <p:cNvSpPr/>
          <p:nvPr/>
        </p:nvSpPr>
        <p:spPr>
          <a:xfrm>
            <a:off x="12130613" y="1847088"/>
            <a:ext cx="1877994" cy="5486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15-element000-table-r00-c04-text"/>
          <p:cNvSpPr txBox="1"/>
          <p:nvPr/>
        </p:nvSpPr>
        <p:spPr>
          <a:xfrm>
            <a:off x="12222053" y="192024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15-element000-table-r01-c00-cell"/>
          <p:cNvSpPr/>
          <p:nvPr/>
        </p:nvSpPr>
        <p:spPr>
          <a:xfrm>
            <a:off x="594360" y="2395728"/>
            <a:ext cx="160970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5-element000-table-r01-c00-text"/>
          <p:cNvSpPr txBox="1"/>
          <p:nvPr/>
        </p:nvSpPr>
        <p:spPr>
          <a:xfrm>
            <a:off x="685800" y="246888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S001–S004</a:t>
            </a:r>
          </a:p>
        </p:txBody>
      </p:sp>
      <p:sp>
        <p:nvSpPr>
          <p:cNvPr id="17" name="slide015-element000-table-r01-c01-cell"/>
          <p:cNvSpPr/>
          <p:nvPr/>
        </p:nvSpPr>
        <p:spPr>
          <a:xfrm>
            <a:off x="2204069" y="239572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15-element000-table-r01-c01-text"/>
          <p:cNvSpPr txBox="1"/>
          <p:nvPr/>
        </p:nvSpPr>
        <p:spPr>
          <a:xfrm>
            <a:off x="2295509" y="246888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19" name="slide015-element000-table-r01-c02-cell"/>
          <p:cNvSpPr/>
          <p:nvPr/>
        </p:nvSpPr>
        <p:spPr>
          <a:xfrm>
            <a:off x="5557631" y="239572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15-element000-table-r01-c02-text"/>
          <p:cNvSpPr txBox="1"/>
          <p:nvPr/>
        </p:nvSpPr>
        <p:spPr>
          <a:xfrm>
            <a:off x="5649071" y="246888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No bets; keep cash</a:t>
            </a:r>
          </a:p>
        </p:txBody>
      </p:sp>
      <p:sp>
        <p:nvSpPr>
          <p:cNvPr id="21" name="slide015-element000-table-r01-c03-cell"/>
          <p:cNvSpPr/>
          <p:nvPr/>
        </p:nvSpPr>
        <p:spPr>
          <a:xfrm>
            <a:off x="8911193" y="2395728"/>
            <a:ext cx="321941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15-element000-table-r01-c03-text"/>
          <p:cNvSpPr txBox="1"/>
          <p:nvPr/>
        </p:nvSpPr>
        <p:spPr>
          <a:xfrm>
            <a:off x="9002633" y="246888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0</a:t>
            </a:r>
          </a:p>
        </p:txBody>
      </p:sp>
      <p:sp>
        <p:nvSpPr>
          <p:cNvPr id="23" name="slide015-element000-table-r01-c04-cell"/>
          <p:cNvSpPr/>
          <p:nvPr/>
        </p:nvSpPr>
        <p:spPr>
          <a:xfrm>
            <a:off x="12130613" y="2395728"/>
            <a:ext cx="1877994"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15-element000-table-r01-c04-text"/>
          <p:cNvSpPr txBox="1"/>
          <p:nvPr/>
        </p:nvSpPr>
        <p:spPr>
          <a:xfrm>
            <a:off x="12222053" y="246888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No betting</a:t>
            </a:r>
          </a:p>
        </p:txBody>
      </p:sp>
      <p:sp>
        <p:nvSpPr>
          <p:cNvPr id="25" name="slide015-element000-table-r02-c00-cell"/>
          <p:cNvSpPr/>
          <p:nvPr/>
        </p:nvSpPr>
        <p:spPr>
          <a:xfrm>
            <a:off x="594360" y="2944368"/>
            <a:ext cx="1609709"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15-element000-table-r02-c00-text"/>
          <p:cNvSpPr txBox="1"/>
          <p:nvPr/>
        </p:nvSpPr>
        <p:spPr>
          <a:xfrm>
            <a:off x="685800" y="301752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S005 / S006</a:t>
            </a:r>
          </a:p>
        </p:txBody>
      </p:sp>
      <p:sp>
        <p:nvSpPr>
          <p:cNvPr id="27" name="slide015-element000-table-r02-c01-cell"/>
          <p:cNvSpPr/>
          <p:nvPr/>
        </p:nvSpPr>
        <p:spPr>
          <a:xfrm>
            <a:off x="2204069" y="2944368"/>
            <a:ext cx="335356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15-element000-table-r02-c01-text"/>
          <p:cNvSpPr txBox="1"/>
          <p:nvPr/>
        </p:nvSpPr>
        <p:spPr>
          <a:xfrm>
            <a:off x="2295509" y="301752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29" name="slide015-element000-table-r02-c02-cell"/>
          <p:cNvSpPr/>
          <p:nvPr/>
        </p:nvSpPr>
        <p:spPr>
          <a:xfrm>
            <a:off x="5557631" y="2944368"/>
            <a:ext cx="335356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15-element000-table-r02-c02-text"/>
          <p:cNvSpPr txBox="1"/>
          <p:nvPr/>
        </p:nvSpPr>
        <p:spPr>
          <a:xfrm>
            <a:off x="5649071" y="301752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31" name="slide015-element000-table-r02-c03-cell"/>
          <p:cNvSpPr/>
          <p:nvPr/>
        </p:nvSpPr>
        <p:spPr>
          <a:xfrm>
            <a:off x="8911193" y="2944368"/>
            <a:ext cx="3219419"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15-element000-table-r02-c03-text"/>
          <p:cNvSpPr txBox="1"/>
          <p:nvPr/>
        </p:nvSpPr>
        <p:spPr>
          <a:xfrm>
            <a:off x="9002633" y="301752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S005: 1,000</a:t>
            </a:r>
          </a:p>
          <a:p>
            <a:pPr algn="l">
              <a:lnSpc>
                <a:spcPct val="100000"/>
              </a:lnSpc>
              <a:spcBef>
                <a:spcPts val="0"/>
              </a:spcBef>
              <a:spcAft>
                <a:spcPts val="0"/>
              </a:spcAft>
            </a:pPr>
            <a:r>
              <a:rPr sz="1300" b="0">
                <a:solidFill>
                  <a:srgbClr val="11243A"/>
                </a:solidFill>
                <a:latin typeface="Arial"/>
              </a:rPr>
              <a:t>S006: 1/4 Kelly; ≤2% cash</a:t>
            </a:r>
          </a:p>
        </p:txBody>
      </p:sp>
      <p:sp>
        <p:nvSpPr>
          <p:cNvPr id="33" name="slide015-element000-table-r02-c04-cell"/>
          <p:cNvSpPr/>
          <p:nvPr/>
        </p:nvSpPr>
        <p:spPr>
          <a:xfrm>
            <a:off x="12130613" y="2944368"/>
            <a:ext cx="1877994"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15-element000-table-r02-c04-text"/>
          <p:cNvSpPr txBox="1"/>
          <p:nvPr/>
        </p:nvSpPr>
        <p:spPr>
          <a:xfrm>
            <a:off x="12222053" y="301752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35" name="slide015-element000-table-r03-c00-cell"/>
          <p:cNvSpPr/>
          <p:nvPr/>
        </p:nvSpPr>
        <p:spPr>
          <a:xfrm>
            <a:off x="594360" y="3493008"/>
            <a:ext cx="160970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15-element000-table-r03-c00-text"/>
          <p:cNvSpPr txBox="1"/>
          <p:nvPr/>
        </p:nvSpPr>
        <p:spPr>
          <a:xfrm>
            <a:off x="685800" y="356616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S007 / S008</a:t>
            </a:r>
          </a:p>
        </p:txBody>
      </p:sp>
      <p:sp>
        <p:nvSpPr>
          <p:cNvPr id="37" name="slide015-element000-table-r03-c01-cell"/>
          <p:cNvSpPr/>
          <p:nvPr/>
        </p:nvSpPr>
        <p:spPr>
          <a:xfrm>
            <a:off x="2204069" y="349300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15-element000-table-r03-c01-text"/>
          <p:cNvSpPr txBox="1"/>
          <p:nvPr/>
        </p:nvSpPr>
        <p:spPr>
          <a:xfrm>
            <a:off x="2295509" y="356616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39" name="slide015-element000-table-r03-c02-cell"/>
          <p:cNvSpPr/>
          <p:nvPr/>
        </p:nvSpPr>
        <p:spPr>
          <a:xfrm>
            <a:off x="5557631" y="349300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15-element000-table-r03-c02-text"/>
          <p:cNvSpPr txBox="1"/>
          <p:nvPr/>
        </p:nvSpPr>
        <p:spPr>
          <a:xfrm>
            <a:off x="5649071" y="356616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41" name="slide015-element000-table-r03-c03-cell"/>
          <p:cNvSpPr/>
          <p:nvPr/>
        </p:nvSpPr>
        <p:spPr>
          <a:xfrm>
            <a:off x="8911193" y="3493008"/>
            <a:ext cx="321941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15-element000-table-r03-c03-text"/>
          <p:cNvSpPr txBox="1"/>
          <p:nvPr/>
        </p:nvSpPr>
        <p:spPr>
          <a:xfrm>
            <a:off x="9002633" y="356616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S007: 1,000</a:t>
            </a:r>
          </a:p>
          <a:p>
            <a:pPr algn="l">
              <a:lnSpc>
                <a:spcPct val="100000"/>
              </a:lnSpc>
              <a:spcBef>
                <a:spcPts val="0"/>
              </a:spcBef>
              <a:spcAft>
                <a:spcPts val="0"/>
              </a:spcAft>
            </a:pPr>
            <a:r>
              <a:rPr sz="1300" b="0">
                <a:solidFill>
                  <a:srgbClr val="11243A"/>
                </a:solidFill>
                <a:latin typeface="Arial"/>
              </a:rPr>
              <a:t>S008: 1/4 Kelly; ≤2% cash</a:t>
            </a:r>
          </a:p>
        </p:txBody>
      </p:sp>
      <p:sp>
        <p:nvSpPr>
          <p:cNvPr id="43" name="slide015-element000-table-r03-c04-cell"/>
          <p:cNvSpPr/>
          <p:nvPr/>
        </p:nvSpPr>
        <p:spPr>
          <a:xfrm>
            <a:off x="12130613" y="3493008"/>
            <a:ext cx="1877994"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15-element000-table-r03-c04-text"/>
          <p:cNvSpPr txBox="1"/>
          <p:nvPr/>
        </p:nvSpPr>
        <p:spPr>
          <a:xfrm>
            <a:off x="12222053" y="356616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sp>
        <p:nvSpPr>
          <p:cNvPr id="45" name="slide015-element000-table-r04-c00-cell"/>
          <p:cNvSpPr/>
          <p:nvPr/>
        </p:nvSpPr>
        <p:spPr>
          <a:xfrm>
            <a:off x="594360" y="4041648"/>
            <a:ext cx="1609709"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15-element000-table-r04-c00-text"/>
          <p:cNvSpPr txBox="1"/>
          <p:nvPr/>
        </p:nvSpPr>
        <p:spPr>
          <a:xfrm>
            <a:off x="685800" y="411480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S009–S012</a:t>
            </a:r>
          </a:p>
        </p:txBody>
      </p:sp>
      <p:sp>
        <p:nvSpPr>
          <p:cNvPr id="47" name="slide015-element000-table-r04-c01-cell"/>
          <p:cNvSpPr/>
          <p:nvPr/>
        </p:nvSpPr>
        <p:spPr>
          <a:xfrm>
            <a:off x="2204069" y="4041648"/>
            <a:ext cx="335356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15-element000-table-r04-c01-text"/>
          <p:cNvSpPr txBox="1"/>
          <p:nvPr/>
        </p:nvSpPr>
        <p:spPr>
          <a:xfrm>
            <a:off x="2295509" y="411480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49" name="slide015-element000-table-r04-c02-cell"/>
          <p:cNvSpPr/>
          <p:nvPr/>
        </p:nvSpPr>
        <p:spPr>
          <a:xfrm>
            <a:off x="5557631" y="4041648"/>
            <a:ext cx="335356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15-element000-table-r04-c02-text"/>
          <p:cNvSpPr txBox="1"/>
          <p:nvPr/>
        </p:nvSpPr>
        <p:spPr>
          <a:xfrm>
            <a:off x="5649071" y="411480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No bets; keep cash</a:t>
            </a:r>
          </a:p>
        </p:txBody>
      </p:sp>
      <p:sp>
        <p:nvSpPr>
          <p:cNvPr id="51" name="slide015-element000-table-r04-c03-cell"/>
          <p:cNvSpPr/>
          <p:nvPr/>
        </p:nvSpPr>
        <p:spPr>
          <a:xfrm>
            <a:off x="8911193" y="4041648"/>
            <a:ext cx="3219419"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15-element000-table-r04-c03-text"/>
          <p:cNvSpPr txBox="1"/>
          <p:nvPr/>
        </p:nvSpPr>
        <p:spPr>
          <a:xfrm>
            <a:off x="9002633" y="411480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0</a:t>
            </a:r>
          </a:p>
        </p:txBody>
      </p:sp>
      <p:sp>
        <p:nvSpPr>
          <p:cNvPr id="53" name="slide015-element000-table-r04-c04-cell"/>
          <p:cNvSpPr/>
          <p:nvPr/>
        </p:nvSpPr>
        <p:spPr>
          <a:xfrm>
            <a:off x="12130613" y="4041648"/>
            <a:ext cx="1877994"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15-element000-table-r04-c04-text"/>
          <p:cNvSpPr txBox="1"/>
          <p:nvPr/>
        </p:nvSpPr>
        <p:spPr>
          <a:xfrm>
            <a:off x="12222053" y="411480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No betting</a:t>
            </a:r>
          </a:p>
        </p:txBody>
      </p:sp>
      <p:sp>
        <p:nvSpPr>
          <p:cNvPr id="55" name="slide015-element000-table-r05-c00-cell"/>
          <p:cNvSpPr/>
          <p:nvPr/>
        </p:nvSpPr>
        <p:spPr>
          <a:xfrm>
            <a:off x="594360" y="4590288"/>
            <a:ext cx="160970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15-element000-table-r05-c00-text"/>
          <p:cNvSpPr txBox="1"/>
          <p:nvPr/>
        </p:nvSpPr>
        <p:spPr>
          <a:xfrm>
            <a:off x="685800" y="466344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S013 / S014</a:t>
            </a:r>
          </a:p>
        </p:txBody>
      </p:sp>
      <p:sp>
        <p:nvSpPr>
          <p:cNvPr id="57" name="slide015-element000-table-r05-c01-cell"/>
          <p:cNvSpPr/>
          <p:nvPr/>
        </p:nvSpPr>
        <p:spPr>
          <a:xfrm>
            <a:off x="2204069" y="459028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15-element000-table-r05-c01-text"/>
          <p:cNvSpPr txBox="1"/>
          <p:nvPr/>
        </p:nvSpPr>
        <p:spPr>
          <a:xfrm>
            <a:off x="2295509" y="466344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59" name="slide015-element000-table-r05-c02-cell"/>
          <p:cNvSpPr/>
          <p:nvPr/>
        </p:nvSpPr>
        <p:spPr>
          <a:xfrm>
            <a:off x="5557631" y="459028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15-element000-table-r05-c02-text"/>
          <p:cNvSpPr txBox="1"/>
          <p:nvPr/>
        </p:nvSpPr>
        <p:spPr>
          <a:xfrm>
            <a:off x="5649071" y="466344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61" name="slide015-element000-table-r05-c03-cell"/>
          <p:cNvSpPr/>
          <p:nvPr/>
        </p:nvSpPr>
        <p:spPr>
          <a:xfrm>
            <a:off x="8911193" y="4590288"/>
            <a:ext cx="321941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15-element000-table-r05-c03-text"/>
          <p:cNvSpPr txBox="1"/>
          <p:nvPr/>
        </p:nvSpPr>
        <p:spPr>
          <a:xfrm>
            <a:off x="9002633" y="466344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S013: 1,000</a:t>
            </a:r>
          </a:p>
          <a:p>
            <a:pPr algn="l">
              <a:lnSpc>
                <a:spcPct val="100000"/>
              </a:lnSpc>
              <a:spcBef>
                <a:spcPts val="0"/>
              </a:spcBef>
              <a:spcAft>
                <a:spcPts val="0"/>
              </a:spcAft>
            </a:pPr>
            <a:r>
              <a:rPr sz="1300" b="0">
                <a:solidFill>
                  <a:srgbClr val="11243A"/>
                </a:solidFill>
                <a:latin typeface="Arial"/>
              </a:rPr>
              <a:t>S014: 1/4 Kelly; ≤2% cash</a:t>
            </a:r>
          </a:p>
        </p:txBody>
      </p:sp>
      <p:sp>
        <p:nvSpPr>
          <p:cNvPr id="63" name="slide015-element000-table-r05-c04-cell"/>
          <p:cNvSpPr/>
          <p:nvPr/>
        </p:nvSpPr>
        <p:spPr>
          <a:xfrm>
            <a:off x="12130613" y="4590288"/>
            <a:ext cx="1877994"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15-element000-table-r05-c04-text"/>
          <p:cNvSpPr txBox="1"/>
          <p:nvPr/>
        </p:nvSpPr>
        <p:spPr>
          <a:xfrm>
            <a:off x="12222053" y="466344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15-element000-table-r06-c00-cell"/>
          <p:cNvSpPr/>
          <p:nvPr/>
        </p:nvSpPr>
        <p:spPr>
          <a:xfrm>
            <a:off x="594360" y="5138927"/>
            <a:ext cx="1609709"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15-element000-table-r06-c00-text"/>
          <p:cNvSpPr txBox="1"/>
          <p:nvPr/>
        </p:nvSpPr>
        <p:spPr>
          <a:xfrm>
            <a:off x="685800" y="5212079"/>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S015 / S016</a:t>
            </a:r>
          </a:p>
        </p:txBody>
      </p:sp>
      <p:sp>
        <p:nvSpPr>
          <p:cNvPr id="67" name="slide015-element000-table-r06-c01-cell"/>
          <p:cNvSpPr/>
          <p:nvPr/>
        </p:nvSpPr>
        <p:spPr>
          <a:xfrm>
            <a:off x="2204069" y="5138927"/>
            <a:ext cx="335356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15-element000-table-r06-c01-text"/>
          <p:cNvSpPr txBox="1"/>
          <p:nvPr/>
        </p:nvSpPr>
        <p:spPr>
          <a:xfrm>
            <a:off x="2295509" y="5212079"/>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69" name="slide015-element000-table-r06-c02-cell"/>
          <p:cNvSpPr/>
          <p:nvPr/>
        </p:nvSpPr>
        <p:spPr>
          <a:xfrm>
            <a:off x="5557631" y="5138927"/>
            <a:ext cx="335356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15-element000-table-r06-c02-text"/>
          <p:cNvSpPr txBox="1"/>
          <p:nvPr/>
        </p:nvSpPr>
        <p:spPr>
          <a:xfrm>
            <a:off x="5649071" y="5212079"/>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71" name="slide015-element000-table-r06-c03-cell"/>
          <p:cNvSpPr/>
          <p:nvPr/>
        </p:nvSpPr>
        <p:spPr>
          <a:xfrm>
            <a:off x="8911193" y="5138927"/>
            <a:ext cx="3219419"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15-element000-table-r06-c03-text"/>
          <p:cNvSpPr txBox="1"/>
          <p:nvPr/>
        </p:nvSpPr>
        <p:spPr>
          <a:xfrm>
            <a:off x="9002633" y="5212079"/>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S015: 1,000</a:t>
            </a:r>
          </a:p>
          <a:p>
            <a:pPr algn="l">
              <a:lnSpc>
                <a:spcPct val="100000"/>
              </a:lnSpc>
              <a:spcBef>
                <a:spcPts val="0"/>
              </a:spcBef>
              <a:spcAft>
                <a:spcPts val="0"/>
              </a:spcAft>
            </a:pPr>
            <a:r>
              <a:rPr sz="1300" b="0">
                <a:solidFill>
                  <a:srgbClr val="11243A"/>
                </a:solidFill>
                <a:latin typeface="Arial"/>
              </a:rPr>
              <a:t>S016: 1/4 Kelly; ≤2% cash</a:t>
            </a:r>
          </a:p>
        </p:txBody>
      </p:sp>
      <p:sp>
        <p:nvSpPr>
          <p:cNvPr id="73" name="slide015-element000-table-r06-c04-cell"/>
          <p:cNvSpPr/>
          <p:nvPr/>
        </p:nvSpPr>
        <p:spPr>
          <a:xfrm>
            <a:off x="12130613" y="5138927"/>
            <a:ext cx="1877994"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15-element000-table-r06-c04-text"/>
          <p:cNvSpPr txBox="1"/>
          <p:nvPr/>
        </p:nvSpPr>
        <p:spPr>
          <a:xfrm>
            <a:off x="12222053" y="5212079"/>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sp>
        <p:nvSpPr>
          <p:cNvPr id="75" name="slide015-element000-table-r07-c00-cell"/>
          <p:cNvSpPr/>
          <p:nvPr/>
        </p:nvSpPr>
        <p:spPr>
          <a:xfrm>
            <a:off x="594360" y="5687568"/>
            <a:ext cx="160970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15-element000-table-r07-c00-text"/>
          <p:cNvSpPr txBox="1"/>
          <p:nvPr/>
        </p:nvSpPr>
        <p:spPr>
          <a:xfrm>
            <a:off x="685800" y="576072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S017 / S018</a:t>
            </a:r>
          </a:p>
        </p:txBody>
      </p:sp>
      <p:sp>
        <p:nvSpPr>
          <p:cNvPr id="77" name="slide015-element000-table-r07-c01-cell"/>
          <p:cNvSpPr/>
          <p:nvPr/>
        </p:nvSpPr>
        <p:spPr>
          <a:xfrm>
            <a:off x="2204069" y="568756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15-element000-table-r07-c01-text"/>
          <p:cNvSpPr txBox="1"/>
          <p:nvPr/>
        </p:nvSpPr>
        <p:spPr>
          <a:xfrm>
            <a:off x="2295509" y="576072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form</a:t>
            </a:r>
          </a:p>
        </p:txBody>
      </p:sp>
      <p:sp>
        <p:nvSpPr>
          <p:cNvPr id="79" name="slide015-element000-table-r07-c02-cell"/>
          <p:cNvSpPr/>
          <p:nvPr/>
        </p:nvSpPr>
        <p:spPr>
          <a:xfrm>
            <a:off x="5557631" y="568756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15-element000-table-r07-c02-text"/>
          <p:cNvSpPr txBox="1"/>
          <p:nvPr/>
        </p:nvSpPr>
        <p:spPr>
          <a:xfrm>
            <a:off x="5649071" y="576072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81" name="slide015-element000-table-r07-c03-cell"/>
          <p:cNvSpPr/>
          <p:nvPr/>
        </p:nvSpPr>
        <p:spPr>
          <a:xfrm>
            <a:off x="8911193" y="5687568"/>
            <a:ext cx="321941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15-element000-table-r07-c03-text"/>
          <p:cNvSpPr txBox="1"/>
          <p:nvPr/>
        </p:nvSpPr>
        <p:spPr>
          <a:xfrm>
            <a:off x="9002633" y="576072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S017: 1,000</a:t>
            </a:r>
          </a:p>
          <a:p>
            <a:pPr algn="l">
              <a:lnSpc>
                <a:spcPct val="100000"/>
              </a:lnSpc>
              <a:spcBef>
                <a:spcPts val="0"/>
              </a:spcBef>
              <a:spcAft>
                <a:spcPts val="0"/>
              </a:spcAft>
            </a:pPr>
            <a:r>
              <a:rPr sz="1300" b="0">
                <a:solidFill>
                  <a:srgbClr val="11243A"/>
                </a:solidFill>
                <a:latin typeface="Arial"/>
              </a:rPr>
              <a:t>S018: 1/4 Kelly; ≤2% cash</a:t>
            </a:r>
          </a:p>
        </p:txBody>
      </p:sp>
      <p:sp>
        <p:nvSpPr>
          <p:cNvPr id="83" name="slide015-element000-table-r07-c04-cell"/>
          <p:cNvSpPr/>
          <p:nvPr/>
        </p:nvSpPr>
        <p:spPr>
          <a:xfrm>
            <a:off x="12130613" y="5687568"/>
            <a:ext cx="1877994"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15-element000-table-r07-c04-text"/>
          <p:cNvSpPr txBox="1"/>
          <p:nvPr/>
        </p:nvSpPr>
        <p:spPr>
          <a:xfrm>
            <a:off x="12222053" y="576072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15-element000-table-r08-c00-cell"/>
          <p:cNvSpPr/>
          <p:nvPr/>
        </p:nvSpPr>
        <p:spPr>
          <a:xfrm>
            <a:off x="594360" y="6236208"/>
            <a:ext cx="1609709"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15-element000-table-r08-c00-text"/>
          <p:cNvSpPr txBox="1"/>
          <p:nvPr/>
        </p:nvSpPr>
        <p:spPr>
          <a:xfrm>
            <a:off x="685800" y="630936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S019 / S020</a:t>
            </a:r>
          </a:p>
        </p:txBody>
      </p:sp>
      <p:sp>
        <p:nvSpPr>
          <p:cNvPr id="87" name="slide015-element000-table-r08-c01-cell"/>
          <p:cNvSpPr/>
          <p:nvPr/>
        </p:nvSpPr>
        <p:spPr>
          <a:xfrm>
            <a:off x="2204069" y="6236208"/>
            <a:ext cx="335356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15-element000-table-r08-c01-text"/>
          <p:cNvSpPr txBox="1"/>
          <p:nvPr/>
        </p:nvSpPr>
        <p:spPr>
          <a:xfrm>
            <a:off x="2295509" y="630936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form + chance quality</a:t>
            </a:r>
          </a:p>
        </p:txBody>
      </p:sp>
      <p:sp>
        <p:nvSpPr>
          <p:cNvPr id="89" name="slide015-element000-table-r08-c02-cell"/>
          <p:cNvSpPr/>
          <p:nvPr/>
        </p:nvSpPr>
        <p:spPr>
          <a:xfrm>
            <a:off x="5557631" y="6236208"/>
            <a:ext cx="335356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15-element000-table-r08-c02-text"/>
          <p:cNvSpPr txBox="1"/>
          <p:nvPr/>
        </p:nvSpPr>
        <p:spPr>
          <a:xfrm>
            <a:off x="5649071" y="630936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91" name="slide015-element000-table-r08-c03-cell"/>
          <p:cNvSpPr/>
          <p:nvPr/>
        </p:nvSpPr>
        <p:spPr>
          <a:xfrm>
            <a:off x="8911193" y="6236208"/>
            <a:ext cx="3219419"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15-element000-table-r08-c03-text"/>
          <p:cNvSpPr txBox="1"/>
          <p:nvPr/>
        </p:nvSpPr>
        <p:spPr>
          <a:xfrm>
            <a:off x="9002633" y="630936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S019: 1,000</a:t>
            </a:r>
          </a:p>
          <a:p>
            <a:pPr algn="l">
              <a:lnSpc>
                <a:spcPct val="100000"/>
              </a:lnSpc>
              <a:spcBef>
                <a:spcPts val="0"/>
              </a:spcBef>
              <a:spcAft>
                <a:spcPts val="0"/>
              </a:spcAft>
            </a:pPr>
            <a:r>
              <a:rPr sz="1300" b="0">
                <a:solidFill>
                  <a:srgbClr val="11243A"/>
                </a:solidFill>
                <a:latin typeface="Arial"/>
              </a:rPr>
              <a:t>S020: 1/4 Kelly; ≤2% cash</a:t>
            </a:r>
          </a:p>
        </p:txBody>
      </p:sp>
      <p:sp>
        <p:nvSpPr>
          <p:cNvPr id="93" name="slide015-element000-table-r08-c04-cell"/>
          <p:cNvSpPr/>
          <p:nvPr/>
        </p:nvSpPr>
        <p:spPr>
          <a:xfrm>
            <a:off x="12130613" y="6236208"/>
            <a:ext cx="1877994"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15-element000-table-r08-c04-text"/>
          <p:cNvSpPr txBox="1"/>
          <p:nvPr/>
        </p:nvSpPr>
        <p:spPr>
          <a:xfrm>
            <a:off x="12222053" y="630936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95" name="slide015-element000-table-r09-c00-cell"/>
          <p:cNvSpPr/>
          <p:nvPr/>
        </p:nvSpPr>
        <p:spPr>
          <a:xfrm>
            <a:off x="594360" y="6784848"/>
            <a:ext cx="160970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slide015-element000-table-r09-c00-text"/>
          <p:cNvSpPr txBox="1"/>
          <p:nvPr/>
        </p:nvSpPr>
        <p:spPr>
          <a:xfrm>
            <a:off x="685800" y="685800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S021 / S022</a:t>
            </a:r>
          </a:p>
        </p:txBody>
      </p:sp>
      <p:sp>
        <p:nvSpPr>
          <p:cNvPr id="97" name="slide015-element000-table-r09-c01-cell"/>
          <p:cNvSpPr/>
          <p:nvPr/>
        </p:nvSpPr>
        <p:spPr>
          <a:xfrm>
            <a:off x="2204069" y="678484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slide015-element000-table-r09-c01-text"/>
          <p:cNvSpPr txBox="1"/>
          <p:nvPr/>
        </p:nvSpPr>
        <p:spPr>
          <a:xfrm>
            <a:off x="2295509" y="685800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form + player form</a:t>
            </a:r>
          </a:p>
        </p:txBody>
      </p:sp>
      <p:sp>
        <p:nvSpPr>
          <p:cNvPr id="99" name="slide015-element000-table-r09-c02-cell"/>
          <p:cNvSpPr/>
          <p:nvPr/>
        </p:nvSpPr>
        <p:spPr>
          <a:xfrm>
            <a:off x="5557631" y="678484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slide015-element000-table-r09-c02-text"/>
          <p:cNvSpPr txBox="1"/>
          <p:nvPr/>
        </p:nvSpPr>
        <p:spPr>
          <a:xfrm>
            <a:off x="5649071" y="685800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101" name="slide015-element000-table-r09-c03-cell"/>
          <p:cNvSpPr/>
          <p:nvPr/>
        </p:nvSpPr>
        <p:spPr>
          <a:xfrm>
            <a:off x="8911193" y="6784848"/>
            <a:ext cx="321941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slide015-element000-table-r09-c03-text"/>
          <p:cNvSpPr txBox="1"/>
          <p:nvPr/>
        </p:nvSpPr>
        <p:spPr>
          <a:xfrm>
            <a:off x="9002633" y="685800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S021: 1,000</a:t>
            </a:r>
          </a:p>
          <a:p>
            <a:pPr algn="l">
              <a:lnSpc>
                <a:spcPct val="100000"/>
              </a:lnSpc>
              <a:spcBef>
                <a:spcPts val="0"/>
              </a:spcBef>
              <a:spcAft>
                <a:spcPts val="0"/>
              </a:spcAft>
            </a:pPr>
            <a:r>
              <a:rPr sz="1300" b="0">
                <a:solidFill>
                  <a:srgbClr val="11243A"/>
                </a:solidFill>
                <a:latin typeface="Arial"/>
              </a:rPr>
              <a:t>S022: 1/4 Kelly; ≤2% cash</a:t>
            </a:r>
          </a:p>
        </p:txBody>
      </p:sp>
      <p:sp>
        <p:nvSpPr>
          <p:cNvPr id="103" name="slide015-element000-table-r09-c04-cell"/>
          <p:cNvSpPr/>
          <p:nvPr/>
        </p:nvSpPr>
        <p:spPr>
          <a:xfrm>
            <a:off x="12130613" y="6784848"/>
            <a:ext cx="1877994"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slide015-element000-table-r09-c04-text"/>
          <p:cNvSpPr txBox="1"/>
          <p:nvPr/>
        </p:nvSpPr>
        <p:spPr>
          <a:xfrm>
            <a:off x="12222053" y="685800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cxnSp>
        <p:nvCxnSpPr>
          <p:cNvPr id="105" name="slide015-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106" name="slide015-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107" name="slide015-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6-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APPENDIX | STRATEGY RULES AND CAPITAL</a:t>
            </a:r>
          </a:p>
        </p:txBody>
      </p:sp>
      <p:sp>
        <p:nvSpPr>
          <p:cNvPr id="3" name="slide016-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appendix: strategy rules (2/9)</a:t>
            </a:r>
          </a:p>
        </p:txBody>
      </p:sp>
      <p:sp>
        <p:nvSpPr>
          <p:cNvPr id="4" name="slide016-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16-element000-table-r00-c00-cell"/>
          <p:cNvSpPr/>
          <p:nvPr/>
        </p:nvSpPr>
        <p:spPr>
          <a:xfrm>
            <a:off x="594360" y="1847088"/>
            <a:ext cx="160970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16-element000-table-r00-c00-text"/>
          <p:cNvSpPr txBox="1"/>
          <p:nvPr/>
        </p:nvSpPr>
        <p:spPr>
          <a:xfrm>
            <a:off x="685800" y="1920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16-element000-table-r00-c01-cell"/>
          <p:cNvSpPr/>
          <p:nvPr/>
        </p:nvSpPr>
        <p:spPr>
          <a:xfrm>
            <a:off x="2204069"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16-element000-table-r00-c01-text"/>
          <p:cNvSpPr txBox="1"/>
          <p:nvPr/>
        </p:nvSpPr>
        <p:spPr>
          <a:xfrm>
            <a:off x="2295509"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16-element000-table-r00-c02-cell"/>
          <p:cNvSpPr/>
          <p:nvPr/>
        </p:nvSpPr>
        <p:spPr>
          <a:xfrm>
            <a:off x="5557631"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16-element000-table-r00-c02-text"/>
          <p:cNvSpPr txBox="1"/>
          <p:nvPr/>
        </p:nvSpPr>
        <p:spPr>
          <a:xfrm>
            <a:off x="5649071"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16-element000-table-r00-c03-cell"/>
          <p:cNvSpPr/>
          <p:nvPr/>
        </p:nvSpPr>
        <p:spPr>
          <a:xfrm>
            <a:off x="8911193" y="1847088"/>
            <a:ext cx="321941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6-element000-table-r00-c03-text"/>
          <p:cNvSpPr txBox="1"/>
          <p:nvPr/>
        </p:nvSpPr>
        <p:spPr>
          <a:xfrm>
            <a:off x="9002633" y="1920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16-element000-table-r00-c04-cell"/>
          <p:cNvSpPr/>
          <p:nvPr/>
        </p:nvSpPr>
        <p:spPr>
          <a:xfrm>
            <a:off x="12130613" y="1847088"/>
            <a:ext cx="1877994"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16-element000-table-r00-c04-text"/>
          <p:cNvSpPr txBox="1"/>
          <p:nvPr/>
        </p:nvSpPr>
        <p:spPr>
          <a:xfrm>
            <a:off x="12222053" y="1920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16-element000-table-r01-c00-cell"/>
          <p:cNvSpPr/>
          <p:nvPr/>
        </p:nvSpPr>
        <p:spPr>
          <a:xfrm>
            <a:off x="594360" y="24566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6-element000-table-r01-c00-text"/>
          <p:cNvSpPr txBox="1"/>
          <p:nvPr/>
        </p:nvSpPr>
        <p:spPr>
          <a:xfrm>
            <a:off x="685800" y="2529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S023 / S024</a:t>
            </a:r>
          </a:p>
        </p:txBody>
      </p:sp>
      <p:sp>
        <p:nvSpPr>
          <p:cNvPr id="17" name="slide016-element000-table-r01-c01-cell"/>
          <p:cNvSpPr/>
          <p:nvPr/>
        </p:nvSpPr>
        <p:spPr>
          <a:xfrm>
            <a:off x="2204069"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16-element000-table-r01-c01-text"/>
          <p:cNvSpPr txBox="1"/>
          <p:nvPr/>
        </p:nvSpPr>
        <p:spPr>
          <a:xfrm>
            <a:off x="2295509"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chance quality + player form</a:t>
            </a:r>
          </a:p>
        </p:txBody>
      </p:sp>
      <p:sp>
        <p:nvSpPr>
          <p:cNvPr id="19" name="slide016-element000-table-r01-c02-cell"/>
          <p:cNvSpPr/>
          <p:nvPr/>
        </p:nvSpPr>
        <p:spPr>
          <a:xfrm>
            <a:off x="5557631"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16-element000-table-r01-c02-text"/>
          <p:cNvSpPr txBox="1"/>
          <p:nvPr/>
        </p:nvSpPr>
        <p:spPr>
          <a:xfrm>
            <a:off x="5649071"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21" name="slide016-element000-table-r01-c03-cell"/>
          <p:cNvSpPr/>
          <p:nvPr/>
        </p:nvSpPr>
        <p:spPr>
          <a:xfrm>
            <a:off x="8911193" y="24566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16-element000-table-r01-c03-text"/>
          <p:cNvSpPr txBox="1"/>
          <p:nvPr/>
        </p:nvSpPr>
        <p:spPr>
          <a:xfrm>
            <a:off x="9002633" y="2529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S023: 1,000</a:t>
            </a:r>
          </a:p>
          <a:p>
            <a:pPr algn="l">
              <a:lnSpc>
                <a:spcPct val="100000"/>
              </a:lnSpc>
              <a:spcBef>
                <a:spcPts val="0"/>
              </a:spcBef>
              <a:spcAft>
                <a:spcPts val="0"/>
              </a:spcAft>
            </a:pPr>
            <a:r>
              <a:rPr sz="1300" b="0">
                <a:solidFill>
                  <a:srgbClr val="11243A"/>
                </a:solidFill>
                <a:latin typeface="Arial"/>
              </a:rPr>
              <a:t>S024: 1/4 Kelly; ≤2% cash</a:t>
            </a:r>
          </a:p>
        </p:txBody>
      </p:sp>
      <p:sp>
        <p:nvSpPr>
          <p:cNvPr id="23" name="slide016-element000-table-r01-c04-cell"/>
          <p:cNvSpPr/>
          <p:nvPr/>
        </p:nvSpPr>
        <p:spPr>
          <a:xfrm>
            <a:off x="12130613" y="24566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16-element000-table-r01-c04-text"/>
          <p:cNvSpPr txBox="1"/>
          <p:nvPr/>
        </p:nvSpPr>
        <p:spPr>
          <a:xfrm>
            <a:off x="12222053" y="2529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25" name="slide016-element000-table-r02-c00-cell"/>
          <p:cNvSpPr/>
          <p:nvPr/>
        </p:nvSpPr>
        <p:spPr>
          <a:xfrm>
            <a:off x="594360" y="30662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16-element000-table-r02-c00-text"/>
          <p:cNvSpPr txBox="1"/>
          <p:nvPr/>
        </p:nvSpPr>
        <p:spPr>
          <a:xfrm>
            <a:off x="685800" y="31394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S052 / S055</a:t>
            </a:r>
          </a:p>
        </p:txBody>
      </p:sp>
      <p:sp>
        <p:nvSpPr>
          <p:cNvPr id="27" name="slide016-element000-table-r02-c01-cell"/>
          <p:cNvSpPr/>
          <p:nvPr/>
        </p:nvSpPr>
        <p:spPr>
          <a:xfrm>
            <a:off x="2204069"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16-element000-table-r02-c01-text"/>
          <p:cNvSpPr txBox="1"/>
          <p:nvPr/>
        </p:nvSpPr>
        <p:spPr>
          <a:xfrm>
            <a:off x="2295509"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chance quality + player form</a:t>
            </a:r>
          </a:p>
        </p:txBody>
      </p:sp>
      <p:sp>
        <p:nvSpPr>
          <p:cNvPr id="29" name="slide016-element000-table-r02-c02-cell"/>
          <p:cNvSpPr/>
          <p:nvPr/>
        </p:nvSpPr>
        <p:spPr>
          <a:xfrm>
            <a:off x="5557631"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16-element000-table-r02-c02-text"/>
          <p:cNvSpPr txBox="1"/>
          <p:nvPr/>
        </p:nvSpPr>
        <p:spPr>
          <a:xfrm>
            <a:off x="5649071"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31" name="slide016-element000-table-r02-c03-cell"/>
          <p:cNvSpPr/>
          <p:nvPr/>
        </p:nvSpPr>
        <p:spPr>
          <a:xfrm>
            <a:off x="8911193" y="30662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16-element000-table-r02-c03-text"/>
          <p:cNvSpPr txBox="1"/>
          <p:nvPr/>
        </p:nvSpPr>
        <p:spPr>
          <a:xfrm>
            <a:off x="9002633" y="31394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S052: 1% of current cash</a:t>
            </a:r>
          </a:p>
          <a:p>
            <a:pPr algn="l">
              <a:lnSpc>
                <a:spcPct val="100000"/>
              </a:lnSpc>
              <a:spcBef>
                <a:spcPts val="0"/>
              </a:spcBef>
              <a:spcAft>
                <a:spcPts val="0"/>
              </a:spcAft>
            </a:pPr>
            <a:r>
              <a:rPr sz="1300" b="0">
                <a:solidFill>
                  <a:srgbClr val="11243A"/>
                </a:solidFill>
                <a:latin typeface="Arial"/>
              </a:rPr>
              <a:t>S055: 1/8 Kelly; ≤1% cash</a:t>
            </a:r>
          </a:p>
        </p:txBody>
      </p:sp>
      <p:sp>
        <p:nvSpPr>
          <p:cNvPr id="33" name="slide016-element000-table-r02-c04-cell"/>
          <p:cNvSpPr/>
          <p:nvPr/>
        </p:nvSpPr>
        <p:spPr>
          <a:xfrm>
            <a:off x="12130613" y="30662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16-element000-table-r02-c04-text"/>
          <p:cNvSpPr txBox="1"/>
          <p:nvPr/>
        </p:nvSpPr>
        <p:spPr>
          <a:xfrm>
            <a:off x="12222053" y="31394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35" name="slide016-element000-table-r03-c00-cell"/>
          <p:cNvSpPr/>
          <p:nvPr/>
        </p:nvSpPr>
        <p:spPr>
          <a:xfrm>
            <a:off x="594360" y="36758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16-element000-table-r03-c00-text"/>
          <p:cNvSpPr txBox="1"/>
          <p:nvPr/>
        </p:nvSpPr>
        <p:spPr>
          <a:xfrm>
            <a:off x="685800" y="37490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S056</a:t>
            </a:r>
          </a:p>
        </p:txBody>
      </p:sp>
      <p:sp>
        <p:nvSpPr>
          <p:cNvPr id="37" name="slide016-element000-table-r03-c01-cell"/>
          <p:cNvSpPr/>
          <p:nvPr/>
        </p:nvSpPr>
        <p:spPr>
          <a:xfrm>
            <a:off x="2204069"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16-element000-table-r03-c01-text"/>
          <p:cNvSpPr txBox="1"/>
          <p:nvPr/>
        </p:nvSpPr>
        <p:spPr>
          <a:xfrm>
            <a:off x="2295509"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chance quality + player form</a:t>
            </a:r>
          </a:p>
        </p:txBody>
      </p:sp>
      <p:sp>
        <p:nvSpPr>
          <p:cNvPr id="39" name="slide016-element000-table-r03-c02-cell"/>
          <p:cNvSpPr/>
          <p:nvPr/>
        </p:nvSpPr>
        <p:spPr>
          <a:xfrm>
            <a:off x="5557631"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16-element000-table-r03-c02-text"/>
          <p:cNvSpPr txBox="1"/>
          <p:nvPr/>
        </p:nvSpPr>
        <p:spPr>
          <a:xfrm>
            <a:off x="5649071"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41" name="slide016-element000-table-r03-c03-cell"/>
          <p:cNvSpPr/>
          <p:nvPr/>
        </p:nvSpPr>
        <p:spPr>
          <a:xfrm>
            <a:off x="8911193" y="36758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16-element000-table-r03-c03-text"/>
          <p:cNvSpPr txBox="1"/>
          <p:nvPr/>
        </p:nvSpPr>
        <p:spPr>
          <a:xfrm>
            <a:off x="9002633" y="37490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S056: 1/2 Kelly; ≤2% cash</a:t>
            </a:r>
          </a:p>
        </p:txBody>
      </p:sp>
      <p:sp>
        <p:nvSpPr>
          <p:cNvPr id="43" name="slide016-element000-table-r03-c04-cell"/>
          <p:cNvSpPr/>
          <p:nvPr/>
        </p:nvSpPr>
        <p:spPr>
          <a:xfrm>
            <a:off x="12130613" y="36758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16-element000-table-r03-c04-text"/>
          <p:cNvSpPr txBox="1"/>
          <p:nvPr/>
        </p:nvSpPr>
        <p:spPr>
          <a:xfrm>
            <a:off x="12222053" y="37490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45" name="slide016-element000-table-r04-c00-cell"/>
          <p:cNvSpPr/>
          <p:nvPr/>
        </p:nvSpPr>
        <p:spPr>
          <a:xfrm>
            <a:off x="594360" y="42854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16-element000-table-r04-c00-text"/>
          <p:cNvSpPr txBox="1"/>
          <p:nvPr/>
        </p:nvSpPr>
        <p:spPr>
          <a:xfrm>
            <a:off x="685800" y="43586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S025 / S026</a:t>
            </a:r>
          </a:p>
        </p:txBody>
      </p:sp>
      <p:sp>
        <p:nvSpPr>
          <p:cNvPr id="47" name="slide016-element000-table-r04-c01-cell"/>
          <p:cNvSpPr/>
          <p:nvPr/>
        </p:nvSpPr>
        <p:spPr>
          <a:xfrm>
            <a:off x="2204069"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16-element000-table-r04-c01-text"/>
          <p:cNvSpPr txBox="1"/>
          <p:nvPr/>
        </p:nvSpPr>
        <p:spPr>
          <a:xfrm>
            <a:off x="2295509"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 form</a:t>
            </a:r>
          </a:p>
        </p:txBody>
      </p:sp>
      <p:sp>
        <p:nvSpPr>
          <p:cNvPr id="49" name="slide016-element000-table-r04-c02-cell"/>
          <p:cNvSpPr/>
          <p:nvPr/>
        </p:nvSpPr>
        <p:spPr>
          <a:xfrm>
            <a:off x="5557631"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16-element000-table-r04-c02-text"/>
          <p:cNvSpPr txBox="1"/>
          <p:nvPr/>
        </p:nvSpPr>
        <p:spPr>
          <a:xfrm>
            <a:off x="5649071"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51" name="slide016-element000-table-r04-c03-cell"/>
          <p:cNvSpPr/>
          <p:nvPr/>
        </p:nvSpPr>
        <p:spPr>
          <a:xfrm>
            <a:off x="8911193" y="42854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16-element000-table-r04-c03-text"/>
          <p:cNvSpPr txBox="1"/>
          <p:nvPr/>
        </p:nvSpPr>
        <p:spPr>
          <a:xfrm>
            <a:off x="9002633" y="43586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S025: 1,000</a:t>
            </a:r>
          </a:p>
          <a:p>
            <a:pPr algn="l">
              <a:lnSpc>
                <a:spcPct val="100000"/>
              </a:lnSpc>
              <a:spcBef>
                <a:spcPts val="0"/>
              </a:spcBef>
              <a:spcAft>
                <a:spcPts val="0"/>
              </a:spcAft>
            </a:pPr>
            <a:r>
              <a:rPr sz="1300" b="0">
                <a:solidFill>
                  <a:srgbClr val="11243A"/>
                </a:solidFill>
                <a:latin typeface="Arial"/>
              </a:rPr>
              <a:t>S026: 1/4 Kelly; ≤2% cash</a:t>
            </a:r>
          </a:p>
        </p:txBody>
      </p:sp>
      <p:sp>
        <p:nvSpPr>
          <p:cNvPr id="53" name="slide016-element000-table-r04-c04-cell"/>
          <p:cNvSpPr/>
          <p:nvPr/>
        </p:nvSpPr>
        <p:spPr>
          <a:xfrm>
            <a:off x="12130613" y="42854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16-element000-table-r04-c04-text"/>
          <p:cNvSpPr txBox="1"/>
          <p:nvPr/>
        </p:nvSpPr>
        <p:spPr>
          <a:xfrm>
            <a:off x="12222053" y="43586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55" name="slide016-element000-table-r05-c00-cell"/>
          <p:cNvSpPr/>
          <p:nvPr/>
        </p:nvSpPr>
        <p:spPr>
          <a:xfrm>
            <a:off x="594360" y="48950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16-element000-table-r05-c00-text"/>
          <p:cNvSpPr txBox="1"/>
          <p:nvPr/>
        </p:nvSpPr>
        <p:spPr>
          <a:xfrm>
            <a:off x="685800" y="4968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S027 / S028</a:t>
            </a:r>
          </a:p>
        </p:txBody>
      </p:sp>
      <p:sp>
        <p:nvSpPr>
          <p:cNvPr id="57" name="slide016-element000-table-r05-c01-cell"/>
          <p:cNvSpPr/>
          <p:nvPr/>
        </p:nvSpPr>
        <p:spPr>
          <a:xfrm>
            <a:off x="2204069"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16-element000-table-r05-c01-text"/>
          <p:cNvSpPr txBox="1"/>
          <p:nvPr/>
        </p:nvSpPr>
        <p:spPr>
          <a:xfrm>
            <a:off x="2295509"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team/chance quality</a:t>
            </a:r>
          </a:p>
        </p:txBody>
      </p:sp>
      <p:sp>
        <p:nvSpPr>
          <p:cNvPr id="59" name="slide016-element000-table-r05-c02-cell"/>
          <p:cNvSpPr/>
          <p:nvPr/>
        </p:nvSpPr>
        <p:spPr>
          <a:xfrm>
            <a:off x="5557631"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16-element000-table-r05-c02-text"/>
          <p:cNvSpPr txBox="1"/>
          <p:nvPr/>
        </p:nvSpPr>
        <p:spPr>
          <a:xfrm>
            <a:off x="5649071"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61" name="slide016-element000-table-r05-c03-cell"/>
          <p:cNvSpPr/>
          <p:nvPr/>
        </p:nvSpPr>
        <p:spPr>
          <a:xfrm>
            <a:off x="8911193" y="48950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16-element000-table-r05-c03-text"/>
          <p:cNvSpPr txBox="1"/>
          <p:nvPr/>
        </p:nvSpPr>
        <p:spPr>
          <a:xfrm>
            <a:off x="9002633" y="4968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S027: 1,000</a:t>
            </a:r>
          </a:p>
          <a:p>
            <a:pPr algn="l">
              <a:lnSpc>
                <a:spcPct val="100000"/>
              </a:lnSpc>
              <a:spcBef>
                <a:spcPts val="0"/>
              </a:spcBef>
              <a:spcAft>
                <a:spcPts val="0"/>
              </a:spcAft>
            </a:pPr>
            <a:r>
              <a:rPr sz="1300" b="0">
                <a:solidFill>
                  <a:srgbClr val="11243A"/>
                </a:solidFill>
                <a:latin typeface="Arial"/>
              </a:rPr>
              <a:t>S028: 1/4 Kelly; ≤2% cash</a:t>
            </a:r>
          </a:p>
        </p:txBody>
      </p:sp>
      <p:sp>
        <p:nvSpPr>
          <p:cNvPr id="63" name="slide016-element000-table-r05-c04-cell"/>
          <p:cNvSpPr/>
          <p:nvPr/>
        </p:nvSpPr>
        <p:spPr>
          <a:xfrm>
            <a:off x="12130613" y="48950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16-element000-table-r05-c04-text"/>
          <p:cNvSpPr txBox="1"/>
          <p:nvPr/>
        </p:nvSpPr>
        <p:spPr>
          <a:xfrm>
            <a:off x="12222053" y="4968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16-element000-table-r06-c00-cell"/>
          <p:cNvSpPr/>
          <p:nvPr/>
        </p:nvSpPr>
        <p:spPr>
          <a:xfrm>
            <a:off x="594360" y="55046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16-element000-table-r06-c00-text"/>
          <p:cNvSpPr txBox="1"/>
          <p:nvPr/>
        </p:nvSpPr>
        <p:spPr>
          <a:xfrm>
            <a:off x="685800" y="5577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S029 / S030</a:t>
            </a:r>
          </a:p>
        </p:txBody>
      </p:sp>
      <p:sp>
        <p:nvSpPr>
          <p:cNvPr id="67" name="slide016-element000-table-r06-c01-cell"/>
          <p:cNvSpPr/>
          <p:nvPr/>
        </p:nvSpPr>
        <p:spPr>
          <a:xfrm>
            <a:off x="2204069"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16-element000-table-r06-c01-text"/>
          <p:cNvSpPr txBox="1"/>
          <p:nvPr/>
        </p:nvSpPr>
        <p:spPr>
          <a:xfrm>
            <a:off x="2295509"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team/player form</a:t>
            </a:r>
          </a:p>
        </p:txBody>
      </p:sp>
      <p:sp>
        <p:nvSpPr>
          <p:cNvPr id="69" name="slide016-element000-table-r06-c02-cell"/>
          <p:cNvSpPr/>
          <p:nvPr/>
        </p:nvSpPr>
        <p:spPr>
          <a:xfrm>
            <a:off x="5557631"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16-element000-table-r06-c02-text"/>
          <p:cNvSpPr txBox="1"/>
          <p:nvPr/>
        </p:nvSpPr>
        <p:spPr>
          <a:xfrm>
            <a:off x="5649071"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71" name="slide016-element000-table-r06-c03-cell"/>
          <p:cNvSpPr/>
          <p:nvPr/>
        </p:nvSpPr>
        <p:spPr>
          <a:xfrm>
            <a:off x="8911193" y="55046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16-element000-table-r06-c03-text"/>
          <p:cNvSpPr txBox="1"/>
          <p:nvPr/>
        </p:nvSpPr>
        <p:spPr>
          <a:xfrm>
            <a:off x="9002633" y="5577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S029: 1,000</a:t>
            </a:r>
          </a:p>
          <a:p>
            <a:pPr algn="l">
              <a:lnSpc>
                <a:spcPct val="100000"/>
              </a:lnSpc>
              <a:spcBef>
                <a:spcPts val="0"/>
              </a:spcBef>
              <a:spcAft>
                <a:spcPts val="0"/>
              </a:spcAft>
            </a:pPr>
            <a:r>
              <a:rPr sz="1300" b="0">
                <a:solidFill>
                  <a:srgbClr val="11243A"/>
                </a:solidFill>
                <a:latin typeface="Arial"/>
              </a:rPr>
              <a:t>S030: 1/4 Kelly; ≤2% cash</a:t>
            </a:r>
          </a:p>
        </p:txBody>
      </p:sp>
      <p:sp>
        <p:nvSpPr>
          <p:cNvPr id="73" name="slide016-element000-table-r06-c04-cell"/>
          <p:cNvSpPr/>
          <p:nvPr/>
        </p:nvSpPr>
        <p:spPr>
          <a:xfrm>
            <a:off x="12130613" y="55046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16-element000-table-r06-c04-text"/>
          <p:cNvSpPr txBox="1"/>
          <p:nvPr/>
        </p:nvSpPr>
        <p:spPr>
          <a:xfrm>
            <a:off x="12222053" y="5577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75" name="slide016-element000-table-r07-c00-cell"/>
          <p:cNvSpPr/>
          <p:nvPr/>
        </p:nvSpPr>
        <p:spPr>
          <a:xfrm>
            <a:off x="594360" y="61142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16-element000-table-r07-c00-text"/>
          <p:cNvSpPr txBox="1"/>
          <p:nvPr/>
        </p:nvSpPr>
        <p:spPr>
          <a:xfrm>
            <a:off x="685800" y="61874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S031 / S032</a:t>
            </a:r>
          </a:p>
        </p:txBody>
      </p:sp>
      <p:sp>
        <p:nvSpPr>
          <p:cNvPr id="77" name="slide016-element000-table-r07-c01-cell"/>
          <p:cNvSpPr/>
          <p:nvPr/>
        </p:nvSpPr>
        <p:spPr>
          <a:xfrm>
            <a:off x="2204069"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16-element000-table-r07-c01-text"/>
          <p:cNvSpPr txBox="1"/>
          <p:nvPr/>
        </p:nvSpPr>
        <p:spPr>
          <a:xfrm>
            <a:off x="2295509"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team/chance/player form</a:t>
            </a:r>
          </a:p>
        </p:txBody>
      </p:sp>
      <p:sp>
        <p:nvSpPr>
          <p:cNvPr id="79" name="slide016-element000-table-r07-c02-cell"/>
          <p:cNvSpPr/>
          <p:nvPr/>
        </p:nvSpPr>
        <p:spPr>
          <a:xfrm>
            <a:off x="5557631"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16-element000-table-r07-c02-text"/>
          <p:cNvSpPr txBox="1"/>
          <p:nvPr/>
        </p:nvSpPr>
        <p:spPr>
          <a:xfrm>
            <a:off x="5649071"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81" name="slide016-element000-table-r07-c03-cell"/>
          <p:cNvSpPr/>
          <p:nvPr/>
        </p:nvSpPr>
        <p:spPr>
          <a:xfrm>
            <a:off x="8911193" y="61142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16-element000-table-r07-c03-text"/>
          <p:cNvSpPr txBox="1"/>
          <p:nvPr/>
        </p:nvSpPr>
        <p:spPr>
          <a:xfrm>
            <a:off x="9002633" y="61874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S031: 1,000</a:t>
            </a:r>
          </a:p>
          <a:p>
            <a:pPr algn="l">
              <a:lnSpc>
                <a:spcPct val="100000"/>
              </a:lnSpc>
              <a:spcBef>
                <a:spcPts val="0"/>
              </a:spcBef>
              <a:spcAft>
                <a:spcPts val="0"/>
              </a:spcAft>
            </a:pPr>
            <a:r>
              <a:rPr sz="1300" b="0">
                <a:solidFill>
                  <a:srgbClr val="11243A"/>
                </a:solidFill>
                <a:latin typeface="Arial"/>
              </a:rPr>
              <a:t>S032: 1/4 Kelly; ≤2% cash</a:t>
            </a:r>
          </a:p>
        </p:txBody>
      </p:sp>
      <p:sp>
        <p:nvSpPr>
          <p:cNvPr id="83" name="slide016-element000-table-r07-c04-cell"/>
          <p:cNvSpPr/>
          <p:nvPr/>
        </p:nvSpPr>
        <p:spPr>
          <a:xfrm>
            <a:off x="12130613" y="61142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16-element000-table-r07-c04-text"/>
          <p:cNvSpPr txBox="1"/>
          <p:nvPr/>
        </p:nvSpPr>
        <p:spPr>
          <a:xfrm>
            <a:off x="12222053" y="61874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16-element000-table-r08-c00-cell"/>
          <p:cNvSpPr/>
          <p:nvPr/>
        </p:nvSpPr>
        <p:spPr>
          <a:xfrm>
            <a:off x="594360" y="67238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16-element000-table-r08-c00-text"/>
          <p:cNvSpPr txBox="1"/>
          <p:nvPr/>
        </p:nvSpPr>
        <p:spPr>
          <a:xfrm>
            <a:off x="685800" y="67970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S053 / S057</a:t>
            </a:r>
          </a:p>
        </p:txBody>
      </p:sp>
      <p:sp>
        <p:nvSpPr>
          <p:cNvPr id="87" name="slide016-element000-table-r08-c01-cell"/>
          <p:cNvSpPr/>
          <p:nvPr/>
        </p:nvSpPr>
        <p:spPr>
          <a:xfrm>
            <a:off x="2204069"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16-element000-table-r08-c01-text"/>
          <p:cNvSpPr txBox="1"/>
          <p:nvPr/>
        </p:nvSpPr>
        <p:spPr>
          <a:xfrm>
            <a:off x="2295509"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team/chance/player form</a:t>
            </a:r>
          </a:p>
        </p:txBody>
      </p:sp>
      <p:sp>
        <p:nvSpPr>
          <p:cNvPr id="89" name="slide016-element000-table-r08-c02-cell"/>
          <p:cNvSpPr/>
          <p:nvPr/>
        </p:nvSpPr>
        <p:spPr>
          <a:xfrm>
            <a:off x="5557631"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16-element000-table-r08-c02-text"/>
          <p:cNvSpPr txBox="1"/>
          <p:nvPr/>
        </p:nvSpPr>
        <p:spPr>
          <a:xfrm>
            <a:off x="5649071"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91" name="slide016-element000-table-r08-c03-cell"/>
          <p:cNvSpPr/>
          <p:nvPr/>
        </p:nvSpPr>
        <p:spPr>
          <a:xfrm>
            <a:off x="8911193" y="67238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16-element000-table-r08-c03-text"/>
          <p:cNvSpPr txBox="1"/>
          <p:nvPr/>
        </p:nvSpPr>
        <p:spPr>
          <a:xfrm>
            <a:off x="9002633" y="67970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S053: 1% of current cash</a:t>
            </a:r>
          </a:p>
          <a:p>
            <a:pPr algn="l">
              <a:lnSpc>
                <a:spcPct val="100000"/>
              </a:lnSpc>
              <a:spcBef>
                <a:spcPts val="0"/>
              </a:spcBef>
              <a:spcAft>
                <a:spcPts val="0"/>
              </a:spcAft>
            </a:pPr>
            <a:r>
              <a:rPr sz="1300" b="0">
                <a:solidFill>
                  <a:srgbClr val="11243A"/>
                </a:solidFill>
                <a:latin typeface="Arial"/>
              </a:rPr>
              <a:t>S057: 1/8 Kelly; ≤1% cash</a:t>
            </a:r>
          </a:p>
        </p:txBody>
      </p:sp>
      <p:sp>
        <p:nvSpPr>
          <p:cNvPr id="93" name="slide016-element000-table-r08-c04-cell"/>
          <p:cNvSpPr/>
          <p:nvPr/>
        </p:nvSpPr>
        <p:spPr>
          <a:xfrm>
            <a:off x="12130613" y="67238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16-element000-table-r08-c04-text"/>
          <p:cNvSpPr txBox="1"/>
          <p:nvPr/>
        </p:nvSpPr>
        <p:spPr>
          <a:xfrm>
            <a:off x="12222053" y="67970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cxnSp>
        <p:nvCxnSpPr>
          <p:cNvPr id="95" name="slide016-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6" name="slide016-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7" name="slide016-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7-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APPENDIX | STRATEGY RULES AND CAPITAL</a:t>
            </a:r>
          </a:p>
        </p:txBody>
      </p:sp>
      <p:sp>
        <p:nvSpPr>
          <p:cNvPr id="3" name="slide017-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appendix: strategy rules (3/9)</a:t>
            </a:r>
          </a:p>
        </p:txBody>
      </p:sp>
      <p:sp>
        <p:nvSpPr>
          <p:cNvPr id="4" name="slide017-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17-element000-table-r00-c00-cell"/>
          <p:cNvSpPr/>
          <p:nvPr/>
        </p:nvSpPr>
        <p:spPr>
          <a:xfrm>
            <a:off x="594360" y="1847088"/>
            <a:ext cx="160970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17-element000-table-r00-c00-text"/>
          <p:cNvSpPr txBox="1"/>
          <p:nvPr/>
        </p:nvSpPr>
        <p:spPr>
          <a:xfrm>
            <a:off x="685800" y="1920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17-element000-table-r00-c01-cell"/>
          <p:cNvSpPr/>
          <p:nvPr/>
        </p:nvSpPr>
        <p:spPr>
          <a:xfrm>
            <a:off x="2204069"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17-element000-table-r00-c01-text"/>
          <p:cNvSpPr txBox="1"/>
          <p:nvPr/>
        </p:nvSpPr>
        <p:spPr>
          <a:xfrm>
            <a:off x="2295509"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17-element000-table-r00-c02-cell"/>
          <p:cNvSpPr/>
          <p:nvPr/>
        </p:nvSpPr>
        <p:spPr>
          <a:xfrm>
            <a:off x="5557631"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17-element000-table-r00-c02-text"/>
          <p:cNvSpPr txBox="1"/>
          <p:nvPr/>
        </p:nvSpPr>
        <p:spPr>
          <a:xfrm>
            <a:off x="5649071"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17-element000-table-r00-c03-cell"/>
          <p:cNvSpPr/>
          <p:nvPr/>
        </p:nvSpPr>
        <p:spPr>
          <a:xfrm>
            <a:off x="8911193" y="1847088"/>
            <a:ext cx="321941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7-element000-table-r00-c03-text"/>
          <p:cNvSpPr txBox="1"/>
          <p:nvPr/>
        </p:nvSpPr>
        <p:spPr>
          <a:xfrm>
            <a:off x="9002633" y="1920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17-element000-table-r00-c04-cell"/>
          <p:cNvSpPr/>
          <p:nvPr/>
        </p:nvSpPr>
        <p:spPr>
          <a:xfrm>
            <a:off x="12130613" y="1847088"/>
            <a:ext cx="1877994"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17-element000-table-r00-c04-text"/>
          <p:cNvSpPr txBox="1"/>
          <p:nvPr/>
        </p:nvSpPr>
        <p:spPr>
          <a:xfrm>
            <a:off x="12222053" y="1920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17-element000-table-r01-c00-cell"/>
          <p:cNvSpPr/>
          <p:nvPr/>
        </p:nvSpPr>
        <p:spPr>
          <a:xfrm>
            <a:off x="594360" y="24566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7-element000-table-r01-c00-text"/>
          <p:cNvSpPr txBox="1"/>
          <p:nvPr/>
        </p:nvSpPr>
        <p:spPr>
          <a:xfrm>
            <a:off x="685800" y="2529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S058</a:t>
            </a:r>
          </a:p>
        </p:txBody>
      </p:sp>
      <p:sp>
        <p:nvSpPr>
          <p:cNvPr id="17" name="slide017-element000-table-r01-c01-cell"/>
          <p:cNvSpPr/>
          <p:nvPr/>
        </p:nvSpPr>
        <p:spPr>
          <a:xfrm>
            <a:off x="2204069"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17-element000-table-r01-c01-text"/>
          <p:cNvSpPr txBox="1"/>
          <p:nvPr/>
        </p:nvSpPr>
        <p:spPr>
          <a:xfrm>
            <a:off x="2295509"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team/chance/player form</a:t>
            </a:r>
          </a:p>
        </p:txBody>
      </p:sp>
      <p:sp>
        <p:nvSpPr>
          <p:cNvPr id="19" name="slide017-element000-table-r01-c02-cell"/>
          <p:cNvSpPr/>
          <p:nvPr/>
        </p:nvSpPr>
        <p:spPr>
          <a:xfrm>
            <a:off x="5557631"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17-element000-table-r01-c02-text"/>
          <p:cNvSpPr txBox="1"/>
          <p:nvPr/>
        </p:nvSpPr>
        <p:spPr>
          <a:xfrm>
            <a:off x="5649071"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21" name="slide017-element000-table-r01-c03-cell"/>
          <p:cNvSpPr/>
          <p:nvPr/>
        </p:nvSpPr>
        <p:spPr>
          <a:xfrm>
            <a:off x="8911193" y="24566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17-element000-table-r01-c03-text"/>
          <p:cNvSpPr txBox="1"/>
          <p:nvPr/>
        </p:nvSpPr>
        <p:spPr>
          <a:xfrm>
            <a:off x="9002633" y="2529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S058: 1/2 Kelly; ≤2% cash</a:t>
            </a:r>
          </a:p>
        </p:txBody>
      </p:sp>
      <p:sp>
        <p:nvSpPr>
          <p:cNvPr id="23" name="slide017-element000-table-r01-c04-cell"/>
          <p:cNvSpPr/>
          <p:nvPr/>
        </p:nvSpPr>
        <p:spPr>
          <a:xfrm>
            <a:off x="12130613" y="24566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17-element000-table-r01-c04-text"/>
          <p:cNvSpPr txBox="1"/>
          <p:nvPr/>
        </p:nvSpPr>
        <p:spPr>
          <a:xfrm>
            <a:off x="12222053" y="2529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25" name="slide017-element000-table-r02-c00-cell"/>
          <p:cNvSpPr/>
          <p:nvPr/>
        </p:nvSpPr>
        <p:spPr>
          <a:xfrm>
            <a:off x="594360" y="30662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17-element000-table-r02-c00-text"/>
          <p:cNvSpPr txBox="1"/>
          <p:nvPr/>
        </p:nvSpPr>
        <p:spPr>
          <a:xfrm>
            <a:off x="685800" y="31394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S033 / S034</a:t>
            </a:r>
          </a:p>
        </p:txBody>
      </p:sp>
      <p:sp>
        <p:nvSpPr>
          <p:cNvPr id="27" name="slide017-element000-table-r02-c01-cell"/>
          <p:cNvSpPr/>
          <p:nvPr/>
        </p:nvSpPr>
        <p:spPr>
          <a:xfrm>
            <a:off x="2204069"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17-element000-table-r02-c01-text"/>
          <p:cNvSpPr txBox="1"/>
          <p:nvPr/>
        </p:nvSpPr>
        <p:spPr>
          <a:xfrm>
            <a:off x="2295509"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Past home/draw/away frequencies</a:t>
            </a:r>
          </a:p>
        </p:txBody>
      </p:sp>
      <p:sp>
        <p:nvSpPr>
          <p:cNvPr id="29" name="slide017-element000-table-r02-c02-cell"/>
          <p:cNvSpPr/>
          <p:nvPr/>
        </p:nvSpPr>
        <p:spPr>
          <a:xfrm>
            <a:off x="5557631"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17-element000-table-r02-c02-text"/>
          <p:cNvSpPr txBox="1"/>
          <p:nvPr/>
        </p:nvSpPr>
        <p:spPr>
          <a:xfrm>
            <a:off x="5649071"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31" name="slide017-element000-table-r02-c03-cell"/>
          <p:cNvSpPr/>
          <p:nvPr/>
        </p:nvSpPr>
        <p:spPr>
          <a:xfrm>
            <a:off x="8911193" y="30662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17-element000-table-r02-c03-text"/>
          <p:cNvSpPr txBox="1"/>
          <p:nvPr/>
        </p:nvSpPr>
        <p:spPr>
          <a:xfrm>
            <a:off x="9002633" y="31394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S033: 1,000</a:t>
            </a:r>
          </a:p>
          <a:p>
            <a:pPr algn="l">
              <a:lnSpc>
                <a:spcPct val="100000"/>
              </a:lnSpc>
              <a:spcBef>
                <a:spcPts val="0"/>
              </a:spcBef>
              <a:spcAft>
                <a:spcPts val="0"/>
              </a:spcAft>
            </a:pPr>
            <a:r>
              <a:rPr sz="1300" b="0">
                <a:solidFill>
                  <a:srgbClr val="11243A"/>
                </a:solidFill>
                <a:latin typeface="Arial"/>
              </a:rPr>
              <a:t>S034: 1/4 Kelly; ≤2% cash</a:t>
            </a:r>
          </a:p>
        </p:txBody>
      </p:sp>
      <p:sp>
        <p:nvSpPr>
          <p:cNvPr id="33" name="slide017-element000-table-r02-c04-cell"/>
          <p:cNvSpPr/>
          <p:nvPr/>
        </p:nvSpPr>
        <p:spPr>
          <a:xfrm>
            <a:off x="12130613" y="30662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17-element000-table-r02-c04-text"/>
          <p:cNvSpPr txBox="1"/>
          <p:nvPr/>
        </p:nvSpPr>
        <p:spPr>
          <a:xfrm>
            <a:off x="12222053" y="31394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35" name="slide017-element000-table-r03-c00-cell"/>
          <p:cNvSpPr/>
          <p:nvPr/>
        </p:nvSpPr>
        <p:spPr>
          <a:xfrm>
            <a:off x="594360" y="36758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17-element000-table-r03-c00-text"/>
          <p:cNvSpPr txBox="1"/>
          <p:nvPr/>
        </p:nvSpPr>
        <p:spPr>
          <a:xfrm>
            <a:off x="685800" y="37490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S035 / S036</a:t>
            </a:r>
          </a:p>
        </p:txBody>
      </p:sp>
      <p:sp>
        <p:nvSpPr>
          <p:cNvPr id="37" name="slide017-element000-table-r03-c01-cell"/>
          <p:cNvSpPr/>
          <p:nvPr/>
        </p:nvSpPr>
        <p:spPr>
          <a:xfrm>
            <a:off x="2204069"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17-element000-table-r03-c01-text"/>
          <p:cNvSpPr txBox="1"/>
          <p:nvPr/>
        </p:nvSpPr>
        <p:spPr>
          <a:xfrm>
            <a:off x="2295509"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probabilities</a:t>
            </a:r>
          </a:p>
        </p:txBody>
      </p:sp>
      <p:sp>
        <p:nvSpPr>
          <p:cNvPr id="39" name="slide017-element000-table-r03-c02-cell"/>
          <p:cNvSpPr/>
          <p:nvPr/>
        </p:nvSpPr>
        <p:spPr>
          <a:xfrm>
            <a:off x="5557631"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17-element000-table-r03-c02-text"/>
          <p:cNvSpPr txBox="1"/>
          <p:nvPr/>
        </p:nvSpPr>
        <p:spPr>
          <a:xfrm>
            <a:off x="5649071"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41" name="slide017-element000-table-r03-c03-cell"/>
          <p:cNvSpPr/>
          <p:nvPr/>
        </p:nvSpPr>
        <p:spPr>
          <a:xfrm>
            <a:off x="8911193" y="36758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17-element000-table-r03-c03-text"/>
          <p:cNvSpPr txBox="1"/>
          <p:nvPr/>
        </p:nvSpPr>
        <p:spPr>
          <a:xfrm>
            <a:off x="9002633" y="37490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S035: 1,000</a:t>
            </a:r>
          </a:p>
          <a:p>
            <a:pPr algn="l">
              <a:lnSpc>
                <a:spcPct val="100000"/>
              </a:lnSpc>
              <a:spcBef>
                <a:spcPts val="0"/>
              </a:spcBef>
              <a:spcAft>
                <a:spcPts val="0"/>
              </a:spcAft>
            </a:pPr>
            <a:r>
              <a:rPr sz="1300" b="0">
                <a:solidFill>
                  <a:srgbClr val="11243A"/>
                </a:solidFill>
                <a:latin typeface="Arial"/>
              </a:rPr>
              <a:t>S036: 1/4 Kelly; ≤2% cash</a:t>
            </a:r>
          </a:p>
        </p:txBody>
      </p:sp>
      <p:sp>
        <p:nvSpPr>
          <p:cNvPr id="43" name="slide017-element000-table-r03-c04-cell"/>
          <p:cNvSpPr/>
          <p:nvPr/>
        </p:nvSpPr>
        <p:spPr>
          <a:xfrm>
            <a:off x="12130613" y="36758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17-element000-table-r03-c04-text"/>
          <p:cNvSpPr txBox="1"/>
          <p:nvPr/>
        </p:nvSpPr>
        <p:spPr>
          <a:xfrm>
            <a:off x="12222053" y="37490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45" name="slide017-element000-table-r04-c00-cell"/>
          <p:cNvSpPr/>
          <p:nvPr/>
        </p:nvSpPr>
        <p:spPr>
          <a:xfrm>
            <a:off x="594360" y="42854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17-element000-table-r04-c00-text"/>
          <p:cNvSpPr txBox="1"/>
          <p:nvPr/>
        </p:nvSpPr>
        <p:spPr>
          <a:xfrm>
            <a:off x="685800" y="43586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S037 / S038</a:t>
            </a:r>
          </a:p>
        </p:txBody>
      </p:sp>
      <p:sp>
        <p:nvSpPr>
          <p:cNvPr id="47" name="slide017-element000-table-r04-c01-cell"/>
          <p:cNvSpPr/>
          <p:nvPr/>
        </p:nvSpPr>
        <p:spPr>
          <a:xfrm>
            <a:off x="2204069"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17-element000-table-r04-c01-text"/>
          <p:cNvSpPr txBox="1"/>
          <p:nvPr/>
        </p:nvSpPr>
        <p:spPr>
          <a:xfrm>
            <a:off x="2295509"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Calibrated bookmaker probabilities</a:t>
            </a:r>
          </a:p>
        </p:txBody>
      </p:sp>
      <p:sp>
        <p:nvSpPr>
          <p:cNvPr id="49" name="slide017-element000-table-r04-c02-cell"/>
          <p:cNvSpPr/>
          <p:nvPr/>
        </p:nvSpPr>
        <p:spPr>
          <a:xfrm>
            <a:off x="5557631"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17-element000-table-r04-c02-text"/>
          <p:cNvSpPr txBox="1"/>
          <p:nvPr/>
        </p:nvSpPr>
        <p:spPr>
          <a:xfrm>
            <a:off x="5649071"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51" name="slide017-element000-table-r04-c03-cell"/>
          <p:cNvSpPr/>
          <p:nvPr/>
        </p:nvSpPr>
        <p:spPr>
          <a:xfrm>
            <a:off x="8911193" y="42854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17-element000-table-r04-c03-text"/>
          <p:cNvSpPr txBox="1"/>
          <p:nvPr/>
        </p:nvSpPr>
        <p:spPr>
          <a:xfrm>
            <a:off x="9002633" y="43586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S037: 1,000</a:t>
            </a:r>
          </a:p>
          <a:p>
            <a:pPr algn="l">
              <a:lnSpc>
                <a:spcPct val="100000"/>
              </a:lnSpc>
              <a:spcBef>
                <a:spcPts val="0"/>
              </a:spcBef>
              <a:spcAft>
                <a:spcPts val="0"/>
              </a:spcAft>
            </a:pPr>
            <a:r>
              <a:rPr sz="1300" b="0">
                <a:solidFill>
                  <a:srgbClr val="11243A"/>
                </a:solidFill>
                <a:latin typeface="Arial"/>
              </a:rPr>
              <a:t>S038: 1/4 Kelly; ≤2% cash</a:t>
            </a:r>
          </a:p>
        </p:txBody>
      </p:sp>
      <p:sp>
        <p:nvSpPr>
          <p:cNvPr id="53" name="slide017-element000-table-r04-c04-cell"/>
          <p:cNvSpPr/>
          <p:nvPr/>
        </p:nvSpPr>
        <p:spPr>
          <a:xfrm>
            <a:off x="12130613" y="42854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17-element000-table-r04-c04-text"/>
          <p:cNvSpPr txBox="1"/>
          <p:nvPr/>
        </p:nvSpPr>
        <p:spPr>
          <a:xfrm>
            <a:off x="12222053" y="43586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55" name="slide017-element000-table-r05-c00-cell"/>
          <p:cNvSpPr/>
          <p:nvPr/>
        </p:nvSpPr>
        <p:spPr>
          <a:xfrm>
            <a:off x="594360" y="48950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17-element000-table-r05-c00-text"/>
          <p:cNvSpPr txBox="1"/>
          <p:nvPr/>
        </p:nvSpPr>
        <p:spPr>
          <a:xfrm>
            <a:off x="685800" y="4968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S039</a:t>
            </a:r>
          </a:p>
        </p:txBody>
      </p:sp>
      <p:sp>
        <p:nvSpPr>
          <p:cNvPr id="57" name="slide017-element000-table-r05-c01-cell"/>
          <p:cNvSpPr/>
          <p:nvPr/>
        </p:nvSpPr>
        <p:spPr>
          <a:xfrm>
            <a:off x="2204069"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17-element000-table-r05-c01-text"/>
          <p:cNvSpPr txBox="1"/>
          <p:nvPr/>
        </p:nvSpPr>
        <p:spPr>
          <a:xfrm>
            <a:off x="2295509"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probabilities</a:t>
            </a:r>
          </a:p>
        </p:txBody>
      </p:sp>
      <p:sp>
        <p:nvSpPr>
          <p:cNvPr id="59" name="slide017-element000-table-r05-c02-cell"/>
          <p:cNvSpPr/>
          <p:nvPr/>
        </p:nvSpPr>
        <p:spPr>
          <a:xfrm>
            <a:off x="5557631"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17-element000-table-r05-c02-text"/>
          <p:cNvSpPr txBox="1"/>
          <p:nvPr/>
        </p:nvSpPr>
        <p:spPr>
          <a:xfrm>
            <a:off x="5649071"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Always home win</a:t>
            </a:r>
          </a:p>
          <a:p>
            <a:pPr algn="l">
              <a:lnSpc>
                <a:spcPct val="100000"/>
              </a:lnSpc>
              <a:spcBef>
                <a:spcPts val="0"/>
              </a:spcBef>
              <a:spcAft>
                <a:spcPts val="0"/>
              </a:spcAft>
            </a:pPr>
            <a:r>
              <a:rPr sz="1300" b="0">
                <a:solidFill>
                  <a:srgbClr val="11243A"/>
                </a:solidFill>
                <a:latin typeface="Arial"/>
              </a:rPr>
              <a:t>No return filter</a:t>
            </a:r>
          </a:p>
        </p:txBody>
      </p:sp>
      <p:sp>
        <p:nvSpPr>
          <p:cNvPr id="61" name="slide017-element000-table-r05-c03-cell"/>
          <p:cNvSpPr/>
          <p:nvPr/>
        </p:nvSpPr>
        <p:spPr>
          <a:xfrm>
            <a:off x="8911193" y="48950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17-element000-table-r05-c03-text"/>
          <p:cNvSpPr txBox="1"/>
          <p:nvPr/>
        </p:nvSpPr>
        <p:spPr>
          <a:xfrm>
            <a:off x="9002633" y="4968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S039: 1,000</a:t>
            </a:r>
          </a:p>
        </p:txBody>
      </p:sp>
      <p:sp>
        <p:nvSpPr>
          <p:cNvPr id="63" name="slide017-element000-table-r05-c04-cell"/>
          <p:cNvSpPr/>
          <p:nvPr/>
        </p:nvSpPr>
        <p:spPr>
          <a:xfrm>
            <a:off x="12130613" y="48950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17-element000-table-r05-c04-text"/>
          <p:cNvSpPr txBox="1"/>
          <p:nvPr/>
        </p:nvSpPr>
        <p:spPr>
          <a:xfrm>
            <a:off x="12222053" y="4968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17-element000-table-r06-c00-cell"/>
          <p:cNvSpPr/>
          <p:nvPr/>
        </p:nvSpPr>
        <p:spPr>
          <a:xfrm>
            <a:off x="594360" y="55046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17-element000-table-r06-c00-text"/>
          <p:cNvSpPr txBox="1"/>
          <p:nvPr/>
        </p:nvSpPr>
        <p:spPr>
          <a:xfrm>
            <a:off x="685800" y="5577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S040</a:t>
            </a:r>
          </a:p>
        </p:txBody>
      </p:sp>
      <p:sp>
        <p:nvSpPr>
          <p:cNvPr id="67" name="slide017-element000-table-r06-c01-cell"/>
          <p:cNvSpPr/>
          <p:nvPr/>
        </p:nvSpPr>
        <p:spPr>
          <a:xfrm>
            <a:off x="2204069"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17-element000-table-r06-c01-text"/>
          <p:cNvSpPr txBox="1"/>
          <p:nvPr/>
        </p:nvSpPr>
        <p:spPr>
          <a:xfrm>
            <a:off x="2295509"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probabilities</a:t>
            </a:r>
          </a:p>
        </p:txBody>
      </p:sp>
      <p:sp>
        <p:nvSpPr>
          <p:cNvPr id="69" name="slide017-element000-table-r06-c02-cell"/>
          <p:cNvSpPr/>
          <p:nvPr/>
        </p:nvSpPr>
        <p:spPr>
          <a:xfrm>
            <a:off x="5557631"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17-element000-table-r06-c02-text"/>
          <p:cNvSpPr txBox="1"/>
          <p:nvPr/>
        </p:nvSpPr>
        <p:spPr>
          <a:xfrm>
            <a:off x="5649071"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Always draw</a:t>
            </a:r>
          </a:p>
          <a:p>
            <a:pPr algn="l">
              <a:lnSpc>
                <a:spcPct val="100000"/>
              </a:lnSpc>
              <a:spcBef>
                <a:spcPts val="0"/>
              </a:spcBef>
              <a:spcAft>
                <a:spcPts val="0"/>
              </a:spcAft>
            </a:pPr>
            <a:r>
              <a:rPr sz="1300" b="0">
                <a:solidFill>
                  <a:srgbClr val="11243A"/>
                </a:solidFill>
                <a:latin typeface="Arial"/>
              </a:rPr>
              <a:t>No return filter</a:t>
            </a:r>
          </a:p>
        </p:txBody>
      </p:sp>
      <p:sp>
        <p:nvSpPr>
          <p:cNvPr id="71" name="slide017-element000-table-r06-c03-cell"/>
          <p:cNvSpPr/>
          <p:nvPr/>
        </p:nvSpPr>
        <p:spPr>
          <a:xfrm>
            <a:off x="8911193" y="55046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17-element000-table-r06-c03-text"/>
          <p:cNvSpPr txBox="1"/>
          <p:nvPr/>
        </p:nvSpPr>
        <p:spPr>
          <a:xfrm>
            <a:off x="9002633" y="5577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S040: 1,000</a:t>
            </a:r>
          </a:p>
        </p:txBody>
      </p:sp>
      <p:sp>
        <p:nvSpPr>
          <p:cNvPr id="73" name="slide017-element000-table-r06-c04-cell"/>
          <p:cNvSpPr/>
          <p:nvPr/>
        </p:nvSpPr>
        <p:spPr>
          <a:xfrm>
            <a:off x="12130613" y="55046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17-element000-table-r06-c04-text"/>
          <p:cNvSpPr txBox="1"/>
          <p:nvPr/>
        </p:nvSpPr>
        <p:spPr>
          <a:xfrm>
            <a:off x="12222053" y="5577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75" name="slide017-element000-table-r07-c00-cell"/>
          <p:cNvSpPr/>
          <p:nvPr/>
        </p:nvSpPr>
        <p:spPr>
          <a:xfrm>
            <a:off x="594360" y="61142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17-element000-table-r07-c00-text"/>
          <p:cNvSpPr txBox="1"/>
          <p:nvPr/>
        </p:nvSpPr>
        <p:spPr>
          <a:xfrm>
            <a:off x="685800" y="61874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S041</a:t>
            </a:r>
          </a:p>
        </p:txBody>
      </p:sp>
      <p:sp>
        <p:nvSpPr>
          <p:cNvPr id="77" name="slide017-element000-table-r07-c01-cell"/>
          <p:cNvSpPr/>
          <p:nvPr/>
        </p:nvSpPr>
        <p:spPr>
          <a:xfrm>
            <a:off x="2204069"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17-element000-table-r07-c01-text"/>
          <p:cNvSpPr txBox="1"/>
          <p:nvPr/>
        </p:nvSpPr>
        <p:spPr>
          <a:xfrm>
            <a:off x="2295509"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probabilities</a:t>
            </a:r>
          </a:p>
        </p:txBody>
      </p:sp>
      <p:sp>
        <p:nvSpPr>
          <p:cNvPr id="79" name="slide017-element000-table-r07-c02-cell"/>
          <p:cNvSpPr/>
          <p:nvPr/>
        </p:nvSpPr>
        <p:spPr>
          <a:xfrm>
            <a:off x="5557631"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17-element000-table-r07-c02-text"/>
          <p:cNvSpPr txBox="1"/>
          <p:nvPr/>
        </p:nvSpPr>
        <p:spPr>
          <a:xfrm>
            <a:off x="5649071"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Always away win</a:t>
            </a:r>
          </a:p>
          <a:p>
            <a:pPr algn="l">
              <a:lnSpc>
                <a:spcPct val="100000"/>
              </a:lnSpc>
              <a:spcBef>
                <a:spcPts val="0"/>
              </a:spcBef>
              <a:spcAft>
                <a:spcPts val="0"/>
              </a:spcAft>
            </a:pPr>
            <a:r>
              <a:rPr sz="1300" b="0">
                <a:solidFill>
                  <a:srgbClr val="11243A"/>
                </a:solidFill>
                <a:latin typeface="Arial"/>
              </a:rPr>
              <a:t>No return filter</a:t>
            </a:r>
          </a:p>
        </p:txBody>
      </p:sp>
      <p:sp>
        <p:nvSpPr>
          <p:cNvPr id="81" name="slide017-element000-table-r07-c03-cell"/>
          <p:cNvSpPr/>
          <p:nvPr/>
        </p:nvSpPr>
        <p:spPr>
          <a:xfrm>
            <a:off x="8911193" y="61142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17-element000-table-r07-c03-text"/>
          <p:cNvSpPr txBox="1"/>
          <p:nvPr/>
        </p:nvSpPr>
        <p:spPr>
          <a:xfrm>
            <a:off x="9002633" y="61874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S041: 1,000</a:t>
            </a:r>
          </a:p>
        </p:txBody>
      </p:sp>
      <p:sp>
        <p:nvSpPr>
          <p:cNvPr id="83" name="slide017-element000-table-r07-c04-cell"/>
          <p:cNvSpPr/>
          <p:nvPr/>
        </p:nvSpPr>
        <p:spPr>
          <a:xfrm>
            <a:off x="12130613" y="61142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17-element000-table-r07-c04-text"/>
          <p:cNvSpPr txBox="1"/>
          <p:nvPr/>
        </p:nvSpPr>
        <p:spPr>
          <a:xfrm>
            <a:off x="12222053" y="61874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17-element000-table-r08-c00-cell"/>
          <p:cNvSpPr/>
          <p:nvPr/>
        </p:nvSpPr>
        <p:spPr>
          <a:xfrm>
            <a:off x="594360" y="67238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17-element000-table-r08-c00-text"/>
          <p:cNvSpPr txBox="1"/>
          <p:nvPr/>
        </p:nvSpPr>
        <p:spPr>
          <a:xfrm>
            <a:off x="685800" y="67970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S042</a:t>
            </a:r>
          </a:p>
        </p:txBody>
      </p:sp>
      <p:sp>
        <p:nvSpPr>
          <p:cNvPr id="87" name="slide017-element000-table-r08-c01-cell"/>
          <p:cNvSpPr/>
          <p:nvPr/>
        </p:nvSpPr>
        <p:spPr>
          <a:xfrm>
            <a:off x="2204069"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17-element000-table-r08-c01-text"/>
          <p:cNvSpPr txBox="1"/>
          <p:nvPr/>
        </p:nvSpPr>
        <p:spPr>
          <a:xfrm>
            <a:off x="2295509"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probabilities</a:t>
            </a:r>
          </a:p>
        </p:txBody>
      </p:sp>
      <p:sp>
        <p:nvSpPr>
          <p:cNvPr id="89" name="slide017-element000-table-r08-c02-cell"/>
          <p:cNvSpPr/>
          <p:nvPr/>
        </p:nvSpPr>
        <p:spPr>
          <a:xfrm>
            <a:off x="5557631"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17-element000-table-r08-c02-text"/>
          <p:cNvSpPr txBox="1"/>
          <p:nvPr/>
        </p:nvSpPr>
        <p:spPr>
          <a:xfrm>
            <a:off x="5649071"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Bookmaker's most likely result</a:t>
            </a:r>
          </a:p>
          <a:p>
            <a:pPr algn="l">
              <a:lnSpc>
                <a:spcPct val="100000"/>
              </a:lnSpc>
              <a:spcBef>
                <a:spcPts val="0"/>
              </a:spcBef>
              <a:spcAft>
                <a:spcPts val="0"/>
              </a:spcAft>
            </a:pPr>
            <a:r>
              <a:rPr sz="1300" b="0">
                <a:solidFill>
                  <a:srgbClr val="11243A"/>
                </a:solidFill>
                <a:latin typeface="Arial"/>
              </a:rPr>
              <a:t>No return filter</a:t>
            </a:r>
          </a:p>
        </p:txBody>
      </p:sp>
      <p:sp>
        <p:nvSpPr>
          <p:cNvPr id="91" name="slide017-element000-table-r08-c03-cell"/>
          <p:cNvSpPr/>
          <p:nvPr/>
        </p:nvSpPr>
        <p:spPr>
          <a:xfrm>
            <a:off x="8911193" y="67238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17-element000-table-r08-c03-text"/>
          <p:cNvSpPr txBox="1"/>
          <p:nvPr/>
        </p:nvSpPr>
        <p:spPr>
          <a:xfrm>
            <a:off x="9002633" y="67970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S042: 1,000</a:t>
            </a:r>
          </a:p>
        </p:txBody>
      </p:sp>
      <p:sp>
        <p:nvSpPr>
          <p:cNvPr id="93" name="slide017-element000-table-r08-c04-cell"/>
          <p:cNvSpPr/>
          <p:nvPr/>
        </p:nvSpPr>
        <p:spPr>
          <a:xfrm>
            <a:off x="12130613" y="67238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17-element000-table-r08-c04-text"/>
          <p:cNvSpPr txBox="1"/>
          <p:nvPr/>
        </p:nvSpPr>
        <p:spPr>
          <a:xfrm>
            <a:off x="12222053" y="67970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cxnSp>
        <p:nvCxnSpPr>
          <p:cNvPr id="95" name="slide017-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6" name="slide017-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7" name="slide017-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8-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APPENDIX | STRATEGY RULES AND CAPITAL</a:t>
            </a:r>
          </a:p>
        </p:txBody>
      </p:sp>
      <p:sp>
        <p:nvSpPr>
          <p:cNvPr id="3" name="slide018-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appendix: strategy rules (4/9)</a:t>
            </a:r>
          </a:p>
        </p:txBody>
      </p:sp>
      <p:sp>
        <p:nvSpPr>
          <p:cNvPr id="4" name="slide018-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18-element000-table-r00-c00-cell"/>
          <p:cNvSpPr/>
          <p:nvPr/>
        </p:nvSpPr>
        <p:spPr>
          <a:xfrm>
            <a:off x="594360" y="1847088"/>
            <a:ext cx="160970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18-element000-table-r00-c00-text"/>
          <p:cNvSpPr txBox="1"/>
          <p:nvPr/>
        </p:nvSpPr>
        <p:spPr>
          <a:xfrm>
            <a:off x="685800" y="1920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18-element000-table-r00-c01-cell"/>
          <p:cNvSpPr/>
          <p:nvPr/>
        </p:nvSpPr>
        <p:spPr>
          <a:xfrm>
            <a:off x="2204069"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18-element000-table-r00-c01-text"/>
          <p:cNvSpPr txBox="1"/>
          <p:nvPr/>
        </p:nvSpPr>
        <p:spPr>
          <a:xfrm>
            <a:off x="2295509"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18-element000-table-r00-c02-cell"/>
          <p:cNvSpPr/>
          <p:nvPr/>
        </p:nvSpPr>
        <p:spPr>
          <a:xfrm>
            <a:off x="5557631"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18-element000-table-r00-c02-text"/>
          <p:cNvSpPr txBox="1"/>
          <p:nvPr/>
        </p:nvSpPr>
        <p:spPr>
          <a:xfrm>
            <a:off x="5649071"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18-element000-table-r00-c03-cell"/>
          <p:cNvSpPr/>
          <p:nvPr/>
        </p:nvSpPr>
        <p:spPr>
          <a:xfrm>
            <a:off x="8911193" y="1847088"/>
            <a:ext cx="321941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8-element000-table-r00-c03-text"/>
          <p:cNvSpPr txBox="1"/>
          <p:nvPr/>
        </p:nvSpPr>
        <p:spPr>
          <a:xfrm>
            <a:off x="9002633" y="1920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18-element000-table-r00-c04-cell"/>
          <p:cNvSpPr/>
          <p:nvPr/>
        </p:nvSpPr>
        <p:spPr>
          <a:xfrm>
            <a:off x="12130613" y="1847088"/>
            <a:ext cx="1877994"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18-element000-table-r00-c04-text"/>
          <p:cNvSpPr txBox="1"/>
          <p:nvPr/>
        </p:nvSpPr>
        <p:spPr>
          <a:xfrm>
            <a:off x="12222053" y="1920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18-element000-table-r01-c00-cell"/>
          <p:cNvSpPr/>
          <p:nvPr/>
        </p:nvSpPr>
        <p:spPr>
          <a:xfrm>
            <a:off x="594360" y="24566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8-element000-table-r01-c00-text"/>
          <p:cNvSpPr txBox="1"/>
          <p:nvPr/>
        </p:nvSpPr>
        <p:spPr>
          <a:xfrm>
            <a:off x="685800" y="2529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S043</a:t>
            </a:r>
          </a:p>
        </p:txBody>
      </p:sp>
      <p:sp>
        <p:nvSpPr>
          <p:cNvPr id="17" name="slide018-element000-table-r01-c01-cell"/>
          <p:cNvSpPr/>
          <p:nvPr/>
        </p:nvSpPr>
        <p:spPr>
          <a:xfrm>
            <a:off x="2204069"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18-element000-table-r01-c01-text"/>
          <p:cNvSpPr txBox="1"/>
          <p:nvPr/>
        </p:nvSpPr>
        <p:spPr>
          <a:xfrm>
            <a:off x="2295509"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probabilities</a:t>
            </a:r>
          </a:p>
        </p:txBody>
      </p:sp>
      <p:sp>
        <p:nvSpPr>
          <p:cNvPr id="19" name="slide018-element000-table-r01-c02-cell"/>
          <p:cNvSpPr/>
          <p:nvPr/>
        </p:nvSpPr>
        <p:spPr>
          <a:xfrm>
            <a:off x="5557631"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18-element000-table-r01-c02-text"/>
          <p:cNvSpPr txBox="1"/>
          <p:nvPr/>
        </p:nvSpPr>
        <p:spPr>
          <a:xfrm>
            <a:off x="5649071"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Bookmaker's least likely result</a:t>
            </a:r>
          </a:p>
          <a:p>
            <a:pPr algn="l">
              <a:lnSpc>
                <a:spcPct val="100000"/>
              </a:lnSpc>
              <a:spcBef>
                <a:spcPts val="0"/>
              </a:spcBef>
              <a:spcAft>
                <a:spcPts val="0"/>
              </a:spcAft>
            </a:pPr>
            <a:r>
              <a:rPr sz="1300" b="0">
                <a:solidFill>
                  <a:srgbClr val="11243A"/>
                </a:solidFill>
                <a:latin typeface="Arial"/>
              </a:rPr>
              <a:t>No return filter</a:t>
            </a:r>
          </a:p>
        </p:txBody>
      </p:sp>
      <p:sp>
        <p:nvSpPr>
          <p:cNvPr id="21" name="slide018-element000-table-r01-c03-cell"/>
          <p:cNvSpPr/>
          <p:nvPr/>
        </p:nvSpPr>
        <p:spPr>
          <a:xfrm>
            <a:off x="8911193" y="24566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18-element000-table-r01-c03-text"/>
          <p:cNvSpPr txBox="1"/>
          <p:nvPr/>
        </p:nvSpPr>
        <p:spPr>
          <a:xfrm>
            <a:off x="9002633" y="2529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S043: 1,000</a:t>
            </a:r>
          </a:p>
        </p:txBody>
      </p:sp>
      <p:sp>
        <p:nvSpPr>
          <p:cNvPr id="23" name="slide018-element000-table-r01-c04-cell"/>
          <p:cNvSpPr/>
          <p:nvPr/>
        </p:nvSpPr>
        <p:spPr>
          <a:xfrm>
            <a:off x="12130613" y="24566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18-element000-table-r01-c04-text"/>
          <p:cNvSpPr txBox="1"/>
          <p:nvPr/>
        </p:nvSpPr>
        <p:spPr>
          <a:xfrm>
            <a:off x="12222053" y="2529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25" name="slide018-element000-table-r02-c00-cell"/>
          <p:cNvSpPr/>
          <p:nvPr/>
        </p:nvSpPr>
        <p:spPr>
          <a:xfrm>
            <a:off x="594360" y="30662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18-element000-table-r02-c00-text"/>
          <p:cNvSpPr txBox="1"/>
          <p:nvPr/>
        </p:nvSpPr>
        <p:spPr>
          <a:xfrm>
            <a:off x="685800" y="31394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S044</a:t>
            </a:r>
          </a:p>
        </p:txBody>
      </p:sp>
      <p:sp>
        <p:nvSpPr>
          <p:cNvPr id="27" name="slide018-element000-table-r02-c01-cell"/>
          <p:cNvSpPr/>
          <p:nvPr/>
        </p:nvSpPr>
        <p:spPr>
          <a:xfrm>
            <a:off x="2204069"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18-element000-table-r02-c01-text"/>
          <p:cNvSpPr txBox="1"/>
          <p:nvPr/>
        </p:nvSpPr>
        <p:spPr>
          <a:xfrm>
            <a:off x="2295509"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chance quality + player form</a:t>
            </a:r>
          </a:p>
        </p:txBody>
      </p:sp>
      <p:sp>
        <p:nvSpPr>
          <p:cNvPr id="29" name="slide018-element000-table-r02-c02-cell"/>
          <p:cNvSpPr/>
          <p:nvPr/>
        </p:nvSpPr>
        <p:spPr>
          <a:xfrm>
            <a:off x="5557631"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18-element000-table-r02-c02-text"/>
          <p:cNvSpPr txBox="1"/>
          <p:nvPr/>
        </p:nvSpPr>
        <p:spPr>
          <a:xfrm>
            <a:off x="5649071"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Model's most likely result</a:t>
            </a:r>
          </a:p>
          <a:p>
            <a:pPr algn="l">
              <a:lnSpc>
                <a:spcPct val="100000"/>
              </a:lnSpc>
              <a:spcBef>
                <a:spcPts val="0"/>
              </a:spcBef>
              <a:spcAft>
                <a:spcPts val="0"/>
              </a:spcAft>
            </a:pPr>
            <a:r>
              <a:rPr sz="1300" b="0">
                <a:solidFill>
                  <a:srgbClr val="11243A"/>
                </a:solidFill>
                <a:latin typeface="Arial"/>
              </a:rPr>
              <a:t>No return filter</a:t>
            </a:r>
          </a:p>
        </p:txBody>
      </p:sp>
      <p:sp>
        <p:nvSpPr>
          <p:cNvPr id="31" name="slide018-element000-table-r02-c03-cell"/>
          <p:cNvSpPr/>
          <p:nvPr/>
        </p:nvSpPr>
        <p:spPr>
          <a:xfrm>
            <a:off x="8911193" y="30662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18-element000-table-r02-c03-text"/>
          <p:cNvSpPr txBox="1"/>
          <p:nvPr/>
        </p:nvSpPr>
        <p:spPr>
          <a:xfrm>
            <a:off x="9002633" y="31394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S044: 1,000</a:t>
            </a:r>
          </a:p>
        </p:txBody>
      </p:sp>
      <p:sp>
        <p:nvSpPr>
          <p:cNvPr id="33" name="slide018-element000-table-r02-c04-cell"/>
          <p:cNvSpPr/>
          <p:nvPr/>
        </p:nvSpPr>
        <p:spPr>
          <a:xfrm>
            <a:off x="12130613" y="30662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18-element000-table-r02-c04-text"/>
          <p:cNvSpPr txBox="1"/>
          <p:nvPr/>
        </p:nvSpPr>
        <p:spPr>
          <a:xfrm>
            <a:off x="12222053" y="31394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35" name="slide018-element000-table-r03-c00-cell"/>
          <p:cNvSpPr/>
          <p:nvPr/>
        </p:nvSpPr>
        <p:spPr>
          <a:xfrm>
            <a:off x="594360" y="36758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18-element000-table-r03-c00-text"/>
          <p:cNvSpPr txBox="1"/>
          <p:nvPr/>
        </p:nvSpPr>
        <p:spPr>
          <a:xfrm>
            <a:off x="685800" y="37490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S045</a:t>
            </a:r>
          </a:p>
        </p:txBody>
      </p:sp>
      <p:sp>
        <p:nvSpPr>
          <p:cNvPr id="37" name="slide018-element000-table-r03-c01-cell"/>
          <p:cNvSpPr/>
          <p:nvPr/>
        </p:nvSpPr>
        <p:spPr>
          <a:xfrm>
            <a:off x="2204069"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18-element000-table-r03-c01-text"/>
          <p:cNvSpPr txBox="1"/>
          <p:nvPr/>
        </p:nvSpPr>
        <p:spPr>
          <a:xfrm>
            <a:off x="2295509"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team/chance/player form</a:t>
            </a:r>
          </a:p>
        </p:txBody>
      </p:sp>
      <p:sp>
        <p:nvSpPr>
          <p:cNvPr id="39" name="slide018-element000-table-r03-c02-cell"/>
          <p:cNvSpPr/>
          <p:nvPr/>
        </p:nvSpPr>
        <p:spPr>
          <a:xfrm>
            <a:off x="5557631"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18-element000-table-r03-c02-text"/>
          <p:cNvSpPr txBox="1"/>
          <p:nvPr/>
        </p:nvSpPr>
        <p:spPr>
          <a:xfrm>
            <a:off x="5649071"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Model's most likely result</a:t>
            </a:r>
          </a:p>
          <a:p>
            <a:pPr algn="l">
              <a:lnSpc>
                <a:spcPct val="100000"/>
              </a:lnSpc>
              <a:spcBef>
                <a:spcPts val="0"/>
              </a:spcBef>
              <a:spcAft>
                <a:spcPts val="0"/>
              </a:spcAft>
            </a:pPr>
            <a:r>
              <a:rPr sz="1300" b="0">
                <a:solidFill>
                  <a:srgbClr val="11243A"/>
                </a:solidFill>
                <a:latin typeface="Arial"/>
              </a:rPr>
              <a:t>No return filter</a:t>
            </a:r>
          </a:p>
        </p:txBody>
      </p:sp>
      <p:sp>
        <p:nvSpPr>
          <p:cNvPr id="41" name="slide018-element000-table-r03-c03-cell"/>
          <p:cNvSpPr/>
          <p:nvPr/>
        </p:nvSpPr>
        <p:spPr>
          <a:xfrm>
            <a:off x="8911193" y="36758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18-element000-table-r03-c03-text"/>
          <p:cNvSpPr txBox="1"/>
          <p:nvPr/>
        </p:nvSpPr>
        <p:spPr>
          <a:xfrm>
            <a:off x="9002633" y="37490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S045: 1,000</a:t>
            </a:r>
          </a:p>
        </p:txBody>
      </p:sp>
      <p:sp>
        <p:nvSpPr>
          <p:cNvPr id="43" name="slide018-element000-table-r03-c04-cell"/>
          <p:cNvSpPr/>
          <p:nvPr/>
        </p:nvSpPr>
        <p:spPr>
          <a:xfrm>
            <a:off x="12130613" y="36758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18-element000-table-r03-c04-text"/>
          <p:cNvSpPr txBox="1"/>
          <p:nvPr/>
        </p:nvSpPr>
        <p:spPr>
          <a:xfrm>
            <a:off x="12222053" y="37490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45" name="slide018-element000-table-r04-c00-cell"/>
          <p:cNvSpPr/>
          <p:nvPr/>
        </p:nvSpPr>
        <p:spPr>
          <a:xfrm>
            <a:off x="594360" y="42854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18-element000-table-r04-c00-text"/>
          <p:cNvSpPr txBox="1"/>
          <p:nvPr/>
        </p:nvSpPr>
        <p:spPr>
          <a:xfrm>
            <a:off x="685800" y="43586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S046 / S047</a:t>
            </a:r>
          </a:p>
        </p:txBody>
      </p:sp>
      <p:sp>
        <p:nvSpPr>
          <p:cNvPr id="47" name="slide018-element000-table-r04-c01-cell"/>
          <p:cNvSpPr/>
          <p:nvPr/>
        </p:nvSpPr>
        <p:spPr>
          <a:xfrm>
            <a:off x="2204069"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18-element000-table-r04-c01-text"/>
          <p:cNvSpPr txBox="1"/>
          <p:nvPr/>
        </p:nvSpPr>
        <p:spPr>
          <a:xfrm>
            <a:off x="2295509"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four team/player forecasts</a:t>
            </a:r>
          </a:p>
        </p:txBody>
      </p:sp>
      <p:sp>
        <p:nvSpPr>
          <p:cNvPr id="49" name="slide018-element000-table-r04-c02-cell"/>
          <p:cNvSpPr/>
          <p:nvPr/>
        </p:nvSpPr>
        <p:spPr>
          <a:xfrm>
            <a:off x="5557631"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18-element000-table-r04-c02-text"/>
          <p:cNvSpPr txBox="1"/>
          <p:nvPr/>
        </p:nvSpPr>
        <p:spPr>
          <a:xfrm>
            <a:off x="5649071"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51" name="slide018-element000-table-r04-c03-cell"/>
          <p:cNvSpPr/>
          <p:nvPr/>
        </p:nvSpPr>
        <p:spPr>
          <a:xfrm>
            <a:off x="8911193" y="42854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18-element000-table-r04-c03-text"/>
          <p:cNvSpPr txBox="1"/>
          <p:nvPr/>
        </p:nvSpPr>
        <p:spPr>
          <a:xfrm>
            <a:off x="9002633" y="43586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S046: 1,000</a:t>
            </a:r>
          </a:p>
          <a:p>
            <a:pPr algn="l">
              <a:lnSpc>
                <a:spcPct val="100000"/>
              </a:lnSpc>
              <a:spcBef>
                <a:spcPts val="0"/>
              </a:spcBef>
              <a:spcAft>
                <a:spcPts val="0"/>
              </a:spcAft>
            </a:pPr>
            <a:r>
              <a:rPr sz="1300" b="0">
                <a:solidFill>
                  <a:srgbClr val="11243A"/>
                </a:solidFill>
                <a:latin typeface="Arial"/>
              </a:rPr>
              <a:t>S047: 1/4 Kelly; ≤2% cash</a:t>
            </a:r>
          </a:p>
        </p:txBody>
      </p:sp>
      <p:sp>
        <p:nvSpPr>
          <p:cNvPr id="53" name="slide018-element000-table-r04-c04-cell"/>
          <p:cNvSpPr/>
          <p:nvPr/>
        </p:nvSpPr>
        <p:spPr>
          <a:xfrm>
            <a:off x="12130613" y="42854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18-element000-table-r04-c04-text"/>
          <p:cNvSpPr txBox="1"/>
          <p:nvPr/>
        </p:nvSpPr>
        <p:spPr>
          <a:xfrm>
            <a:off x="12222053" y="43586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55" name="slide018-element000-table-r05-c00-cell"/>
          <p:cNvSpPr/>
          <p:nvPr/>
        </p:nvSpPr>
        <p:spPr>
          <a:xfrm>
            <a:off x="594360" y="48950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18-element000-table-r05-c00-text"/>
          <p:cNvSpPr txBox="1"/>
          <p:nvPr/>
        </p:nvSpPr>
        <p:spPr>
          <a:xfrm>
            <a:off x="685800" y="4968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S048 / S049</a:t>
            </a:r>
          </a:p>
        </p:txBody>
      </p:sp>
      <p:sp>
        <p:nvSpPr>
          <p:cNvPr id="57" name="slide018-element000-table-r05-c01-cell"/>
          <p:cNvSpPr/>
          <p:nvPr/>
        </p:nvSpPr>
        <p:spPr>
          <a:xfrm>
            <a:off x="2204069"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18-element000-table-r05-c01-text"/>
          <p:cNvSpPr txBox="1"/>
          <p:nvPr/>
        </p:nvSpPr>
        <p:spPr>
          <a:xfrm>
            <a:off x="2295509"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59" name="slide018-element000-table-r05-c02-cell"/>
          <p:cNvSpPr/>
          <p:nvPr/>
        </p:nvSpPr>
        <p:spPr>
          <a:xfrm>
            <a:off x="5557631"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18-element000-table-r05-c02-text"/>
          <p:cNvSpPr txBox="1"/>
          <p:nvPr/>
        </p:nvSpPr>
        <p:spPr>
          <a:xfrm>
            <a:off x="5649071"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61" name="slide018-element000-table-r05-c03-cell"/>
          <p:cNvSpPr/>
          <p:nvPr/>
        </p:nvSpPr>
        <p:spPr>
          <a:xfrm>
            <a:off x="8911193" y="48950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18-element000-table-r05-c03-text"/>
          <p:cNvSpPr txBox="1"/>
          <p:nvPr/>
        </p:nvSpPr>
        <p:spPr>
          <a:xfrm>
            <a:off x="9002633" y="4968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S048: 1,000</a:t>
            </a:r>
          </a:p>
          <a:p>
            <a:pPr algn="l">
              <a:lnSpc>
                <a:spcPct val="100000"/>
              </a:lnSpc>
              <a:spcBef>
                <a:spcPts val="0"/>
              </a:spcBef>
              <a:spcAft>
                <a:spcPts val="0"/>
              </a:spcAft>
            </a:pPr>
            <a:r>
              <a:rPr sz="1300" b="0">
                <a:solidFill>
                  <a:srgbClr val="11243A"/>
                </a:solidFill>
                <a:latin typeface="Arial"/>
              </a:rPr>
              <a:t>S049: 1/4 Kelly; ≤2% cash</a:t>
            </a:r>
          </a:p>
        </p:txBody>
      </p:sp>
      <p:sp>
        <p:nvSpPr>
          <p:cNvPr id="63" name="slide018-element000-table-r05-c04-cell"/>
          <p:cNvSpPr/>
          <p:nvPr/>
        </p:nvSpPr>
        <p:spPr>
          <a:xfrm>
            <a:off x="12130613" y="48950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18-element000-table-r05-c04-text"/>
          <p:cNvSpPr txBox="1"/>
          <p:nvPr/>
        </p:nvSpPr>
        <p:spPr>
          <a:xfrm>
            <a:off x="12222053" y="4968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18-element000-table-r06-c00-cell"/>
          <p:cNvSpPr/>
          <p:nvPr/>
        </p:nvSpPr>
        <p:spPr>
          <a:xfrm>
            <a:off x="594360" y="55046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18-element000-table-r06-c00-text"/>
          <p:cNvSpPr txBox="1"/>
          <p:nvPr/>
        </p:nvSpPr>
        <p:spPr>
          <a:xfrm>
            <a:off x="685800" y="5577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S054</a:t>
            </a:r>
          </a:p>
        </p:txBody>
      </p:sp>
      <p:sp>
        <p:nvSpPr>
          <p:cNvPr id="67" name="slide018-element000-table-r06-c01-cell"/>
          <p:cNvSpPr/>
          <p:nvPr/>
        </p:nvSpPr>
        <p:spPr>
          <a:xfrm>
            <a:off x="2204069"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18-element000-table-r06-c01-text"/>
          <p:cNvSpPr txBox="1"/>
          <p:nvPr/>
        </p:nvSpPr>
        <p:spPr>
          <a:xfrm>
            <a:off x="2295509"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69" name="slide018-element000-table-r06-c02-cell"/>
          <p:cNvSpPr/>
          <p:nvPr/>
        </p:nvSpPr>
        <p:spPr>
          <a:xfrm>
            <a:off x="5557631"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18-element000-table-r06-c02-text"/>
          <p:cNvSpPr txBox="1"/>
          <p:nvPr/>
        </p:nvSpPr>
        <p:spPr>
          <a:xfrm>
            <a:off x="5649071"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71" name="slide018-element000-table-r06-c03-cell"/>
          <p:cNvSpPr/>
          <p:nvPr/>
        </p:nvSpPr>
        <p:spPr>
          <a:xfrm>
            <a:off x="8911193" y="55046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18-element000-table-r06-c03-text"/>
          <p:cNvSpPr txBox="1"/>
          <p:nvPr/>
        </p:nvSpPr>
        <p:spPr>
          <a:xfrm>
            <a:off x="9002633" y="5577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S054: 1% of current cash</a:t>
            </a:r>
          </a:p>
        </p:txBody>
      </p:sp>
      <p:sp>
        <p:nvSpPr>
          <p:cNvPr id="73" name="slide018-element000-table-r06-c04-cell"/>
          <p:cNvSpPr/>
          <p:nvPr/>
        </p:nvSpPr>
        <p:spPr>
          <a:xfrm>
            <a:off x="12130613" y="55046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18-element000-table-r06-c04-text"/>
          <p:cNvSpPr txBox="1"/>
          <p:nvPr/>
        </p:nvSpPr>
        <p:spPr>
          <a:xfrm>
            <a:off x="12222053" y="5577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75" name="slide018-element000-table-r07-c00-cell"/>
          <p:cNvSpPr/>
          <p:nvPr/>
        </p:nvSpPr>
        <p:spPr>
          <a:xfrm>
            <a:off x="594360" y="61142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18-element000-table-r07-c00-text"/>
          <p:cNvSpPr txBox="1"/>
          <p:nvPr/>
        </p:nvSpPr>
        <p:spPr>
          <a:xfrm>
            <a:off x="685800" y="61874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S050 / S051</a:t>
            </a:r>
          </a:p>
        </p:txBody>
      </p:sp>
      <p:sp>
        <p:nvSpPr>
          <p:cNvPr id="77" name="slide018-element000-table-r07-c01-cell"/>
          <p:cNvSpPr/>
          <p:nvPr/>
        </p:nvSpPr>
        <p:spPr>
          <a:xfrm>
            <a:off x="2204069"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18-element000-table-r07-c01-text"/>
          <p:cNvSpPr txBox="1"/>
          <p:nvPr/>
        </p:nvSpPr>
        <p:spPr>
          <a:xfrm>
            <a:off x="2295509"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Half combined forecast, half bookmaker</a:t>
            </a:r>
          </a:p>
        </p:txBody>
      </p:sp>
      <p:sp>
        <p:nvSpPr>
          <p:cNvPr id="79" name="slide018-element000-table-r07-c02-cell"/>
          <p:cNvSpPr/>
          <p:nvPr/>
        </p:nvSpPr>
        <p:spPr>
          <a:xfrm>
            <a:off x="5557631"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18-element000-table-r07-c02-text"/>
          <p:cNvSpPr txBox="1"/>
          <p:nvPr/>
        </p:nvSpPr>
        <p:spPr>
          <a:xfrm>
            <a:off x="5649071"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81" name="slide018-element000-table-r07-c03-cell"/>
          <p:cNvSpPr/>
          <p:nvPr/>
        </p:nvSpPr>
        <p:spPr>
          <a:xfrm>
            <a:off x="8911193" y="61142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18-element000-table-r07-c03-text"/>
          <p:cNvSpPr txBox="1"/>
          <p:nvPr/>
        </p:nvSpPr>
        <p:spPr>
          <a:xfrm>
            <a:off x="9002633" y="61874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S050: 1,000</a:t>
            </a:r>
          </a:p>
          <a:p>
            <a:pPr algn="l">
              <a:lnSpc>
                <a:spcPct val="100000"/>
              </a:lnSpc>
              <a:spcBef>
                <a:spcPts val="0"/>
              </a:spcBef>
              <a:spcAft>
                <a:spcPts val="0"/>
              </a:spcAft>
            </a:pPr>
            <a:r>
              <a:rPr sz="1300" b="0">
                <a:solidFill>
                  <a:srgbClr val="11243A"/>
                </a:solidFill>
                <a:latin typeface="Arial"/>
              </a:rPr>
              <a:t>S051: 1/4 Kelly; ≤2% cash</a:t>
            </a:r>
          </a:p>
        </p:txBody>
      </p:sp>
      <p:sp>
        <p:nvSpPr>
          <p:cNvPr id="83" name="slide018-element000-table-r07-c04-cell"/>
          <p:cNvSpPr/>
          <p:nvPr/>
        </p:nvSpPr>
        <p:spPr>
          <a:xfrm>
            <a:off x="12130613" y="61142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18-element000-table-r07-c04-text"/>
          <p:cNvSpPr txBox="1"/>
          <p:nvPr/>
        </p:nvSpPr>
        <p:spPr>
          <a:xfrm>
            <a:off x="12222053" y="61874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18-element000-table-r08-c00-cell"/>
          <p:cNvSpPr/>
          <p:nvPr/>
        </p:nvSpPr>
        <p:spPr>
          <a:xfrm>
            <a:off x="594360" y="67238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18-element000-table-r08-c00-text"/>
          <p:cNvSpPr txBox="1"/>
          <p:nvPr/>
        </p:nvSpPr>
        <p:spPr>
          <a:xfrm>
            <a:off x="685800" y="67970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S059</a:t>
            </a:r>
          </a:p>
        </p:txBody>
      </p:sp>
      <p:sp>
        <p:nvSpPr>
          <p:cNvPr id="87" name="slide018-element000-table-r08-c01-cell"/>
          <p:cNvSpPr/>
          <p:nvPr/>
        </p:nvSpPr>
        <p:spPr>
          <a:xfrm>
            <a:off x="2204069"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18-element000-table-r08-c01-text"/>
          <p:cNvSpPr txBox="1"/>
          <p:nvPr/>
        </p:nvSpPr>
        <p:spPr>
          <a:xfrm>
            <a:off x="2295509"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chance quality + player form</a:t>
            </a:r>
          </a:p>
        </p:txBody>
      </p:sp>
      <p:sp>
        <p:nvSpPr>
          <p:cNvPr id="89" name="slide018-element000-table-r08-c02-cell"/>
          <p:cNvSpPr/>
          <p:nvPr/>
        </p:nvSpPr>
        <p:spPr>
          <a:xfrm>
            <a:off x="5557631"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18-element000-table-r08-c02-text"/>
          <p:cNvSpPr txBox="1"/>
          <p:nvPr/>
        </p:nvSpPr>
        <p:spPr>
          <a:xfrm>
            <a:off x="5649071"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91" name="slide018-element000-table-r08-c03-cell"/>
          <p:cNvSpPr/>
          <p:nvPr/>
        </p:nvSpPr>
        <p:spPr>
          <a:xfrm>
            <a:off x="8911193" y="67238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18-element000-table-r08-c03-text"/>
          <p:cNvSpPr txBox="1"/>
          <p:nvPr/>
        </p:nvSpPr>
        <p:spPr>
          <a:xfrm>
            <a:off x="9002633" y="67970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S059: 1/4 Kelly; ≤2% cash</a:t>
            </a:r>
          </a:p>
        </p:txBody>
      </p:sp>
      <p:sp>
        <p:nvSpPr>
          <p:cNvPr id="93" name="slide018-element000-table-r08-c04-cell"/>
          <p:cNvSpPr/>
          <p:nvPr/>
        </p:nvSpPr>
        <p:spPr>
          <a:xfrm>
            <a:off x="12130613" y="67238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18-element000-table-r08-c04-text"/>
          <p:cNvSpPr txBox="1"/>
          <p:nvPr/>
        </p:nvSpPr>
        <p:spPr>
          <a:xfrm>
            <a:off x="12222053" y="67970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Date cap 10% cash</a:t>
            </a:r>
          </a:p>
        </p:txBody>
      </p:sp>
      <p:cxnSp>
        <p:nvCxnSpPr>
          <p:cNvPr id="95" name="slide018-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6" name="slide018-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7" name="slide018-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9-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APPENDIX | STRATEGY RULES AND CAPITAL</a:t>
            </a:r>
          </a:p>
        </p:txBody>
      </p:sp>
      <p:sp>
        <p:nvSpPr>
          <p:cNvPr id="3" name="slide019-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appendix: strategy rules (5/9)</a:t>
            </a:r>
          </a:p>
        </p:txBody>
      </p:sp>
      <p:sp>
        <p:nvSpPr>
          <p:cNvPr id="4" name="slide019-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19-element000-table-r00-c00-cell"/>
          <p:cNvSpPr/>
          <p:nvPr/>
        </p:nvSpPr>
        <p:spPr>
          <a:xfrm>
            <a:off x="594360" y="1847088"/>
            <a:ext cx="160970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19-element000-table-r00-c00-text"/>
          <p:cNvSpPr txBox="1"/>
          <p:nvPr/>
        </p:nvSpPr>
        <p:spPr>
          <a:xfrm>
            <a:off x="685800" y="1920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19-element000-table-r00-c01-cell"/>
          <p:cNvSpPr/>
          <p:nvPr/>
        </p:nvSpPr>
        <p:spPr>
          <a:xfrm>
            <a:off x="2204069"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19-element000-table-r00-c01-text"/>
          <p:cNvSpPr txBox="1"/>
          <p:nvPr/>
        </p:nvSpPr>
        <p:spPr>
          <a:xfrm>
            <a:off x="2295509"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19-element000-table-r00-c02-cell"/>
          <p:cNvSpPr/>
          <p:nvPr/>
        </p:nvSpPr>
        <p:spPr>
          <a:xfrm>
            <a:off x="5557631"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19-element000-table-r00-c02-text"/>
          <p:cNvSpPr txBox="1"/>
          <p:nvPr/>
        </p:nvSpPr>
        <p:spPr>
          <a:xfrm>
            <a:off x="5649071"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19-element000-table-r00-c03-cell"/>
          <p:cNvSpPr/>
          <p:nvPr/>
        </p:nvSpPr>
        <p:spPr>
          <a:xfrm>
            <a:off x="8911193" y="1847088"/>
            <a:ext cx="321941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9-element000-table-r00-c03-text"/>
          <p:cNvSpPr txBox="1"/>
          <p:nvPr/>
        </p:nvSpPr>
        <p:spPr>
          <a:xfrm>
            <a:off x="9002633" y="1920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19-element000-table-r00-c04-cell"/>
          <p:cNvSpPr/>
          <p:nvPr/>
        </p:nvSpPr>
        <p:spPr>
          <a:xfrm>
            <a:off x="12130613" y="1847088"/>
            <a:ext cx="1877994"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19-element000-table-r00-c04-text"/>
          <p:cNvSpPr txBox="1"/>
          <p:nvPr/>
        </p:nvSpPr>
        <p:spPr>
          <a:xfrm>
            <a:off x="12222053" y="1920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19-element000-table-r01-c00-cell"/>
          <p:cNvSpPr/>
          <p:nvPr/>
        </p:nvSpPr>
        <p:spPr>
          <a:xfrm>
            <a:off x="594360" y="24566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9-element000-table-r01-c00-text"/>
          <p:cNvSpPr txBox="1"/>
          <p:nvPr/>
        </p:nvSpPr>
        <p:spPr>
          <a:xfrm>
            <a:off x="685800" y="2529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S060</a:t>
            </a:r>
          </a:p>
        </p:txBody>
      </p:sp>
      <p:sp>
        <p:nvSpPr>
          <p:cNvPr id="17" name="slide019-element000-table-r01-c01-cell"/>
          <p:cNvSpPr/>
          <p:nvPr/>
        </p:nvSpPr>
        <p:spPr>
          <a:xfrm>
            <a:off x="2204069"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19-element000-table-r01-c01-text"/>
          <p:cNvSpPr txBox="1"/>
          <p:nvPr/>
        </p:nvSpPr>
        <p:spPr>
          <a:xfrm>
            <a:off x="2295509"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team/chance/player form</a:t>
            </a:r>
          </a:p>
        </p:txBody>
      </p:sp>
      <p:sp>
        <p:nvSpPr>
          <p:cNvPr id="19" name="slide019-element000-table-r01-c02-cell"/>
          <p:cNvSpPr/>
          <p:nvPr/>
        </p:nvSpPr>
        <p:spPr>
          <a:xfrm>
            <a:off x="5557631"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19-element000-table-r01-c02-text"/>
          <p:cNvSpPr txBox="1"/>
          <p:nvPr/>
        </p:nvSpPr>
        <p:spPr>
          <a:xfrm>
            <a:off x="5649071"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21" name="slide019-element000-table-r01-c03-cell"/>
          <p:cNvSpPr/>
          <p:nvPr/>
        </p:nvSpPr>
        <p:spPr>
          <a:xfrm>
            <a:off x="8911193" y="24566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19-element000-table-r01-c03-text"/>
          <p:cNvSpPr txBox="1"/>
          <p:nvPr/>
        </p:nvSpPr>
        <p:spPr>
          <a:xfrm>
            <a:off x="9002633" y="2529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S060: 1/4 Kelly; ≤2% cash</a:t>
            </a:r>
          </a:p>
        </p:txBody>
      </p:sp>
      <p:sp>
        <p:nvSpPr>
          <p:cNvPr id="23" name="slide019-element000-table-r01-c04-cell"/>
          <p:cNvSpPr/>
          <p:nvPr/>
        </p:nvSpPr>
        <p:spPr>
          <a:xfrm>
            <a:off x="12130613" y="24566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19-element000-table-r01-c04-text"/>
          <p:cNvSpPr txBox="1"/>
          <p:nvPr/>
        </p:nvSpPr>
        <p:spPr>
          <a:xfrm>
            <a:off x="12222053" y="2529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Date cap 10% cash</a:t>
            </a:r>
          </a:p>
        </p:txBody>
      </p:sp>
      <p:sp>
        <p:nvSpPr>
          <p:cNvPr id="25" name="slide019-element000-table-r02-c00-cell"/>
          <p:cNvSpPr/>
          <p:nvPr/>
        </p:nvSpPr>
        <p:spPr>
          <a:xfrm>
            <a:off x="594360" y="30662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19-element000-table-r02-c00-text"/>
          <p:cNvSpPr txBox="1"/>
          <p:nvPr/>
        </p:nvSpPr>
        <p:spPr>
          <a:xfrm>
            <a:off x="685800" y="31394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S061</a:t>
            </a:r>
          </a:p>
        </p:txBody>
      </p:sp>
      <p:sp>
        <p:nvSpPr>
          <p:cNvPr id="27" name="slide019-element000-table-r02-c01-cell"/>
          <p:cNvSpPr/>
          <p:nvPr/>
        </p:nvSpPr>
        <p:spPr>
          <a:xfrm>
            <a:off x="2204069"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19-element000-table-r02-c01-text"/>
          <p:cNvSpPr txBox="1"/>
          <p:nvPr/>
        </p:nvSpPr>
        <p:spPr>
          <a:xfrm>
            <a:off x="2295509"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29" name="slide019-element000-table-r02-c02-cell"/>
          <p:cNvSpPr/>
          <p:nvPr/>
        </p:nvSpPr>
        <p:spPr>
          <a:xfrm>
            <a:off x="5557631"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19-element000-table-r02-c02-text"/>
          <p:cNvSpPr txBox="1"/>
          <p:nvPr/>
        </p:nvSpPr>
        <p:spPr>
          <a:xfrm>
            <a:off x="5649071"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31" name="slide019-element000-table-r02-c03-cell"/>
          <p:cNvSpPr/>
          <p:nvPr/>
        </p:nvSpPr>
        <p:spPr>
          <a:xfrm>
            <a:off x="8911193" y="30662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19-element000-table-r02-c03-text"/>
          <p:cNvSpPr txBox="1"/>
          <p:nvPr/>
        </p:nvSpPr>
        <p:spPr>
          <a:xfrm>
            <a:off x="9002633" y="31394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S061: 1/4 Kelly; ≤2% cash</a:t>
            </a:r>
          </a:p>
        </p:txBody>
      </p:sp>
      <p:sp>
        <p:nvSpPr>
          <p:cNvPr id="33" name="slide019-element000-table-r02-c04-cell"/>
          <p:cNvSpPr/>
          <p:nvPr/>
        </p:nvSpPr>
        <p:spPr>
          <a:xfrm>
            <a:off x="12130613" y="30662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19-element000-table-r02-c04-text"/>
          <p:cNvSpPr txBox="1"/>
          <p:nvPr/>
        </p:nvSpPr>
        <p:spPr>
          <a:xfrm>
            <a:off x="12222053" y="31394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Date cap 10% cash</a:t>
            </a:r>
          </a:p>
        </p:txBody>
      </p:sp>
      <p:sp>
        <p:nvSpPr>
          <p:cNvPr id="35" name="slide019-element000-table-r03-c00-cell"/>
          <p:cNvSpPr/>
          <p:nvPr/>
        </p:nvSpPr>
        <p:spPr>
          <a:xfrm>
            <a:off x="594360" y="36758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19-element000-table-r03-c00-text"/>
          <p:cNvSpPr txBox="1"/>
          <p:nvPr/>
        </p:nvSpPr>
        <p:spPr>
          <a:xfrm>
            <a:off x="685800" y="37490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S062 / S063</a:t>
            </a:r>
          </a:p>
        </p:txBody>
      </p:sp>
      <p:sp>
        <p:nvSpPr>
          <p:cNvPr id="37" name="slide019-element000-table-r03-c01-cell"/>
          <p:cNvSpPr/>
          <p:nvPr/>
        </p:nvSpPr>
        <p:spPr>
          <a:xfrm>
            <a:off x="2204069"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19-element000-table-r03-c01-text"/>
          <p:cNvSpPr txBox="1"/>
          <p:nvPr/>
        </p:nvSpPr>
        <p:spPr>
          <a:xfrm>
            <a:off x="2295509"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39" name="slide019-element000-table-r03-c02-cell"/>
          <p:cNvSpPr/>
          <p:nvPr/>
        </p:nvSpPr>
        <p:spPr>
          <a:xfrm>
            <a:off x="5557631"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19-element000-table-r03-c02-text"/>
          <p:cNvSpPr txBox="1"/>
          <p:nvPr/>
        </p:nvSpPr>
        <p:spPr>
          <a:xfrm>
            <a:off x="5649071"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a:p>
            <a:pPr algn="l">
              <a:lnSpc>
                <a:spcPct val="100000"/>
              </a:lnSpc>
              <a:spcBef>
                <a:spcPts val="0"/>
              </a:spcBef>
              <a:spcAft>
                <a:spcPts val="0"/>
              </a:spcAft>
            </a:pPr>
            <a:r>
              <a:rPr sz="1300" b="0">
                <a:solidFill>
                  <a:srgbClr val="11243A"/>
                </a:solidFill>
                <a:latin typeface="Arial"/>
              </a:rPr>
              <a:t>Positive return: 6/8 models</a:t>
            </a:r>
          </a:p>
        </p:txBody>
      </p:sp>
      <p:sp>
        <p:nvSpPr>
          <p:cNvPr id="41" name="slide019-element000-table-r03-c03-cell"/>
          <p:cNvSpPr/>
          <p:nvPr/>
        </p:nvSpPr>
        <p:spPr>
          <a:xfrm>
            <a:off x="8911193" y="36758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19-element000-table-r03-c03-text"/>
          <p:cNvSpPr txBox="1"/>
          <p:nvPr/>
        </p:nvSpPr>
        <p:spPr>
          <a:xfrm>
            <a:off x="9002633" y="37490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S062: 1,000</a:t>
            </a:r>
          </a:p>
          <a:p>
            <a:pPr algn="l">
              <a:lnSpc>
                <a:spcPct val="100000"/>
              </a:lnSpc>
              <a:spcBef>
                <a:spcPts val="0"/>
              </a:spcBef>
              <a:spcAft>
                <a:spcPts val="0"/>
              </a:spcAft>
            </a:pPr>
            <a:r>
              <a:rPr sz="1300" b="0">
                <a:solidFill>
                  <a:srgbClr val="11243A"/>
                </a:solidFill>
                <a:latin typeface="Arial"/>
              </a:rPr>
              <a:t>S063: 1/4 Kelly; ≤2% cash</a:t>
            </a:r>
          </a:p>
        </p:txBody>
      </p:sp>
      <p:sp>
        <p:nvSpPr>
          <p:cNvPr id="43" name="slide019-element000-table-r03-c04-cell"/>
          <p:cNvSpPr/>
          <p:nvPr/>
        </p:nvSpPr>
        <p:spPr>
          <a:xfrm>
            <a:off x="12130613" y="36758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19-element000-table-r03-c04-text"/>
          <p:cNvSpPr txBox="1"/>
          <p:nvPr/>
        </p:nvSpPr>
        <p:spPr>
          <a:xfrm>
            <a:off x="12222053" y="37490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45" name="slide019-element000-table-r04-c00-cell"/>
          <p:cNvSpPr/>
          <p:nvPr/>
        </p:nvSpPr>
        <p:spPr>
          <a:xfrm>
            <a:off x="594360" y="42854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19-element000-table-r04-c00-text"/>
          <p:cNvSpPr txBox="1"/>
          <p:nvPr/>
        </p:nvSpPr>
        <p:spPr>
          <a:xfrm>
            <a:off x="685800" y="43586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S064</a:t>
            </a:r>
          </a:p>
        </p:txBody>
      </p:sp>
      <p:sp>
        <p:nvSpPr>
          <p:cNvPr id="47" name="slide019-element000-table-r04-c01-cell"/>
          <p:cNvSpPr/>
          <p:nvPr/>
        </p:nvSpPr>
        <p:spPr>
          <a:xfrm>
            <a:off x="2204069"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19-element000-table-r04-c01-text"/>
          <p:cNvSpPr txBox="1"/>
          <p:nvPr/>
        </p:nvSpPr>
        <p:spPr>
          <a:xfrm>
            <a:off x="2295509"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49" name="slide019-element000-table-r04-c02-cell"/>
          <p:cNvSpPr/>
          <p:nvPr/>
        </p:nvSpPr>
        <p:spPr>
          <a:xfrm>
            <a:off x="5557631"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19-element000-table-r04-c02-text"/>
          <p:cNvSpPr txBox="1"/>
          <p:nvPr/>
        </p:nvSpPr>
        <p:spPr>
          <a:xfrm>
            <a:off x="5649071"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a:p>
            <a:pPr algn="l">
              <a:lnSpc>
                <a:spcPct val="100000"/>
              </a:lnSpc>
              <a:spcBef>
                <a:spcPts val="0"/>
              </a:spcBef>
              <a:spcAft>
                <a:spcPts val="0"/>
              </a:spcAft>
            </a:pPr>
            <a:r>
              <a:rPr sz="1300" b="0">
                <a:solidFill>
                  <a:srgbClr val="11243A"/>
                </a:solidFill>
                <a:latin typeface="Arial"/>
              </a:rPr>
              <a:t>Only H</a:t>
            </a:r>
          </a:p>
        </p:txBody>
      </p:sp>
      <p:sp>
        <p:nvSpPr>
          <p:cNvPr id="51" name="slide019-element000-table-r04-c03-cell"/>
          <p:cNvSpPr/>
          <p:nvPr/>
        </p:nvSpPr>
        <p:spPr>
          <a:xfrm>
            <a:off x="8911193" y="42854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19-element000-table-r04-c03-text"/>
          <p:cNvSpPr txBox="1"/>
          <p:nvPr/>
        </p:nvSpPr>
        <p:spPr>
          <a:xfrm>
            <a:off x="9002633" y="43586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S064: 1,000</a:t>
            </a:r>
          </a:p>
        </p:txBody>
      </p:sp>
      <p:sp>
        <p:nvSpPr>
          <p:cNvPr id="53" name="slide019-element000-table-r04-c04-cell"/>
          <p:cNvSpPr/>
          <p:nvPr/>
        </p:nvSpPr>
        <p:spPr>
          <a:xfrm>
            <a:off x="12130613" y="42854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19-element000-table-r04-c04-text"/>
          <p:cNvSpPr txBox="1"/>
          <p:nvPr/>
        </p:nvSpPr>
        <p:spPr>
          <a:xfrm>
            <a:off x="12222053" y="43586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55" name="slide019-element000-table-r05-c00-cell"/>
          <p:cNvSpPr/>
          <p:nvPr/>
        </p:nvSpPr>
        <p:spPr>
          <a:xfrm>
            <a:off x="594360" y="48950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19-element000-table-r05-c00-text"/>
          <p:cNvSpPr txBox="1"/>
          <p:nvPr/>
        </p:nvSpPr>
        <p:spPr>
          <a:xfrm>
            <a:off x="685800" y="4968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S065</a:t>
            </a:r>
          </a:p>
        </p:txBody>
      </p:sp>
      <p:sp>
        <p:nvSpPr>
          <p:cNvPr id="57" name="slide019-element000-table-r05-c01-cell"/>
          <p:cNvSpPr/>
          <p:nvPr/>
        </p:nvSpPr>
        <p:spPr>
          <a:xfrm>
            <a:off x="2204069"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19-element000-table-r05-c01-text"/>
          <p:cNvSpPr txBox="1"/>
          <p:nvPr/>
        </p:nvSpPr>
        <p:spPr>
          <a:xfrm>
            <a:off x="2295509"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59" name="slide019-element000-table-r05-c02-cell"/>
          <p:cNvSpPr/>
          <p:nvPr/>
        </p:nvSpPr>
        <p:spPr>
          <a:xfrm>
            <a:off x="5557631"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19-element000-table-r05-c02-text"/>
          <p:cNvSpPr txBox="1"/>
          <p:nvPr/>
        </p:nvSpPr>
        <p:spPr>
          <a:xfrm>
            <a:off x="5649071"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a:p>
            <a:pPr algn="l">
              <a:lnSpc>
                <a:spcPct val="100000"/>
              </a:lnSpc>
              <a:spcBef>
                <a:spcPts val="0"/>
              </a:spcBef>
              <a:spcAft>
                <a:spcPts val="0"/>
              </a:spcAft>
            </a:pPr>
            <a:r>
              <a:rPr sz="1300" b="0">
                <a:solidFill>
                  <a:srgbClr val="11243A"/>
                </a:solidFill>
                <a:latin typeface="Arial"/>
              </a:rPr>
              <a:t>Only D</a:t>
            </a:r>
          </a:p>
        </p:txBody>
      </p:sp>
      <p:sp>
        <p:nvSpPr>
          <p:cNvPr id="61" name="slide019-element000-table-r05-c03-cell"/>
          <p:cNvSpPr/>
          <p:nvPr/>
        </p:nvSpPr>
        <p:spPr>
          <a:xfrm>
            <a:off x="8911193" y="48950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19-element000-table-r05-c03-text"/>
          <p:cNvSpPr txBox="1"/>
          <p:nvPr/>
        </p:nvSpPr>
        <p:spPr>
          <a:xfrm>
            <a:off x="9002633" y="4968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S065: 1,000</a:t>
            </a:r>
          </a:p>
        </p:txBody>
      </p:sp>
      <p:sp>
        <p:nvSpPr>
          <p:cNvPr id="63" name="slide019-element000-table-r05-c04-cell"/>
          <p:cNvSpPr/>
          <p:nvPr/>
        </p:nvSpPr>
        <p:spPr>
          <a:xfrm>
            <a:off x="12130613" y="48950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19-element000-table-r05-c04-text"/>
          <p:cNvSpPr txBox="1"/>
          <p:nvPr/>
        </p:nvSpPr>
        <p:spPr>
          <a:xfrm>
            <a:off x="12222053" y="4968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19-element000-table-r06-c00-cell"/>
          <p:cNvSpPr/>
          <p:nvPr/>
        </p:nvSpPr>
        <p:spPr>
          <a:xfrm>
            <a:off x="594360" y="55046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19-element000-table-r06-c00-text"/>
          <p:cNvSpPr txBox="1"/>
          <p:nvPr/>
        </p:nvSpPr>
        <p:spPr>
          <a:xfrm>
            <a:off x="685800" y="5577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S066</a:t>
            </a:r>
          </a:p>
        </p:txBody>
      </p:sp>
      <p:sp>
        <p:nvSpPr>
          <p:cNvPr id="67" name="slide019-element000-table-r06-c01-cell"/>
          <p:cNvSpPr/>
          <p:nvPr/>
        </p:nvSpPr>
        <p:spPr>
          <a:xfrm>
            <a:off x="2204069"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19-element000-table-r06-c01-text"/>
          <p:cNvSpPr txBox="1"/>
          <p:nvPr/>
        </p:nvSpPr>
        <p:spPr>
          <a:xfrm>
            <a:off x="2295509"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69" name="slide019-element000-table-r06-c02-cell"/>
          <p:cNvSpPr/>
          <p:nvPr/>
        </p:nvSpPr>
        <p:spPr>
          <a:xfrm>
            <a:off x="5557631"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19-element000-table-r06-c02-text"/>
          <p:cNvSpPr txBox="1"/>
          <p:nvPr/>
        </p:nvSpPr>
        <p:spPr>
          <a:xfrm>
            <a:off x="5649071"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a:p>
            <a:pPr algn="l">
              <a:lnSpc>
                <a:spcPct val="100000"/>
              </a:lnSpc>
              <a:spcBef>
                <a:spcPts val="0"/>
              </a:spcBef>
              <a:spcAft>
                <a:spcPts val="0"/>
              </a:spcAft>
            </a:pPr>
            <a:r>
              <a:rPr sz="1300" b="0">
                <a:solidFill>
                  <a:srgbClr val="11243A"/>
                </a:solidFill>
                <a:latin typeface="Arial"/>
              </a:rPr>
              <a:t>Only A</a:t>
            </a:r>
          </a:p>
        </p:txBody>
      </p:sp>
      <p:sp>
        <p:nvSpPr>
          <p:cNvPr id="71" name="slide019-element000-table-r06-c03-cell"/>
          <p:cNvSpPr/>
          <p:nvPr/>
        </p:nvSpPr>
        <p:spPr>
          <a:xfrm>
            <a:off x="8911193" y="55046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19-element000-table-r06-c03-text"/>
          <p:cNvSpPr txBox="1"/>
          <p:nvPr/>
        </p:nvSpPr>
        <p:spPr>
          <a:xfrm>
            <a:off x="9002633" y="5577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S066: 1,000</a:t>
            </a:r>
          </a:p>
        </p:txBody>
      </p:sp>
      <p:sp>
        <p:nvSpPr>
          <p:cNvPr id="73" name="slide019-element000-table-r06-c04-cell"/>
          <p:cNvSpPr/>
          <p:nvPr/>
        </p:nvSpPr>
        <p:spPr>
          <a:xfrm>
            <a:off x="12130613" y="55046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19-element000-table-r06-c04-text"/>
          <p:cNvSpPr txBox="1"/>
          <p:nvPr/>
        </p:nvSpPr>
        <p:spPr>
          <a:xfrm>
            <a:off x="12222053" y="5577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75" name="slide019-element000-table-r07-c00-cell"/>
          <p:cNvSpPr/>
          <p:nvPr/>
        </p:nvSpPr>
        <p:spPr>
          <a:xfrm>
            <a:off x="594360" y="61142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19-element000-table-r07-c00-text"/>
          <p:cNvSpPr txBox="1"/>
          <p:nvPr/>
        </p:nvSpPr>
        <p:spPr>
          <a:xfrm>
            <a:off x="685800" y="61874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S067</a:t>
            </a:r>
          </a:p>
        </p:txBody>
      </p:sp>
      <p:sp>
        <p:nvSpPr>
          <p:cNvPr id="77" name="slide019-element000-table-r07-c01-cell"/>
          <p:cNvSpPr/>
          <p:nvPr/>
        </p:nvSpPr>
        <p:spPr>
          <a:xfrm>
            <a:off x="2204069"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19-element000-table-r07-c01-text"/>
          <p:cNvSpPr txBox="1"/>
          <p:nvPr/>
        </p:nvSpPr>
        <p:spPr>
          <a:xfrm>
            <a:off x="2295509"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chance quality + player form</a:t>
            </a:r>
          </a:p>
        </p:txBody>
      </p:sp>
      <p:sp>
        <p:nvSpPr>
          <p:cNvPr id="79" name="slide019-element000-table-r07-c02-cell"/>
          <p:cNvSpPr/>
          <p:nvPr/>
        </p:nvSpPr>
        <p:spPr>
          <a:xfrm>
            <a:off x="5557631"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19-element000-table-r07-c02-text"/>
          <p:cNvSpPr txBox="1"/>
          <p:nvPr/>
        </p:nvSpPr>
        <p:spPr>
          <a:xfrm>
            <a:off x="5649071"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10%</a:t>
            </a:r>
          </a:p>
        </p:txBody>
      </p:sp>
      <p:sp>
        <p:nvSpPr>
          <p:cNvPr id="81" name="slide019-element000-table-r07-c03-cell"/>
          <p:cNvSpPr/>
          <p:nvPr/>
        </p:nvSpPr>
        <p:spPr>
          <a:xfrm>
            <a:off x="8911193" y="61142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19-element000-table-r07-c03-text"/>
          <p:cNvSpPr txBox="1"/>
          <p:nvPr/>
        </p:nvSpPr>
        <p:spPr>
          <a:xfrm>
            <a:off x="9002633" y="61874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S067: 1,000</a:t>
            </a:r>
          </a:p>
        </p:txBody>
      </p:sp>
      <p:sp>
        <p:nvSpPr>
          <p:cNvPr id="83" name="slide019-element000-table-r07-c04-cell"/>
          <p:cNvSpPr/>
          <p:nvPr/>
        </p:nvSpPr>
        <p:spPr>
          <a:xfrm>
            <a:off x="12130613" y="61142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19-element000-table-r07-c04-text"/>
          <p:cNvSpPr txBox="1"/>
          <p:nvPr/>
        </p:nvSpPr>
        <p:spPr>
          <a:xfrm>
            <a:off x="12222053" y="61874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19-element000-table-r08-c00-cell"/>
          <p:cNvSpPr/>
          <p:nvPr/>
        </p:nvSpPr>
        <p:spPr>
          <a:xfrm>
            <a:off x="594360" y="67238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19-element000-table-r08-c00-text"/>
          <p:cNvSpPr txBox="1"/>
          <p:nvPr/>
        </p:nvSpPr>
        <p:spPr>
          <a:xfrm>
            <a:off x="685800" y="67970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S068</a:t>
            </a:r>
          </a:p>
        </p:txBody>
      </p:sp>
      <p:sp>
        <p:nvSpPr>
          <p:cNvPr id="87" name="slide019-element000-table-r08-c01-cell"/>
          <p:cNvSpPr/>
          <p:nvPr/>
        </p:nvSpPr>
        <p:spPr>
          <a:xfrm>
            <a:off x="2204069"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19-element000-table-r08-c01-text"/>
          <p:cNvSpPr txBox="1"/>
          <p:nvPr/>
        </p:nvSpPr>
        <p:spPr>
          <a:xfrm>
            <a:off x="2295509"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team/chance/player form</a:t>
            </a:r>
          </a:p>
        </p:txBody>
      </p:sp>
      <p:sp>
        <p:nvSpPr>
          <p:cNvPr id="89" name="slide019-element000-table-r08-c02-cell"/>
          <p:cNvSpPr/>
          <p:nvPr/>
        </p:nvSpPr>
        <p:spPr>
          <a:xfrm>
            <a:off x="5557631"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19-element000-table-r08-c02-text"/>
          <p:cNvSpPr txBox="1"/>
          <p:nvPr/>
        </p:nvSpPr>
        <p:spPr>
          <a:xfrm>
            <a:off x="5649071"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10%</a:t>
            </a:r>
          </a:p>
        </p:txBody>
      </p:sp>
      <p:sp>
        <p:nvSpPr>
          <p:cNvPr id="91" name="slide019-element000-table-r08-c03-cell"/>
          <p:cNvSpPr/>
          <p:nvPr/>
        </p:nvSpPr>
        <p:spPr>
          <a:xfrm>
            <a:off x="8911193" y="67238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19-element000-table-r08-c03-text"/>
          <p:cNvSpPr txBox="1"/>
          <p:nvPr/>
        </p:nvSpPr>
        <p:spPr>
          <a:xfrm>
            <a:off x="9002633" y="67970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S068: 1,000</a:t>
            </a:r>
          </a:p>
        </p:txBody>
      </p:sp>
      <p:sp>
        <p:nvSpPr>
          <p:cNvPr id="93" name="slide019-element000-table-r08-c04-cell"/>
          <p:cNvSpPr/>
          <p:nvPr/>
        </p:nvSpPr>
        <p:spPr>
          <a:xfrm>
            <a:off x="12130613" y="67238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19-element000-table-r08-c04-text"/>
          <p:cNvSpPr txBox="1"/>
          <p:nvPr/>
        </p:nvSpPr>
        <p:spPr>
          <a:xfrm>
            <a:off x="12222053" y="67970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cxnSp>
        <p:nvCxnSpPr>
          <p:cNvPr id="95" name="slide019-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6" name="slide019-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7" name="slide019-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20-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APPENDIX | STRATEGY RULES AND CAPITAL</a:t>
            </a:r>
          </a:p>
        </p:txBody>
      </p:sp>
      <p:sp>
        <p:nvSpPr>
          <p:cNvPr id="3" name="slide020-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appendix: strategy rules (6/9)</a:t>
            </a:r>
          </a:p>
        </p:txBody>
      </p:sp>
      <p:sp>
        <p:nvSpPr>
          <p:cNvPr id="4" name="slide020-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20-element000-table-r00-c00-cell"/>
          <p:cNvSpPr/>
          <p:nvPr/>
        </p:nvSpPr>
        <p:spPr>
          <a:xfrm>
            <a:off x="594360" y="1847088"/>
            <a:ext cx="160970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20-element000-table-r00-c00-text"/>
          <p:cNvSpPr txBox="1"/>
          <p:nvPr/>
        </p:nvSpPr>
        <p:spPr>
          <a:xfrm>
            <a:off x="685800" y="1920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20-element000-table-r00-c01-cell"/>
          <p:cNvSpPr/>
          <p:nvPr/>
        </p:nvSpPr>
        <p:spPr>
          <a:xfrm>
            <a:off x="2204069"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20-element000-table-r00-c01-text"/>
          <p:cNvSpPr txBox="1"/>
          <p:nvPr/>
        </p:nvSpPr>
        <p:spPr>
          <a:xfrm>
            <a:off x="2295509"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20-element000-table-r00-c02-cell"/>
          <p:cNvSpPr/>
          <p:nvPr/>
        </p:nvSpPr>
        <p:spPr>
          <a:xfrm>
            <a:off x="5557631"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20-element000-table-r00-c02-text"/>
          <p:cNvSpPr txBox="1"/>
          <p:nvPr/>
        </p:nvSpPr>
        <p:spPr>
          <a:xfrm>
            <a:off x="5649071"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20-element000-table-r00-c03-cell"/>
          <p:cNvSpPr/>
          <p:nvPr/>
        </p:nvSpPr>
        <p:spPr>
          <a:xfrm>
            <a:off x="8911193" y="1847088"/>
            <a:ext cx="321941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20-element000-table-r00-c03-text"/>
          <p:cNvSpPr txBox="1"/>
          <p:nvPr/>
        </p:nvSpPr>
        <p:spPr>
          <a:xfrm>
            <a:off x="9002633" y="1920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20-element000-table-r00-c04-cell"/>
          <p:cNvSpPr/>
          <p:nvPr/>
        </p:nvSpPr>
        <p:spPr>
          <a:xfrm>
            <a:off x="12130613" y="1847088"/>
            <a:ext cx="1877994"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20-element000-table-r00-c04-text"/>
          <p:cNvSpPr txBox="1"/>
          <p:nvPr/>
        </p:nvSpPr>
        <p:spPr>
          <a:xfrm>
            <a:off x="12222053" y="1920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20-element000-table-r01-c00-cell"/>
          <p:cNvSpPr/>
          <p:nvPr/>
        </p:nvSpPr>
        <p:spPr>
          <a:xfrm>
            <a:off x="594360" y="24566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20-element000-table-r01-c00-text"/>
          <p:cNvSpPr txBox="1"/>
          <p:nvPr/>
        </p:nvSpPr>
        <p:spPr>
          <a:xfrm>
            <a:off x="685800" y="2529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S069</a:t>
            </a:r>
          </a:p>
        </p:txBody>
      </p:sp>
      <p:sp>
        <p:nvSpPr>
          <p:cNvPr id="17" name="slide020-element000-table-r01-c01-cell"/>
          <p:cNvSpPr/>
          <p:nvPr/>
        </p:nvSpPr>
        <p:spPr>
          <a:xfrm>
            <a:off x="2204069"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20-element000-table-r01-c01-text"/>
          <p:cNvSpPr txBox="1"/>
          <p:nvPr/>
        </p:nvSpPr>
        <p:spPr>
          <a:xfrm>
            <a:off x="2295509"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19" name="slide020-element000-table-r01-c02-cell"/>
          <p:cNvSpPr/>
          <p:nvPr/>
        </p:nvSpPr>
        <p:spPr>
          <a:xfrm>
            <a:off x="5557631"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20-element000-table-r01-c02-text"/>
          <p:cNvSpPr txBox="1"/>
          <p:nvPr/>
        </p:nvSpPr>
        <p:spPr>
          <a:xfrm>
            <a:off x="5649071"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10%</a:t>
            </a:r>
          </a:p>
        </p:txBody>
      </p:sp>
      <p:sp>
        <p:nvSpPr>
          <p:cNvPr id="21" name="slide020-element000-table-r01-c03-cell"/>
          <p:cNvSpPr/>
          <p:nvPr/>
        </p:nvSpPr>
        <p:spPr>
          <a:xfrm>
            <a:off x="8911193" y="24566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20-element000-table-r01-c03-text"/>
          <p:cNvSpPr txBox="1"/>
          <p:nvPr/>
        </p:nvSpPr>
        <p:spPr>
          <a:xfrm>
            <a:off x="9002633" y="2529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S069: 1,000</a:t>
            </a:r>
          </a:p>
        </p:txBody>
      </p:sp>
      <p:sp>
        <p:nvSpPr>
          <p:cNvPr id="23" name="slide020-element000-table-r01-c04-cell"/>
          <p:cNvSpPr/>
          <p:nvPr/>
        </p:nvSpPr>
        <p:spPr>
          <a:xfrm>
            <a:off x="12130613" y="24566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20-element000-table-r01-c04-text"/>
          <p:cNvSpPr txBox="1"/>
          <p:nvPr/>
        </p:nvSpPr>
        <p:spPr>
          <a:xfrm>
            <a:off x="12222053" y="2529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25" name="slide020-element000-table-r02-c00-cell"/>
          <p:cNvSpPr/>
          <p:nvPr/>
        </p:nvSpPr>
        <p:spPr>
          <a:xfrm>
            <a:off x="594360" y="30662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20-element000-table-r02-c00-text"/>
          <p:cNvSpPr txBox="1"/>
          <p:nvPr/>
        </p:nvSpPr>
        <p:spPr>
          <a:xfrm>
            <a:off x="685800" y="31394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S070</a:t>
            </a:r>
          </a:p>
        </p:txBody>
      </p:sp>
      <p:sp>
        <p:nvSpPr>
          <p:cNvPr id="27" name="slide020-element000-table-r02-c01-cell"/>
          <p:cNvSpPr/>
          <p:nvPr/>
        </p:nvSpPr>
        <p:spPr>
          <a:xfrm>
            <a:off x="2204069"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20-element000-table-r02-c01-text"/>
          <p:cNvSpPr txBox="1"/>
          <p:nvPr/>
        </p:nvSpPr>
        <p:spPr>
          <a:xfrm>
            <a:off x="2295509"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chance quality + player form</a:t>
            </a:r>
          </a:p>
        </p:txBody>
      </p:sp>
      <p:sp>
        <p:nvSpPr>
          <p:cNvPr id="29" name="slide020-element000-table-r02-c02-cell"/>
          <p:cNvSpPr/>
          <p:nvPr/>
        </p:nvSpPr>
        <p:spPr>
          <a:xfrm>
            <a:off x="5557631"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20-element000-table-r02-c02-text"/>
          <p:cNvSpPr txBox="1"/>
          <p:nvPr/>
        </p:nvSpPr>
        <p:spPr>
          <a:xfrm>
            <a:off x="5649071"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a:p>
            <a:pPr algn="l">
              <a:lnSpc>
                <a:spcPct val="100000"/>
              </a:lnSpc>
              <a:spcBef>
                <a:spcPts val="0"/>
              </a:spcBef>
              <a:spcAft>
                <a:spcPts val="0"/>
              </a:spcAft>
            </a:pPr>
            <a:r>
              <a:rPr sz="1300" b="0">
                <a:solidFill>
                  <a:srgbClr val="11243A"/>
                </a:solidFill>
                <a:latin typeface="Arial"/>
              </a:rPr>
              <a:t>Odds 1.5–5.0</a:t>
            </a:r>
          </a:p>
        </p:txBody>
      </p:sp>
      <p:sp>
        <p:nvSpPr>
          <p:cNvPr id="31" name="slide020-element000-table-r02-c03-cell"/>
          <p:cNvSpPr/>
          <p:nvPr/>
        </p:nvSpPr>
        <p:spPr>
          <a:xfrm>
            <a:off x="8911193" y="30662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20-element000-table-r02-c03-text"/>
          <p:cNvSpPr txBox="1"/>
          <p:nvPr/>
        </p:nvSpPr>
        <p:spPr>
          <a:xfrm>
            <a:off x="9002633" y="31394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S070: 1,000</a:t>
            </a:r>
          </a:p>
        </p:txBody>
      </p:sp>
      <p:sp>
        <p:nvSpPr>
          <p:cNvPr id="33" name="slide020-element000-table-r02-c04-cell"/>
          <p:cNvSpPr/>
          <p:nvPr/>
        </p:nvSpPr>
        <p:spPr>
          <a:xfrm>
            <a:off x="12130613" y="30662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20-element000-table-r02-c04-text"/>
          <p:cNvSpPr txBox="1"/>
          <p:nvPr/>
        </p:nvSpPr>
        <p:spPr>
          <a:xfrm>
            <a:off x="12222053" y="31394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35" name="slide020-element000-table-r03-c00-cell"/>
          <p:cNvSpPr/>
          <p:nvPr/>
        </p:nvSpPr>
        <p:spPr>
          <a:xfrm>
            <a:off x="594360" y="36758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20-element000-table-r03-c00-text"/>
          <p:cNvSpPr txBox="1"/>
          <p:nvPr/>
        </p:nvSpPr>
        <p:spPr>
          <a:xfrm>
            <a:off x="685800" y="37490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S071</a:t>
            </a:r>
          </a:p>
        </p:txBody>
      </p:sp>
      <p:sp>
        <p:nvSpPr>
          <p:cNvPr id="37" name="slide020-element000-table-r03-c01-cell"/>
          <p:cNvSpPr/>
          <p:nvPr/>
        </p:nvSpPr>
        <p:spPr>
          <a:xfrm>
            <a:off x="2204069"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20-element000-table-r03-c01-text"/>
          <p:cNvSpPr txBox="1"/>
          <p:nvPr/>
        </p:nvSpPr>
        <p:spPr>
          <a:xfrm>
            <a:off x="2295509"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team/chance/player form</a:t>
            </a:r>
          </a:p>
        </p:txBody>
      </p:sp>
      <p:sp>
        <p:nvSpPr>
          <p:cNvPr id="39" name="slide020-element000-table-r03-c02-cell"/>
          <p:cNvSpPr/>
          <p:nvPr/>
        </p:nvSpPr>
        <p:spPr>
          <a:xfrm>
            <a:off x="5557631"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20-element000-table-r03-c02-text"/>
          <p:cNvSpPr txBox="1"/>
          <p:nvPr/>
        </p:nvSpPr>
        <p:spPr>
          <a:xfrm>
            <a:off x="5649071"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a:p>
            <a:pPr algn="l">
              <a:lnSpc>
                <a:spcPct val="100000"/>
              </a:lnSpc>
              <a:spcBef>
                <a:spcPts val="0"/>
              </a:spcBef>
              <a:spcAft>
                <a:spcPts val="0"/>
              </a:spcAft>
            </a:pPr>
            <a:r>
              <a:rPr sz="1300" b="0">
                <a:solidFill>
                  <a:srgbClr val="11243A"/>
                </a:solidFill>
                <a:latin typeface="Arial"/>
              </a:rPr>
              <a:t>Odds 1.5–5.0</a:t>
            </a:r>
          </a:p>
        </p:txBody>
      </p:sp>
      <p:sp>
        <p:nvSpPr>
          <p:cNvPr id="41" name="slide020-element000-table-r03-c03-cell"/>
          <p:cNvSpPr/>
          <p:nvPr/>
        </p:nvSpPr>
        <p:spPr>
          <a:xfrm>
            <a:off x="8911193" y="36758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20-element000-table-r03-c03-text"/>
          <p:cNvSpPr txBox="1"/>
          <p:nvPr/>
        </p:nvSpPr>
        <p:spPr>
          <a:xfrm>
            <a:off x="9002633" y="37490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S071: 1,000</a:t>
            </a:r>
          </a:p>
        </p:txBody>
      </p:sp>
      <p:sp>
        <p:nvSpPr>
          <p:cNvPr id="43" name="slide020-element000-table-r03-c04-cell"/>
          <p:cNvSpPr/>
          <p:nvPr/>
        </p:nvSpPr>
        <p:spPr>
          <a:xfrm>
            <a:off x="12130613" y="36758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20-element000-table-r03-c04-text"/>
          <p:cNvSpPr txBox="1"/>
          <p:nvPr/>
        </p:nvSpPr>
        <p:spPr>
          <a:xfrm>
            <a:off x="12222053" y="37490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45" name="slide020-element000-table-r04-c00-cell"/>
          <p:cNvSpPr/>
          <p:nvPr/>
        </p:nvSpPr>
        <p:spPr>
          <a:xfrm>
            <a:off x="594360" y="42854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20-element000-table-r04-c00-text"/>
          <p:cNvSpPr txBox="1"/>
          <p:nvPr/>
        </p:nvSpPr>
        <p:spPr>
          <a:xfrm>
            <a:off x="685800" y="43586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S072</a:t>
            </a:r>
          </a:p>
        </p:txBody>
      </p:sp>
      <p:sp>
        <p:nvSpPr>
          <p:cNvPr id="47" name="slide020-element000-table-r04-c01-cell"/>
          <p:cNvSpPr/>
          <p:nvPr/>
        </p:nvSpPr>
        <p:spPr>
          <a:xfrm>
            <a:off x="2204069"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20-element000-table-r04-c01-text"/>
          <p:cNvSpPr txBox="1"/>
          <p:nvPr/>
        </p:nvSpPr>
        <p:spPr>
          <a:xfrm>
            <a:off x="2295509"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49" name="slide020-element000-table-r04-c02-cell"/>
          <p:cNvSpPr/>
          <p:nvPr/>
        </p:nvSpPr>
        <p:spPr>
          <a:xfrm>
            <a:off x="5557631"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20-element000-table-r04-c02-text"/>
          <p:cNvSpPr txBox="1"/>
          <p:nvPr/>
        </p:nvSpPr>
        <p:spPr>
          <a:xfrm>
            <a:off x="5649071"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a:p>
            <a:pPr algn="l">
              <a:lnSpc>
                <a:spcPct val="100000"/>
              </a:lnSpc>
              <a:spcBef>
                <a:spcPts val="0"/>
              </a:spcBef>
              <a:spcAft>
                <a:spcPts val="0"/>
              </a:spcAft>
            </a:pPr>
            <a:r>
              <a:rPr sz="1300" b="0">
                <a:solidFill>
                  <a:srgbClr val="11243A"/>
                </a:solidFill>
                <a:latin typeface="Arial"/>
              </a:rPr>
              <a:t>Odds 1.5–5.0</a:t>
            </a:r>
          </a:p>
        </p:txBody>
      </p:sp>
      <p:sp>
        <p:nvSpPr>
          <p:cNvPr id="51" name="slide020-element000-table-r04-c03-cell"/>
          <p:cNvSpPr/>
          <p:nvPr/>
        </p:nvSpPr>
        <p:spPr>
          <a:xfrm>
            <a:off x="8911193" y="42854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20-element000-table-r04-c03-text"/>
          <p:cNvSpPr txBox="1"/>
          <p:nvPr/>
        </p:nvSpPr>
        <p:spPr>
          <a:xfrm>
            <a:off x="9002633" y="43586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S072: 1,000</a:t>
            </a:r>
          </a:p>
        </p:txBody>
      </p:sp>
      <p:sp>
        <p:nvSpPr>
          <p:cNvPr id="53" name="slide020-element000-table-r04-c04-cell"/>
          <p:cNvSpPr/>
          <p:nvPr/>
        </p:nvSpPr>
        <p:spPr>
          <a:xfrm>
            <a:off x="12130613" y="42854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20-element000-table-r04-c04-text"/>
          <p:cNvSpPr txBox="1"/>
          <p:nvPr/>
        </p:nvSpPr>
        <p:spPr>
          <a:xfrm>
            <a:off x="12222053" y="43586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55" name="slide020-element000-table-r05-c00-cell"/>
          <p:cNvSpPr/>
          <p:nvPr/>
        </p:nvSpPr>
        <p:spPr>
          <a:xfrm>
            <a:off x="594360" y="48950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20-element000-table-r05-c00-text"/>
          <p:cNvSpPr txBox="1"/>
          <p:nvPr/>
        </p:nvSpPr>
        <p:spPr>
          <a:xfrm>
            <a:off x="685800" y="4968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S073</a:t>
            </a:r>
          </a:p>
        </p:txBody>
      </p:sp>
      <p:sp>
        <p:nvSpPr>
          <p:cNvPr id="57" name="slide020-element000-table-r05-c01-cell"/>
          <p:cNvSpPr/>
          <p:nvPr/>
        </p:nvSpPr>
        <p:spPr>
          <a:xfrm>
            <a:off x="2204069"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20-element000-table-r05-c01-text"/>
          <p:cNvSpPr txBox="1"/>
          <p:nvPr/>
        </p:nvSpPr>
        <p:spPr>
          <a:xfrm>
            <a:off x="2295509"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59" name="slide020-element000-table-r05-c02-cell"/>
          <p:cNvSpPr/>
          <p:nvPr/>
        </p:nvSpPr>
        <p:spPr>
          <a:xfrm>
            <a:off x="5557631"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20-element000-table-r05-c02-text"/>
          <p:cNvSpPr txBox="1"/>
          <p:nvPr/>
        </p:nvSpPr>
        <p:spPr>
          <a:xfrm>
            <a:off x="5649071"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0%</a:t>
            </a:r>
          </a:p>
        </p:txBody>
      </p:sp>
      <p:sp>
        <p:nvSpPr>
          <p:cNvPr id="61" name="slide020-element000-table-r05-c03-cell"/>
          <p:cNvSpPr/>
          <p:nvPr/>
        </p:nvSpPr>
        <p:spPr>
          <a:xfrm>
            <a:off x="8911193" y="48950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20-element000-table-r05-c03-text"/>
          <p:cNvSpPr txBox="1"/>
          <p:nvPr/>
        </p:nvSpPr>
        <p:spPr>
          <a:xfrm>
            <a:off x="9002633" y="4968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S073: 1,000</a:t>
            </a:r>
          </a:p>
        </p:txBody>
      </p:sp>
      <p:sp>
        <p:nvSpPr>
          <p:cNvPr id="63" name="slide020-element000-table-r05-c04-cell"/>
          <p:cNvSpPr/>
          <p:nvPr/>
        </p:nvSpPr>
        <p:spPr>
          <a:xfrm>
            <a:off x="12130613" y="48950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20-element000-table-r05-c04-text"/>
          <p:cNvSpPr txBox="1"/>
          <p:nvPr/>
        </p:nvSpPr>
        <p:spPr>
          <a:xfrm>
            <a:off x="12222053" y="4968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20-element000-table-r06-c00-cell"/>
          <p:cNvSpPr/>
          <p:nvPr/>
        </p:nvSpPr>
        <p:spPr>
          <a:xfrm>
            <a:off x="594360" y="55046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20-element000-table-r06-c00-text"/>
          <p:cNvSpPr txBox="1"/>
          <p:nvPr/>
        </p:nvSpPr>
        <p:spPr>
          <a:xfrm>
            <a:off x="685800" y="5577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S074</a:t>
            </a:r>
          </a:p>
        </p:txBody>
      </p:sp>
      <p:sp>
        <p:nvSpPr>
          <p:cNvPr id="67" name="slide020-element000-table-r06-c01-cell"/>
          <p:cNvSpPr/>
          <p:nvPr/>
        </p:nvSpPr>
        <p:spPr>
          <a:xfrm>
            <a:off x="2204069"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20-element000-table-r06-c01-text"/>
          <p:cNvSpPr txBox="1"/>
          <p:nvPr/>
        </p:nvSpPr>
        <p:spPr>
          <a:xfrm>
            <a:off x="2295509"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69" name="slide020-element000-table-r06-c02-cell"/>
          <p:cNvSpPr/>
          <p:nvPr/>
        </p:nvSpPr>
        <p:spPr>
          <a:xfrm>
            <a:off x="5557631"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20-element000-table-r06-c02-text"/>
          <p:cNvSpPr txBox="1"/>
          <p:nvPr/>
        </p:nvSpPr>
        <p:spPr>
          <a:xfrm>
            <a:off x="5649071"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2.5%</a:t>
            </a:r>
          </a:p>
        </p:txBody>
      </p:sp>
      <p:sp>
        <p:nvSpPr>
          <p:cNvPr id="71" name="slide020-element000-table-r06-c03-cell"/>
          <p:cNvSpPr/>
          <p:nvPr/>
        </p:nvSpPr>
        <p:spPr>
          <a:xfrm>
            <a:off x="8911193" y="55046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20-element000-table-r06-c03-text"/>
          <p:cNvSpPr txBox="1"/>
          <p:nvPr/>
        </p:nvSpPr>
        <p:spPr>
          <a:xfrm>
            <a:off x="9002633" y="5577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S074: 1,000</a:t>
            </a:r>
          </a:p>
        </p:txBody>
      </p:sp>
      <p:sp>
        <p:nvSpPr>
          <p:cNvPr id="73" name="slide020-element000-table-r06-c04-cell"/>
          <p:cNvSpPr/>
          <p:nvPr/>
        </p:nvSpPr>
        <p:spPr>
          <a:xfrm>
            <a:off x="12130613" y="55046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20-element000-table-r06-c04-text"/>
          <p:cNvSpPr txBox="1"/>
          <p:nvPr/>
        </p:nvSpPr>
        <p:spPr>
          <a:xfrm>
            <a:off x="12222053" y="5577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75" name="slide020-element000-table-r07-c00-cell"/>
          <p:cNvSpPr/>
          <p:nvPr/>
        </p:nvSpPr>
        <p:spPr>
          <a:xfrm>
            <a:off x="594360" y="61142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20-element000-table-r07-c00-text"/>
          <p:cNvSpPr txBox="1"/>
          <p:nvPr/>
        </p:nvSpPr>
        <p:spPr>
          <a:xfrm>
            <a:off x="685800" y="61874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S075</a:t>
            </a:r>
          </a:p>
        </p:txBody>
      </p:sp>
      <p:sp>
        <p:nvSpPr>
          <p:cNvPr id="77" name="slide020-element000-table-r07-c01-cell"/>
          <p:cNvSpPr/>
          <p:nvPr/>
        </p:nvSpPr>
        <p:spPr>
          <a:xfrm>
            <a:off x="2204069"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20-element000-table-r07-c01-text"/>
          <p:cNvSpPr txBox="1"/>
          <p:nvPr/>
        </p:nvSpPr>
        <p:spPr>
          <a:xfrm>
            <a:off x="2295509"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79" name="slide020-element000-table-r07-c02-cell"/>
          <p:cNvSpPr/>
          <p:nvPr/>
        </p:nvSpPr>
        <p:spPr>
          <a:xfrm>
            <a:off x="5557631"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20-element000-table-r07-c02-text"/>
          <p:cNvSpPr txBox="1"/>
          <p:nvPr/>
        </p:nvSpPr>
        <p:spPr>
          <a:xfrm>
            <a:off x="5649071"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7.5%</a:t>
            </a:r>
          </a:p>
        </p:txBody>
      </p:sp>
      <p:sp>
        <p:nvSpPr>
          <p:cNvPr id="81" name="slide020-element000-table-r07-c03-cell"/>
          <p:cNvSpPr/>
          <p:nvPr/>
        </p:nvSpPr>
        <p:spPr>
          <a:xfrm>
            <a:off x="8911193" y="61142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20-element000-table-r07-c03-text"/>
          <p:cNvSpPr txBox="1"/>
          <p:nvPr/>
        </p:nvSpPr>
        <p:spPr>
          <a:xfrm>
            <a:off x="9002633" y="61874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S075: 1,000</a:t>
            </a:r>
          </a:p>
        </p:txBody>
      </p:sp>
      <p:sp>
        <p:nvSpPr>
          <p:cNvPr id="83" name="slide020-element000-table-r07-c04-cell"/>
          <p:cNvSpPr/>
          <p:nvPr/>
        </p:nvSpPr>
        <p:spPr>
          <a:xfrm>
            <a:off x="12130613" y="61142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20-element000-table-r07-c04-text"/>
          <p:cNvSpPr txBox="1"/>
          <p:nvPr/>
        </p:nvSpPr>
        <p:spPr>
          <a:xfrm>
            <a:off x="12222053" y="61874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20-element000-table-r08-c00-cell"/>
          <p:cNvSpPr/>
          <p:nvPr/>
        </p:nvSpPr>
        <p:spPr>
          <a:xfrm>
            <a:off x="594360" y="67238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20-element000-table-r08-c00-text"/>
          <p:cNvSpPr txBox="1"/>
          <p:nvPr/>
        </p:nvSpPr>
        <p:spPr>
          <a:xfrm>
            <a:off x="685800" y="67970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S076</a:t>
            </a:r>
          </a:p>
        </p:txBody>
      </p:sp>
      <p:sp>
        <p:nvSpPr>
          <p:cNvPr id="87" name="slide020-element000-table-r08-c01-cell"/>
          <p:cNvSpPr/>
          <p:nvPr/>
        </p:nvSpPr>
        <p:spPr>
          <a:xfrm>
            <a:off x="2204069"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20-element000-table-r08-c01-text"/>
          <p:cNvSpPr txBox="1"/>
          <p:nvPr/>
        </p:nvSpPr>
        <p:spPr>
          <a:xfrm>
            <a:off x="2295509"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89" name="slide020-element000-table-r08-c02-cell"/>
          <p:cNvSpPr/>
          <p:nvPr/>
        </p:nvSpPr>
        <p:spPr>
          <a:xfrm>
            <a:off x="5557631"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20-element000-table-r08-c02-text"/>
          <p:cNvSpPr txBox="1"/>
          <p:nvPr/>
        </p:nvSpPr>
        <p:spPr>
          <a:xfrm>
            <a:off x="5649071"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10%</a:t>
            </a:r>
          </a:p>
        </p:txBody>
      </p:sp>
      <p:sp>
        <p:nvSpPr>
          <p:cNvPr id="91" name="slide020-element000-table-r08-c03-cell"/>
          <p:cNvSpPr/>
          <p:nvPr/>
        </p:nvSpPr>
        <p:spPr>
          <a:xfrm>
            <a:off x="8911193" y="67238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20-element000-table-r08-c03-text"/>
          <p:cNvSpPr txBox="1"/>
          <p:nvPr/>
        </p:nvSpPr>
        <p:spPr>
          <a:xfrm>
            <a:off x="9002633" y="67970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S076: 1,000</a:t>
            </a:r>
          </a:p>
        </p:txBody>
      </p:sp>
      <p:sp>
        <p:nvSpPr>
          <p:cNvPr id="93" name="slide020-element000-table-r08-c04-cell"/>
          <p:cNvSpPr/>
          <p:nvPr/>
        </p:nvSpPr>
        <p:spPr>
          <a:xfrm>
            <a:off x="12130613" y="67238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20-element000-table-r08-c04-text"/>
          <p:cNvSpPr txBox="1"/>
          <p:nvPr/>
        </p:nvSpPr>
        <p:spPr>
          <a:xfrm>
            <a:off x="12222053" y="67970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cxnSp>
        <p:nvCxnSpPr>
          <p:cNvPr id="95" name="slide020-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6" name="slide020-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7" name="slide020-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21-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APPENDIX | STRATEGY RULES AND CAPITAL</a:t>
            </a:r>
          </a:p>
        </p:txBody>
      </p:sp>
      <p:sp>
        <p:nvSpPr>
          <p:cNvPr id="3" name="slide021-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appendix: strategy rules (7/9)</a:t>
            </a:r>
          </a:p>
        </p:txBody>
      </p:sp>
      <p:sp>
        <p:nvSpPr>
          <p:cNvPr id="4" name="slide021-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21-element000-table-r00-c00-cell"/>
          <p:cNvSpPr/>
          <p:nvPr/>
        </p:nvSpPr>
        <p:spPr>
          <a:xfrm>
            <a:off x="594360" y="1847088"/>
            <a:ext cx="160970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21-element000-table-r00-c00-text"/>
          <p:cNvSpPr txBox="1"/>
          <p:nvPr/>
        </p:nvSpPr>
        <p:spPr>
          <a:xfrm>
            <a:off x="685800" y="1920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21-element000-table-r00-c01-cell"/>
          <p:cNvSpPr/>
          <p:nvPr/>
        </p:nvSpPr>
        <p:spPr>
          <a:xfrm>
            <a:off x="2204069"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21-element000-table-r00-c01-text"/>
          <p:cNvSpPr txBox="1"/>
          <p:nvPr/>
        </p:nvSpPr>
        <p:spPr>
          <a:xfrm>
            <a:off x="2295509"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21-element000-table-r00-c02-cell"/>
          <p:cNvSpPr/>
          <p:nvPr/>
        </p:nvSpPr>
        <p:spPr>
          <a:xfrm>
            <a:off x="5557631"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21-element000-table-r00-c02-text"/>
          <p:cNvSpPr txBox="1"/>
          <p:nvPr/>
        </p:nvSpPr>
        <p:spPr>
          <a:xfrm>
            <a:off x="5649071"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21-element000-table-r00-c03-cell"/>
          <p:cNvSpPr/>
          <p:nvPr/>
        </p:nvSpPr>
        <p:spPr>
          <a:xfrm>
            <a:off x="8911193" y="1847088"/>
            <a:ext cx="321941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21-element000-table-r00-c03-text"/>
          <p:cNvSpPr txBox="1"/>
          <p:nvPr/>
        </p:nvSpPr>
        <p:spPr>
          <a:xfrm>
            <a:off x="9002633" y="1920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21-element000-table-r00-c04-cell"/>
          <p:cNvSpPr/>
          <p:nvPr/>
        </p:nvSpPr>
        <p:spPr>
          <a:xfrm>
            <a:off x="12130613" y="1847088"/>
            <a:ext cx="1877994"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21-element000-table-r00-c04-text"/>
          <p:cNvSpPr txBox="1"/>
          <p:nvPr/>
        </p:nvSpPr>
        <p:spPr>
          <a:xfrm>
            <a:off x="12222053" y="1920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21-element000-table-r01-c00-cell"/>
          <p:cNvSpPr/>
          <p:nvPr/>
        </p:nvSpPr>
        <p:spPr>
          <a:xfrm>
            <a:off x="594360" y="24566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21-element000-table-r01-c00-text"/>
          <p:cNvSpPr txBox="1"/>
          <p:nvPr/>
        </p:nvSpPr>
        <p:spPr>
          <a:xfrm>
            <a:off x="685800" y="2529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S077</a:t>
            </a:r>
          </a:p>
        </p:txBody>
      </p:sp>
      <p:sp>
        <p:nvSpPr>
          <p:cNvPr id="17" name="slide021-element000-table-r01-c01-cell"/>
          <p:cNvSpPr/>
          <p:nvPr/>
        </p:nvSpPr>
        <p:spPr>
          <a:xfrm>
            <a:off x="2204069"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21-element000-table-r01-c01-text"/>
          <p:cNvSpPr txBox="1"/>
          <p:nvPr/>
        </p:nvSpPr>
        <p:spPr>
          <a:xfrm>
            <a:off x="2295509"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19" name="slide021-element000-table-r01-c02-cell"/>
          <p:cNvSpPr/>
          <p:nvPr/>
        </p:nvSpPr>
        <p:spPr>
          <a:xfrm>
            <a:off x="5557631"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21-element000-table-r01-c02-text"/>
          <p:cNvSpPr txBox="1"/>
          <p:nvPr/>
        </p:nvSpPr>
        <p:spPr>
          <a:xfrm>
            <a:off x="5649071"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15%</a:t>
            </a:r>
          </a:p>
        </p:txBody>
      </p:sp>
      <p:sp>
        <p:nvSpPr>
          <p:cNvPr id="21" name="slide021-element000-table-r01-c03-cell"/>
          <p:cNvSpPr/>
          <p:nvPr/>
        </p:nvSpPr>
        <p:spPr>
          <a:xfrm>
            <a:off x="8911193" y="24566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21-element000-table-r01-c03-text"/>
          <p:cNvSpPr txBox="1"/>
          <p:nvPr/>
        </p:nvSpPr>
        <p:spPr>
          <a:xfrm>
            <a:off x="9002633" y="2529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S077: 1,000</a:t>
            </a:r>
          </a:p>
        </p:txBody>
      </p:sp>
      <p:sp>
        <p:nvSpPr>
          <p:cNvPr id="23" name="slide021-element000-table-r01-c04-cell"/>
          <p:cNvSpPr/>
          <p:nvPr/>
        </p:nvSpPr>
        <p:spPr>
          <a:xfrm>
            <a:off x="12130613" y="24566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21-element000-table-r01-c04-text"/>
          <p:cNvSpPr txBox="1"/>
          <p:nvPr/>
        </p:nvSpPr>
        <p:spPr>
          <a:xfrm>
            <a:off x="12222053" y="2529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25" name="slide021-element000-table-r02-c00-cell"/>
          <p:cNvSpPr/>
          <p:nvPr/>
        </p:nvSpPr>
        <p:spPr>
          <a:xfrm>
            <a:off x="594360" y="30662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21-element000-table-r02-c00-text"/>
          <p:cNvSpPr txBox="1"/>
          <p:nvPr/>
        </p:nvSpPr>
        <p:spPr>
          <a:xfrm>
            <a:off x="685800" y="31394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S078</a:t>
            </a:r>
          </a:p>
        </p:txBody>
      </p:sp>
      <p:sp>
        <p:nvSpPr>
          <p:cNvPr id="27" name="slide021-element000-table-r02-c01-cell"/>
          <p:cNvSpPr/>
          <p:nvPr/>
        </p:nvSpPr>
        <p:spPr>
          <a:xfrm>
            <a:off x="2204069"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21-element000-table-r02-c01-text"/>
          <p:cNvSpPr txBox="1"/>
          <p:nvPr/>
        </p:nvSpPr>
        <p:spPr>
          <a:xfrm>
            <a:off x="2295509"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29" name="slide021-element000-table-r02-c02-cell"/>
          <p:cNvSpPr/>
          <p:nvPr/>
        </p:nvSpPr>
        <p:spPr>
          <a:xfrm>
            <a:off x="5557631"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21-element000-table-r02-c02-text"/>
          <p:cNvSpPr txBox="1"/>
          <p:nvPr/>
        </p:nvSpPr>
        <p:spPr>
          <a:xfrm>
            <a:off x="5649071"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20%</a:t>
            </a:r>
          </a:p>
        </p:txBody>
      </p:sp>
      <p:sp>
        <p:nvSpPr>
          <p:cNvPr id="31" name="slide021-element000-table-r02-c03-cell"/>
          <p:cNvSpPr/>
          <p:nvPr/>
        </p:nvSpPr>
        <p:spPr>
          <a:xfrm>
            <a:off x="8911193" y="30662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21-element000-table-r02-c03-text"/>
          <p:cNvSpPr txBox="1"/>
          <p:nvPr/>
        </p:nvSpPr>
        <p:spPr>
          <a:xfrm>
            <a:off x="9002633" y="31394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S078: 1,000</a:t>
            </a:r>
          </a:p>
        </p:txBody>
      </p:sp>
      <p:sp>
        <p:nvSpPr>
          <p:cNvPr id="33" name="slide021-element000-table-r02-c04-cell"/>
          <p:cNvSpPr/>
          <p:nvPr/>
        </p:nvSpPr>
        <p:spPr>
          <a:xfrm>
            <a:off x="12130613" y="30662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21-element000-table-r02-c04-text"/>
          <p:cNvSpPr txBox="1"/>
          <p:nvPr/>
        </p:nvSpPr>
        <p:spPr>
          <a:xfrm>
            <a:off x="12222053" y="31394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35" name="slide021-element000-table-r03-c00-cell"/>
          <p:cNvSpPr/>
          <p:nvPr/>
        </p:nvSpPr>
        <p:spPr>
          <a:xfrm>
            <a:off x="594360" y="36758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21-element000-table-r03-c00-text"/>
          <p:cNvSpPr txBox="1"/>
          <p:nvPr/>
        </p:nvSpPr>
        <p:spPr>
          <a:xfrm>
            <a:off x="685800" y="37490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S079</a:t>
            </a:r>
          </a:p>
        </p:txBody>
      </p:sp>
      <p:sp>
        <p:nvSpPr>
          <p:cNvPr id="37" name="slide021-element000-table-r03-c01-cell"/>
          <p:cNvSpPr/>
          <p:nvPr/>
        </p:nvSpPr>
        <p:spPr>
          <a:xfrm>
            <a:off x="2204069"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21-element000-table-r03-c01-text"/>
          <p:cNvSpPr txBox="1"/>
          <p:nvPr/>
        </p:nvSpPr>
        <p:spPr>
          <a:xfrm>
            <a:off x="2295509"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39" name="slide021-element000-table-r03-c02-cell"/>
          <p:cNvSpPr/>
          <p:nvPr/>
        </p:nvSpPr>
        <p:spPr>
          <a:xfrm>
            <a:off x="5557631"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21-element000-table-r03-c02-text"/>
          <p:cNvSpPr txBox="1"/>
          <p:nvPr/>
        </p:nvSpPr>
        <p:spPr>
          <a:xfrm>
            <a:off x="5649071"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0%</a:t>
            </a:r>
          </a:p>
        </p:txBody>
      </p:sp>
      <p:sp>
        <p:nvSpPr>
          <p:cNvPr id="41" name="slide021-element000-table-r03-c03-cell"/>
          <p:cNvSpPr/>
          <p:nvPr/>
        </p:nvSpPr>
        <p:spPr>
          <a:xfrm>
            <a:off x="8911193" y="36758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21-element000-table-r03-c03-text"/>
          <p:cNvSpPr txBox="1"/>
          <p:nvPr/>
        </p:nvSpPr>
        <p:spPr>
          <a:xfrm>
            <a:off x="9002633" y="37490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S079: 1,000</a:t>
            </a:r>
          </a:p>
        </p:txBody>
      </p:sp>
      <p:sp>
        <p:nvSpPr>
          <p:cNvPr id="43" name="slide021-element000-table-r03-c04-cell"/>
          <p:cNvSpPr/>
          <p:nvPr/>
        </p:nvSpPr>
        <p:spPr>
          <a:xfrm>
            <a:off x="12130613" y="36758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21-element000-table-r03-c04-text"/>
          <p:cNvSpPr txBox="1"/>
          <p:nvPr/>
        </p:nvSpPr>
        <p:spPr>
          <a:xfrm>
            <a:off x="12222053" y="37490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45" name="slide021-element000-table-r04-c00-cell"/>
          <p:cNvSpPr/>
          <p:nvPr/>
        </p:nvSpPr>
        <p:spPr>
          <a:xfrm>
            <a:off x="594360" y="42854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21-element000-table-r04-c00-text"/>
          <p:cNvSpPr txBox="1"/>
          <p:nvPr/>
        </p:nvSpPr>
        <p:spPr>
          <a:xfrm>
            <a:off x="685800" y="43586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S080</a:t>
            </a:r>
          </a:p>
        </p:txBody>
      </p:sp>
      <p:sp>
        <p:nvSpPr>
          <p:cNvPr id="47" name="slide021-element000-table-r04-c01-cell"/>
          <p:cNvSpPr/>
          <p:nvPr/>
        </p:nvSpPr>
        <p:spPr>
          <a:xfrm>
            <a:off x="2204069"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21-element000-table-r04-c01-text"/>
          <p:cNvSpPr txBox="1"/>
          <p:nvPr/>
        </p:nvSpPr>
        <p:spPr>
          <a:xfrm>
            <a:off x="2295509"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49" name="slide021-element000-table-r04-c02-cell"/>
          <p:cNvSpPr/>
          <p:nvPr/>
        </p:nvSpPr>
        <p:spPr>
          <a:xfrm>
            <a:off x="5557631"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21-element000-table-r04-c02-text"/>
          <p:cNvSpPr txBox="1"/>
          <p:nvPr/>
        </p:nvSpPr>
        <p:spPr>
          <a:xfrm>
            <a:off x="5649071"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2.5%</a:t>
            </a:r>
          </a:p>
        </p:txBody>
      </p:sp>
      <p:sp>
        <p:nvSpPr>
          <p:cNvPr id="51" name="slide021-element000-table-r04-c03-cell"/>
          <p:cNvSpPr/>
          <p:nvPr/>
        </p:nvSpPr>
        <p:spPr>
          <a:xfrm>
            <a:off x="8911193" y="42854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21-element000-table-r04-c03-text"/>
          <p:cNvSpPr txBox="1"/>
          <p:nvPr/>
        </p:nvSpPr>
        <p:spPr>
          <a:xfrm>
            <a:off x="9002633" y="43586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S080: 1,000</a:t>
            </a:r>
          </a:p>
        </p:txBody>
      </p:sp>
      <p:sp>
        <p:nvSpPr>
          <p:cNvPr id="53" name="slide021-element000-table-r04-c04-cell"/>
          <p:cNvSpPr/>
          <p:nvPr/>
        </p:nvSpPr>
        <p:spPr>
          <a:xfrm>
            <a:off x="12130613" y="42854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21-element000-table-r04-c04-text"/>
          <p:cNvSpPr txBox="1"/>
          <p:nvPr/>
        </p:nvSpPr>
        <p:spPr>
          <a:xfrm>
            <a:off x="12222053" y="43586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55" name="slide021-element000-table-r05-c00-cell"/>
          <p:cNvSpPr/>
          <p:nvPr/>
        </p:nvSpPr>
        <p:spPr>
          <a:xfrm>
            <a:off x="594360" y="48950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21-element000-table-r05-c00-text"/>
          <p:cNvSpPr txBox="1"/>
          <p:nvPr/>
        </p:nvSpPr>
        <p:spPr>
          <a:xfrm>
            <a:off x="685800" y="4968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S081</a:t>
            </a:r>
          </a:p>
        </p:txBody>
      </p:sp>
      <p:sp>
        <p:nvSpPr>
          <p:cNvPr id="57" name="slide021-element000-table-r05-c01-cell"/>
          <p:cNvSpPr/>
          <p:nvPr/>
        </p:nvSpPr>
        <p:spPr>
          <a:xfrm>
            <a:off x="2204069"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21-element000-table-r05-c01-text"/>
          <p:cNvSpPr txBox="1"/>
          <p:nvPr/>
        </p:nvSpPr>
        <p:spPr>
          <a:xfrm>
            <a:off x="2295509"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59" name="slide021-element000-table-r05-c02-cell"/>
          <p:cNvSpPr/>
          <p:nvPr/>
        </p:nvSpPr>
        <p:spPr>
          <a:xfrm>
            <a:off x="5557631"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21-element000-table-r05-c02-text"/>
          <p:cNvSpPr txBox="1"/>
          <p:nvPr/>
        </p:nvSpPr>
        <p:spPr>
          <a:xfrm>
            <a:off x="5649071"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7.5%</a:t>
            </a:r>
          </a:p>
        </p:txBody>
      </p:sp>
      <p:sp>
        <p:nvSpPr>
          <p:cNvPr id="61" name="slide021-element000-table-r05-c03-cell"/>
          <p:cNvSpPr/>
          <p:nvPr/>
        </p:nvSpPr>
        <p:spPr>
          <a:xfrm>
            <a:off x="8911193" y="48950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21-element000-table-r05-c03-text"/>
          <p:cNvSpPr txBox="1"/>
          <p:nvPr/>
        </p:nvSpPr>
        <p:spPr>
          <a:xfrm>
            <a:off x="9002633" y="4968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S081: 1,000</a:t>
            </a:r>
          </a:p>
        </p:txBody>
      </p:sp>
      <p:sp>
        <p:nvSpPr>
          <p:cNvPr id="63" name="slide021-element000-table-r05-c04-cell"/>
          <p:cNvSpPr/>
          <p:nvPr/>
        </p:nvSpPr>
        <p:spPr>
          <a:xfrm>
            <a:off x="12130613" y="48950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21-element000-table-r05-c04-text"/>
          <p:cNvSpPr txBox="1"/>
          <p:nvPr/>
        </p:nvSpPr>
        <p:spPr>
          <a:xfrm>
            <a:off x="12222053" y="4968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21-element000-table-r06-c00-cell"/>
          <p:cNvSpPr/>
          <p:nvPr/>
        </p:nvSpPr>
        <p:spPr>
          <a:xfrm>
            <a:off x="594360" y="55046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21-element000-table-r06-c00-text"/>
          <p:cNvSpPr txBox="1"/>
          <p:nvPr/>
        </p:nvSpPr>
        <p:spPr>
          <a:xfrm>
            <a:off x="685800" y="5577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S082</a:t>
            </a:r>
          </a:p>
        </p:txBody>
      </p:sp>
      <p:sp>
        <p:nvSpPr>
          <p:cNvPr id="67" name="slide021-element000-table-r06-c01-cell"/>
          <p:cNvSpPr/>
          <p:nvPr/>
        </p:nvSpPr>
        <p:spPr>
          <a:xfrm>
            <a:off x="2204069"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21-element000-table-r06-c01-text"/>
          <p:cNvSpPr txBox="1"/>
          <p:nvPr/>
        </p:nvSpPr>
        <p:spPr>
          <a:xfrm>
            <a:off x="2295509"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69" name="slide021-element000-table-r06-c02-cell"/>
          <p:cNvSpPr/>
          <p:nvPr/>
        </p:nvSpPr>
        <p:spPr>
          <a:xfrm>
            <a:off x="5557631"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21-element000-table-r06-c02-text"/>
          <p:cNvSpPr txBox="1"/>
          <p:nvPr/>
        </p:nvSpPr>
        <p:spPr>
          <a:xfrm>
            <a:off x="5649071"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10%</a:t>
            </a:r>
          </a:p>
        </p:txBody>
      </p:sp>
      <p:sp>
        <p:nvSpPr>
          <p:cNvPr id="71" name="slide021-element000-table-r06-c03-cell"/>
          <p:cNvSpPr/>
          <p:nvPr/>
        </p:nvSpPr>
        <p:spPr>
          <a:xfrm>
            <a:off x="8911193" y="55046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21-element000-table-r06-c03-text"/>
          <p:cNvSpPr txBox="1"/>
          <p:nvPr/>
        </p:nvSpPr>
        <p:spPr>
          <a:xfrm>
            <a:off x="9002633" y="5577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S082: 1,000</a:t>
            </a:r>
          </a:p>
        </p:txBody>
      </p:sp>
      <p:sp>
        <p:nvSpPr>
          <p:cNvPr id="73" name="slide021-element000-table-r06-c04-cell"/>
          <p:cNvSpPr/>
          <p:nvPr/>
        </p:nvSpPr>
        <p:spPr>
          <a:xfrm>
            <a:off x="12130613" y="55046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21-element000-table-r06-c04-text"/>
          <p:cNvSpPr txBox="1"/>
          <p:nvPr/>
        </p:nvSpPr>
        <p:spPr>
          <a:xfrm>
            <a:off x="12222053" y="5577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75" name="slide021-element000-table-r07-c00-cell"/>
          <p:cNvSpPr/>
          <p:nvPr/>
        </p:nvSpPr>
        <p:spPr>
          <a:xfrm>
            <a:off x="594360" y="61142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21-element000-table-r07-c00-text"/>
          <p:cNvSpPr txBox="1"/>
          <p:nvPr/>
        </p:nvSpPr>
        <p:spPr>
          <a:xfrm>
            <a:off x="685800" y="61874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S083</a:t>
            </a:r>
          </a:p>
        </p:txBody>
      </p:sp>
      <p:sp>
        <p:nvSpPr>
          <p:cNvPr id="77" name="slide021-element000-table-r07-c01-cell"/>
          <p:cNvSpPr/>
          <p:nvPr/>
        </p:nvSpPr>
        <p:spPr>
          <a:xfrm>
            <a:off x="2204069"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21-element000-table-r07-c01-text"/>
          <p:cNvSpPr txBox="1"/>
          <p:nvPr/>
        </p:nvSpPr>
        <p:spPr>
          <a:xfrm>
            <a:off x="2295509"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79" name="slide021-element000-table-r07-c02-cell"/>
          <p:cNvSpPr/>
          <p:nvPr/>
        </p:nvSpPr>
        <p:spPr>
          <a:xfrm>
            <a:off x="5557631"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21-element000-table-r07-c02-text"/>
          <p:cNvSpPr txBox="1"/>
          <p:nvPr/>
        </p:nvSpPr>
        <p:spPr>
          <a:xfrm>
            <a:off x="5649071"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15%</a:t>
            </a:r>
          </a:p>
        </p:txBody>
      </p:sp>
      <p:sp>
        <p:nvSpPr>
          <p:cNvPr id="81" name="slide021-element000-table-r07-c03-cell"/>
          <p:cNvSpPr/>
          <p:nvPr/>
        </p:nvSpPr>
        <p:spPr>
          <a:xfrm>
            <a:off x="8911193" y="61142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21-element000-table-r07-c03-text"/>
          <p:cNvSpPr txBox="1"/>
          <p:nvPr/>
        </p:nvSpPr>
        <p:spPr>
          <a:xfrm>
            <a:off x="9002633" y="61874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S083: 1,000</a:t>
            </a:r>
          </a:p>
        </p:txBody>
      </p:sp>
      <p:sp>
        <p:nvSpPr>
          <p:cNvPr id="83" name="slide021-element000-table-r07-c04-cell"/>
          <p:cNvSpPr/>
          <p:nvPr/>
        </p:nvSpPr>
        <p:spPr>
          <a:xfrm>
            <a:off x="12130613" y="61142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21-element000-table-r07-c04-text"/>
          <p:cNvSpPr txBox="1"/>
          <p:nvPr/>
        </p:nvSpPr>
        <p:spPr>
          <a:xfrm>
            <a:off x="12222053" y="61874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21-element000-table-r08-c00-cell"/>
          <p:cNvSpPr/>
          <p:nvPr/>
        </p:nvSpPr>
        <p:spPr>
          <a:xfrm>
            <a:off x="594360" y="67238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21-element000-table-r08-c00-text"/>
          <p:cNvSpPr txBox="1"/>
          <p:nvPr/>
        </p:nvSpPr>
        <p:spPr>
          <a:xfrm>
            <a:off x="685800" y="67970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S084</a:t>
            </a:r>
          </a:p>
        </p:txBody>
      </p:sp>
      <p:sp>
        <p:nvSpPr>
          <p:cNvPr id="87" name="slide021-element000-table-r08-c01-cell"/>
          <p:cNvSpPr/>
          <p:nvPr/>
        </p:nvSpPr>
        <p:spPr>
          <a:xfrm>
            <a:off x="2204069"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21-element000-table-r08-c01-text"/>
          <p:cNvSpPr txBox="1"/>
          <p:nvPr/>
        </p:nvSpPr>
        <p:spPr>
          <a:xfrm>
            <a:off x="2295509"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89" name="slide021-element000-table-r08-c02-cell"/>
          <p:cNvSpPr/>
          <p:nvPr/>
        </p:nvSpPr>
        <p:spPr>
          <a:xfrm>
            <a:off x="5557631"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21-element000-table-r08-c02-text"/>
          <p:cNvSpPr txBox="1"/>
          <p:nvPr/>
        </p:nvSpPr>
        <p:spPr>
          <a:xfrm>
            <a:off x="5649071"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20%</a:t>
            </a:r>
          </a:p>
        </p:txBody>
      </p:sp>
      <p:sp>
        <p:nvSpPr>
          <p:cNvPr id="91" name="slide021-element000-table-r08-c03-cell"/>
          <p:cNvSpPr/>
          <p:nvPr/>
        </p:nvSpPr>
        <p:spPr>
          <a:xfrm>
            <a:off x="8911193" y="67238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21-element000-table-r08-c03-text"/>
          <p:cNvSpPr txBox="1"/>
          <p:nvPr/>
        </p:nvSpPr>
        <p:spPr>
          <a:xfrm>
            <a:off x="9002633" y="67970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S084: 1,000</a:t>
            </a:r>
          </a:p>
        </p:txBody>
      </p:sp>
      <p:sp>
        <p:nvSpPr>
          <p:cNvPr id="93" name="slide021-element000-table-r08-c04-cell"/>
          <p:cNvSpPr/>
          <p:nvPr/>
        </p:nvSpPr>
        <p:spPr>
          <a:xfrm>
            <a:off x="12130613" y="67238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21-element000-table-r08-c04-text"/>
          <p:cNvSpPr txBox="1"/>
          <p:nvPr/>
        </p:nvSpPr>
        <p:spPr>
          <a:xfrm>
            <a:off x="12222053" y="67970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cxnSp>
        <p:nvCxnSpPr>
          <p:cNvPr id="95" name="slide021-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6" name="slide021-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7" name="slide021-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22-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APPENDIX | STRATEGY RULES AND CAPITAL</a:t>
            </a:r>
          </a:p>
        </p:txBody>
      </p:sp>
      <p:sp>
        <p:nvSpPr>
          <p:cNvPr id="3" name="slide022-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appendix: strategy rules (8/9)</a:t>
            </a:r>
          </a:p>
        </p:txBody>
      </p:sp>
      <p:sp>
        <p:nvSpPr>
          <p:cNvPr id="4" name="slide022-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22-element000-table-r00-c00-cell"/>
          <p:cNvSpPr/>
          <p:nvPr/>
        </p:nvSpPr>
        <p:spPr>
          <a:xfrm>
            <a:off x="594360" y="1847088"/>
            <a:ext cx="160970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22-element000-table-r00-c00-text"/>
          <p:cNvSpPr txBox="1"/>
          <p:nvPr/>
        </p:nvSpPr>
        <p:spPr>
          <a:xfrm>
            <a:off x="685800" y="1920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22-element000-table-r00-c01-cell"/>
          <p:cNvSpPr/>
          <p:nvPr/>
        </p:nvSpPr>
        <p:spPr>
          <a:xfrm>
            <a:off x="2204069"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22-element000-table-r00-c01-text"/>
          <p:cNvSpPr txBox="1"/>
          <p:nvPr/>
        </p:nvSpPr>
        <p:spPr>
          <a:xfrm>
            <a:off x="2295509"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22-element000-table-r00-c02-cell"/>
          <p:cNvSpPr/>
          <p:nvPr/>
        </p:nvSpPr>
        <p:spPr>
          <a:xfrm>
            <a:off x="5557631"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22-element000-table-r00-c02-text"/>
          <p:cNvSpPr txBox="1"/>
          <p:nvPr/>
        </p:nvSpPr>
        <p:spPr>
          <a:xfrm>
            <a:off x="5649071"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22-element000-table-r00-c03-cell"/>
          <p:cNvSpPr/>
          <p:nvPr/>
        </p:nvSpPr>
        <p:spPr>
          <a:xfrm>
            <a:off x="8911193" y="1847088"/>
            <a:ext cx="321941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22-element000-table-r00-c03-text"/>
          <p:cNvSpPr txBox="1"/>
          <p:nvPr/>
        </p:nvSpPr>
        <p:spPr>
          <a:xfrm>
            <a:off x="9002633" y="1920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22-element000-table-r00-c04-cell"/>
          <p:cNvSpPr/>
          <p:nvPr/>
        </p:nvSpPr>
        <p:spPr>
          <a:xfrm>
            <a:off x="12130613" y="1847088"/>
            <a:ext cx="1877994"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22-element000-table-r00-c04-text"/>
          <p:cNvSpPr txBox="1"/>
          <p:nvPr/>
        </p:nvSpPr>
        <p:spPr>
          <a:xfrm>
            <a:off x="12222053" y="1920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22-element000-table-r01-c00-cell"/>
          <p:cNvSpPr/>
          <p:nvPr/>
        </p:nvSpPr>
        <p:spPr>
          <a:xfrm>
            <a:off x="594360" y="24566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22-element000-table-r01-c00-text"/>
          <p:cNvSpPr txBox="1"/>
          <p:nvPr/>
        </p:nvSpPr>
        <p:spPr>
          <a:xfrm>
            <a:off x="685800" y="2529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P001 / P002</a:t>
            </a:r>
          </a:p>
        </p:txBody>
      </p:sp>
      <p:sp>
        <p:nvSpPr>
          <p:cNvPr id="17" name="slide022-element000-table-r01-c01-cell"/>
          <p:cNvSpPr/>
          <p:nvPr/>
        </p:nvSpPr>
        <p:spPr>
          <a:xfrm>
            <a:off x="2204069"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22-element000-table-r01-c01-text"/>
          <p:cNvSpPr txBox="1"/>
          <p:nvPr/>
        </p:nvSpPr>
        <p:spPr>
          <a:xfrm>
            <a:off x="2295509"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form (logistic)</a:t>
            </a:r>
          </a:p>
        </p:txBody>
      </p:sp>
      <p:sp>
        <p:nvSpPr>
          <p:cNvPr id="19" name="slide022-element000-table-r01-c02-cell"/>
          <p:cNvSpPr/>
          <p:nvPr/>
        </p:nvSpPr>
        <p:spPr>
          <a:xfrm>
            <a:off x="5557631"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22-element000-table-r01-c02-text"/>
          <p:cNvSpPr txBox="1"/>
          <p:nvPr/>
        </p:nvSpPr>
        <p:spPr>
          <a:xfrm>
            <a:off x="5649071"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21" name="slide022-element000-table-r01-c03-cell"/>
          <p:cNvSpPr/>
          <p:nvPr/>
        </p:nvSpPr>
        <p:spPr>
          <a:xfrm>
            <a:off x="8911193" y="24566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22-element000-table-r01-c03-text"/>
          <p:cNvSpPr txBox="1"/>
          <p:nvPr/>
        </p:nvSpPr>
        <p:spPr>
          <a:xfrm>
            <a:off x="9002633" y="2529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P001: 1,000</a:t>
            </a:r>
          </a:p>
          <a:p>
            <a:pPr algn="l">
              <a:lnSpc>
                <a:spcPct val="100000"/>
              </a:lnSpc>
              <a:spcBef>
                <a:spcPts val="0"/>
              </a:spcBef>
              <a:spcAft>
                <a:spcPts val="0"/>
              </a:spcAft>
            </a:pPr>
            <a:r>
              <a:rPr sz="1300" b="0">
                <a:solidFill>
                  <a:srgbClr val="11243A"/>
                </a:solidFill>
                <a:latin typeface="Arial"/>
              </a:rPr>
              <a:t>P002: 1/4 Kelly; ≤2% cash</a:t>
            </a:r>
          </a:p>
        </p:txBody>
      </p:sp>
      <p:sp>
        <p:nvSpPr>
          <p:cNvPr id="23" name="slide022-element000-table-r01-c04-cell"/>
          <p:cNvSpPr/>
          <p:nvPr/>
        </p:nvSpPr>
        <p:spPr>
          <a:xfrm>
            <a:off x="12130613" y="24566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22-element000-table-r01-c04-text"/>
          <p:cNvSpPr txBox="1"/>
          <p:nvPr/>
        </p:nvSpPr>
        <p:spPr>
          <a:xfrm>
            <a:off x="12222053" y="2529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25" name="slide022-element000-table-r02-c00-cell"/>
          <p:cNvSpPr/>
          <p:nvPr/>
        </p:nvSpPr>
        <p:spPr>
          <a:xfrm>
            <a:off x="594360" y="30662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22-element000-table-r02-c00-text"/>
          <p:cNvSpPr txBox="1"/>
          <p:nvPr/>
        </p:nvSpPr>
        <p:spPr>
          <a:xfrm>
            <a:off x="685800" y="31394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P003 / P004</a:t>
            </a:r>
          </a:p>
        </p:txBody>
      </p:sp>
      <p:sp>
        <p:nvSpPr>
          <p:cNvPr id="27" name="slide022-element000-table-r02-c01-cell"/>
          <p:cNvSpPr/>
          <p:nvPr/>
        </p:nvSpPr>
        <p:spPr>
          <a:xfrm>
            <a:off x="2204069"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22-element000-table-r02-c01-text"/>
          <p:cNvSpPr txBox="1"/>
          <p:nvPr/>
        </p:nvSpPr>
        <p:spPr>
          <a:xfrm>
            <a:off x="2295509"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form (logistic)</a:t>
            </a:r>
          </a:p>
        </p:txBody>
      </p:sp>
      <p:sp>
        <p:nvSpPr>
          <p:cNvPr id="29" name="slide022-element000-table-r02-c02-cell"/>
          <p:cNvSpPr/>
          <p:nvPr/>
        </p:nvSpPr>
        <p:spPr>
          <a:xfrm>
            <a:off x="5557631"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22-element000-table-r02-c02-text"/>
          <p:cNvSpPr txBox="1"/>
          <p:nvPr/>
        </p:nvSpPr>
        <p:spPr>
          <a:xfrm>
            <a:off x="5649071"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31" name="slide022-element000-table-r02-c03-cell"/>
          <p:cNvSpPr/>
          <p:nvPr/>
        </p:nvSpPr>
        <p:spPr>
          <a:xfrm>
            <a:off x="8911193" y="30662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22-element000-table-r02-c03-text"/>
          <p:cNvSpPr txBox="1"/>
          <p:nvPr/>
        </p:nvSpPr>
        <p:spPr>
          <a:xfrm>
            <a:off x="9002633" y="31394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P003: 1,000</a:t>
            </a:r>
          </a:p>
          <a:p>
            <a:pPr algn="l">
              <a:lnSpc>
                <a:spcPct val="100000"/>
              </a:lnSpc>
              <a:spcBef>
                <a:spcPts val="0"/>
              </a:spcBef>
              <a:spcAft>
                <a:spcPts val="0"/>
              </a:spcAft>
            </a:pPr>
            <a:r>
              <a:rPr sz="1300" b="0">
                <a:solidFill>
                  <a:srgbClr val="11243A"/>
                </a:solidFill>
                <a:latin typeface="Arial"/>
              </a:rPr>
              <a:t>P004: 1/4 Kelly; ≤2% cash</a:t>
            </a:r>
          </a:p>
        </p:txBody>
      </p:sp>
      <p:sp>
        <p:nvSpPr>
          <p:cNvPr id="33" name="slide022-element000-table-r02-c04-cell"/>
          <p:cNvSpPr/>
          <p:nvPr/>
        </p:nvSpPr>
        <p:spPr>
          <a:xfrm>
            <a:off x="12130613" y="30662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22-element000-table-r02-c04-text"/>
          <p:cNvSpPr txBox="1"/>
          <p:nvPr/>
        </p:nvSpPr>
        <p:spPr>
          <a:xfrm>
            <a:off x="12222053" y="31394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sp>
        <p:nvSpPr>
          <p:cNvPr id="35" name="slide022-element000-table-r03-c00-cell"/>
          <p:cNvSpPr/>
          <p:nvPr/>
        </p:nvSpPr>
        <p:spPr>
          <a:xfrm>
            <a:off x="594360" y="36758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22-element000-table-r03-c00-text"/>
          <p:cNvSpPr txBox="1"/>
          <p:nvPr/>
        </p:nvSpPr>
        <p:spPr>
          <a:xfrm>
            <a:off x="685800" y="37490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P005 / P006</a:t>
            </a:r>
          </a:p>
        </p:txBody>
      </p:sp>
      <p:sp>
        <p:nvSpPr>
          <p:cNvPr id="37" name="slide022-element000-table-r03-c01-cell"/>
          <p:cNvSpPr/>
          <p:nvPr/>
        </p:nvSpPr>
        <p:spPr>
          <a:xfrm>
            <a:off x="2204069"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22-element000-table-r03-c01-text"/>
          <p:cNvSpPr txBox="1"/>
          <p:nvPr/>
        </p:nvSpPr>
        <p:spPr>
          <a:xfrm>
            <a:off x="2295509"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form (boosted trees)</a:t>
            </a:r>
          </a:p>
        </p:txBody>
      </p:sp>
      <p:sp>
        <p:nvSpPr>
          <p:cNvPr id="39" name="slide022-element000-table-r03-c02-cell"/>
          <p:cNvSpPr/>
          <p:nvPr/>
        </p:nvSpPr>
        <p:spPr>
          <a:xfrm>
            <a:off x="5557631"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22-element000-table-r03-c02-text"/>
          <p:cNvSpPr txBox="1"/>
          <p:nvPr/>
        </p:nvSpPr>
        <p:spPr>
          <a:xfrm>
            <a:off x="5649071"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41" name="slide022-element000-table-r03-c03-cell"/>
          <p:cNvSpPr/>
          <p:nvPr/>
        </p:nvSpPr>
        <p:spPr>
          <a:xfrm>
            <a:off x="8911193" y="36758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22-element000-table-r03-c03-text"/>
          <p:cNvSpPr txBox="1"/>
          <p:nvPr/>
        </p:nvSpPr>
        <p:spPr>
          <a:xfrm>
            <a:off x="9002633" y="37490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P005: 1,000</a:t>
            </a:r>
          </a:p>
          <a:p>
            <a:pPr algn="l">
              <a:lnSpc>
                <a:spcPct val="100000"/>
              </a:lnSpc>
              <a:spcBef>
                <a:spcPts val="0"/>
              </a:spcBef>
              <a:spcAft>
                <a:spcPts val="0"/>
              </a:spcAft>
            </a:pPr>
            <a:r>
              <a:rPr sz="1300" b="0">
                <a:solidFill>
                  <a:srgbClr val="11243A"/>
                </a:solidFill>
                <a:latin typeface="Arial"/>
              </a:rPr>
              <a:t>P006: 1/4 Kelly; ≤2% cash</a:t>
            </a:r>
          </a:p>
        </p:txBody>
      </p:sp>
      <p:sp>
        <p:nvSpPr>
          <p:cNvPr id="43" name="slide022-element000-table-r03-c04-cell"/>
          <p:cNvSpPr/>
          <p:nvPr/>
        </p:nvSpPr>
        <p:spPr>
          <a:xfrm>
            <a:off x="12130613" y="36758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22-element000-table-r03-c04-text"/>
          <p:cNvSpPr txBox="1"/>
          <p:nvPr/>
        </p:nvSpPr>
        <p:spPr>
          <a:xfrm>
            <a:off x="12222053" y="37490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45" name="slide022-element000-table-r04-c00-cell"/>
          <p:cNvSpPr/>
          <p:nvPr/>
        </p:nvSpPr>
        <p:spPr>
          <a:xfrm>
            <a:off x="594360" y="42854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22-element000-table-r04-c00-text"/>
          <p:cNvSpPr txBox="1"/>
          <p:nvPr/>
        </p:nvSpPr>
        <p:spPr>
          <a:xfrm>
            <a:off x="685800" y="43586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P007 / P008</a:t>
            </a:r>
          </a:p>
        </p:txBody>
      </p:sp>
      <p:sp>
        <p:nvSpPr>
          <p:cNvPr id="47" name="slide022-element000-table-r04-c01-cell"/>
          <p:cNvSpPr/>
          <p:nvPr/>
        </p:nvSpPr>
        <p:spPr>
          <a:xfrm>
            <a:off x="2204069"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22-element000-table-r04-c01-text"/>
          <p:cNvSpPr txBox="1"/>
          <p:nvPr/>
        </p:nvSpPr>
        <p:spPr>
          <a:xfrm>
            <a:off x="2295509"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form (boosted trees)</a:t>
            </a:r>
          </a:p>
        </p:txBody>
      </p:sp>
      <p:sp>
        <p:nvSpPr>
          <p:cNvPr id="49" name="slide022-element000-table-r04-c02-cell"/>
          <p:cNvSpPr/>
          <p:nvPr/>
        </p:nvSpPr>
        <p:spPr>
          <a:xfrm>
            <a:off x="5557631"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22-element000-table-r04-c02-text"/>
          <p:cNvSpPr txBox="1"/>
          <p:nvPr/>
        </p:nvSpPr>
        <p:spPr>
          <a:xfrm>
            <a:off x="5649071"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51" name="slide022-element000-table-r04-c03-cell"/>
          <p:cNvSpPr/>
          <p:nvPr/>
        </p:nvSpPr>
        <p:spPr>
          <a:xfrm>
            <a:off x="8911193" y="42854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22-element000-table-r04-c03-text"/>
          <p:cNvSpPr txBox="1"/>
          <p:nvPr/>
        </p:nvSpPr>
        <p:spPr>
          <a:xfrm>
            <a:off x="9002633" y="43586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P007: 1,000</a:t>
            </a:r>
          </a:p>
          <a:p>
            <a:pPr algn="l">
              <a:lnSpc>
                <a:spcPct val="100000"/>
              </a:lnSpc>
              <a:spcBef>
                <a:spcPts val="0"/>
              </a:spcBef>
              <a:spcAft>
                <a:spcPts val="0"/>
              </a:spcAft>
            </a:pPr>
            <a:r>
              <a:rPr sz="1300" b="0">
                <a:solidFill>
                  <a:srgbClr val="11243A"/>
                </a:solidFill>
                <a:latin typeface="Arial"/>
              </a:rPr>
              <a:t>P008: 1/4 Kelly; ≤2% cash</a:t>
            </a:r>
          </a:p>
        </p:txBody>
      </p:sp>
      <p:sp>
        <p:nvSpPr>
          <p:cNvPr id="53" name="slide022-element000-table-r04-c04-cell"/>
          <p:cNvSpPr/>
          <p:nvPr/>
        </p:nvSpPr>
        <p:spPr>
          <a:xfrm>
            <a:off x="12130613" y="42854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22-element000-table-r04-c04-text"/>
          <p:cNvSpPr txBox="1"/>
          <p:nvPr/>
        </p:nvSpPr>
        <p:spPr>
          <a:xfrm>
            <a:off x="12222053" y="43586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sp>
        <p:nvSpPr>
          <p:cNvPr id="55" name="slide022-element000-table-r05-c00-cell"/>
          <p:cNvSpPr/>
          <p:nvPr/>
        </p:nvSpPr>
        <p:spPr>
          <a:xfrm>
            <a:off x="594360" y="48950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22-element000-table-r05-c00-text"/>
          <p:cNvSpPr txBox="1"/>
          <p:nvPr/>
        </p:nvSpPr>
        <p:spPr>
          <a:xfrm>
            <a:off x="685800" y="4968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P009 / P010</a:t>
            </a:r>
          </a:p>
        </p:txBody>
      </p:sp>
      <p:sp>
        <p:nvSpPr>
          <p:cNvPr id="57" name="slide022-element000-table-r05-c01-cell"/>
          <p:cNvSpPr/>
          <p:nvPr/>
        </p:nvSpPr>
        <p:spPr>
          <a:xfrm>
            <a:off x="2204069"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22-element000-table-r05-c01-text"/>
          <p:cNvSpPr txBox="1"/>
          <p:nvPr/>
        </p:nvSpPr>
        <p:spPr>
          <a:xfrm>
            <a:off x="2295509"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Player form (logistic)</a:t>
            </a:r>
          </a:p>
        </p:txBody>
      </p:sp>
      <p:sp>
        <p:nvSpPr>
          <p:cNvPr id="59" name="slide022-element000-table-r05-c02-cell"/>
          <p:cNvSpPr/>
          <p:nvPr/>
        </p:nvSpPr>
        <p:spPr>
          <a:xfrm>
            <a:off x="5557631"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22-element000-table-r05-c02-text"/>
          <p:cNvSpPr txBox="1"/>
          <p:nvPr/>
        </p:nvSpPr>
        <p:spPr>
          <a:xfrm>
            <a:off x="5649071"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61" name="slide022-element000-table-r05-c03-cell"/>
          <p:cNvSpPr/>
          <p:nvPr/>
        </p:nvSpPr>
        <p:spPr>
          <a:xfrm>
            <a:off x="8911193" y="48950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22-element000-table-r05-c03-text"/>
          <p:cNvSpPr txBox="1"/>
          <p:nvPr/>
        </p:nvSpPr>
        <p:spPr>
          <a:xfrm>
            <a:off x="9002633" y="4968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P009: 1,000</a:t>
            </a:r>
          </a:p>
          <a:p>
            <a:pPr algn="l">
              <a:lnSpc>
                <a:spcPct val="100000"/>
              </a:lnSpc>
              <a:spcBef>
                <a:spcPts val="0"/>
              </a:spcBef>
              <a:spcAft>
                <a:spcPts val="0"/>
              </a:spcAft>
            </a:pPr>
            <a:r>
              <a:rPr sz="1300" b="0">
                <a:solidFill>
                  <a:srgbClr val="11243A"/>
                </a:solidFill>
                <a:latin typeface="Arial"/>
              </a:rPr>
              <a:t>P010: 1/4 Kelly; ≤2% cash</a:t>
            </a:r>
          </a:p>
        </p:txBody>
      </p:sp>
      <p:sp>
        <p:nvSpPr>
          <p:cNvPr id="63" name="slide022-element000-table-r05-c04-cell"/>
          <p:cNvSpPr/>
          <p:nvPr/>
        </p:nvSpPr>
        <p:spPr>
          <a:xfrm>
            <a:off x="12130613" y="48950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22-element000-table-r05-c04-text"/>
          <p:cNvSpPr txBox="1"/>
          <p:nvPr/>
        </p:nvSpPr>
        <p:spPr>
          <a:xfrm>
            <a:off x="12222053" y="4968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22-element000-table-r06-c00-cell"/>
          <p:cNvSpPr/>
          <p:nvPr/>
        </p:nvSpPr>
        <p:spPr>
          <a:xfrm>
            <a:off x="594360" y="55046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22-element000-table-r06-c00-text"/>
          <p:cNvSpPr txBox="1"/>
          <p:nvPr/>
        </p:nvSpPr>
        <p:spPr>
          <a:xfrm>
            <a:off x="685800" y="5577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P011 / P012</a:t>
            </a:r>
          </a:p>
        </p:txBody>
      </p:sp>
      <p:sp>
        <p:nvSpPr>
          <p:cNvPr id="67" name="slide022-element000-table-r06-c01-cell"/>
          <p:cNvSpPr/>
          <p:nvPr/>
        </p:nvSpPr>
        <p:spPr>
          <a:xfrm>
            <a:off x="2204069"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22-element000-table-r06-c01-text"/>
          <p:cNvSpPr txBox="1"/>
          <p:nvPr/>
        </p:nvSpPr>
        <p:spPr>
          <a:xfrm>
            <a:off x="2295509"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Player form (logistic)</a:t>
            </a:r>
          </a:p>
        </p:txBody>
      </p:sp>
      <p:sp>
        <p:nvSpPr>
          <p:cNvPr id="69" name="slide022-element000-table-r06-c02-cell"/>
          <p:cNvSpPr/>
          <p:nvPr/>
        </p:nvSpPr>
        <p:spPr>
          <a:xfrm>
            <a:off x="5557631"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22-element000-table-r06-c02-text"/>
          <p:cNvSpPr txBox="1"/>
          <p:nvPr/>
        </p:nvSpPr>
        <p:spPr>
          <a:xfrm>
            <a:off x="5649071"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71" name="slide022-element000-table-r06-c03-cell"/>
          <p:cNvSpPr/>
          <p:nvPr/>
        </p:nvSpPr>
        <p:spPr>
          <a:xfrm>
            <a:off x="8911193" y="55046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22-element000-table-r06-c03-text"/>
          <p:cNvSpPr txBox="1"/>
          <p:nvPr/>
        </p:nvSpPr>
        <p:spPr>
          <a:xfrm>
            <a:off x="9002633" y="5577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P011: 1,000</a:t>
            </a:r>
          </a:p>
          <a:p>
            <a:pPr algn="l">
              <a:lnSpc>
                <a:spcPct val="100000"/>
              </a:lnSpc>
              <a:spcBef>
                <a:spcPts val="0"/>
              </a:spcBef>
              <a:spcAft>
                <a:spcPts val="0"/>
              </a:spcAft>
            </a:pPr>
            <a:r>
              <a:rPr sz="1300" b="0">
                <a:solidFill>
                  <a:srgbClr val="11243A"/>
                </a:solidFill>
                <a:latin typeface="Arial"/>
              </a:rPr>
              <a:t>P012: 1/4 Kelly; ≤2% cash</a:t>
            </a:r>
          </a:p>
        </p:txBody>
      </p:sp>
      <p:sp>
        <p:nvSpPr>
          <p:cNvPr id="73" name="slide022-element000-table-r06-c04-cell"/>
          <p:cNvSpPr/>
          <p:nvPr/>
        </p:nvSpPr>
        <p:spPr>
          <a:xfrm>
            <a:off x="12130613" y="55046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22-element000-table-r06-c04-text"/>
          <p:cNvSpPr txBox="1"/>
          <p:nvPr/>
        </p:nvSpPr>
        <p:spPr>
          <a:xfrm>
            <a:off x="12222053" y="5577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sp>
        <p:nvSpPr>
          <p:cNvPr id="75" name="slide022-element000-table-r07-c00-cell"/>
          <p:cNvSpPr/>
          <p:nvPr/>
        </p:nvSpPr>
        <p:spPr>
          <a:xfrm>
            <a:off x="594360" y="61142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22-element000-table-r07-c00-text"/>
          <p:cNvSpPr txBox="1"/>
          <p:nvPr/>
        </p:nvSpPr>
        <p:spPr>
          <a:xfrm>
            <a:off x="685800" y="61874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P013 / P014</a:t>
            </a:r>
          </a:p>
        </p:txBody>
      </p:sp>
      <p:sp>
        <p:nvSpPr>
          <p:cNvPr id="77" name="slide022-element000-table-r07-c01-cell"/>
          <p:cNvSpPr/>
          <p:nvPr/>
        </p:nvSpPr>
        <p:spPr>
          <a:xfrm>
            <a:off x="2204069"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22-element000-table-r07-c01-text"/>
          <p:cNvSpPr txBox="1"/>
          <p:nvPr/>
        </p:nvSpPr>
        <p:spPr>
          <a:xfrm>
            <a:off x="2295509"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Player form (boosted trees)</a:t>
            </a:r>
          </a:p>
        </p:txBody>
      </p:sp>
      <p:sp>
        <p:nvSpPr>
          <p:cNvPr id="79" name="slide022-element000-table-r07-c02-cell"/>
          <p:cNvSpPr/>
          <p:nvPr/>
        </p:nvSpPr>
        <p:spPr>
          <a:xfrm>
            <a:off x="5557631"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22-element000-table-r07-c02-text"/>
          <p:cNvSpPr txBox="1"/>
          <p:nvPr/>
        </p:nvSpPr>
        <p:spPr>
          <a:xfrm>
            <a:off x="5649071"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81" name="slide022-element000-table-r07-c03-cell"/>
          <p:cNvSpPr/>
          <p:nvPr/>
        </p:nvSpPr>
        <p:spPr>
          <a:xfrm>
            <a:off x="8911193" y="61142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22-element000-table-r07-c03-text"/>
          <p:cNvSpPr txBox="1"/>
          <p:nvPr/>
        </p:nvSpPr>
        <p:spPr>
          <a:xfrm>
            <a:off x="9002633" y="61874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P013: 1,000</a:t>
            </a:r>
          </a:p>
          <a:p>
            <a:pPr algn="l">
              <a:lnSpc>
                <a:spcPct val="100000"/>
              </a:lnSpc>
              <a:spcBef>
                <a:spcPts val="0"/>
              </a:spcBef>
              <a:spcAft>
                <a:spcPts val="0"/>
              </a:spcAft>
            </a:pPr>
            <a:r>
              <a:rPr sz="1300" b="0">
                <a:solidFill>
                  <a:srgbClr val="11243A"/>
                </a:solidFill>
                <a:latin typeface="Arial"/>
              </a:rPr>
              <a:t>P014: 1/4 Kelly; ≤2% cash</a:t>
            </a:r>
          </a:p>
        </p:txBody>
      </p:sp>
      <p:sp>
        <p:nvSpPr>
          <p:cNvPr id="83" name="slide022-element000-table-r07-c04-cell"/>
          <p:cNvSpPr/>
          <p:nvPr/>
        </p:nvSpPr>
        <p:spPr>
          <a:xfrm>
            <a:off x="12130613" y="61142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22-element000-table-r07-c04-text"/>
          <p:cNvSpPr txBox="1"/>
          <p:nvPr/>
        </p:nvSpPr>
        <p:spPr>
          <a:xfrm>
            <a:off x="12222053" y="61874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22-element000-table-r08-c00-cell"/>
          <p:cNvSpPr/>
          <p:nvPr/>
        </p:nvSpPr>
        <p:spPr>
          <a:xfrm>
            <a:off x="594360" y="67238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22-element000-table-r08-c00-text"/>
          <p:cNvSpPr txBox="1"/>
          <p:nvPr/>
        </p:nvSpPr>
        <p:spPr>
          <a:xfrm>
            <a:off x="685800" y="67970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P015 / P016</a:t>
            </a:r>
          </a:p>
        </p:txBody>
      </p:sp>
      <p:sp>
        <p:nvSpPr>
          <p:cNvPr id="87" name="slide022-element000-table-r08-c01-cell"/>
          <p:cNvSpPr/>
          <p:nvPr/>
        </p:nvSpPr>
        <p:spPr>
          <a:xfrm>
            <a:off x="2204069"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22-element000-table-r08-c01-text"/>
          <p:cNvSpPr txBox="1"/>
          <p:nvPr/>
        </p:nvSpPr>
        <p:spPr>
          <a:xfrm>
            <a:off x="2295509"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Player form (boosted trees)</a:t>
            </a:r>
          </a:p>
        </p:txBody>
      </p:sp>
      <p:sp>
        <p:nvSpPr>
          <p:cNvPr id="89" name="slide022-element000-table-r08-c02-cell"/>
          <p:cNvSpPr/>
          <p:nvPr/>
        </p:nvSpPr>
        <p:spPr>
          <a:xfrm>
            <a:off x="5557631"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22-element000-table-r08-c02-text"/>
          <p:cNvSpPr txBox="1"/>
          <p:nvPr/>
        </p:nvSpPr>
        <p:spPr>
          <a:xfrm>
            <a:off x="5649071"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91" name="slide022-element000-table-r08-c03-cell"/>
          <p:cNvSpPr/>
          <p:nvPr/>
        </p:nvSpPr>
        <p:spPr>
          <a:xfrm>
            <a:off x="8911193" y="67238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22-element000-table-r08-c03-text"/>
          <p:cNvSpPr txBox="1"/>
          <p:nvPr/>
        </p:nvSpPr>
        <p:spPr>
          <a:xfrm>
            <a:off x="9002633" y="67970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P015: 1,000</a:t>
            </a:r>
          </a:p>
          <a:p>
            <a:pPr algn="l">
              <a:lnSpc>
                <a:spcPct val="100000"/>
              </a:lnSpc>
              <a:spcBef>
                <a:spcPts val="0"/>
              </a:spcBef>
              <a:spcAft>
                <a:spcPts val="0"/>
              </a:spcAft>
            </a:pPr>
            <a:r>
              <a:rPr sz="1300" b="0">
                <a:solidFill>
                  <a:srgbClr val="11243A"/>
                </a:solidFill>
                <a:latin typeface="Arial"/>
              </a:rPr>
              <a:t>P016: 1/4 Kelly; ≤2% cash</a:t>
            </a:r>
          </a:p>
        </p:txBody>
      </p:sp>
      <p:sp>
        <p:nvSpPr>
          <p:cNvPr id="93" name="slide022-element000-table-r08-c04-cell"/>
          <p:cNvSpPr/>
          <p:nvPr/>
        </p:nvSpPr>
        <p:spPr>
          <a:xfrm>
            <a:off x="12130613" y="67238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22-element000-table-r08-c04-text"/>
          <p:cNvSpPr txBox="1"/>
          <p:nvPr/>
        </p:nvSpPr>
        <p:spPr>
          <a:xfrm>
            <a:off x="12222053" y="67970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cxnSp>
        <p:nvCxnSpPr>
          <p:cNvPr id="95" name="slide022-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6" name="slide022-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7" name="slide022-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23-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APPENDIX | STRATEGY RULES AND CAPITAL</a:t>
            </a:r>
          </a:p>
        </p:txBody>
      </p:sp>
      <p:sp>
        <p:nvSpPr>
          <p:cNvPr id="3" name="slide023-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appendix: strategy rules (9/9)</a:t>
            </a:r>
          </a:p>
        </p:txBody>
      </p:sp>
      <p:sp>
        <p:nvSpPr>
          <p:cNvPr id="4" name="slide023-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23-element000-table-r00-c00-cell"/>
          <p:cNvSpPr/>
          <p:nvPr/>
        </p:nvSpPr>
        <p:spPr>
          <a:xfrm>
            <a:off x="594360" y="1847088"/>
            <a:ext cx="160970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23-element000-table-r00-c00-text"/>
          <p:cNvSpPr txBox="1"/>
          <p:nvPr/>
        </p:nvSpPr>
        <p:spPr>
          <a:xfrm>
            <a:off x="685800" y="1920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23-element000-table-r00-c01-cell"/>
          <p:cNvSpPr/>
          <p:nvPr/>
        </p:nvSpPr>
        <p:spPr>
          <a:xfrm>
            <a:off x="2204069"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23-element000-table-r00-c01-text"/>
          <p:cNvSpPr txBox="1"/>
          <p:nvPr/>
        </p:nvSpPr>
        <p:spPr>
          <a:xfrm>
            <a:off x="2295509"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23-element000-table-r00-c02-cell"/>
          <p:cNvSpPr/>
          <p:nvPr/>
        </p:nvSpPr>
        <p:spPr>
          <a:xfrm>
            <a:off x="5557631"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23-element000-table-r00-c02-text"/>
          <p:cNvSpPr txBox="1"/>
          <p:nvPr/>
        </p:nvSpPr>
        <p:spPr>
          <a:xfrm>
            <a:off x="5649071"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23-element000-table-r00-c03-cell"/>
          <p:cNvSpPr/>
          <p:nvPr/>
        </p:nvSpPr>
        <p:spPr>
          <a:xfrm>
            <a:off x="8911193" y="1847088"/>
            <a:ext cx="321941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23-element000-table-r00-c03-text"/>
          <p:cNvSpPr txBox="1"/>
          <p:nvPr/>
        </p:nvSpPr>
        <p:spPr>
          <a:xfrm>
            <a:off x="9002633" y="1920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23-element000-table-r00-c04-cell"/>
          <p:cNvSpPr/>
          <p:nvPr/>
        </p:nvSpPr>
        <p:spPr>
          <a:xfrm>
            <a:off x="12130613" y="1847088"/>
            <a:ext cx="1877994"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23-element000-table-r00-c04-text"/>
          <p:cNvSpPr txBox="1"/>
          <p:nvPr/>
        </p:nvSpPr>
        <p:spPr>
          <a:xfrm>
            <a:off x="12222053" y="1920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23-element000-table-r01-c00-cell"/>
          <p:cNvSpPr/>
          <p:nvPr/>
        </p:nvSpPr>
        <p:spPr>
          <a:xfrm>
            <a:off x="594360" y="24566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23-element000-table-r01-c00-text"/>
          <p:cNvSpPr txBox="1"/>
          <p:nvPr/>
        </p:nvSpPr>
        <p:spPr>
          <a:xfrm>
            <a:off x="685800" y="2529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P017 / P018</a:t>
            </a:r>
          </a:p>
        </p:txBody>
      </p:sp>
      <p:sp>
        <p:nvSpPr>
          <p:cNvPr id="17" name="slide023-element000-table-r01-c01-cell"/>
          <p:cNvSpPr/>
          <p:nvPr/>
        </p:nvSpPr>
        <p:spPr>
          <a:xfrm>
            <a:off x="2204069"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23-element000-table-r01-c01-text"/>
          <p:cNvSpPr txBox="1"/>
          <p:nvPr/>
        </p:nvSpPr>
        <p:spPr>
          <a:xfrm>
            <a:off x="2295509"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Player form + estimated XI/depth (logistic)</a:t>
            </a:r>
          </a:p>
        </p:txBody>
      </p:sp>
      <p:sp>
        <p:nvSpPr>
          <p:cNvPr id="19" name="slide023-element000-table-r01-c02-cell"/>
          <p:cNvSpPr/>
          <p:nvPr/>
        </p:nvSpPr>
        <p:spPr>
          <a:xfrm>
            <a:off x="5557631"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23-element000-table-r01-c02-text"/>
          <p:cNvSpPr txBox="1"/>
          <p:nvPr/>
        </p:nvSpPr>
        <p:spPr>
          <a:xfrm>
            <a:off x="5649071"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21" name="slide023-element000-table-r01-c03-cell"/>
          <p:cNvSpPr/>
          <p:nvPr/>
        </p:nvSpPr>
        <p:spPr>
          <a:xfrm>
            <a:off x="8911193" y="24566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23-element000-table-r01-c03-text"/>
          <p:cNvSpPr txBox="1"/>
          <p:nvPr/>
        </p:nvSpPr>
        <p:spPr>
          <a:xfrm>
            <a:off x="9002633" y="2529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P017: 1,000</a:t>
            </a:r>
          </a:p>
          <a:p>
            <a:pPr algn="l">
              <a:lnSpc>
                <a:spcPct val="100000"/>
              </a:lnSpc>
              <a:spcBef>
                <a:spcPts val="0"/>
              </a:spcBef>
              <a:spcAft>
                <a:spcPts val="0"/>
              </a:spcAft>
            </a:pPr>
            <a:r>
              <a:rPr sz="1300" b="0">
                <a:solidFill>
                  <a:srgbClr val="11243A"/>
                </a:solidFill>
                <a:latin typeface="Arial"/>
              </a:rPr>
              <a:t>P018: 1/4 Kelly; ≤2% cash</a:t>
            </a:r>
          </a:p>
        </p:txBody>
      </p:sp>
      <p:sp>
        <p:nvSpPr>
          <p:cNvPr id="23" name="slide023-element000-table-r01-c04-cell"/>
          <p:cNvSpPr/>
          <p:nvPr/>
        </p:nvSpPr>
        <p:spPr>
          <a:xfrm>
            <a:off x="12130613" y="24566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23-element000-table-r01-c04-text"/>
          <p:cNvSpPr txBox="1"/>
          <p:nvPr/>
        </p:nvSpPr>
        <p:spPr>
          <a:xfrm>
            <a:off x="12222053" y="2529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25" name="slide023-element000-table-r02-c00-cell"/>
          <p:cNvSpPr/>
          <p:nvPr/>
        </p:nvSpPr>
        <p:spPr>
          <a:xfrm>
            <a:off x="594360" y="30662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23-element000-table-r02-c00-text"/>
          <p:cNvSpPr txBox="1"/>
          <p:nvPr/>
        </p:nvSpPr>
        <p:spPr>
          <a:xfrm>
            <a:off x="685800" y="31394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P019 / P020</a:t>
            </a:r>
          </a:p>
        </p:txBody>
      </p:sp>
      <p:sp>
        <p:nvSpPr>
          <p:cNvPr id="27" name="slide023-element000-table-r02-c01-cell"/>
          <p:cNvSpPr/>
          <p:nvPr/>
        </p:nvSpPr>
        <p:spPr>
          <a:xfrm>
            <a:off x="2204069"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23-element000-table-r02-c01-text"/>
          <p:cNvSpPr txBox="1"/>
          <p:nvPr/>
        </p:nvSpPr>
        <p:spPr>
          <a:xfrm>
            <a:off x="2295509"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Player form + estimated XI/depth (logistic)</a:t>
            </a:r>
          </a:p>
        </p:txBody>
      </p:sp>
      <p:sp>
        <p:nvSpPr>
          <p:cNvPr id="29" name="slide023-element000-table-r02-c02-cell"/>
          <p:cNvSpPr/>
          <p:nvPr/>
        </p:nvSpPr>
        <p:spPr>
          <a:xfrm>
            <a:off x="5557631"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23-element000-table-r02-c02-text"/>
          <p:cNvSpPr txBox="1"/>
          <p:nvPr/>
        </p:nvSpPr>
        <p:spPr>
          <a:xfrm>
            <a:off x="5649071"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31" name="slide023-element000-table-r02-c03-cell"/>
          <p:cNvSpPr/>
          <p:nvPr/>
        </p:nvSpPr>
        <p:spPr>
          <a:xfrm>
            <a:off x="8911193" y="30662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23-element000-table-r02-c03-text"/>
          <p:cNvSpPr txBox="1"/>
          <p:nvPr/>
        </p:nvSpPr>
        <p:spPr>
          <a:xfrm>
            <a:off x="9002633" y="31394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P019: 1,000</a:t>
            </a:r>
          </a:p>
          <a:p>
            <a:pPr algn="l">
              <a:lnSpc>
                <a:spcPct val="100000"/>
              </a:lnSpc>
              <a:spcBef>
                <a:spcPts val="0"/>
              </a:spcBef>
              <a:spcAft>
                <a:spcPts val="0"/>
              </a:spcAft>
            </a:pPr>
            <a:r>
              <a:rPr sz="1300" b="0">
                <a:solidFill>
                  <a:srgbClr val="11243A"/>
                </a:solidFill>
                <a:latin typeface="Arial"/>
              </a:rPr>
              <a:t>P020: 1/4 Kelly; ≤2% cash</a:t>
            </a:r>
          </a:p>
        </p:txBody>
      </p:sp>
      <p:sp>
        <p:nvSpPr>
          <p:cNvPr id="33" name="slide023-element000-table-r02-c04-cell"/>
          <p:cNvSpPr/>
          <p:nvPr/>
        </p:nvSpPr>
        <p:spPr>
          <a:xfrm>
            <a:off x="12130613" y="30662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23-element000-table-r02-c04-text"/>
          <p:cNvSpPr txBox="1"/>
          <p:nvPr/>
        </p:nvSpPr>
        <p:spPr>
          <a:xfrm>
            <a:off x="12222053" y="31394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sp>
        <p:nvSpPr>
          <p:cNvPr id="35" name="slide023-element000-table-r03-c00-cell"/>
          <p:cNvSpPr/>
          <p:nvPr/>
        </p:nvSpPr>
        <p:spPr>
          <a:xfrm>
            <a:off x="594360" y="36758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23-element000-table-r03-c00-text"/>
          <p:cNvSpPr txBox="1"/>
          <p:nvPr/>
        </p:nvSpPr>
        <p:spPr>
          <a:xfrm>
            <a:off x="685800" y="37490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P021 / P022</a:t>
            </a:r>
          </a:p>
        </p:txBody>
      </p:sp>
      <p:sp>
        <p:nvSpPr>
          <p:cNvPr id="37" name="slide023-element000-table-r03-c01-cell"/>
          <p:cNvSpPr/>
          <p:nvPr/>
        </p:nvSpPr>
        <p:spPr>
          <a:xfrm>
            <a:off x="2204069"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23-element000-table-r03-c01-text"/>
          <p:cNvSpPr txBox="1"/>
          <p:nvPr/>
        </p:nvSpPr>
        <p:spPr>
          <a:xfrm>
            <a:off x="2295509"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Player form + estimated XI/depth (trees)</a:t>
            </a:r>
          </a:p>
        </p:txBody>
      </p:sp>
      <p:sp>
        <p:nvSpPr>
          <p:cNvPr id="39" name="slide023-element000-table-r03-c02-cell"/>
          <p:cNvSpPr/>
          <p:nvPr/>
        </p:nvSpPr>
        <p:spPr>
          <a:xfrm>
            <a:off x="5557631"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23-element000-table-r03-c02-text"/>
          <p:cNvSpPr txBox="1"/>
          <p:nvPr/>
        </p:nvSpPr>
        <p:spPr>
          <a:xfrm>
            <a:off x="5649071"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41" name="slide023-element000-table-r03-c03-cell"/>
          <p:cNvSpPr/>
          <p:nvPr/>
        </p:nvSpPr>
        <p:spPr>
          <a:xfrm>
            <a:off x="8911193" y="36758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23-element000-table-r03-c03-text"/>
          <p:cNvSpPr txBox="1"/>
          <p:nvPr/>
        </p:nvSpPr>
        <p:spPr>
          <a:xfrm>
            <a:off x="9002633" y="37490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P021: 1,000</a:t>
            </a:r>
          </a:p>
          <a:p>
            <a:pPr algn="l">
              <a:lnSpc>
                <a:spcPct val="100000"/>
              </a:lnSpc>
              <a:spcBef>
                <a:spcPts val="0"/>
              </a:spcBef>
              <a:spcAft>
                <a:spcPts val="0"/>
              </a:spcAft>
            </a:pPr>
            <a:r>
              <a:rPr sz="1300" b="0">
                <a:solidFill>
                  <a:srgbClr val="11243A"/>
                </a:solidFill>
                <a:latin typeface="Arial"/>
              </a:rPr>
              <a:t>P022: 1/4 Kelly; ≤2% cash</a:t>
            </a:r>
          </a:p>
        </p:txBody>
      </p:sp>
      <p:sp>
        <p:nvSpPr>
          <p:cNvPr id="43" name="slide023-element000-table-r03-c04-cell"/>
          <p:cNvSpPr/>
          <p:nvPr/>
        </p:nvSpPr>
        <p:spPr>
          <a:xfrm>
            <a:off x="12130613" y="36758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23-element000-table-r03-c04-text"/>
          <p:cNvSpPr txBox="1"/>
          <p:nvPr/>
        </p:nvSpPr>
        <p:spPr>
          <a:xfrm>
            <a:off x="12222053" y="37490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45" name="slide023-element000-table-r04-c00-cell"/>
          <p:cNvSpPr/>
          <p:nvPr/>
        </p:nvSpPr>
        <p:spPr>
          <a:xfrm>
            <a:off x="594360" y="42854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23-element000-table-r04-c00-text"/>
          <p:cNvSpPr txBox="1"/>
          <p:nvPr/>
        </p:nvSpPr>
        <p:spPr>
          <a:xfrm>
            <a:off x="685800" y="43586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P023 / P024</a:t>
            </a:r>
          </a:p>
        </p:txBody>
      </p:sp>
      <p:sp>
        <p:nvSpPr>
          <p:cNvPr id="47" name="slide023-element000-table-r04-c01-cell"/>
          <p:cNvSpPr/>
          <p:nvPr/>
        </p:nvSpPr>
        <p:spPr>
          <a:xfrm>
            <a:off x="2204069"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23-element000-table-r04-c01-text"/>
          <p:cNvSpPr txBox="1"/>
          <p:nvPr/>
        </p:nvSpPr>
        <p:spPr>
          <a:xfrm>
            <a:off x="2295509"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Player form + estimated XI/depth (trees)</a:t>
            </a:r>
          </a:p>
        </p:txBody>
      </p:sp>
      <p:sp>
        <p:nvSpPr>
          <p:cNvPr id="49" name="slide023-element000-table-r04-c02-cell"/>
          <p:cNvSpPr/>
          <p:nvPr/>
        </p:nvSpPr>
        <p:spPr>
          <a:xfrm>
            <a:off x="5557631"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23-element000-table-r04-c02-text"/>
          <p:cNvSpPr txBox="1"/>
          <p:nvPr/>
        </p:nvSpPr>
        <p:spPr>
          <a:xfrm>
            <a:off x="5649071"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51" name="slide023-element000-table-r04-c03-cell"/>
          <p:cNvSpPr/>
          <p:nvPr/>
        </p:nvSpPr>
        <p:spPr>
          <a:xfrm>
            <a:off x="8911193" y="42854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23-element000-table-r04-c03-text"/>
          <p:cNvSpPr txBox="1"/>
          <p:nvPr/>
        </p:nvSpPr>
        <p:spPr>
          <a:xfrm>
            <a:off x="9002633" y="43586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P023: 1,000</a:t>
            </a:r>
          </a:p>
          <a:p>
            <a:pPr algn="l">
              <a:lnSpc>
                <a:spcPct val="100000"/>
              </a:lnSpc>
              <a:spcBef>
                <a:spcPts val="0"/>
              </a:spcBef>
              <a:spcAft>
                <a:spcPts val="0"/>
              </a:spcAft>
            </a:pPr>
            <a:r>
              <a:rPr sz="1300" b="0">
                <a:solidFill>
                  <a:srgbClr val="11243A"/>
                </a:solidFill>
                <a:latin typeface="Arial"/>
              </a:rPr>
              <a:t>P024: 1/4 Kelly; ≤2% cash</a:t>
            </a:r>
          </a:p>
        </p:txBody>
      </p:sp>
      <p:sp>
        <p:nvSpPr>
          <p:cNvPr id="53" name="slide023-element000-table-r04-c04-cell"/>
          <p:cNvSpPr/>
          <p:nvPr/>
        </p:nvSpPr>
        <p:spPr>
          <a:xfrm>
            <a:off x="12130613" y="42854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23-element000-table-r04-c04-text"/>
          <p:cNvSpPr txBox="1"/>
          <p:nvPr/>
        </p:nvSpPr>
        <p:spPr>
          <a:xfrm>
            <a:off x="12222053" y="43586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sp>
        <p:nvSpPr>
          <p:cNvPr id="55" name="slide023-element000-table-r05-c00-cell"/>
          <p:cNvSpPr/>
          <p:nvPr/>
        </p:nvSpPr>
        <p:spPr>
          <a:xfrm>
            <a:off x="594360" y="48950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23-element000-table-r05-c00-text"/>
          <p:cNvSpPr txBox="1"/>
          <p:nvPr/>
        </p:nvSpPr>
        <p:spPr>
          <a:xfrm>
            <a:off x="685800" y="4968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P025 / P026</a:t>
            </a:r>
          </a:p>
        </p:txBody>
      </p:sp>
      <p:sp>
        <p:nvSpPr>
          <p:cNvPr id="57" name="slide023-element000-table-r05-c01-cell"/>
          <p:cNvSpPr/>
          <p:nvPr/>
        </p:nvSpPr>
        <p:spPr>
          <a:xfrm>
            <a:off x="2204069"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23-element000-table-r05-c01-text"/>
          <p:cNvSpPr txBox="1"/>
          <p:nvPr/>
        </p:nvSpPr>
        <p:spPr>
          <a:xfrm>
            <a:off x="2295509"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player form/XI/depth (logistic)</a:t>
            </a:r>
          </a:p>
        </p:txBody>
      </p:sp>
      <p:sp>
        <p:nvSpPr>
          <p:cNvPr id="59" name="slide023-element000-table-r05-c02-cell"/>
          <p:cNvSpPr/>
          <p:nvPr/>
        </p:nvSpPr>
        <p:spPr>
          <a:xfrm>
            <a:off x="5557631"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23-element000-table-r05-c02-text"/>
          <p:cNvSpPr txBox="1"/>
          <p:nvPr/>
        </p:nvSpPr>
        <p:spPr>
          <a:xfrm>
            <a:off x="5649071"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61" name="slide023-element000-table-r05-c03-cell"/>
          <p:cNvSpPr/>
          <p:nvPr/>
        </p:nvSpPr>
        <p:spPr>
          <a:xfrm>
            <a:off x="8911193" y="48950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23-element000-table-r05-c03-text"/>
          <p:cNvSpPr txBox="1"/>
          <p:nvPr/>
        </p:nvSpPr>
        <p:spPr>
          <a:xfrm>
            <a:off x="9002633" y="4968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P025: 1,000</a:t>
            </a:r>
          </a:p>
          <a:p>
            <a:pPr algn="l">
              <a:lnSpc>
                <a:spcPct val="100000"/>
              </a:lnSpc>
              <a:spcBef>
                <a:spcPts val="0"/>
              </a:spcBef>
              <a:spcAft>
                <a:spcPts val="0"/>
              </a:spcAft>
            </a:pPr>
            <a:r>
              <a:rPr sz="1300" b="0">
                <a:solidFill>
                  <a:srgbClr val="11243A"/>
                </a:solidFill>
                <a:latin typeface="Arial"/>
              </a:rPr>
              <a:t>P026: 1/4 Kelly; ≤2% cash</a:t>
            </a:r>
          </a:p>
        </p:txBody>
      </p:sp>
      <p:sp>
        <p:nvSpPr>
          <p:cNvPr id="63" name="slide023-element000-table-r05-c04-cell"/>
          <p:cNvSpPr/>
          <p:nvPr/>
        </p:nvSpPr>
        <p:spPr>
          <a:xfrm>
            <a:off x="12130613" y="48950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23-element000-table-r05-c04-text"/>
          <p:cNvSpPr txBox="1"/>
          <p:nvPr/>
        </p:nvSpPr>
        <p:spPr>
          <a:xfrm>
            <a:off x="12222053" y="4968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23-element000-table-r06-c00-cell"/>
          <p:cNvSpPr/>
          <p:nvPr/>
        </p:nvSpPr>
        <p:spPr>
          <a:xfrm>
            <a:off x="594360" y="55046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23-element000-table-r06-c00-text"/>
          <p:cNvSpPr txBox="1"/>
          <p:nvPr/>
        </p:nvSpPr>
        <p:spPr>
          <a:xfrm>
            <a:off x="685800" y="5577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P027 / P028</a:t>
            </a:r>
          </a:p>
        </p:txBody>
      </p:sp>
      <p:sp>
        <p:nvSpPr>
          <p:cNvPr id="67" name="slide023-element000-table-r06-c01-cell"/>
          <p:cNvSpPr/>
          <p:nvPr/>
        </p:nvSpPr>
        <p:spPr>
          <a:xfrm>
            <a:off x="2204069"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23-element000-table-r06-c01-text"/>
          <p:cNvSpPr txBox="1"/>
          <p:nvPr/>
        </p:nvSpPr>
        <p:spPr>
          <a:xfrm>
            <a:off x="2295509"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player form/XI/depth (logistic)</a:t>
            </a:r>
          </a:p>
        </p:txBody>
      </p:sp>
      <p:sp>
        <p:nvSpPr>
          <p:cNvPr id="69" name="slide023-element000-table-r06-c02-cell"/>
          <p:cNvSpPr/>
          <p:nvPr/>
        </p:nvSpPr>
        <p:spPr>
          <a:xfrm>
            <a:off x="5557631"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23-element000-table-r06-c02-text"/>
          <p:cNvSpPr txBox="1"/>
          <p:nvPr/>
        </p:nvSpPr>
        <p:spPr>
          <a:xfrm>
            <a:off x="5649071"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71" name="slide023-element000-table-r06-c03-cell"/>
          <p:cNvSpPr/>
          <p:nvPr/>
        </p:nvSpPr>
        <p:spPr>
          <a:xfrm>
            <a:off x="8911193" y="55046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23-element000-table-r06-c03-text"/>
          <p:cNvSpPr txBox="1"/>
          <p:nvPr/>
        </p:nvSpPr>
        <p:spPr>
          <a:xfrm>
            <a:off x="9002633" y="5577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P027: 1,000</a:t>
            </a:r>
          </a:p>
          <a:p>
            <a:pPr algn="l">
              <a:lnSpc>
                <a:spcPct val="100000"/>
              </a:lnSpc>
              <a:spcBef>
                <a:spcPts val="0"/>
              </a:spcBef>
              <a:spcAft>
                <a:spcPts val="0"/>
              </a:spcAft>
            </a:pPr>
            <a:r>
              <a:rPr sz="1300" b="0">
                <a:solidFill>
                  <a:srgbClr val="11243A"/>
                </a:solidFill>
                <a:latin typeface="Arial"/>
              </a:rPr>
              <a:t>P028: 1/4 Kelly; ≤2% cash</a:t>
            </a:r>
          </a:p>
        </p:txBody>
      </p:sp>
      <p:sp>
        <p:nvSpPr>
          <p:cNvPr id="73" name="slide023-element000-table-r06-c04-cell"/>
          <p:cNvSpPr/>
          <p:nvPr/>
        </p:nvSpPr>
        <p:spPr>
          <a:xfrm>
            <a:off x="12130613" y="55046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23-element000-table-r06-c04-text"/>
          <p:cNvSpPr txBox="1"/>
          <p:nvPr/>
        </p:nvSpPr>
        <p:spPr>
          <a:xfrm>
            <a:off x="12222053" y="5577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sp>
        <p:nvSpPr>
          <p:cNvPr id="75" name="slide023-element000-table-r07-c00-cell"/>
          <p:cNvSpPr/>
          <p:nvPr/>
        </p:nvSpPr>
        <p:spPr>
          <a:xfrm>
            <a:off x="594360" y="61142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23-element000-table-r07-c00-text"/>
          <p:cNvSpPr txBox="1"/>
          <p:nvPr/>
        </p:nvSpPr>
        <p:spPr>
          <a:xfrm>
            <a:off x="685800" y="61874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P029 / P030</a:t>
            </a:r>
          </a:p>
        </p:txBody>
      </p:sp>
      <p:sp>
        <p:nvSpPr>
          <p:cNvPr id="77" name="slide023-element000-table-r07-c01-cell"/>
          <p:cNvSpPr/>
          <p:nvPr/>
        </p:nvSpPr>
        <p:spPr>
          <a:xfrm>
            <a:off x="2204069"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23-element000-table-r07-c01-text"/>
          <p:cNvSpPr txBox="1"/>
          <p:nvPr/>
        </p:nvSpPr>
        <p:spPr>
          <a:xfrm>
            <a:off x="2295509"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player form/XI/depth (trees)</a:t>
            </a:r>
          </a:p>
        </p:txBody>
      </p:sp>
      <p:sp>
        <p:nvSpPr>
          <p:cNvPr id="79" name="slide023-element000-table-r07-c02-cell"/>
          <p:cNvSpPr/>
          <p:nvPr/>
        </p:nvSpPr>
        <p:spPr>
          <a:xfrm>
            <a:off x="5557631"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23-element000-table-r07-c02-text"/>
          <p:cNvSpPr txBox="1"/>
          <p:nvPr/>
        </p:nvSpPr>
        <p:spPr>
          <a:xfrm>
            <a:off x="5649071"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81" name="slide023-element000-table-r07-c03-cell"/>
          <p:cNvSpPr/>
          <p:nvPr/>
        </p:nvSpPr>
        <p:spPr>
          <a:xfrm>
            <a:off x="8911193" y="61142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23-element000-table-r07-c03-text"/>
          <p:cNvSpPr txBox="1"/>
          <p:nvPr/>
        </p:nvSpPr>
        <p:spPr>
          <a:xfrm>
            <a:off x="9002633" y="61874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P029: 1,000</a:t>
            </a:r>
          </a:p>
          <a:p>
            <a:pPr algn="l">
              <a:lnSpc>
                <a:spcPct val="100000"/>
              </a:lnSpc>
              <a:spcBef>
                <a:spcPts val="0"/>
              </a:spcBef>
              <a:spcAft>
                <a:spcPts val="0"/>
              </a:spcAft>
            </a:pPr>
            <a:r>
              <a:rPr sz="1300" b="0">
                <a:solidFill>
                  <a:srgbClr val="11243A"/>
                </a:solidFill>
                <a:latin typeface="Arial"/>
              </a:rPr>
              <a:t>P030: 1/4 Kelly; ≤2% cash</a:t>
            </a:r>
          </a:p>
        </p:txBody>
      </p:sp>
      <p:sp>
        <p:nvSpPr>
          <p:cNvPr id="83" name="slide023-element000-table-r07-c04-cell"/>
          <p:cNvSpPr/>
          <p:nvPr/>
        </p:nvSpPr>
        <p:spPr>
          <a:xfrm>
            <a:off x="12130613" y="61142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23-element000-table-r07-c04-text"/>
          <p:cNvSpPr txBox="1"/>
          <p:nvPr/>
        </p:nvSpPr>
        <p:spPr>
          <a:xfrm>
            <a:off x="12222053" y="61874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23-element000-table-r08-c00-cell"/>
          <p:cNvSpPr/>
          <p:nvPr/>
        </p:nvSpPr>
        <p:spPr>
          <a:xfrm>
            <a:off x="594360" y="67238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23-element000-table-r08-c00-text"/>
          <p:cNvSpPr txBox="1"/>
          <p:nvPr/>
        </p:nvSpPr>
        <p:spPr>
          <a:xfrm>
            <a:off x="685800" y="67970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P031 / P032</a:t>
            </a:r>
          </a:p>
        </p:txBody>
      </p:sp>
      <p:sp>
        <p:nvSpPr>
          <p:cNvPr id="87" name="slide023-element000-table-r08-c01-cell"/>
          <p:cNvSpPr/>
          <p:nvPr/>
        </p:nvSpPr>
        <p:spPr>
          <a:xfrm>
            <a:off x="2204069"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23-element000-table-r08-c01-text"/>
          <p:cNvSpPr txBox="1"/>
          <p:nvPr/>
        </p:nvSpPr>
        <p:spPr>
          <a:xfrm>
            <a:off x="2295509"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player form/XI/depth (trees)</a:t>
            </a:r>
          </a:p>
        </p:txBody>
      </p:sp>
      <p:sp>
        <p:nvSpPr>
          <p:cNvPr id="89" name="slide023-element000-table-r08-c02-cell"/>
          <p:cNvSpPr/>
          <p:nvPr/>
        </p:nvSpPr>
        <p:spPr>
          <a:xfrm>
            <a:off x="5557631"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23-element000-table-r08-c02-text"/>
          <p:cNvSpPr txBox="1"/>
          <p:nvPr/>
        </p:nvSpPr>
        <p:spPr>
          <a:xfrm>
            <a:off x="5649071"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91" name="slide023-element000-table-r08-c03-cell"/>
          <p:cNvSpPr/>
          <p:nvPr/>
        </p:nvSpPr>
        <p:spPr>
          <a:xfrm>
            <a:off x="8911193" y="67238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23-element000-table-r08-c03-text"/>
          <p:cNvSpPr txBox="1"/>
          <p:nvPr/>
        </p:nvSpPr>
        <p:spPr>
          <a:xfrm>
            <a:off x="9002633" y="67970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P031: 1,000</a:t>
            </a:r>
          </a:p>
          <a:p>
            <a:pPr algn="l">
              <a:lnSpc>
                <a:spcPct val="100000"/>
              </a:lnSpc>
              <a:spcBef>
                <a:spcPts val="0"/>
              </a:spcBef>
              <a:spcAft>
                <a:spcPts val="0"/>
              </a:spcAft>
            </a:pPr>
            <a:r>
              <a:rPr sz="1300" b="0">
                <a:solidFill>
                  <a:srgbClr val="11243A"/>
                </a:solidFill>
                <a:latin typeface="Arial"/>
              </a:rPr>
              <a:t>P032: 1/4 Kelly; ≤2% cash</a:t>
            </a:r>
          </a:p>
        </p:txBody>
      </p:sp>
      <p:sp>
        <p:nvSpPr>
          <p:cNvPr id="93" name="slide023-element000-table-r08-c04-cell"/>
          <p:cNvSpPr/>
          <p:nvPr/>
        </p:nvSpPr>
        <p:spPr>
          <a:xfrm>
            <a:off x="12130613" y="67238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23-element000-table-r08-c04-text"/>
          <p:cNvSpPr txBox="1"/>
          <p:nvPr/>
        </p:nvSpPr>
        <p:spPr>
          <a:xfrm>
            <a:off x="12222053" y="67970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cxnSp>
        <p:nvCxnSpPr>
          <p:cNvPr id="95" name="slide023-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6" name="slide023-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7" name="slide023-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Calibrated Machine Learning for Sports Betting: NBA and Premier League</dc:title>
  <dc:subject>Common methodology, NBA results, then Premier League results</dc:subject>
  <dc:creator>Aman Dhillon; Panagiotis Housos</dc:creator>
  <cp:keywords>NBA; Premier League; statistical arbitrage; accuracy; calibration; final project</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